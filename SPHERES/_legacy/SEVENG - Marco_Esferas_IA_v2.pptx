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54864" cy="18288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de Esferas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05840" y="21031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la Inteligencia Artificial Corporativa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Consejo de Administración · Consejero Externo de 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esferas de impacto  ·  3 niveles de profundidad  ·  Agnóstico de industria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¿Para qué sirve este marco?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Consejo de Administración no piensa en "casos de uso de IA".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6093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riesgo, oportunidad, responsabilidad fiduciaria y ventaja competitiva.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9 esferas cubren todos los dominios de relación de la empresa: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237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producto, empleados, operaciones, datos, conocimiento, decisión, regulación y gobernanza.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089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niveles de impacto gradúan la profundidad del cambio: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4381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(hacer lo mismo mejor), Aumentar (hacer cosas nuevas), Transformar (cambiar fundamentalmente).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36576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0233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demostrar al consejo que entiendes la anatomía completa del negocio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3525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que puedes gobernar la IA transversalmente, no como un proyecto tecnológico aislado.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tres niveles de impacto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esfera se analiza con estos tres niveles. La inversión, el riesgo y la resistencia organizacional crecen con cada nivel.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14600" cy="3200400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2514600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lo mismo que ya hacemos, más rápido, más barato o con menos errores. No cambia el qué ni el quién.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214884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informes · Clasificar tickets · Detectar anomalías · Reducir ciclos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554480"/>
            <a:ext cx="2514600" cy="3200400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1554480"/>
            <a:ext cx="251460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AUMENTAR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286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hacen cosas que antes no podían. El trabajo humano no desaparece: se amplifica. El rol cambia.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3566160"/>
            <a:ext cx="214884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de código · Análisis predictivo · Generación de contenido · Asistente de decisión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514600" cy="3200400"/>
          </a:xfrm>
          <a:prstGeom prst="rect">
            <a:avLst/>
          </a:prstGeom>
          <a:solidFill>
            <a:srgbClr val="2A1414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554480"/>
            <a:ext cx="2514600" cy="45720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7830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fundamentalmente qué hacemos, cómo nos organizamos o qué ofrecemos. Máximo potencial, máximo riesgo.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566160"/>
            <a:ext cx="214884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5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producto · Eliminación de jerarquías · Pricing autónomo · Agentes autónomos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9 Esferas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474720" cy="566928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Conocimiento, relación y anticipación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901952"/>
            <a:ext cx="3474720" cy="566928"/>
          </a:xfrm>
          <a:prstGeom prst="rect">
            <a:avLst/>
          </a:prstGeom>
          <a:solidFill>
            <a:srgbClr val="1E14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476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7D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dentro, encima o como el producto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15184"/>
            <a:ext cx="3474720" cy="566928"/>
          </a:xfrm>
          <a:prstGeom prst="rect">
            <a:avLst/>
          </a:prstGeom>
          <a:solidFill>
            <a:srgbClr val="142A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609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C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6609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Receptores, sujetos y promotores de la 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328416"/>
            <a:ext cx="3474720" cy="566928"/>
          </a:xfrm>
          <a:prstGeom prst="rect">
            <a:avLst/>
          </a:prstGeom>
          <a:solidFill>
            <a:srgbClr val="142A1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741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374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6210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Procesos, cadena de valor y eficiencia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041648"/>
            <a:ext cx="3474720" cy="566928"/>
          </a:xfrm>
          <a:prstGeom prst="rect">
            <a:avLst/>
          </a:prstGeom>
          <a:solidFill>
            <a:srgbClr val="2A1E1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873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94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087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3342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sustrato material de toda la 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188720"/>
            <a:ext cx="3931920" cy="566928"/>
          </a:xfrm>
          <a:prstGeom prst="rect">
            <a:avLst/>
          </a:prstGeom>
          <a:solidFill>
            <a:srgbClr val="1E2A14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234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C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organizacional e inteligencia colectiva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901952"/>
            <a:ext cx="3931920" cy="566928"/>
          </a:xfrm>
          <a:prstGeom prst="rect">
            <a:avLst/>
          </a:prstGeom>
          <a:solidFill>
            <a:srgbClr val="2A1420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9476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B7D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2194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decide, con qué y con cuánta delegación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615184"/>
            <a:ext cx="3931920" cy="566928"/>
          </a:xfrm>
          <a:prstGeom prst="rect">
            <a:avLst/>
          </a:prstGeom>
          <a:solidFill>
            <a:srgbClr val="2A1414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6609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660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2907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Normativa, ética y responsabilidad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328416"/>
            <a:ext cx="3931920" cy="566928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3328416"/>
            <a:ext cx="45720" cy="56692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3741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3374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IA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362102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meta-esfera que conecta las otras ocho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Esferas externas (01-04): donde se genera valor    |    Esferas habilitadoras (05-07): lo que lo hace posible    |    08: los límites    |    09: el centro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Conocimiento, relación y anticipación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automatizada por comportamiento, no por demografía estática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temprana de churn con modelos predictivos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enrutamiento inteligente de consultas de soporte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AUMENTAR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Hiperpersonalización en tiempo real: cada cliente ve una propuesta diferente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conversacionales que resuelven el 80% de consultas con calidad humana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 en todos los canales para anticipar crisis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36576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interactúa con un agente IA como punto de contacto principal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descubren segmentos de mercado que no sabíamos que existían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Co-creación de producto con el cliente mediada por IA generativa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77640"/>
            <a:ext cx="45720" cy="8686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PARA EL CONSEJO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competidor conoce a nuestros clientes mejor que nosotros porque tiene mejor IA, ¿cuánto tardamos en ser irrelevantes?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1E14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7D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 y Servicio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dentro, encima o como el producto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automatizado, detección de defectos, QA predictivo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del producto basada en uso real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time-to-market con generación asistida de código/diseño/copy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AUMENTAR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inteligentes dentro del producto: recomendaciones, predicciones, asistentes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aprende del usuario y se adapta a su contexto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onboarding generados dinámicamente por 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36576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 el producto: un servicio que solo existe porque hay un modelo detrás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vender un producto estático a vender una capacidad inteligente continua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Modularizar el producto en capacidades componibles orquestadas por 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77640"/>
            <a:ext cx="45720" cy="8686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PARA EL CONSEJO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¿Estamos usando IA para proteger nuestro producto actual, o para construir el siguiente? Son estrategias incompatibles si compiten por los mismos recursos.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142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DCB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 como receptores, sujetos y promotores de la 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tareas repetitivas que nadie quiere hacer (reporting, data entry, triaje)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acelerado con asistentes de conocimiento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personalizada y continua adaptada al nivel de cada empleado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AUMENTAR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empleado tiene un copiloto especializado en su función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 propone y despliega nuevos usos de IA en su ámbito (innovación bottom-up)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continuo: el empleado evoluciona su rol con la IA, no a pesar de ella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36576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Reestructuración de equipos: menos personas, más capacidad (el modelo Block)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Desaparición de funciones enteras y creación de roles que hoy no existen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 como "human in the loop" de sistemas autónomos: supervisión, no ejecución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77640"/>
            <a:ext cx="45720" cy="8686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PARA EL CONSEJO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¿Nuestra posición es que la IA sustituye, aumenta o reorganiza personas? Esa respuesta define la cultura, la marca empleadora y la retención de talento de los próximos 10 años.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D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tres roles simultáneos del empleado ante la 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14600" cy="3200400"/>
          </a:xfrm>
          <a:prstGeom prst="rect">
            <a:avLst/>
          </a:prstGeom>
          <a:solidFill>
            <a:srgbClr val="142A2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2514600" cy="45720"/>
          </a:xfrm>
          <a:prstGeom prst="rect">
            <a:avLst/>
          </a:prstGeom>
          <a:solidFill>
            <a:srgbClr val="5DCBE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les cambia herramientas, procesos y expectativas de productividad. No eligieron recibirla: se la imponen. La gestión del cambio aquí determina adopción o resistencia.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188720"/>
            <a:ext cx="2514600" cy="3200400"/>
          </a:xfrm>
          <a:prstGeom prst="rect">
            <a:avLst/>
          </a:prstGeom>
          <a:solidFill>
            <a:srgbClr val="2A1E14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188720"/>
            <a:ext cx="2514600" cy="45720"/>
          </a:xfrm>
          <a:prstGeom prst="rect">
            <a:avLst/>
          </a:prstGeom>
          <a:solidFill>
            <a:srgbClr val="E8945D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11880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94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Sujeto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puede reestructurar, reasignar o eliminar su puesto. Son el objeto de las decisiones tipo Block. El consejo tiene responsabilidad fiduciaria y ética sobre cómo se gestiona.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14600" cy="3200400"/>
          </a:xfrm>
          <a:prstGeom prst="rect">
            <a:avLst/>
          </a:prstGeom>
          <a:solidFill>
            <a:srgbClr val="142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14600" cy="45720"/>
          </a:xfrm>
          <a:prstGeom prst="rect">
            <a:avLst/>
          </a:prstGeom>
          <a:solidFill>
            <a:srgbClr val="4ECB8D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EC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empleado que entiende su proceso mejor que nadie puede identificar casos de uso que ningún consultor externo vería. La innovación bottom-up es la fuente más infravalorada de valor.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142A1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Operaciones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Procesos, cadena de valor y eficiencia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procesos repetitivos (RPA + IA, documentos, conciliaciones)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demanda, optimización de inventarios, mantenimiento predictivo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fraude, anomalías y riesgos operativos en tiempo real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AUMENTAR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inteligente: se adapta en tiempo real a señales de mercado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asistida: escenarios simulados por IA para decisiones complejas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con visión por computador o NLP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36576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autónomas: procesos que se ejecutan y corrigen sin intervención humana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por agentes: flujos gestionados por sistemas multi-agente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Desintermediación de eslabones completos de la cadena de valor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77640"/>
            <a:ext cx="45720" cy="8686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PARA EL CONSEJO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¿Sabemos cuáles de nuestros procesos operativos son candidatos a automatización inmediata con retorno en menos de 6 meses? Si no, ese es el primer proyecto.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2A1E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94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sustrato material de toda la 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normalización y deduplicación automática de datos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Catalogación inteligente: metadatos generados por IA, linaje automatizado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continua de calidad de datos y drift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AUMENTAR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sintéticos para entrenar modelos donde los datos reales son escasos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Enriquecimiento de datos propios con fuentes externas orquestado por 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Democratización: cualquier empleado consulta datos en lenguaje natural (text-to-SQL)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36576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convierten en producto: monetización directa o como servicio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 inteligente: la arquitectura se auto-organiza y auto-gobierna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"world model": representación viva de toda la operación alimentada en tiempo real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77640"/>
            <a:ext cx="45720" cy="8686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PARA EL CONSEJO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¿Sabemos qué datos tenemos, dónde están, quién es responsable de su calidad, y si podemos usarlos legalmente para IA? Si no, ningún proyecto de IA va a funcionar bien.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1E2A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C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Conocimiento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organizacional e inteligencia colectiva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 sobre documentación interna: encontrar sin saber dónde está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 y bases de conocimiento auto-actualizadas por 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y resumen automático de reuniones, preservando decisiones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AUMENTAR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conocimiento tácito: la IA entrevista y preserva el saber de expertos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conocimiento por dominio: legal, técnico, regulatorio, producto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organizacional: la IA detecta patrones de éxito y fracaso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36576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organizacional como modelo activo, no repositorio pasivo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conocimiento como ventaja competitiva difícil de replicar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 "recuerda" todo lo que ha hecho, decidido y aprendido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77640"/>
            <a:ext cx="45720" cy="8686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PARA EL CONSEJO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mañana se fueran las 20 personas que más saben de esta empresa, ¿cuánto conocimiento se iría con ellas? Esa brecha es exactamente lo que la IA puede cerrar — pero solo si se empieza antes de que se vayan.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2A14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7D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decide, con qué información, y con cuánta delegación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inteligentes que priorizan información relevante, no la muestran toda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predictivas: la IA avisa antes de que un KPI se degrade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decisiones de bajo riesgo y alta frecuencia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AUMENTAR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presenta opciones con análisis de riesgo y probabilidad — el humano elige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escenarios: "qué pasaría si" con modelos multivariable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cada decisión tiene audit trail (qué recomendó la IA, qué decidió el humano)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36576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autónomas en dominios acotados: pricing dinámico, asignación de recursos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layer: un sistema que coordina decisiones sin jerarquía humana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Redefinición del directivo: de decisor a supervisor de sistemas de decisión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77640"/>
            <a:ext cx="45720" cy="8686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PARA EL CONSEJO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¿Hemos definido qué decisiones puede tomar la IA sola, cuáles requieren validación humana, y cuáles no deben delegarse nunca? Si no, estamos delegando por defecto.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2A14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Regulación, Ética y Responsabilidad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594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normativo, los principios éticos voluntarios, y la cadena de responsabilidad cuando algo falla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657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CUMPLIMIENTO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usos de IA según niveles de riesgo del EU AI Act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explicabilidad, trazabilidad y auditoría de modelos en producción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GDPR/LOPDGDD en decisión automatizada y perfilado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 sectorial: banca, salud, energía, seguros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ANTICIPACIÓN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Monitorizar regulación emergente: anticipar lo que viene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impacto (AIIA) proactiva antes del despliegue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auditorías externas de IA que llegarán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36576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LIDERAZGO ÉTICO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principios éticos propio más allá del mínimo legal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ética con capacidad real de veto, no decorativo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pública sobre uso de IA como diferenciador de confianza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77640"/>
            <a:ext cx="45720" cy="8686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PARA EL CONSEJO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¿Estamos gobernando la IA proactivamente, o esperando a que el regulador nos obligue? El coste de la segunda opción se mide en multas, pero sobre todo en reputación y confianza.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8595360" cy="47548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META-ESFERA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Gobernanza 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esfera que conecta las otras ocho. La razón de ser del consejero externo de IA.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2514600" cy="2743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tiene la responsabilidad última de la estrategia de IA?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marco que conecte IA con estrategia de negocio?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portfolio de iniciativas IA priorizado por impacto y riesgo?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consejo recibe reporting periódico y comprensible?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554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VELOCIDAD VS.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514600" cy="2743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92024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¿Equilibrio correcto entre acelerar adopción y gestionar riesgos?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gates go/no-go en el ciclo de vida de proyectos de IA?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medimos madurez IA frente a competidores?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¿Podemos parar un proyecto IA que no funciona?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554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ECOSISTEMA PROVEEDORES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2514600" cy="2743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92024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¿Dependemos de un solo proveedor de modelos (lock-in)?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¿Evaluamos build vs. buy vs. partner para cada capacidad?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contratos protegen nuestros datos y propiedad intelectual?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¿Entendemos la estructura de costes de la IA?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2A221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77640"/>
            <a:ext cx="82296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¿Tienen la convicción de que la IA necesita gobierno corporativo dedicado — igual que las finanzas, la auditoría o el cumplimiento normativo? Si la respuesta es sí, hablemos de cómo estructurarlo. Ese es mi trabajo.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Guion para la reunión · 60 minutos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05840" y="1463040"/>
            <a:ext cx="0" cy="320040"/>
          </a:xfrm>
          <a:prstGeom prst="line">
            <a:avLst/>
          </a:prstGeom>
          <a:noFill/>
          <a:ln w="12700">
            <a:solidFill>
              <a:srgbClr val="2A2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15568"/>
            <a:ext cx="411480" cy="365760"/>
          </a:xfrm>
          <a:prstGeom prst="ellipse">
            <a:avLst/>
          </a:prstGeom>
          <a:solidFill>
            <a:srgbClr val="14161E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155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estratégico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"¿En qué negocio estamos y cómo la IA cambia sus reglas?" — Presentar las 9 esferas y los 3 niveles.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103120"/>
            <a:ext cx="0" cy="320040"/>
          </a:xfrm>
          <a:prstGeom prst="line">
            <a:avLst/>
          </a:prstGeom>
          <a:noFill/>
          <a:ln w="12700">
            <a:solidFill>
              <a:srgbClr val="2A2D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755648"/>
            <a:ext cx="411480" cy="365760"/>
          </a:xfrm>
          <a:prstGeom prst="ellipse">
            <a:avLst/>
          </a:prstGeom>
          <a:solidFill>
            <a:srgbClr val="14161E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556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17373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Esferas externas: dónde se genera valor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19659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Producto, Personas, Operaciones. Un ejemplo de cada nivel por esfera.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2743200"/>
            <a:ext cx="0" cy="320040"/>
          </a:xfrm>
          <a:prstGeom prst="line">
            <a:avLst/>
          </a:prstGeom>
          <a:noFill/>
          <a:ln w="12700">
            <a:solidFill>
              <a:srgbClr val="2A2D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395728"/>
            <a:ext cx="411480" cy="365760"/>
          </a:xfrm>
          <a:prstGeom prst="ellipse">
            <a:avLst/>
          </a:prstGeom>
          <a:solidFill>
            <a:srgbClr val="14161E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3957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23774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Esferas habilitadoras: sin esto, nada funciona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2606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Conocimiento, Decisión. Diagnóstico de capacidad real.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423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5840" y="3383280"/>
            <a:ext cx="0" cy="320040"/>
          </a:xfrm>
          <a:prstGeom prst="line">
            <a:avLst/>
          </a:prstGeom>
          <a:noFill/>
          <a:ln w="12700">
            <a:solidFill>
              <a:srgbClr val="2A2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035808"/>
            <a:ext cx="411480" cy="365760"/>
          </a:xfrm>
          <a:prstGeom prst="ellipse">
            <a:avLst/>
          </a:prstGeom>
          <a:solidFill>
            <a:srgbClr val="14161E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0358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71600" y="30175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Regulación: lo que no se puede ignorar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2461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Act, GDPR, regulación sectorial. El tema que más preocupa al consejo.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" y="4023360"/>
            <a:ext cx="0" cy="320040"/>
          </a:xfrm>
          <a:prstGeom prst="line">
            <a:avLst/>
          </a:prstGeom>
          <a:noFill/>
          <a:ln w="12700">
            <a:solidFill>
              <a:srgbClr val="2A2D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675888"/>
            <a:ext cx="411480" cy="365760"/>
          </a:xfrm>
          <a:prstGeom prst="ellipse">
            <a:avLst/>
          </a:prstGeom>
          <a:solidFill>
            <a:srgbClr val="14161E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6758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3657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provocación Block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3886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"¿Sustituir, aumentar o reorganizar personas con IA?" Forzar posicionamiento.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4315968"/>
            <a:ext cx="411480" cy="365760"/>
          </a:xfrm>
          <a:prstGeom prst="ellipse">
            <a:avLst/>
          </a:prstGeom>
          <a:solidFill>
            <a:srgbClr val="14161E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3159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42976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IA + primeros 90 días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71600" y="4526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madurez (mes 1), mapa de riesgos (mes 2), estructura de gobernanza (mes 3).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7240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54864" cy="14630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E6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de Esferas 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esferas · 3 niveles de impacto · Agnóstico de industria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Consejero Externo de Inteligencia Artificial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Marco de Esferas IA — Consejo de Administración</dc:title>
  <dc:subject>PptxGenJS Presentation</dc:subject>
  <dc:creator>Fernando</dc:creator>
  <cp:lastModifiedBy>Fernando</cp:lastModifiedBy>
  <cp:revision>1</cp:revision>
  <dcterms:created xsi:type="dcterms:W3CDTF">2026-04-20T17:11:49Z</dcterms:created>
  <dcterms:modified xsi:type="dcterms:W3CDTF">2026-04-20T17:11:49Z</dcterms:modified>
</cp:coreProperties>
</file>
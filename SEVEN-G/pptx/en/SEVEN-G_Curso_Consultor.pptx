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 id="278" r:id="rIdS23"/>
    <p:sldId id="279" r:id="rIdS24"/>
    <p:sldId id="280" r:id="rIdS25"/>
    <p:sldId id="281" r:id="rIdS26"/>
    <p:sldId id="282" r:id="rIdS27"/>
  </p:sldIdLst>
  <p:sldSz cx="12192000" cy="6858000" type="screen16x9"/>
  <p:notesSz cx="6858000" cy="9144000"/>
</p:presentation>
</file>

<file path=ppt/_rels/presentation.xml.rels><?xml version="1.0" encoding="UTF-8" standalone="yes"?><Relationships xmlns="http://schemas.openxmlformats.org/package/2006/relationships"><Relationship Id="rIdM1" Type="http://schemas.openxmlformats.org/officeDocument/2006/relationships/slideMaster" Target="slideMasters/slideMaster1.xml"/><Relationship Id="rIdT1" Type="http://schemas.openxmlformats.org/officeDocument/2006/relationships/theme" Target="theme/theme1.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 Id="rIdS26" Type="http://schemas.openxmlformats.org/officeDocument/2006/relationships/slide" Target="slides/slide26.xml"/><Relationship Id="rIdS27" Type="http://schemas.openxmlformats.org/officeDocument/2006/relationships/slide" Target="slides/slide27.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Img_registro" Type="http://schemas.openxmlformats.org/officeDocument/2006/relationships/image" Target="../media/registro.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Img_embudo" Type="http://schemas.openxmlformats.org/officeDocument/2006/relationships/image" Target="../media/embudo.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Img_panel" Type="http://schemas.openxmlformats.org/officeDocument/2006/relationships/image" Target="../media/panel.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Img_impacto" Type="http://schemas.openxmlformats.org/officeDocument/2006/relationships/image" Target="../media/impacto.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6" name="Marca"/>
          <p:cNvSpPr/>
          <p:nvPr/>
        </p:nvSpPr>
        <p:spPr>
          <a:xfrm>
            <a:off x="609600" y="365760"/>
            <a:ext cx="182880" cy="182880"/>
          </a:xfrm>
          <a:prstGeom prst="rect">
            <a:avLst/>
          </a:prstGeom>
          <a:solidFill>
            <a:srgbClr val="990F3D"/>
          </a:solidFill>
        </p:spPr>
        <p:txBody>
          <a:bodyPr/>
          <a:lstStyle/>
          <a:p/>
        </p:txBody>
      </p:sp>
      <p:sp>
        <p:nvSpPr>
          <p:cNvPr id="7" name="Texto 7"/>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2" name="Texto 2"/>
          <p:cNvSpPr txBox="1"/>
          <p:nvPr/>
        </p:nvSpPr>
        <p:spPr>
          <a:xfrm>
            <a:off x="609600" y="1350000"/>
            <a:ext cx="10972800" cy="1100000"/>
          </a:xfrm>
          <a:prstGeom prst="rect">
            <a:avLst/>
          </a:prstGeom>
          <a:noFill/>
        </p:spPr>
        <p:txBody>
          <a:bodyPr wrap="square" anchor="t" lIns="45720" rIns="45720">
            <a:noAutofit/>
          </a:bodyPr>
          <a:lstStyle/>
          <a:p>
            <a:pPr algn="l"/>
            <a:r>
              <a:rPr lang="es-ES" sz="5000" b="1" dirty="0">
                <a:solidFill>
                  <a:srgbClr val="1A1817"/>
                </a:solidFill>
              </a:rPr>
              <a:t>SEVEN-G</a:t>
            </a:r>
          </a:p>
        </p:txBody>
      </p:sp>
      <p:sp>
        <p:nvSpPr>
          <p:cNvPr id="3" name="Caja 3"/>
          <p:cNvSpPr/>
          <p:nvPr/>
        </p:nvSpPr>
        <p:spPr>
          <a:xfrm>
            <a:off x="609600" y="2600000"/>
            <a:ext cx="5200000" cy="560000"/>
          </a:xfrm>
          <a:prstGeom prst="roundRect">
            <a:avLst>
              <a:gd name="adj" fmla="val 6000"/>
            </a:avLst>
          </a:prstGeom>
          <a:solidFill>
            <a:srgbClr val="990F3D"/>
          </a:solidFill>
          <a:ln>
            <a:noFill/>
          </a:ln>
        </p:spPr>
        <p:txBody>
          <a:bodyPr wrap="square" anchor="ctr" lIns="45720" rIns="45720">
            <a:noAutofit/>
          </a:bodyPr>
          <a:lstStyle/>
          <a:p>
            <a:pPr algn="ctr"/>
            <a:r>
              <a:rPr lang="es-ES" sz="1800" b="1" dirty="0">
                <a:solidFill>
                  <a:srgbClr val="FFFFFF"/>
                </a:solidFill>
              </a:rPr>
              <a:t>Consultant · Supporting clients</a:t>
            </a:r>
          </a:p>
        </p:txBody>
      </p:sp>
      <p:sp>
        <p:nvSpPr>
          <p:cNvPr id="4" name="Texto 4"/>
          <p:cNvSpPr txBox="1"/>
          <p:nvPr/>
        </p:nvSpPr>
        <p:spPr>
          <a:xfrm>
            <a:off x="609600" y="3450000"/>
            <a:ext cx="10500000" cy="1500000"/>
          </a:xfrm>
          <a:prstGeom prst="rect">
            <a:avLst/>
          </a:prstGeom>
          <a:noFill/>
        </p:spPr>
        <p:txBody>
          <a:bodyPr wrap="square" anchor="t" lIns="45720" rIns="45720">
            <a:noAutofit/>
          </a:bodyPr>
          <a:lstStyle/>
          <a:p>
            <a:pPr algn="l"/>
            <a:r>
              <a:rPr lang="es-ES" sz="2000" dirty="0">
                <a:solidFill>
                  <a:srgbClr val="2F2B28"/>
                </a:solidFill>
              </a:rPr>
              <a:t>What SEVEN-G is, how the initiative funnel gets filled all the way to the board dashboard, and how to apply it at your clients under your own name.</a:t>
            </a:r>
          </a:p>
        </p:txBody>
      </p:sp>
      <p:sp>
        <p:nvSpPr>
          <p:cNvPr id="5" name="Texto 5"/>
          <p:cNvSpPr txBox="1"/>
          <p:nvPr/>
        </p:nvSpPr>
        <p:spPr>
          <a:xfrm>
            <a:off x="609600" y="6150000"/>
            <a:ext cx="10972800" cy="450000"/>
          </a:xfrm>
          <a:prstGeom prst="rect">
            <a:avLst/>
          </a:prstGeom>
          <a:noFill/>
        </p:spPr>
        <p:txBody>
          <a:bodyPr wrap="square" anchor="t" lIns="45720" rIns="45720">
            <a:noAutofit/>
          </a:bodyPr>
          <a:lstStyle/>
          <a:p>
            <a:pPr algn="l"/>
            <a:r>
              <a:rPr lang="es-ES" sz="1400" dirty="0">
                <a:solidFill>
                  <a:srgbClr val="0F5499"/>
                </a:solidFill>
              </a:rPr>
              <a:t>Fernando García Varela · Self-learning course · CC BY 4.0 · Examples with fictitious data</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0" name="Marca"/>
          <p:cNvSpPr/>
          <p:nvPr/>
        </p:nvSpPr>
        <p:spPr>
          <a:xfrm>
            <a:off x="609600" y="365760"/>
            <a:ext cx="182880" cy="182880"/>
          </a:xfrm>
          <a:prstGeom prst="rect">
            <a:avLst/>
          </a:prstGeom>
          <a:solidFill>
            <a:srgbClr val="990F3D"/>
          </a:solidFill>
        </p:spPr>
        <p:txBody>
          <a:bodyPr/>
          <a:lstStyle/>
          <a:p/>
        </p:txBody>
      </p:sp>
      <p:sp>
        <p:nvSpPr>
          <p:cNvPr id="11" name="Texto 1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12" name="Texto 1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The problem it solves</a:t>
            </a:r>
          </a:p>
        </p:txBody>
      </p:sp>
      <p:sp>
        <p:nvSpPr>
          <p:cNvPr id="8" name="Texto 8"/>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Many companies have AI pilots that work, but few reach production.</a:t>
            </a:r>
          </a:p>
          <a:p>
            <a:pPr marL="285750" indent="-285750">
              <a:spcAft>
                <a:spcPts val="400"/>
              </a:spcAft>
              <a:buClr>
                <a:srgbClr val="990F3D"/>
              </a:buClr>
              <a:buFont typeface="Arial"/>
              <a:buChar char="•"/>
            </a:pPr>
            <a:r>
              <a:rPr lang="es-ES" sz="1800" dirty="0">
                <a:solidFill>
                  <a:srgbClr val="2F2B28"/>
                </a:solidFill>
              </a:rPr>
              <a:t>Value gets declared ("we freed up 200 hours") and almost nobody checks it.</a:t>
            </a:r>
          </a:p>
          <a:p>
            <a:pPr marL="285750" indent="-285750">
              <a:spcAft>
                <a:spcPts val="400"/>
              </a:spcAft>
              <a:buClr>
                <a:srgbClr val="990F3D"/>
              </a:buClr>
              <a:buFont typeface="Arial"/>
              <a:buChar char="•"/>
            </a:pPr>
            <a:r>
              <a:rPr lang="es-ES" sz="1800" dirty="0">
                <a:solidFill>
                  <a:srgbClr val="2F2B28"/>
                </a:solidFill>
              </a:rPr>
              <a:t>Nobody has clear authority to stop an initiative that is not working.</a:t>
            </a:r>
          </a:p>
          <a:p>
            <a:pPr marL="285750" indent="-285750">
              <a:spcAft>
                <a:spcPts val="400"/>
              </a:spcAft>
              <a:buClr>
                <a:srgbClr val="990F3D"/>
              </a:buClr>
              <a:buFont typeface="Arial"/>
              <a:buChar char="•"/>
            </a:pPr>
            <a:r>
              <a:rPr lang="es-ES" sz="1800" dirty="0">
                <a:solidFill>
                  <a:srgbClr val="2F2B28"/>
                </a:solidFill>
              </a:rPr>
              <a:t>The board asks about AI and gets a list of technical projects, not business decisions.</a:t>
            </a:r>
          </a:p>
          <a:p>
            <a:pPr marL="285750" indent="-285750">
              <a:spcAft>
                <a:spcPts val="400"/>
              </a:spcAft>
              <a:buClr>
                <a:srgbClr val="990F3D"/>
              </a:buClr>
              <a:buFont typeface="Arial"/>
              <a:buChar char="•"/>
            </a:pPr>
            <a:r>
              <a:rPr lang="es-ES" sz="1800" dirty="0">
                <a:solidFill>
                  <a:srgbClr val="2F2B28"/>
                </a:solidFill>
              </a:rPr>
              <a:t>Is the company transforming with AI, or just a bit more efficient? Almost nobody can answer that with evidence.</a:t>
            </a:r>
          </a:p>
        </p:txBody>
      </p:sp>
      <p:sp>
        <p:nvSpPr>
          <p:cNvPr id="9" name="Texto 9"/>
          <p:cNvSpPr txBox="1"/>
          <p:nvPr/>
        </p:nvSpPr>
        <p:spPr>
          <a:xfrm>
            <a:off x="609600" y="6250000"/>
            <a:ext cx="10972800" cy="450000"/>
          </a:xfrm>
          <a:prstGeom prst="rect">
            <a:avLst/>
          </a:prstGeom>
          <a:noFill/>
        </p:spPr>
        <p:txBody>
          <a:bodyPr wrap="square" anchor="t" lIns="45720" rIns="45720">
            <a:noAutofit/>
          </a:bodyPr>
          <a:lstStyle/>
          <a:p>
            <a:pPr algn="l"/>
            <a:r>
              <a:rPr lang="es-ES" sz="1400" b="1" dirty="0">
                <a:solidFill>
                  <a:srgbClr val="0F5499"/>
                </a:solidFill>
              </a:rPr>
              <a:t>This is not a technology problem: it is a governance and measurement problem.</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4" name="Marca"/>
          <p:cNvSpPr/>
          <p:nvPr/>
        </p:nvSpPr>
        <p:spPr>
          <a:xfrm>
            <a:off x="609600" y="365760"/>
            <a:ext cx="182880" cy="182880"/>
          </a:xfrm>
          <a:prstGeom prst="rect">
            <a:avLst/>
          </a:prstGeom>
          <a:solidFill>
            <a:srgbClr val="990F3D"/>
          </a:solidFill>
        </p:spPr>
        <p:txBody>
          <a:bodyPr/>
          <a:lstStyle/>
          <a:p/>
        </p:txBody>
      </p:sp>
      <p:sp>
        <p:nvSpPr>
          <p:cNvPr id="15" name="Texto 1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16" name="Texto 1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What SEVEN-G is and what it delivers</a:t>
            </a:r>
          </a:p>
        </p:txBody>
      </p:sp>
      <p:sp>
        <p:nvSpPr>
          <p:cNvPr id="13" name="Texto 13"/>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Seven-phase Enterprise Value &amp; Governance: an enabling phase 0 and seven value phases, with governance throughout.</a:t>
            </a:r>
          </a:p>
          <a:p>
            <a:pPr marL="285750" indent="-285750">
              <a:spcAft>
                <a:spcPts val="400"/>
              </a:spcAft>
              <a:buClr>
                <a:srgbClr val="990F3D"/>
              </a:buClr>
              <a:buFont typeface="Arial"/>
              <a:buChar char="•"/>
            </a:pPr>
            <a:r>
              <a:rPr lang="es-ES" sz="1800" dirty="0">
                <a:solidFill>
                  <a:srgbClr val="2F2B28"/>
                </a:solidFill>
              </a:rPr>
              <a:t>It organises AI as a portfolio: every initiative has a phase, a cost, expected value and an owner.</a:t>
            </a:r>
          </a:p>
          <a:p>
            <a:pPr marL="285750" indent="-285750">
              <a:spcAft>
                <a:spcPts val="400"/>
              </a:spcAft>
              <a:buClr>
                <a:srgbClr val="990F3D"/>
              </a:buClr>
              <a:buFont typeface="Arial"/>
              <a:buChar char="•"/>
            </a:pPr>
            <a:r>
              <a:rPr lang="es-ES" sz="1800" dirty="0">
                <a:solidFill>
                  <a:srgbClr val="2F2B28"/>
                </a:solidFill>
              </a:rPr>
              <a:t>It places decision gates between phases: no verified evidence, no progress.</a:t>
            </a:r>
          </a:p>
          <a:p>
            <a:pPr marL="285750" indent="-285750">
              <a:spcAft>
                <a:spcPts val="400"/>
              </a:spcAft>
              <a:buClr>
                <a:srgbClr val="990F3D"/>
              </a:buClr>
              <a:buFont typeface="Arial"/>
              <a:buChar char="•"/>
            </a:pPr>
            <a:r>
              <a:rPr lang="es-ES" sz="1800" dirty="0">
                <a:solidFill>
                  <a:srgbClr val="2F2B28"/>
                </a:solidFill>
              </a:rPr>
              <a:t>It separates who decides, who builds and who controls, and turns regulation into phases, roles and evidence.</a:t>
            </a:r>
          </a:p>
          <a:p>
            <a:pPr marL="285750" indent="-285750">
              <a:spcAft>
                <a:spcPts val="400"/>
              </a:spcAft>
              <a:buClr>
                <a:srgbClr val="990F3D"/>
              </a:buClr>
              <a:buFont typeface="Arial"/>
              <a:buChar char="•"/>
            </a:pPr>
            <a:r>
              <a:rPr lang="es-ES" sz="1800" dirty="0">
                <a:solidFill>
                  <a:srgbClr val="2F2B28"/>
                </a:solidFill>
              </a:rPr>
              <a:t>It measures value in money and with a status —validated, declared or estimated— and shows it to the board on a dashboard.</a:t>
            </a:r>
          </a:p>
          <a:p>
            <a:pPr marL="285750" indent="-285750">
              <a:spcAft>
                <a:spcPts val="400"/>
              </a:spcAft>
              <a:buClr>
                <a:srgbClr val="990F3D"/>
              </a:buClr>
              <a:buFont typeface="Arial"/>
              <a:buChar char="•"/>
            </a:pPr>
            <a:r>
              <a:rPr lang="es-ES" sz="1800" dirty="0">
                <a:solidFill>
                  <a:srgbClr val="2F2B28"/>
                </a:solidFill>
              </a:rPr>
              <a:t>It is free and modifiable: documents, Word templates and tools, under an open licence.</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8" name="Marca"/>
          <p:cNvSpPr/>
          <p:nvPr/>
        </p:nvSpPr>
        <p:spPr>
          <a:xfrm>
            <a:off x="609600" y="365760"/>
            <a:ext cx="182880" cy="182880"/>
          </a:xfrm>
          <a:prstGeom prst="rect">
            <a:avLst/>
          </a:prstGeom>
          <a:solidFill>
            <a:srgbClr val="990F3D"/>
          </a:solidFill>
        </p:spPr>
        <p:txBody>
          <a:bodyPr/>
          <a:lstStyle/>
          <a:p/>
        </p:txBody>
      </p:sp>
      <p:sp>
        <p:nvSpPr>
          <p:cNvPr id="19" name="Texto 19"/>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20" name="Texto 20"/>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Two levels: the company and each initiative</a:t>
            </a:r>
          </a:p>
        </p:txBody>
      </p:sp>
      <p:sp>
        <p:nvSpPr>
          <p:cNvPr id="17" name="Texto 17"/>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C1 · Diagnosis: inventory, maturity across seven dimensions and the transformation index.</a:t>
            </a:r>
          </a:p>
          <a:p>
            <a:pPr marL="285750" indent="-285750">
              <a:spcAft>
                <a:spcPts val="400"/>
              </a:spcAft>
              <a:buClr>
                <a:srgbClr val="990F3D"/>
              </a:buClr>
              <a:buFont typeface="Arial"/>
              <a:buChar char="•"/>
            </a:pPr>
            <a:r>
              <a:rPr lang="es-ES" sz="1800" dirty="0">
                <a:solidFill>
                  <a:srgbClr val="2F2B28"/>
                </a:solidFill>
              </a:rPr>
              <a:t>C2 · Direction: the board approves the AI thesis, ambition per sphere and risk appetite.</a:t>
            </a:r>
          </a:p>
          <a:p>
            <a:pPr marL="285750" indent="-285750">
              <a:spcAft>
                <a:spcPts val="400"/>
              </a:spcAft>
              <a:buClr>
                <a:srgbClr val="990F3D"/>
              </a:buClr>
              <a:buFont typeface="Arial"/>
              <a:buChar char="•"/>
            </a:pPr>
            <a:r>
              <a:rPr lang="es-ES" sz="1800" dirty="0">
                <a:solidFill>
                  <a:srgbClr val="2F2B28"/>
                </a:solidFill>
              </a:rPr>
              <a:t>C3 · Portfolio: which initiatives get funded, and in what order.</a:t>
            </a:r>
          </a:p>
          <a:p>
            <a:pPr marL="285750" indent="-285750">
              <a:spcAft>
                <a:spcPts val="400"/>
              </a:spcAft>
              <a:buClr>
                <a:srgbClr val="990F3D"/>
              </a:buClr>
              <a:buFont typeface="Arial"/>
              <a:buChar char="•"/>
            </a:pPr>
            <a:r>
              <a:rPr lang="es-ES" sz="1800" dirty="0">
                <a:solidFill>
                  <a:srgbClr val="2F2B28"/>
                </a:solidFill>
              </a:rPr>
              <a:t>C4 · Oversight: board dashboard and the log of decisions and recommendations.</a:t>
            </a:r>
          </a:p>
          <a:p>
            <a:pPr marL="285750" indent="-285750">
              <a:spcAft>
                <a:spcPts val="400"/>
              </a:spcAft>
              <a:buClr>
                <a:srgbClr val="990F3D"/>
              </a:buClr>
              <a:buFont typeface="Arial"/>
              <a:buChar char="•"/>
            </a:pPr>
            <a:r>
              <a:rPr lang="es-ES" sz="1800" dirty="0">
                <a:solidFill>
                  <a:srgbClr val="2F2B28"/>
                </a:solidFill>
              </a:rPr>
              <a:t>C5 · Annual review: what worked, what did not and what changes.</a:t>
            </a:r>
          </a:p>
          <a:p>
            <a:pPr marL="285750" indent="-285750">
              <a:spcAft>
                <a:spcPts val="400"/>
              </a:spcAft>
              <a:buClr>
                <a:srgbClr val="990F3D"/>
              </a:buClr>
              <a:buFont typeface="Arial"/>
              <a:buChar char="•"/>
            </a:pPr>
            <a:r>
              <a:rPr lang="es-ES" sz="1800" dirty="0">
                <a:solidFill>
                  <a:srgbClr val="2F2B28"/>
                </a:solidFill>
              </a:rPr>
              <a:t>And, inside that portfolio, each initiative goes through its own eight-phase lifecycle.</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42" name="Marca"/>
          <p:cNvSpPr/>
          <p:nvPr/>
        </p:nvSpPr>
        <p:spPr>
          <a:xfrm>
            <a:off x="609600" y="365760"/>
            <a:ext cx="182880" cy="182880"/>
          </a:xfrm>
          <a:prstGeom prst="rect">
            <a:avLst/>
          </a:prstGeom>
          <a:solidFill>
            <a:srgbClr val="990F3D"/>
          </a:solidFill>
        </p:spPr>
        <p:txBody>
          <a:bodyPr/>
          <a:lstStyle/>
          <a:p/>
        </p:txBody>
      </p:sp>
      <p:sp>
        <p:nvSpPr>
          <p:cNvPr id="43" name="Texto 4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44" name="Texto 4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An initiative's lifecycle</a:t>
            </a:r>
          </a:p>
        </p:txBody>
      </p:sp>
      <p:sp>
        <p:nvSpPr>
          <p:cNvPr id="45" name="Texto 4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Eight phases with a decision gate at the end of each; below, the funnel stage where each phase shows up</a:t>
            </a:r>
          </a:p>
        </p:txBody>
      </p:sp>
      <p:sp>
        <p:nvSpPr>
          <p:cNvPr id="21" name="Caja 21"/>
          <p:cNvSpPr/>
          <p:nvPr/>
        </p:nvSpPr>
        <p:spPr>
          <a:xfrm>
            <a:off x="681000" y="2350000"/>
            <a:ext cx="1240000" cy="1500000"/>
          </a:xfrm>
          <a:prstGeom prst="roundRect">
            <a:avLst>
              <a:gd name="adj" fmla="val 6000"/>
            </a:avLst>
          </a:prstGeom>
          <a:solidFill>
            <a:srgbClr val="564D47"/>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 and constraints</a:t>
            </a:r>
          </a:p>
        </p:txBody>
      </p:sp>
      <p:sp>
        <p:nvSpPr>
          <p:cNvPr id="22" name="Texto 22"/>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23" name="Caja 23"/>
          <p:cNvSpPr/>
          <p:nvPr/>
        </p:nvSpPr>
        <p:spPr>
          <a:xfrm>
            <a:off x="205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Opportunity discovery</a:t>
            </a:r>
          </a:p>
        </p:txBody>
      </p:sp>
      <p:sp>
        <p:nvSpPr>
          <p:cNvPr id="24" name="Texto 24"/>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25" name="Caja 25"/>
          <p:cNvSpPr/>
          <p:nvPr/>
        </p:nvSpPr>
        <p:spPr>
          <a:xfrm>
            <a:off x="342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Value hypothesis</a:t>
            </a:r>
          </a:p>
        </p:txBody>
      </p:sp>
      <p:sp>
        <p:nvSpPr>
          <p:cNvPr id="26" name="Texto 26"/>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27" name="Caja 27"/>
          <p:cNvSpPr/>
          <p:nvPr/>
        </p:nvSpPr>
        <p:spPr>
          <a:xfrm>
            <a:off x="479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Feasibility and risk</a:t>
            </a:r>
          </a:p>
        </p:txBody>
      </p:sp>
      <p:sp>
        <p:nvSpPr>
          <p:cNvPr id="28" name="Texto 28"/>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29" name="Caja 29"/>
          <p:cNvSpPr/>
          <p:nvPr/>
        </p:nvSpPr>
        <p:spPr>
          <a:xfrm>
            <a:off x="6161000" y="2350000"/>
            <a:ext cx="1240000" cy="1500000"/>
          </a:xfrm>
          <a:prstGeom prst="roundRect">
            <a:avLst>
              <a:gd name="adj" fmla="val 6000"/>
            </a:avLst>
          </a:prstGeom>
          <a:solidFill>
            <a:srgbClr val="593380"/>
          </a:solidFill>
          <a:ln>
            <a:noFill/>
          </a:ln>
        </p:spPr>
        <p:txBody>
          <a:bodyPr wrap="square" anchor="ctr" lIns="45720" rIns="45720">
            <a:noAutofit/>
          </a:bodyPr>
          <a:lstStyle/>
          <a:p>
            <a:pPr algn="ctr"/>
            <a:r>
              <a:rPr lang="es-ES" sz="2400" b="1" dirty="0">
                <a:solidFill>
                  <a:srgbClr val="FFFFFF"/>
                </a:solidFill>
              </a:rPr>
              <a:t>F4</a:t>
            </a:r>
          </a:p>
          <a:p>
            <a:pPr algn="ctr"/>
            <a:r>
              <a:rPr lang="es-ES" sz="1050" dirty="0">
                <a:solidFill>
                  <a:srgbClr val="FFFFFF"/>
                </a:solidFill>
              </a:rPr>
              <a:t>Solution design</a:t>
            </a:r>
          </a:p>
        </p:txBody>
      </p:sp>
      <p:sp>
        <p:nvSpPr>
          <p:cNvPr id="30" name="Texto 30"/>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31" name="Caja 31"/>
          <p:cNvSpPr/>
          <p:nvPr/>
        </p:nvSpPr>
        <p:spPr>
          <a:xfrm>
            <a:off x="7531000" y="2350000"/>
            <a:ext cx="1240000" cy="1500000"/>
          </a:xfrm>
          <a:prstGeom prst="roundRect">
            <a:avLst>
              <a:gd name="adj" fmla="val 6000"/>
            </a:avLst>
          </a:prstGeom>
          <a:solidFill>
            <a:srgbClr val="593380"/>
          </a:solidFill>
          <a:ln>
            <a:noFill/>
          </a:ln>
        </p:spPr>
        <p:txBody>
          <a:bodyPr wrap="square" anchor="ctr" lIns="45720" rIns="45720">
            <a:noAutofit/>
          </a:bodyPr>
          <a:lstStyle/>
          <a:p>
            <a:pPr algn="ctr"/>
            <a:r>
              <a:rPr lang="es-ES" sz="2400" b="1" dirty="0">
                <a:solidFill>
                  <a:srgbClr val="FFFFFF"/>
                </a:solidFill>
              </a:rPr>
              <a:t>F5</a:t>
            </a:r>
          </a:p>
          <a:p>
            <a:pPr algn="ctr"/>
            <a:r>
              <a:rPr lang="es-ES" sz="1050" dirty="0">
                <a:solidFill>
                  <a:srgbClr val="FFFFFF"/>
                </a:solidFill>
              </a:rPr>
              <a:t>Delivery and validation</a:t>
            </a:r>
          </a:p>
        </p:txBody>
      </p:sp>
      <p:sp>
        <p:nvSpPr>
          <p:cNvPr id="32" name="Texto 32"/>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33" name="Caja 33"/>
          <p:cNvSpPr/>
          <p:nvPr/>
        </p:nvSpPr>
        <p:spPr>
          <a:xfrm>
            <a:off x="890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F6</a:t>
            </a:r>
          </a:p>
          <a:p>
            <a:pPr algn="ctr"/>
            <a:r>
              <a:rPr lang="es-ES" sz="1050" dirty="0">
                <a:solidFill>
                  <a:srgbClr val="FFFFFF"/>
                </a:solidFill>
              </a:rPr>
              <a:t>Operation and governance</a:t>
            </a:r>
          </a:p>
        </p:txBody>
      </p:sp>
      <p:sp>
        <p:nvSpPr>
          <p:cNvPr id="34" name="Texto 34"/>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35" name="Caja 35"/>
          <p:cNvSpPr/>
          <p:nvPr/>
        </p:nvSpPr>
        <p:spPr>
          <a:xfrm>
            <a:off x="1027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F7</a:t>
            </a:r>
          </a:p>
          <a:p>
            <a:pPr algn="ctr"/>
            <a:r>
              <a:rPr lang="es-ES" sz="1050" dirty="0">
                <a:solidFill>
                  <a:srgbClr val="FFFFFF"/>
                </a:solidFill>
              </a:rPr>
              <a:t>Evolution or retirement</a:t>
            </a:r>
          </a:p>
        </p:txBody>
      </p:sp>
      <p:sp>
        <p:nvSpPr>
          <p:cNvPr id="36" name="Texto 36"/>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37" name="Caja 37"/>
          <p:cNvSpPr/>
          <p:nvPr/>
        </p:nvSpPr>
        <p:spPr>
          <a:xfrm>
            <a:off x="681000" y="4330000"/>
            <a:ext cx="2610000" cy="520000"/>
          </a:xfrm>
          <a:prstGeom prst="roundRect">
            <a:avLst>
              <a:gd name="adj" fmla="val 6000"/>
            </a:avLst>
          </a:prstGeom>
          <a:solidFill>
            <a:srgbClr val="593380"/>
          </a:solidFill>
          <a:ln>
            <a:noFill/>
          </a:ln>
        </p:spPr>
        <p:txBody>
          <a:bodyPr wrap="square" anchor="ctr" lIns="45720" rIns="45720">
            <a:noAutofit/>
          </a:bodyPr>
          <a:lstStyle/>
          <a:p>
            <a:pPr algn="ctr"/>
            <a:r>
              <a:rPr lang="es-ES" sz="1300" b="1" dirty="0">
                <a:solidFill>
                  <a:srgbClr val="FFFFFF"/>
                </a:solidFill>
              </a:rPr>
              <a:t>Proposed</a:t>
            </a:r>
          </a:p>
        </p:txBody>
      </p:sp>
      <p:sp>
        <p:nvSpPr>
          <p:cNvPr id="38" name="Caja 38"/>
          <p:cNvSpPr/>
          <p:nvPr/>
        </p:nvSpPr>
        <p:spPr>
          <a:xfrm>
            <a:off x="3421000" y="4330000"/>
            <a:ext cx="1240000" cy="520000"/>
          </a:xfrm>
          <a:prstGeom prst="roundRect">
            <a:avLst>
              <a:gd name="adj" fmla="val 6000"/>
            </a:avLst>
          </a:prstGeom>
          <a:solidFill>
            <a:srgbClr val="0F5499"/>
          </a:solidFill>
          <a:ln>
            <a:noFill/>
          </a:ln>
        </p:spPr>
        <p:txBody>
          <a:bodyPr wrap="square" anchor="ctr" lIns="45720" rIns="45720">
            <a:noAutofit/>
          </a:bodyPr>
          <a:lstStyle/>
          <a:p>
            <a:pPr algn="ctr"/>
            <a:r>
              <a:rPr lang="es-ES" sz="1300" b="1" dirty="0">
                <a:solidFill>
                  <a:srgbClr val="FFFFFF"/>
                </a:solidFill>
              </a:rPr>
              <a:t>Value hypothesis</a:t>
            </a:r>
          </a:p>
        </p:txBody>
      </p:sp>
      <p:sp>
        <p:nvSpPr>
          <p:cNvPr id="39" name="Caja 39"/>
          <p:cNvSpPr/>
          <p:nvPr/>
        </p:nvSpPr>
        <p:spPr>
          <a:xfrm>
            <a:off x="4791000" y="4330000"/>
            <a:ext cx="1240000" cy="520000"/>
          </a:xfrm>
          <a:prstGeom prst="roundRect">
            <a:avLst>
              <a:gd name="adj" fmla="val 6000"/>
            </a:avLst>
          </a:prstGeom>
          <a:solidFill>
            <a:srgbClr val="A5822A"/>
          </a:solidFill>
          <a:ln>
            <a:noFill/>
          </a:ln>
        </p:spPr>
        <p:txBody>
          <a:bodyPr wrap="square" anchor="ctr" lIns="45720" rIns="45720">
            <a:noAutofit/>
          </a:bodyPr>
          <a:lstStyle/>
          <a:p>
            <a:pPr algn="ctr"/>
            <a:r>
              <a:rPr lang="es-ES" sz="1300" b="1" dirty="0">
                <a:solidFill>
                  <a:srgbClr val="FFFFFF"/>
                </a:solidFill>
              </a:rPr>
              <a:t>Proof of concept</a:t>
            </a:r>
          </a:p>
        </p:txBody>
      </p:sp>
      <p:sp>
        <p:nvSpPr>
          <p:cNvPr id="40" name="Caja 40"/>
          <p:cNvSpPr/>
          <p:nvPr/>
        </p:nvSpPr>
        <p:spPr>
          <a:xfrm>
            <a:off x="6161000" y="4330000"/>
            <a:ext cx="2610000" cy="520000"/>
          </a:xfrm>
          <a:prstGeom prst="roundRect">
            <a:avLst>
              <a:gd name="adj" fmla="val 6000"/>
            </a:avLst>
          </a:prstGeom>
          <a:solidFill>
            <a:srgbClr val="1A1817"/>
          </a:solidFill>
          <a:ln>
            <a:noFill/>
          </a:ln>
        </p:spPr>
        <p:txBody>
          <a:bodyPr wrap="square" anchor="ctr" lIns="45720" rIns="45720">
            <a:noAutofit/>
          </a:bodyPr>
          <a:lstStyle/>
          <a:p>
            <a:pPr algn="ctr"/>
            <a:r>
              <a:rPr lang="es-ES" sz="1300" b="1" dirty="0">
                <a:solidFill>
                  <a:srgbClr val="FFFFFF"/>
                </a:solidFill>
              </a:rPr>
              <a:t>In development</a:t>
            </a:r>
          </a:p>
        </p:txBody>
      </p:sp>
      <p:sp>
        <p:nvSpPr>
          <p:cNvPr id="41" name="Caja 41"/>
          <p:cNvSpPr/>
          <p:nvPr/>
        </p:nvSpPr>
        <p:spPr>
          <a:xfrm>
            <a:off x="8901000" y="4330000"/>
            <a:ext cx="2610000" cy="520000"/>
          </a:xfrm>
          <a:prstGeom prst="roundRect">
            <a:avLst>
              <a:gd name="adj" fmla="val 6000"/>
            </a:avLst>
          </a:prstGeom>
          <a:solidFill>
            <a:srgbClr val="2E7D32"/>
          </a:solidFill>
          <a:ln>
            <a:noFill/>
          </a:ln>
        </p:spPr>
        <p:txBody>
          <a:bodyPr wrap="square" anchor="ctr" lIns="45720" rIns="45720">
            <a:noAutofit/>
          </a:bodyPr>
          <a:lstStyle/>
          <a:p>
            <a:pPr algn="ctr"/>
            <a:r>
              <a:rPr lang="es-ES" sz="1300" b="1" dirty="0">
                <a:solidFill>
                  <a:srgbClr val="FFFFFF"/>
                </a:solidFill>
              </a:rPr>
              <a:t>In use</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62" name="Marca"/>
          <p:cNvSpPr/>
          <p:nvPr/>
        </p:nvSpPr>
        <p:spPr>
          <a:xfrm>
            <a:off x="609600" y="365760"/>
            <a:ext cx="182880" cy="182880"/>
          </a:xfrm>
          <a:prstGeom prst="rect">
            <a:avLst/>
          </a:prstGeom>
          <a:solidFill>
            <a:srgbClr val="990F3D"/>
          </a:solidFill>
        </p:spPr>
        <p:txBody>
          <a:bodyPr/>
          <a:lstStyle/>
          <a:p/>
        </p:txBody>
      </p:sp>
      <p:sp>
        <p:nvSpPr>
          <p:cNvPr id="63" name="Texto 6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64" name="Texto 6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What can happen at each gate</a:t>
            </a:r>
          </a:p>
        </p:txBody>
      </p:sp>
      <p:sp>
        <p:nvSpPr>
          <p:cNvPr id="65" name="Texto 6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Five outcomes; whoever provides the evidence never verifies it or decides</a:t>
            </a:r>
          </a:p>
        </p:txBody>
      </p:sp>
      <p:sp>
        <p:nvSpPr>
          <p:cNvPr id="46" name="Caja 46"/>
          <p:cNvSpPr/>
          <p:nvPr/>
        </p:nvSpPr>
        <p:spPr>
          <a:xfrm>
            <a:off x="609600" y="2050000"/>
            <a:ext cx="209856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Proceed</a:t>
            </a:r>
          </a:p>
        </p:txBody>
      </p:sp>
      <p:sp>
        <p:nvSpPr>
          <p:cNvPr id="47" name="Caja 47"/>
          <p:cNvSpPr/>
          <p:nvPr/>
        </p:nvSpPr>
        <p:spPr>
          <a:xfrm>
            <a:off x="60960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48" name="Texto 48"/>
          <p:cNvSpPr txBox="1"/>
          <p:nvPr/>
        </p:nvSpPr>
        <p:spPr>
          <a:xfrm>
            <a:off x="649600" y="2890000"/>
            <a:ext cx="2018560" cy="2340000"/>
          </a:xfrm>
          <a:prstGeom prst="rect">
            <a:avLst/>
          </a:prstGeom>
          <a:noFill/>
        </p:spPr>
        <p:txBody>
          <a:bodyPr wrap="square" anchor="t" lIns="45720" rIns="45720">
            <a:noAutofit/>
          </a:bodyPr>
          <a:lstStyle/>
          <a:p>
            <a:pPr algn="l"/>
            <a:r>
              <a:rPr lang="es-ES" sz="1300" dirty="0">
                <a:solidFill>
                  <a:srgbClr val="2F2B28"/>
                </a:solidFill>
              </a:rPr>
              <a:t>All criteria are met and the evidence is verified: it moves to the next phase.</a:t>
            </a:r>
          </a:p>
        </p:txBody>
      </p:sp>
      <p:sp>
        <p:nvSpPr>
          <p:cNvPr id="49" name="Caja 49"/>
          <p:cNvSpPr/>
          <p:nvPr/>
        </p:nvSpPr>
        <p:spPr>
          <a:xfrm>
            <a:off x="2828160" y="2050000"/>
            <a:ext cx="2098560" cy="8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With conditions</a:t>
            </a:r>
          </a:p>
        </p:txBody>
      </p:sp>
      <p:sp>
        <p:nvSpPr>
          <p:cNvPr id="50" name="Caja 50"/>
          <p:cNvSpPr/>
          <p:nvPr/>
        </p:nvSpPr>
        <p:spPr>
          <a:xfrm>
            <a:off x="282816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1" name="Texto 51"/>
          <p:cNvSpPr txBox="1"/>
          <p:nvPr/>
        </p:nvSpPr>
        <p:spPr>
          <a:xfrm>
            <a:off x="2868160" y="2890000"/>
            <a:ext cx="2018560" cy="2340000"/>
          </a:xfrm>
          <a:prstGeom prst="rect">
            <a:avLst/>
          </a:prstGeom>
          <a:noFill/>
        </p:spPr>
        <p:txBody>
          <a:bodyPr wrap="square" anchor="t" lIns="45720" rIns="45720">
            <a:noAutofit/>
          </a:bodyPr>
          <a:lstStyle/>
          <a:p>
            <a:pPr algn="l"/>
            <a:r>
              <a:rPr lang="es-ES" sz="1300" dirty="0">
                <a:solidFill>
                  <a:srgbClr val="2F2B28"/>
                </a:solidFill>
              </a:rPr>
              <a:t>It proceeds, with a deadline and owner for what is pending. Never for critical security, legal or human-oversight controls.</a:t>
            </a:r>
          </a:p>
        </p:txBody>
      </p:sp>
      <p:sp>
        <p:nvSpPr>
          <p:cNvPr id="52" name="Caja 52"/>
          <p:cNvSpPr/>
          <p:nvPr/>
        </p:nvSpPr>
        <p:spPr>
          <a:xfrm>
            <a:off x="5046720" y="2050000"/>
            <a:ext cx="2098560" cy="800000"/>
          </a:xfrm>
          <a:prstGeom prst="roundRect">
            <a:avLst>
              <a:gd name="adj" fmla="val 6000"/>
            </a:avLst>
          </a:prstGeom>
          <a:solidFill>
            <a:srgbClr val="A5822A"/>
          </a:solidFill>
          <a:ln>
            <a:noFill/>
          </a:ln>
        </p:spPr>
        <p:txBody>
          <a:bodyPr wrap="square" anchor="ctr" lIns="45720" rIns="45720">
            <a:noAutofit/>
          </a:bodyPr>
          <a:lstStyle/>
          <a:p>
            <a:pPr algn="ctr"/>
            <a:r>
              <a:rPr lang="es-ES" sz="1700" b="1" dirty="0">
                <a:solidFill>
                  <a:srgbClr val="FFFFFF"/>
                </a:solidFill>
              </a:rPr>
              <a:t>Iterate</a:t>
            </a:r>
          </a:p>
        </p:txBody>
      </p:sp>
      <p:sp>
        <p:nvSpPr>
          <p:cNvPr id="53" name="Caja 53"/>
          <p:cNvSpPr/>
          <p:nvPr/>
        </p:nvSpPr>
        <p:spPr>
          <a:xfrm>
            <a:off x="504672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4" name="Texto 54"/>
          <p:cNvSpPr txBox="1"/>
          <p:nvPr/>
        </p:nvSpPr>
        <p:spPr>
          <a:xfrm>
            <a:off x="5086720" y="2890000"/>
            <a:ext cx="2018560" cy="2340000"/>
          </a:xfrm>
          <a:prstGeom prst="rect">
            <a:avLst/>
          </a:prstGeom>
          <a:noFill/>
        </p:spPr>
        <p:txBody>
          <a:bodyPr wrap="square" anchor="t" lIns="45720" rIns="45720">
            <a:noAutofit/>
          </a:bodyPr>
          <a:lstStyle/>
          <a:p>
            <a:pPr algn="l"/>
            <a:r>
              <a:rPr lang="es-ES" sz="1300" dirty="0">
                <a:solidFill>
                  <a:srgbClr val="2F2B28"/>
                </a:solidFill>
              </a:rPr>
              <a:t>The phase repeats with a specific adjustment and returns to the same gate. The third time, the higher body decides.</a:t>
            </a:r>
          </a:p>
        </p:txBody>
      </p:sp>
      <p:sp>
        <p:nvSpPr>
          <p:cNvPr id="55" name="Caja 55"/>
          <p:cNvSpPr/>
          <p:nvPr/>
        </p:nvSpPr>
        <p:spPr>
          <a:xfrm>
            <a:off x="7265280" y="2050000"/>
            <a:ext cx="2098560" cy="8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Pivot</a:t>
            </a:r>
          </a:p>
        </p:txBody>
      </p:sp>
      <p:sp>
        <p:nvSpPr>
          <p:cNvPr id="56" name="Caja 56"/>
          <p:cNvSpPr/>
          <p:nvPr/>
        </p:nvSpPr>
        <p:spPr>
          <a:xfrm>
            <a:off x="726528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7" name="Texto 57"/>
          <p:cNvSpPr txBox="1"/>
          <p:nvPr/>
        </p:nvSpPr>
        <p:spPr>
          <a:xfrm>
            <a:off x="7305280" y="2890000"/>
            <a:ext cx="2018560" cy="2340000"/>
          </a:xfrm>
          <a:prstGeom prst="rect">
            <a:avLst/>
          </a:prstGeom>
          <a:noFill/>
        </p:spPr>
        <p:txBody>
          <a:bodyPr wrap="square" anchor="t" lIns="45720" rIns="45720">
            <a:noAutofit/>
          </a:bodyPr>
          <a:lstStyle/>
          <a:p>
            <a:pPr algn="l"/>
            <a:r>
              <a:rPr lang="es-ES" sz="1300" dirty="0">
                <a:solidFill>
                  <a:srgbClr val="2F2B28"/>
                </a:solidFill>
              </a:rPr>
              <a:t>The hypothesis does not hold but another reasonable one exists: back to phase 2. Only at G1, G2 and G3.</a:t>
            </a:r>
          </a:p>
        </p:txBody>
      </p:sp>
      <p:sp>
        <p:nvSpPr>
          <p:cNvPr id="58" name="Caja 58"/>
          <p:cNvSpPr/>
          <p:nvPr/>
        </p:nvSpPr>
        <p:spPr>
          <a:xfrm>
            <a:off x="9483840" y="2050000"/>
            <a:ext cx="2098560" cy="800000"/>
          </a:xfrm>
          <a:prstGeom prst="roundRect">
            <a:avLst>
              <a:gd name="adj" fmla="val 6000"/>
            </a:avLst>
          </a:prstGeom>
          <a:solidFill>
            <a:srgbClr val="990F3D"/>
          </a:solidFill>
          <a:ln>
            <a:noFill/>
          </a:ln>
        </p:spPr>
        <p:txBody>
          <a:bodyPr wrap="square" anchor="ctr" lIns="45720" rIns="45720">
            <a:noAutofit/>
          </a:bodyPr>
          <a:lstStyle/>
          <a:p>
            <a:pPr algn="ctr"/>
            <a:r>
              <a:rPr lang="es-ES" sz="1700" b="1" dirty="0">
                <a:solidFill>
                  <a:srgbClr val="FFFFFF"/>
                </a:solidFill>
              </a:rPr>
              <a:t>Stop</a:t>
            </a:r>
          </a:p>
        </p:txBody>
      </p:sp>
      <p:sp>
        <p:nvSpPr>
          <p:cNvPr id="59" name="Caja 59"/>
          <p:cNvSpPr/>
          <p:nvPr/>
        </p:nvSpPr>
        <p:spPr>
          <a:xfrm>
            <a:off x="948384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60" name="Texto 60"/>
          <p:cNvSpPr txBox="1"/>
          <p:nvPr/>
        </p:nvSpPr>
        <p:spPr>
          <a:xfrm>
            <a:off x="9523840" y="2890000"/>
            <a:ext cx="2018560" cy="2340000"/>
          </a:xfrm>
          <a:prstGeom prst="rect">
            <a:avLst/>
          </a:prstGeom>
          <a:noFill/>
        </p:spPr>
        <p:txBody>
          <a:bodyPr wrap="square" anchor="t" lIns="45720" rIns="45720">
            <a:noAutofit/>
          </a:bodyPr>
          <a:lstStyle/>
          <a:p>
            <a:pPr algn="l"/>
            <a:r>
              <a:rPr lang="es-ES" sz="1300" dirty="0">
                <a:solidFill>
                  <a:srgbClr val="2F2B28"/>
                </a:solidFill>
              </a:rPr>
              <a:t>No plausible value, or unacceptable risk. The reason and lessons are recorded. It is a good outcome.</a:t>
            </a:r>
          </a:p>
        </p:txBody>
      </p:sp>
      <p:sp>
        <p:nvSpPr>
          <p:cNvPr id="61" name="Texto 61"/>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At G7 the outcomes are Scale, Iterate or Retire.</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66" name="Marca"/>
          <p:cNvSpPr/>
          <p:nvPr/>
        </p:nvSpPr>
        <p:spPr>
          <a:xfrm>
            <a:off x="609600" y="2400000"/>
            <a:ext cx="182880" cy="182880"/>
          </a:xfrm>
          <a:prstGeom prst="rect">
            <a:avLst/>
          </a:prstGeom>
          <a:solidFill>
            <a:srgbClr val="990F3D"/>
          </a:solidFill>
        </p:spPr>
        <p:txBody>
          <a:bodyPr/>
          <a:lstStyle/>
          <a:p/>
        </p:txBody>
      </p:sp>
      <p:sp>
        <p:nvSpPr>
          <p:cNvPr id="67" name="Texto 67"/>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FROM DOCUMENT TO DASHBOARD</a:t>
            </a:r>
          </a:p>
        </p:txBody>
      </p:sp>
      <p:sp>
        <p:nvSpPr>
          <p:cNvPr id="68" name="Texto 68"/>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How the funnel gets filled</a:t>
            </a:r>
          </a:p>
        </p:txBody>
      </p:sp>
      <p:sp>
        <p:nvSpPr>
          <p:cNvPr id="69" name="Texto 69"/>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Nobody draws the funnel or the dashboard: they come out of what is filled in and decided at each phase. This is the path.</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87" name="Marca"/>
          <p:cNvSpPr/>
          <p:nvPr/>
        </p:nvSpPr>
        <p:spPr>
          <a:xfrm>
            <a:off x="609600" y="365760"/>
            <a:ext cx="182880" cy="182880"/>
          </a:xfrm>
          <a:prstGeom prst="rect">
            <a:avLst/>
          </a:prstGeom>
          <a:solidFill>
            <a:srgbClr val="990F3D"/>
          </a:solidFill>
        </p:spPr>
        <p:txBody>
          <a:bodyPr/>
          <a:lstStyle/>
          <a:p/>
        </p:txBody>
      </p:sp>
      <p:sp>
        <p:nvSpPr>
          <p:cNvPr id="88" name="Texto 8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89" name="Texto 8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Phases 0 to 3: from idea to proof of concept</a:t>
            </a:r>
          </a:p>
        </p:txBody>
      </p:sp>
      <p:sp>
        <p:nvSpPr>
          <p:cNvPr id="90" name="Texto 90"/>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What is done, which templates are filled in and which gate closes each phase</a:t>
            </a:r>
          </a:p>
        </p:txBody>
      </p:sp>
      <p:sp>
        <p:nvSpPr>
          <p:cNvPr id="70" name="Caja 70"/>
          <p:cNvSpPr/>
          <p:nvPr/>
        </p:nvSpPr>
        <p:spPr>
          <a:xfrm>
            <a:off x="609600" y="1900000"/>
            <a:ext cx="2645700" cy="700000"/>
          </a:xfrm>
          <a:prstGeom prst="roundRect">
            <a:avLst>
              <a:gd name="adj" fmla="val 6000"/>
            </a:avLst>
          </a:prstGeom>
          <a:solidFill>
            <a:srgbClr val="564D47"/>
          </a:solidFill>
          <a:ln>
            <a:noFill/>
          </a:ln>
        </p:spPr>
        <p:txBody>
          <a:bodyPr wrap="square" anchor="ctr" lIns="45720" rIns="45720">
            <a:noAutofit/>
          </a:bodyPr>
          <a:lstStyle/>
          <a:p>
            <a:pPr algn="ctr"/>
            <a:r>
              <a:rPr lang="es-ES" sz="1700" b="1" dirty="0">
                <a:solidFill>
                  <a:srgbClr val="FFFFFF"/>
                </a:solidFill>
              </a:rPr>
              <a:t>F0</a:t>
            </a:r>
          </a:p>
          <a:p>
            <a:pPr algn="ctr"/>
            <a:r>
              <a:rPr lang="es-ES" sz="1150" dirty="0">
                <a:solidFill>
                  <a:srgbClr val="FFFFFF"/>
                </a:solidFill>
              </a:rPr>
              <a:t>Context and constraints</a:t>
            </a:r>
          </a:p>
        </p:txBody>
      </p:sp>
      <p:sp>
        <p:nvSpPr>
          <p:cNvPr id="71" name="Caja 71"/>
          <p:cNvSpPr/>
          <p:nvPr/>
        </p:nvSpPr>
        <p:spPr>
          <a:xfrm>
            <a:off x="6096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72" name="Texto 72"/>
          <p:cNvSpPr txBox="1"/>
          <p:nvPr/>
        </p:nvSpPr>
        <p:spPr>
          <a:xfrm>
            <a:off x="6496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The idea is authorised: sponsor, owner, scope, constraints and intensity (Lite or Enterprise).</a:t>
            </a:r>
          </a:p>
          <a:p>
            <a:pPr algn="l">
              <a:spcAft>
                <a:spcPts val="500"/>
              </a:spcAft>
            </a:pPr>
            <a:r>
              <a:rPr lang="es-ES" sz="1150" b="1" dirty="0">
                <a:solidFill>
                  <a:srgbClr val="1A1817"/>
                </a:solidFill>
              </a:rPr>
              <a:t>Filled in. </a:t>
            </a:r>
            <a:r>
              <a:rPr lang="es-ES" sz="1150" dirty="0">
                <a:solidFill>
                  <a:srgbClr val="2F2B28"/>
                </a:solidFill>
              </a:rPr>
              <a:t>P01 Initiative charter · P02 Context and constraints · P03 Roles · P04 Intensity · P05 Inventory entry.</a:t>
            </a:r>
          </a:p>
        </p:txBody>
      </p:sp>
      <p:sp>
        <p:nvSpPr>
          <p:cNvPr id="73" name="Caja 73"/>
          <p:cNvSpPr/>
          <p:nvPr/>
        </p:nvSpPr>
        <p:spPr>
          <a:xfrm>
            <a:off x="6096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G0 → enters "Proposed"</a:t>
            </a:r>
          </a:p>
        </p:txBody>
      </p:sp>
      <p:sp>
        <p:nvSpPr>
          <p:cNvPr id="74" name="Caja 74"/>
          <p:cNvSpPr/>
          <p:nvPr/>
        </p:nvSpPr>
        <p:spPr>
          <a:xfrm>
            <a:off x="33853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F1</a:t>
            </a:r>
          </a:p>
          <a:p>
            <a:pPr algn="ctr"/>
            <a:r>
              <a:rPr lang="es-ES" sz="1150" dirty="0">
                <a:solidFill>
                  <a:srgbClr val="FFFFFF"/>
                </a:solidFill>
              </a:rPr>
              <a:t>Discovery</a:t>
            </a:r>
          </a:p>
        </p:txBody>
      </p:sp>
      <p:sp>
        <p:nvSpPr>
          <p:cNvPr id="75" name="Caja 75"/>
          <p:cNvSpPr/>
          <p:nvPr/>
        </p:nvSpPr>
        <p:spPr>
          <a:xfrm>
            <a:off x="33853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76" name="Texto 76"/>
          <p:cNvSpPr txBox="1"/>
          <p:nvPr/>
        </p:nvSpPr>
        <p:spPr>
          <a:xfrm>
            <a:off x="34253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Opportunities are compared, including non-AI alternatives, and a sphere and ambition level are proposed.</a:t>
            </a:r>
          </a:p>
          <a:p>
            <a:pPr algn="l">
              <a:spcAft>
                <a:spcPts val="500"/>
              </a:spcAft>
            </a:pPr>
            <a:r>
              <a:rPr lang="es-ES" sz="1150" b="1" dirty="0">
                <a:solidFill>
                  <a:srgbClr val="1A1817"/>
                </a:solidFill>
              </a:rPr>
              <a:t>Filled in. </a:t>
            </a:r>
            <a:r>
              <a:rPr lang="es-ES" sz="1150" dirty="0">
                <a:solidFill>
                  <a:srgbClr val="2F2B28"/>
                </a:solidFill>
              </a:rPr>
              <a:t>P06 Opportunity portfolio and screening · P07 Sphere and ambition · P31 Use case sheet.</a:t>
            </a:r>
          </a:p>
        </p:txBody>
      </p:sp>
      <p:sp>
        <p:nvSpPr>
          <p:cNvPr id="77" name="Caja 77"/>
          <p:cNvSpPr/>
          <p:nvPr/>
        </p:nvSpPr>
        <p:spPr>
          <a:xfrm>
            <a:off x="33853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G1 → stays in "Proposed"</a:t>
            </a:r>
          </a:p>
        </p:txBody>
      </p:sp>
      <p:sp>
        <p:nvSpPr>
          <p:cNvPr id="78" name="Caja 78"/>
          <p:cNvSpPr/>
          <p:nvPr/>
        </p:nvSpPr>
        <p:spPr>
          <a:xfrm>
            <a:off x="61610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F2</a:t>
            </a:r>
          </a:p>
          <a:p>
            <a:pPr algn="ctr"/>
            <a:r>
              <a:rPr lang="es-ES" sz="1150" dirty="0">
                <a:solidFill>
                  <a:srgbClr val="FFFFFF"/>
                </a:solidFill>
              </a:rPr>
              <a:t>Value hypothesis</a:t>
            </a:r>
          </a:p>
        </p:txBody>
      </p:sp>
      <p:sp>
        <p:nvSpPr>
          <p:cNvPr id="79" name="Caja 79"/>
          <p:cNvSpPr/>
          <p:nvPr/>
        </p:nvSpPr>
        <p:spPr>
          <a:xfrm>
            <a:off x="61610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80" name="Texto 80"/>
          <p:cNvSpPr txBox="1"/>
          <p:nvPr/>
        </p:nvSpPr>
        <p:spPr>
          <a:xfrm>
            <a:off x="62010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A falsifiable hypothesis in money, with baseline, attribution method and stop criteria set in advance.</a:t>
            </a:r>
          </a:p>
          <a:p>
            <a:pPr algn="l">
              <a:spcAft>
                <a:spcPts val="500"/>
              </a:spcAft>
            </a:pPr>
            <a:r>
              <a:rPr lang="es-ES" sz="1150" b="1" dirty="0">
                <a:solidFill>
                  <a:srgbClr val="1A1817"/>
                </a:solidFill>
              </a:rPr>
              <a:t>Filled in. </a:t>
            </a:r>
            <a:r>
              <a:rPr lang="es-ES" sz="1150" dirty="0">
                <a:solidFill>
                  <a:srgbClr val="2F2B28"/>
                </a:solidFill>
              </a:rPr>
              <a:t>P08 Value hypothesis canvas · P09 Baseline. Support: T11 calculator.</a:t>
            </a:r>
          </a:p>
        </p:txBody>
      </p:sp>
      <p:sp>
        <p:nvSpPr>
          <p:cNvPr id="81" name="Caja 81"/>
          <p:cNvSpPr/>
          <p:nvPr/>
        </p:nvSpPr>
        <p:spPr>
          <a:xfrm>
            <a:off x="61610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G2 → "Value hypothesis"</a:t>
            </a:r>
          </a:p>
        </p:txBody>
      </p:sp>
      <p:sp>
        <p:nvSpPr>
          <p:cNvPr id="82" name="Caja 82"/>
          <p:cNvSpPr/>
          <p:nvPr/>
        </p:nvSpPr>
        <p:spPr>
          <a:xfrm>
            <a:off x="89367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F3</a:t>
            </a:r>
          </a:p>
          <a:p>
            <a:pPr algn="ctr"/>
            <a:r>
              <a:rPr lang="es-ES" sz="1150" dirty="0">
                <a:solidFill>
                  <a:srgbClr val="FFFFFF"/>
                </a:solidFill>
              </a:rPr>
              <a:t>Feasibility and risk</a:t>
            </a:r>
          </a:p>
        </p:txBody>
      </p:sp>
      <p:sp>
        <p:nvSpPr>
          <p:cNvPr id="83" name="Caja 83"/>
          <p:cNvSpPr/>
          <p:nvPr/>
        </p:nvSpPr>
        <p:spPr>
          <a:xfrm>
            <a:off x="89367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84" name="Texto 84"/>
          <p:cNvSpPr txBox="1"/>
          <p:nvPr/>
        </p:nvSpPr>
        <p:spPr>
          <a:xfrm>
            <a:off x="89767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Proof of concept: feasibility, regulatory classification, risks and suppliers. It is the main stop gate.</a:t>
            </a:r>
          </a:p>
          <a:p>
            <a:pPr algn="l">
              <a:spcAft>
                <a:spcPts val="500"/>
              </a:spcAft>
            </a:pPr>
            <a:r>
              <a:rPr lang="es-ES" sz="1150" b="1" dirty="0">
                <a:solidFill>
                  <a:srgbClr val="1A1817"/>
                </a:solidFill>
              </a:rPr>
              <a:t>Filled in. </a:t>
            </a:r>
            <a:r>
              <a:rPr lang="es-ES" sz="1150" dirty="0">
                <a:solidFill>
                  <a:srgbClr val="2F2B28"/>
                </a:solidFill>
              </a:rPr>
              <a:t>P10 Feasibility · P11 Regulatory classification and impact · P12 Risks · P13 Mitigation · P14 Supplier.</a:t>
            </a:r>
          </a:p>
        </p:txBody>
      </p:sp>
      <p:sp>
        <p:nvSpPr>
          <p:cNvPr id="85" name="Caja 85"/>
          <p:cNvSpPr/>
          <p:nvPr/>
        </p:nvSpPr>
        <p:spPr>
          <a:xfrm>
            <a:off x="89367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G3 → "Proof of concept"</a:t>
            </a:r>
          </a:p>
        </p:txBody>
      </p:sp>
      <p:sp>
        <p:nvSpPr>
          <p:cNvPr id="86" name="Texto 86"/>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Every gate decision is recorded in P29 and in the T01 register, with the status of each criterion and its evidence.</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08" name="Marca"/>
          <p:cNvSpPr/>
          <p:nvPr/>
        </p:nvSpPr>
        <p:spPr>
          <a:xfrm>
            <a:off x="609600" y="365760"/>
            <a:ext cx="182880" cy="182880"/>
          </a:xfrm>
          <a:prstGeom prst="rect">
            <a:avLst/>
          </a:prstGeom>
          <a:solidFill>
            <a:srgbClr val="990F3D"/>
          </a:solidFill>
        </p:spPr>
        <p:txBody>
          <a:bodyPr/>
          <a:lstStyle/>
          <a:p/>
        </p:txBody>
      </p:sp>
      <p:sp>
        <p:nvSpPr>
          <p:cNvPr id="109" name="Texto 109"/>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110" name="Texto 110"/>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Phases 4 to 7: from design to production and retirement</a:t>
            </a:r>
          </a:p>
        </p:txBody>
      </p:sp>
      <p:sp>
        <p:nvSpPr>
          <p:cNvPr id="111" name="Texto 111"/>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Go-live does not close the cycle: it opens operation, with periodic reviews</a:t>
            </a:r>
          </a:p>
        </p:txBody>
      </p:sp>
      <p:sp>
        <p:nvSpPr>
          <p:cNvPr id="91" name="Caja 91"/>
          <p:cNvSpPr/>
          <p:nvPr/>
        </p:nvSpPr>
        <p:spPr>
          <a:xfrm>
            <a:off x="609600" y="1900000"/>
            <a:ext cx="2645700" cy="7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F4</a:t>
            </a:r>
          </a:p>
          <a:p>
            <a:pPr algn="ctr"/>
            <a:r>
              <a:rPr lang="es-ES" sz="1150" dirty="0">
                <a:solidFill>
                  <a:srgbClr val="FFFFFF"/>
                </a:solidFill>
              </a:rPr>
              <a:t>Solution design</a:t>
            </a:r>
          </a:p>
        </p:txBody>
      </p:sp>
      <p:sp>
        <p:nvSpPr>
          <p:cNvPr id="92" name="Caja 92"/>
          <p:cNvSpPr/>
          <p:nvPr/>
        </p:nvSpPr>
        <p:spPr>
          <a:xfrm>
            <a:off x="6096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93" name="Texto 93"/>
          <p:cNvSpPr txBox="1"/>
          <p:nvPr/>
        </p:nvSpPr>
        <p:spPr>
          <a:xfrm>
            <a:off x="6496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Before building: architecture, data and model lineage, human oversight, security, rollback and adoption.</a:t>
            </a:r>
          </a:p>
          <a:p>
            <a:pPr algn="l">
              <a:spcAft>
                <a:spcPts val="500"/>
              </a:spcAft>
            </a:pPr>
            <a:r>
              <a:rPr lang="es-ES" sz="1150" b="1" dirty="0">
                <a:solidFill>
                  <a:srgbClr val="1A1817"/>
                </a:solidFill>
              </a:rPr>
              <a:t>Filled in. </a:t>
            </a:r>
            <a:r>
              <a:rPr lang="es-ES" sz="1150" dirty="0">
                <a:solidFill>
                  <a:srgbClr val="2F2B28"/>
                </a:solidFill>
              </a:rPr>
              <a:t>P15 Architecture · P16 Lineage · P17 Human oversight · P18 Security · P19 Rollback · P20 Adoption.</a:t>
            </a:r>
          </a:p>
        </p:txBody>
      </p:sp>
      <p:sp>
        <p:nvSpPr>
          <p:cNvPr id="94" name="Caja 94"/>
          <p:cNvSpPr/>
          <p:nvPr/>
        </p:nvSpPr>
        <p:spPr>
          <a:xfrm>
            <a:off x="6096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G4 → "In development"</a:t>
            </a:r>
          </a:p>
        </p:txBody>
      </p:sp>
      <p:sp>
        <p:nvSpPr>
          <p:cNvPr id="95" name="Caja 95"/>
          <p:cNvSpPr/>
          <p:nvPr/>
        </p:nvSpPr>
        <p:spPr>
          <a:xfrm>
            <a:off x="3385300" y="1900000"/>
            <a:ext cx="2645700" cy="7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F5</a:t>
            </a:r>
          </a:p>
          <a:p>
            <a:pPr algn="ctr"/>
            <a:r>
              <a:rPr lang="es-ES" sz="1150" dirty="0">
                <a:solidFill>
                  <a:srgbClr val="FFFFFF"/>
                </a:solidFill>
              </a:rPr>
              <a:t>Delivery and validation</a:t>
            </a:r>
          </a:p>
        </p:txBody>
      </p:sp>
      <p:sp>
        <p:nvSpPr>
          <p:cNvPr id="96" name="Caja 96"/>
          <p:cNvSpPr/>
          <p:nvPr/>
        </p:nvSpPr>
        <p:spPr>
          <a:xfrm>
            <a:off x="33853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97" name="Texto 97"/>
          <p:cNvSpPr txBox="1"/>
          <p:nvPr/>
        </p:nvSpPr>
        <p:spPr>
          <a:xfrm>
            <a:off x="34253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Build, validate and pilot; the rollback is tested and go-live is signed off.</a:t>
            </a:r>
          </a:p>
          <a:p>
            <a:pPr algn="l">
              <a:spcAft>
                <a:spcPts val="500"/>
              </a:spcAft>
            </a:pPr>
            <a:r>
              <a:rPr lang="es-ES" sz="1150" b="1" dirty="0">
                <a:solidFill>
                  <a:srgbClr val="1A1817"/>
                </a:solidFill>
              </a:rPr>
              <a:t>Filled in. </a:t>
            </a:r>
            <a:r>
              <a:rPr lang="es-ES" sz="1150" dirty="0">
                <a:solidFill>
                  <a:srgbClr val="2F2B28"/>
                </a:solidFill>
              </a:rPr>
              <a:t>P21 Delivery report · P22 Validation and pilot · P23 Go-live sign-off · P12 updated.</a:t>
            </a:r>
          </a:p>
        </p:txBody>
      </p:sp>
      <p:sp>
        <p:nvSpPr>
          <p:cNvPr id="98" name="Caja 98"/>
          <p:cNvSpPr/>
          <p:nvPr/>
        </p:nvSpPr>
        <p:spPr>
          <a:xfrm>
            <a:off x="33853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G5 → moves to "In use"</a:t>
            </a:r>
          </a:p>
        </p:txBody>
      </p:sp>
      <p:sp>
        <p:nvSpPr>
          <p:cNvPr id="99" name="Caja 99"/>
          <p:cNvSpPr/>
          <p:nvPr/>
        </p:nvSpPr>
        <p:spPr>
          <a:xfrm>
            <a:off x="6161000" y="1900000"/>
            <a:ext cx="2645700" cy="7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F6</a:t>
            </a:r>
          </a:p>
          <a:p>
            <a:pPr algn="ctr"/>
            <a:r>
              <a:rPr lang="es-ES" sz="1150" dirty="0">
                <a:solidFill>
                  <a:srgbClr val="FFFFFF"/>
                </a:solidFill>
              </a:rPr>
              <a:t>Operation and governance</a:t>
            </a:r>
          </a:p>
        </p:txBody>
      </p:sp>
      <p:sp>
        <p:nvSpPr>
          <p:cNvPr id="100" name="Caja 100"/>
          <p:cNvSpPr/>
          <p:nvPr/>
        </p:nvSpPr>
        <p:spPr>
          <a:xfrm>
            <a:off x="61610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101" name="Texto 101"/>
          <p:cNvSpPr txBox="1"/>
          <p:nvPr/>
        </p:nvSpPr>
        <p:spPr>
          <a:xfrm>
            <a:off x="62010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Monitoring, incidents, changes and tracking of realised value, with a periodic continuity review.</a:t>
            </a:r>
          </a:p>
          <a:p>
            <a:pPr algn="l">
              <a:spcAft>
                <a:spcPts val="500"/>
              </a:spcAft>
            </a:pPr>
            <a:r>
              <a:rPr lang="es-ES" sz="1150" b="1" dirty="0">
                <a:solidFill>
                  <a:srgbClr val="1A1817"/>
                </a:solidFill>
              </a:rPr>
              <a:t>Filled in. </a:t>
            </a:r>
            <a:r>
              <a:rPr lang="es-ES" sz="1150" dirty="0">
                <a:solidFill>
                  <a:srgbClr val="2F2B28"/>
                </a:solidFill>
              </a:rPr>
              <a:t>P24 Operations manual · P25 Monitoring · P26 and P27 Incidents and changes · P28 Value · P65 R6 pack.</a:t>
            </a:r>
          </a:p>
        </p:txBody>
      </p:sp>
      <p:sp>
        <p:nvSpPr>
          <p:cNvPr id="102" name="Caja 102"/>
          <p:cNvSpPr/>
          <p:nvPr/>
        </p:nvSpPr>
        <p:spPr>
          <a:xfrm>
            <a:off x="61610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R6 → stays "In use" or brings G7 forward</a:t>
            </a:r>
          </a:p>
        </p:txBody>
      </p:sp>
      <p:sp>
        <p:nvSpPr>
          <p:cNvPr id="103" name="Caja 103"/>
          <p:cNvSpPr/>
          <p:nvPr/>
        </p:nvSpPr>
        <p:spPr>
          <a:xfrm>
            <a:off x="8936700" y="1900000"/>
            <a:ext cx="2645700" cy="7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F7</a:t>
            </a:r>
          </a:p>
          <a:p>
            <a:pPr algn="ctr"/>
            <a:r>
              <a:rPr lang="es-ES" sz="1150" dirty="0">
                <a:solidFill>
                  <a:srgbClr val="FFFFFF"/>
                </a:solidFill>
              </a:rPr>
              <a:t>Evolution or retirement</a:t>
            </a:r>
          </a:p>
        </p:txBody>
      </p:sp>
      <p:sp>
        <p:nvSpPr>
          <p:cNvPr id="104" name="Caja 104"/>
          <p:cNvSpPr/>
          <p:nvPr/>
        </p:nvSpPr>
        <p:spPr>
          <a:xfrm>
            <a:off x="89367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105" name="Texto 105"/>
          <p:cNvSpPr txBox="1"/>
          <p:nvPr/>
        </p:nvSpPr>
        <p:spPr>
          <a:xfrm>
            <a:off x="89767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With realised value on the table, the decision is to scale, iterate or retire, and lessons are recorded.</a:t>
            </a:r>
          </a:p>
          <a:p>
            <a:pPr algn="l">
              <a:spcAft>
                <a:spcPts val="500"/>
              </a:spcAft>
            </a:pPr>
            <a:r>
              <a:rPr lang="es-ES" sz="1150" b="1" dirty="0">
                <a:solidFill>
                  <a:srgbClr val="1A1817"/>
                </a:solidFill>
              </a:rPr>
              <a:t>Filled in. </a:t>
            </a:r>
            <a:r>
              <a:rPr lang="es-ES" sz="1150" dirty="0">
                <a:solidFill>
                  <a:srgbClr val="2F2B28"/>
                </a:solidFill>
              </a:rPr>
              <a:t>P28 Value tracking · P30 Scale-or-retire decision, with a retirement plan where applicable.</a:t>
            </a:r>
          </a:p>
        </p:txBody>
      </p:sp>
      <p:sp>
        <p:nvSpPr>
          <p:cNvPr id="106" name="Caja 106"/>
          <p:cNvSpPr/>
          <p:nvPr/>
        </p:nvSpPr>
        <p:spPr>
          <a:xfrm>
            <a:off x="89367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G7 → scale, iterate or "Disengaged"</a:t>
            </a:r>
          </a:p>
        </p:txBody>
      </p:sp>
      <p:sp>
        <p:nvSpPr>
          <p:cNvPr id="107" name="Texto 107"/>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Every gate decision is recorded in P29 and in the T01 register, with the status of each criterion and its evidence.</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14" name="Marca"/>
          <p:cNvSpPr/>
          <p:nvPr/>
        </p:nvSpPr>
        <p:spPr>
          <a:xfrm>
            <a:off x="609600" y="365760"/>
            <a:ext cx="182880" cy="182880"/>
          </a:xfrm>
          <a:prstGeom prst="rect">
            <a:avLst/>
          </a:prstGeom>
          <a:solidFill>
            <a:srgbClr val="990F3D"/>
          </a:solidFill>
        </p:spPr>
        <p:txBody>
          <a:bodyPr/>
          <a:lstStyle/>
          <a:p/>
        </p:txBody>
      </p:sp>
      <p:sp>
        <p:nvSpPr>
          <p:cNvPr id="115" name="Texto 11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116" name="Texto 11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The initiative register (T01): where everything is recorded</a:t>
            </a:r>
          </a:p>
        </p:txBody>
      </p:sp>
      <p:sp>
        <p:nvSpPr>
          <p:cNvPr id="117" name="Texto 117"/>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Each initiative is entered like an opportunity in a CRM; here, the sample register with fictitious data</a:t>
            </a:r>
          </a:p>
        </p:txBody>
      </p:sp>
      <p:pic>
        <p:nvPicPr>
          <p:cNvPr id="112" name="Imagen 112" descr="Funnel view of the T01 initiative register"/>
          <p:cNvPicPr>
            <a:picLocks noChangeAspect="1"/>
          </p:cNvPicPr>
          <p:nvPr/>
        </p:nvPicPr>
        <p:blipFill>
          <a:blip r:embed="rIdImg_registro"/>
          <a:stretch>
            <a:fillRect/>
          </a:stretch>
        </p:blipFill>
        <p:spPr>
          <a:xfrm>
            <a:off x="609600" y="1900000"/>
            <a:ext cx="6211111" cy="4300000"/>
          </a:xfrm>
          <a:prstGeom prst="rect">
            <a:avLst/>
          </a:prstGeom>
          <a:ln w="12700">
            <a:solidFill>
              <a:srgbClr val="C9A78D"/>
            </a:solidFill>
          </a:ln>
        </p:spPr>
      </p:pic>
      <p:sp>
        <p:nvSpPr>
          <p:cNvPr id="113" name="Texto 113"/>
          <p:cNvSpPr txBox="1"/>
          <p:nvPr/>
        </p:nvSpPr>
        <p:spPr>
          <a:xfrm>
            <a:off x="7709600" y="1850000"/>
            <a:ext cx="38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One bar per phase: how many initiatives are in each one now and how much expected value they carry.</a:t>
            </a:r>
          </a:p>
          <a:p>
            <a:pPr marL="285750" indent="-285750">
              <a:spcAft>
                <a:spcPts val="400"/>
              </a:spcAft>
              <a:buClr>
                <a:srgbClr val="990F3D"/>
              </a:buClr>
              <a:buFont typeface="Arial"/>
              <a:buChar char="•"/>
            </a:pPr>
            <a:r>
              <a:rPr lang="es-ES" sz="1300" dirty="0">
                <a:solidFill>
                  <a:srgbClr val="2F2B28"/>
                </a:solidFill>
              </a:rPr>
              <a:t>When a gate is decided, the register stores the date, the outcome, who verified and who decided, and the status of each criterion.</a:t>
            </a:r>
          </a:p>
          <a:p>
            <a:pPr marL="285750" indent="-285750">
              <a:spcAft>
                <a:spcPts val="400"/>
              </a:spcAft>
              <a:buClr>
                <a:srgbClr val="990F3D"/>
              </a:buClr>
              <a:buFont typeface="Arial"/>
              <a:buChar char="•"/>
            </a:pPr>
            <a:r>
              <a:rPr lang="es-ES" sz="1300" dirty="0">
                <a:solidFill>
                  <a:srgbClr val="2F2B28"/>
                </a:solidFill>
              </a:rPr>
              <a:t>From those dates it works out time in phase by itself and flags as "stalled" those beyond the reference time limit.</a:t>
            </a:r>
          </a:p>
          <a:p>
            <a:pPr marL="285750" indent="-285750">
              <a:spcAft>
                <a:spcPts val="400"/>
              </a:spcAft>
              <a:buClr>
                <a:srgbClr val="990F3D"/>
              </a:buClr>
              <a:buFont typeface="Arial"/>
              <a:buChar char="•"/>
            </a:pPr>
            <a:r>
              <a:rPr lang="es-ES" sz="1300" dirty="0">
                <a:solidFill>
                  <a:srgbClr val="2F2B28"/>
                </a:solidFill>
              </a:rPr>
              <a:t>Figures carry a status: validated, declared or estimated. What is unknown stays "no data", never zero.</a:t>
            </a:r>
          </a:p>
          <a:p>
            <a:pPr marL="285750" indent="-285750">
              <a:spcAft>
                <a:spcPts val="400"/>
              </a:spcAft>
              <a:buClr>
                <a:srgbClr val="990F3D"/>
              </a:buClr>
              <a:buFont typeface="Arial"/>
              <a:buChar char="•"/>
            </a:pPr>
            <a:r>
              <a:rPr lang="es-ES" sz="1300" dirty="0">
                <a:solidFill>
                  <a:srgbClr val="2F2B28"/>
                </a:solidFill>
              </a:rPr>
              <a:t>Alerts: pending gates, overdue conditions, risks without an owner.</a:t>
            </a:r>
          </a:p>
          <a:p>
            <a:pPr marL="285750" indent="-285750">
              <a:spcAft>
                <a:spcPts val="400"/>
              </a:spcAft>
              <a:buClr>
                <a:srgbClr val="990F3D"/>
              </a:buClr>
              <a:buFont typeface="Arial"/>
              <a:buChar char="•"/>
            </a:pPr>
            <a:r>
              <a:rPr lang="es-ES" sz="1300" dirty="0">
                <a:solidFill>
                  <a:srgbClr val="2F2B28"/>
                </a:solidFill>
              </a:rPr>
              <a:t>Everything is saved in the company's own JSON file: no server and no data sent to anyone.</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20" name="Marca"/>
          <p:cNvSpPr/>
          <p:nvPr/>
        </p:nvSpPr>
        <p:spPr>
          <a:xfrm>
            <a:off x="609600" y="365760"/>
            <a:ext cx="182880" cy="182880"/>
          </a:xfrm>
          <a:prstGeom prst="rect">
            <a:avLst/>
          </a:prstGeom>
          <a:solidFill>
            <a:srgbClr val="990F3D"/>
          </a:solidFill>
        </p:spPr>
        <p:txBody>
          <a:bodyPr/>
          <a:lstStyle/>
          <a:p/>
        </p:txBody>
      </p:sp>
      <p:sp>
        <p:nvSpPr>
          <p:cNvPr id="121" name="Texto 12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122" name="Texto 12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The portfolio funnel: how to read it</a:t>
            </a:r>
          </a:p>
        </p:txBody>
      </p:sp>
      <p:sp>
        <p:nvSpPr>
          <p:cNvPr id="123" name="Texto 123"/>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The AI portfolio, read as a sales funnel. Illustrative data</a:t>
            </a:r>
          </a:p>
        </p:txBody>
      </p:sp>
      <p:pic>
        <p:nvPicPr>
          <p:cNvPr id="118" name="Imagen 118" descr="Funnel of AI initiatives with its stages, exits and cases in use"/>
          <p:cNvPicPr>
            <a:picLocks noChangeAspect="1"/>
          </p:cNvPicPr>
          <p:nvPr/>
        </p:nvPicPr>
        <p:blipFill>
          <a:blip r:embed="rIdImg_embudo"/>
          <a:stretch>
            <a:fillRect/>
          </a:stretch>
        </p:blipFill>
        <p:spPr>
          <a:xfrm>
            <a:off x="609600" y="1900000"/>
            <a:ext cx="7500000" cy="3692308"/>
          </a:xfrm>
          <a:prstGeom prst="rect">
            <a:avLst/>
          </a:prstGeom>
          <a:ln w="12700">
            <a:solidFill>
              <a:srgbClr val="C9A78D"/>
            </a:solidFill>
          </a:ln>
        </p:spPr>
      </p:pic>
      <p:sp>
        <p:nvSpPr>
          <p:cNvPr id="119" name="Texto 119"/>
          <p:cNvSpPr txBox="1"/>
          <p:nvPr/>
        </p:nvSpPr>
        <p:spPr>
          <a:xfrm>
            <a:off x="8309600" y="1850000"/>
            <a:ext cx="32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Inside the funnel, only what is in progress: 5 proposed, 4 with a value hypothesis, 3 in proof of concept and 4 in development.</a:t>
            </a:r>
          </a:p>
          <a:p>
            <a:pPr marL="285750" indent="-285750">
              <a:spcAft>
                <a:spcPts val="400"/>
              </a:spcAft>
              <a:buClr>
                <a:srgbClr val="990F3D"/>
              </a:buClr>
              <a:buFont typeface="Arial"/>
              <a:buChar char="•"/>
            </a:pPr>
            <a:r>
              <a:rPr lang="es-ES" sz="1300" dirty="0">
                <a:solidFill>
                  <a:srgbClr val="2F2B28"/>
                </a:solidFill>
              </a:rPr>
              <a:t>On the left, how many reached each stage (40 → 31 → 24 → 17) and how long they take. The red triangle warns: proof of concept exceeds its time limit.</a:t>
            </a:r>
          </a:p>
          <a:p>
            <a:pPr marL="285750" indent="-285750">
              <a:spcAft>
                <a:spcPts val="400"/>
              </a:spcAft>
              <a:buClr>
                <a:srgbClr val="990F3D"/>
              </a:buClr>
              <a:buFont typeface="Arial"/>
              <a:buChar char="•"/>
            </a:pPr>
            <a:r>
              <a:rPr lang="es-ES" sz="1300" dirty="0">
                <a:solidFill>
                  <a:srgbClr val="2F2B28"/>
                </a:solidFill>
              </a:rPr>
              <a:t>On the right, those that did not pass each stage and why: no plausible value, hypothesis refuted, unacceptable risk, cost above value.</a:t>
            </a:r>
          </a:p>
          <a:p>
            <a:pPr marL="285750" indent="-285750">
              <a:spcAft>
                <a:spcPts val="400"/>
              </a:spcAft>
              <a:buClr>
                <a:srgbClr val="990F3D"/>
              </a:buClr>
              <a:buFont typeface="Arial"/>
              <a:buChar char="•"/>
            </a:pPr>
            <a:r>
              <a:rPr lang="es-ES" sz="1300" dirty="0">
                <a:solidFill>
                  <a:srgbClr val="2F2B28"/>
                </a:solidFill>
              </a:rPr>
              <a:t>Below, those that made it through: 11 in use, with their value and cost, and 1 disengaged.</a:t>
            </a:r>
          </a:p>
          <a:p>
            <a:pPr marL="285750" indent="-285750">
              <a:spcAft>
                <a:spcPts val="400"/>
              </a:spcAft>
              <a:buClr>
                <a:srgbClr val="990F3D"/>
              </a:buClr>
              <a:buFont typeface="Arial"/>
              <a:buChar char="•"/>
            </a:pPr>
            <a:r>
              <a:rPr lang="es-ES" sz="1300" dirty="0">
                <a:solidFill>
                  <a:srgbClr val="2F2B28"/>
                </a:solidFill>
              </a:rPr>
              <a:t>The goal is not to convert more: stopping an unviable initiative at G3 is a good outcome. 100% conversion would point to soft gates.</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27" name="Marca"/>
          <p:cNvSpPr/>
          <p:nvPr/>
        </p:nvSpPr>
        <p:spPr>
          <a:xfrm>
            <a:off x="609600" y="365760"/>
            <a:ext cx="182880" cy="182880"/>
          </a:xfrm>
          <a:prstGeom prst="rect">
            <a:avLst/>
          </a:prstGeom>
          <a:solidFill>
            <a:srgbClr val="990F3D"/>
          </a:solidFill>
        </p:spPr>
        <p:txBody>
          <a:bodyPr/>
          <a:lstStyle/>
          <a:p/>
        </p:txBody>
      </p:sp>
      <p:sp>
        <p:nvSpPr>
          <p:cNvPr id="128" name="Texto 12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129" name="Texto 12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The board dashboard (T17): how to read it</a:t>
            </a:r>
          </a:p>
        </p:txBody>
      </p:sp>
      <p:sp>
        <p:nvSpPr>
          <p:cNvPr id="130" name="Texto 130"/>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It is generated from the same register, with nothing typed twice. Fictitious data</a:t>
            </a:r>
          </a:p>
        </p:txBody>
      </p:sp>
      <p:pic>
        <p:nvPicPr>
          <p:cNvPr id="124" name="Imagen 124" descr="Board dashboard: portfolio and value cards and the «What holds back scaling» reading"/>
          <p:cNvPicPr>
            <a:picLocks noChangeAspect="1"/>
          </p:cNvPicPr>
          <p:nvPr/>
        </p:nvPicPr>
        <p:blipFill>
          <a:blip r:embed="rIdImg_panel"/>
          <a:stretch>
            <a:fillRect/>
          </a:stretch>
        </p:blipFill>
        <p:spPr>
          <a:xfrm>
            <a:off x="609600" y="1900000"/>
            <a:ext cx="6700000" cy="4243333"/>
          </a:xfrm>
          <a:prstGeom prst="rect">
            <a:avLst/>
          </a:prstGeom>
          <a:ln w="12700">
            <a:solidFill>
              <a:srgbClr val="C9A78D"/>
            </a:solidFill>
          </a:ln>
        </p:spPr>
      </p:pic>
      <p:sp>
        <p:nvSpPr>
          <p:cNvPr id="125" name="Texto 125"/>
          <p:cNvSpPr txBox="1"/>
          <p:nvPr/>
        </p:nvSpPr>
        <p:spPr>
          <a:xfrm>
            <a:off x="7509600" y="1850000"/>
            <a:ext cx="40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At the top, the figures: 15 cases, costs of €2.4M a year, total return of €7.3M and annual net of €4.8M. Each figure can be clicked to open its cases.</a:t>
            </a:r>
          </a:p>
          <a:p>
            <a:pPr marL="285750" indent="-285750">
              <a:spcAft>
                <a:spcPts val="400"/>
              </a:spcAft>
              <a:buClr>
                <a:srgbClr val="990F3D"/>
              </a:buClr>
              <a:buFont typeface="Arial"/>
              <a:buChar char="•"/>
            </a:pPr>
            <a:r>
              <a:rPr lang="es-ES" sz="1300" dirty="0">
                <a:solidFill>
                  <a:srgbClr val="2F2B28"/>
                </a:solidFill>
              </a:rPr>
              <a:t>The yellow card is the one that matters: only 36% of the value is validated by finance. In red: only 3 of 15 cases have all the controls.</a:t>
            </a:r>
          </a:p>
          <a:p>
            <a:pPr marL="285750" indent="-285750">
              <a:spcAft>
                <a:spcPts val="400"/>
              </a:spcAft>
              <a:buClr>
                <a:srgbClr val="990F3D"/>
              </a:buClr>
              <a:buFont typeface="Arial"/>
              <a:buChar char="•"/>
            </a:pPr>
            <a:r>
              <a:rPr lang="es-ES" sz="1300" dirty="0">
                <a:solidFill>
                  <a:srgbClr val="2F2B28"/>
                </a:solidFill>
              </a:rPr>
              <a:t>Below, «What holds back scaling»: the three barriers to start with, with what they block, what to do, who and the value at stake (document 60 §10.4).</a:t>
            </a:r>
          </a:p>
          <a:p>
            <a:pPr marL="285750" indent="-285750">
              <a:spcAft>
                <a:spcPts val="400"/>
              </a:spcAft>
              <a:buClr>
                <a:srgbClr val="990F3D"/>
              </a:buClr>
              <a:buFont typeface="Arial"/>
              <a:buChar char="•"/>
            </a:pPr>
            <a:r>
              <a:rPr lang="es-ES" sz="1300" dirty="0">
                <a:solidFill>
                  <a:srgbClr val="2F2B28"/>
                </a:solidFill>
              </a:rPr>
              <a:t>In the example: first risk and compliance (blocks G5), then unvalidated value (blocks G7 · Scale) and cases that do not move forward.</a:t>
            </a:r>
          </a:p>
          <a:p>
            <a:pPr marL="285750" indent="-285750">
              <a:spcAft>
                <a:spcPts val="400"/>
              </a:spcAft>
              <a:buClr>
                <a:srgbClr val="990F3D"/>
              </a:buClr>
              <a:buFont typeface="Arial"/>
              <a:buChar char="•"/>
            </a:pPr>
            <a:r>
              <a:rPr lang="es-ES" sz="1300" dirty="0">
                <a:solidFill>
                  <a:srgbClr val="2F2B28"/>
                </a:solidFill>
              </a:rPr>
              <a:t>The value at stake ranks, it does not promise: it is declared, not validated.</a:t>
            </a:r>
          </a:p>
        </p:txBody>
      </p:sp>
      <p:sp>
        <p:nvSpPr>
          <p:cNvPr id="126" name="Texto 126"/>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If a figure on the dashboard looks wrong, the dashboard is not touched: the evidence is fixed in the register and it is generated again.</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34" name="Marca"/>
          <p:cNvSpPr/>
          <p:nvPr/>
        </p:nvSpPr>
        <p:spPr>
          <a:xfrm>
            <a:off x="609600" y="365760"/>
            <a:ext cx="182880" cy="182880"/>
          </a:xfrm>
          <a:prstGeom prst="rect">
            <a:avLst/>
          </a:prstGeom>
          <a:solidFill>
            <a:srgbClr val="990F3D"/>
          </a:solidFill>
        </p:spPr>
        <p:txBody>
          <a:bodyPr/>
          <a:lstStyle/>
          <a:p/>
        </p:txBody>
      </p:sp>
      <p:sp>
        <p:nvSpPr>
          <p:cNvPr id="135" name="Texto 13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136" name="Texto 13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Where the impact is: spheres × ambition</a:t>
            </a:r>
          </a:p>
        </p:txBody>
      </p:sp>
      <p:sp>
        <p:nvSpPr>
          <p:cNvPr id="137" name="Texto 137"/>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The portfolio heat map (T16) in the same dashboard. Fictitious data</a:t>
            </a:r>
          </a:p>
        </p:txBody>
      </p:sp>
      <p:pic>
        <p:nvPicPr>
          <p:cNvPr id="131" name="Imagen 131" descr="Heat map of spheres by ambition level with cases, investment, net and gaps"/>
          <p:cNvPicPr>
            <a:picLocks noChangeAspect="1"/>
          </p:cNvPicPr>
          <p:nvPr/>
        </p:nvPicPr>
        <p:blipFill>
          <a:blip r:embed="rIdImg_impacto"/>
          <a:stretch>
            <a:fillRect/>
          </a:stretch>
        </p:blipFill>
        <p:spPr>
          <a:xfrm>
            <a:off x="609600" y="1900000"/>
            <a:ext cx="6700000" cy="4243333"/>
          </a:xfrm>
          <a:prstGeom prst="rect">
            <a:avLst/>
          </a:prstGeom>
          <a:ln w="12700">
            <a:solidFill>
              <a:srgbClr val="C9A78D"/>
            </a:solidFill>
          </a:ln>
        </p:spPr>
      </p:pic>
      <p:sp>
        <p:nvSpPr>
          <p:cNvPr id="132" name="Texto 132"/>
          <p:cNvSpPr txBox="1"/>
          <p:nvPr/>
        </p:nvSpPr>
        <p:spPr>
          <a:xfrm>
            <a:off x="7509600" y="1850000"/>
            <a:ext cx="40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Rows: the areas where AI creates value (customer, product, people, operations, data, knowledge, decision). Columns: optimise, augment, transform.</a:t>
            </a:r>
          </a:p>
          <a:p>
            <a:pPr marL="285750" indent="-285750">
              <a:spcAft>
                <a:spcPts val="400"/>
              </a:spcAft>
              <a:buClr>
                <a:srgbClr val="990F3D"/>
              </a:buClr>
              <a:buFont typeface="Arial"/>
              <a:buChar char="•"/>
            </a:pPr>
            <a:r>
              <a:rPr lang="es-ES" sz="1300" dirty="0">
                <a:solidFill>
                  <a:srgbClr val="2F2B28"/>
                </a:solidFill>
              </a:rPr>
              <a:t>Each cell: cases, investment and cost, annual net and validated value; the colour shows where spending is concentrated.</a:t>
            </a:r>
          </a:p>
          <a:p>
            <a:pPr marL="285750" indent="-285750">
              <a:spcAft>
                <a:spcPts val="400"/>
              </a:spcAft>
              <a:buClr>
                <a:srgbClr val="990F3D"/>
              </a:buClr>
              <a:buFont typeface="Arial"/>
              <a:buChar char="•"/>
            </a:pPr>
            <a:r>
              <a:rPr lang="es-ES" sz="1300" dirty="0">
                <a:solidFill>
                  <a:srgbClr val="2F2B28"/>
                </a:solidFill>
              </a:rPr>
              <a:t>«Gap»: the ambition management approved in C2 for that sphere has no case that has passed G2.</a:t>
            </a:r>
          </a:p>
          <a:p>
            <a:pPr marL="285750" indent="-285750">
              <a:spcAft>
                <a:spcPts val="400"/>
              </a:spcAft>
              <a:buClr>
                <a:srgbClr val="990F3D"/>
              </a:buClr>
              <a:buFont typeface="Arial"/>
              <a:buChar char="•"/>
            </a:pPr>
            <a:r>
              <a:rPr lang="es-ES" sz="1300" dirty="0">
                <a:solidFill>
                  <a:srgbClr val="2F2B28"/>
                </a:solidFill>
              </a:rPr>
              <a:t>In the example: 40% of spending is in Customer, Data has no activity and five spheres have a gap.</a:t>
            </a:r>
          </a:p>
          <a:p>
            <a:pPr marL="285750" indent="-285750">
              <a:spcAft>
                <a:spcPts val="400"/>
              </a:spcAft>
              <a:buClr>
                <a:srgbClr val="990F3D"/>
              </a:buClr>
              <a:buFont typeface="Arial"/>
              <a:buChar char="•"/>
            </a:pPr>
            <a:r>
              <a:rPr lang="es-ES" sz="1300" dirty="0">
                <a:solidFill>
                  <a:srgbClr val="2F2B28"/>
                </a:solidFill>
              </a:rPr>
              <a:t>The target ambition comes from the thesis approved in the register; it is not written in the dashboard.</a:t>
            </a:r>
          </a:p>
        </p:txBody>
      </p:sp>
      <p:sp>
        <p:nvSpPr>
          <p:cNvPr id="133" name="Texto 133"/>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The question it answers: where does AI have most impact in the company and where are we not playing? (document 10 §8)</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138" name="Marca"/>
          <p:cNvSpPr/>
          <p:nvPr/>
        </p:nvSpPr>
        <p:spPr>
          <a:xfrm>
            <a:off x="609600" y="2400000"/>
            <a:ext cx="182880" cy="182880"/>
          </a:xfrm>
          <a:prstGeom prst="rect">
            <a:avLst/>
          </a:prstGeom>
          <a:solidFill>
            <a:srgbClr val="990F3D"/>
          </a:solidFill>
        </p:spPr>
        <p:txBody>
          <a:bodyPr/>
          <a:lstStyle/>
          <a:p/>
        </p:txBody>
      </p:sp>
      <p:sp>
        <p:nvSpPr>
          <p:cNvPr id="139" name="Texto 139"/>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TWO EXAMPLES</a:t>
            </a:r>
          </a:p>
        </p:txBody>
      </p:sp>
      <p:sp>
        <p:nvSpPr>
          <p:cNvPr id="140" name="Texto 140"/>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One initiative that stops and one that reaches production</a:t>
            </a:r>
          </a:p>
        </p:txBody>
      </p:sp>
      <p:sp>
        <p:nvSpPr>
          <p:cNvPr id="141" name="Texto 141"/>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Fictitious, illustrative data: they do not describe any real company.</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45" name="Marca"/>
          <p:cNvSpPr/>
          <p:nvPr/>
        </p:nvSpPr>
        <p:spPr>
          <a:xfrm>
            <a:off x="609600" y="365760"/>
            <a:ext cx="182880" cy="182880"/>
          </a:xfrm>
          <a:prstGeom prst="rect">
            <a:avLst/>
          </a:prstGeom>
          <a:solidFill>
            <a:srgbClr val="990F3D"/>
          </a:solidFill>
        </p:spPr>
        <p:txBody>
          <a:bodyPr/>
          <a:lstStyle/>
          <a:p/>
        </p:txBody>
      </p:sp>
      <p:sp>
        <p:nvSpPr>
          <p:cNvPr id="146" name="Texto 146"/>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147" name="Texto 147"/>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Example 1 · When an initiative stops</a:t>
            </a:r>
          </a:p>
        </p:txBody>
      </p:sp>
      <p:sp>
        <p:nvSpPr>
          <p:cNvPr id="142" name="Texto 142"/>
          <p:cNvSpPr txBox="1"/>
          <p:nvPr/>
        </p:nvSpPr>
        <p:spPr>
          <a:xfrm>
            <a:off x="609600" y="1330000"/>
            <a:ext cx="10972800" cy="500000"/>
          </a:xfrm>
          <a:prstGeom prst="rect">
            <a:avLst/>
          </a:prstGeom>
          <a:noFill/>
        </p:spPr>
        <p:txBody>
          <a:bodyPr wrap="square" anchor="t" lIns="45720" rIns="45720">
            <a:noAutofit/>
          </a:bodyPr>
          <a:lstStyle/>
          <a:p>
            <a:pPr algn="l"/>
            <a:r>
              <a:rPr lang="es-ES" sz="1700" b="1" dirty="0">
                <a:solidFill>
                  <a:srgbClr val="2F2B28"/>
                </a:solidFill>
              </a:rPr>
              <a:t>Candidate screening in recruitment (HR)</a:t>
            </a:r>
          </a:p>
        </p:txBody>
      </p:sp>
      <p:sp>
        <p:nvSpPr>
          <p:cNvPr id="143" name="Texto 143"/>
          <p:cNvSpPr txBox="1"/>
          <p:nvPr/>
        </p:nvSpPr>
        <p:spPr>
          <a:xfrm>
            <a:off x="609600" y="1900000"/>
            <a:ext cx="10972800" cy="355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500" dirty="0">
                <a:solidFill>
                  <a:srgbClr val="2F2B28"/>
                </a:solidFill>
              </a:rPr>
              <a:t>Phases 0 and 1: HR sponsors it (P01–P05). Because it decides about people, intensity is Enterprise (P04). It enters "Proposed".</a:t>
            </a:r>
          </a:p>
          <a:p>
            <a:pPr marL="285750" indent="-285750">
              <a:spcAft>
                <a:spcPts val="400"/>
              </a:spcAft>
              <a:buClr>
                <a:srgbClr val="990F3D"/>
              </a:buClr>
              <a:buFont typeface="Arial"/>
              <a:buChar char="•"/>
            </a:pPr>
            <a:r>
              <a:rPr lang="es-ES" sz="1500" dirty="0">
                <a:solidFill>
                  <a:srgbClr val="2F2B28"/>
                </a:solidFill>
              </a:rPr>
              <a:t>Phase 2: the hypothesis (P08) promises 40% less screening time against the baseline (P09). The pilot confirms it: G2, Proceed.</a:t>
            </a:r>
          </a:p>
          <a:p>
            <a:pPr marL="285750" indent="-285750">
              <a:spcAft>
                <a:spcPts val="400"/>
              </a:spcAft>
              <a:buClr>
                <a:srgbClr val="990F3D"/>
              </a:buClr>
              <a:buFont typeface="Arial"/>
              <a:buChar char="•"/>
            </a:pPr>
            <a:r>
              <a:rPr lang="es-ES" sz="1500" dirty="0">
                <a:solidFill>
                  <a:srgbClr val="2F2B28"/>
                </a:solidFill>
              </a:rPr>
              <a:t>Phase 3: the regulatory classification (P11) makes it a high-risk system. The bias test finds it penalises older candidates.</a:t>
            </a:r>
          </a:p>
          <a:p>
            <a:pPr marL="285750" indent="-285750">
              <a:spcAft>
                <a:spcPts val="400"/>
              </a:spcAft>
              <a:buClr>
                <a:srgbClr val="990F3D"/>
              </a:buClr>
              <a:buFont typeface="Arial"/>
              <a:buChar char="•"/>
            </a:pPr>
            <a:r>
              <a:rPr lang="es-ES" sz="1500" dirty="0">
                <a:solidFill>
                  <a:srgbClr val="2F2B28"/>
                </a:solidFill>
              </a:rPr>
              <a:t>It iterates twice, adjusting variables: fixing the bias destroys the predictive power that justified the project.</a:t>
            </a:r>
          </a:p>
          <a:p>
            <a:pPr marL="285750" indent="-285750">
              <a:spcAft>
                <a:spcPts val="400"/>
              </a:spcAft>
              <a:buClr>
                <a:srgbClr val="990F3D"/>
              </a:buClr>
              <a:buFont typeface="Arial"/>
              <a:buChar char="•"/>
            </a:pPr>
            <a:r>
              <a:rPr lang="es-ES" sz="1500" dirty="0">
                <a:solidFill>
                  <a:srgbClr val="2F2B28"/>
                </a:solidFill>
              </a:rPr>
              <a:t>G3: high residual risk with no viable mitigation (P12, P13). The AI committee decides to Stop; it is recorded in P29 with its reason.</a:t>
            </a:r>
          </a:p>
          <a:p>
            <a:pPr marL="285750" indent="-285750">
              <a:spcAft>
                <a:spcPts val="400"/>
              </a:spcAft>
              <a:buClr>
                <a:srgbClr val="990F3D"/>
              </a:buClr>
              <a:buFont typeface="Arial"/>
              <a:buChar char="•"/>
            </a:pPr>
            <a:r>
              <a:rPr lang="es-ES" sz="1500" dirty="0">
                <a:solidFill>
                  <a:srgbClr val="2F2B28"/>
                </a:solidFill>
              </a:rPr>
              <a:t>In the funnel it shows to the right of "Proof of concept": Discarded · unacceptable risk. Lesson: test for bias earlier, in phase 2.</a:t>
            </a:r>
          </a:p>
        </p:txBody>
      </p:sp>
      <p:sp>
        <p:nvSpPr>
          <p:cNvPr id="144" name="Caja 144"/>
          <p:cNvSpPr/>
          <p:nvPr/>
        </p:nvSpPr>
        <p:spPr>
          <a:xfrm>
            <a:off x="609600" y="5600000"/>
            <a:ext cx="10972800" cy="900000"/>
          </a:xfrm>
          <a:prstGeom prst="roundRect">
            <a:avLst>
              <a:gd name="adj" fmla="val 6000"/>
            </a:avLst>
          </a:prstGeom>
          <a:solidFill>
            <a:srgbClr val="990F3D"/>
          </a:solidFill>
          <a:ln>
            <a:noFill/>
          </a:ln>
        </p:spPr>
        <p:txBody>
          <a:bodyPr wrap="square" anchor="ctr" lIns="45720" rIns="45720">
            <a:noAutofit/>
          </a:bodyPr>
          <a:lstStyle/>
          <a:p>
            <a:pPr algn="ctr"/>
            <a:r>
              <a:rPr lang="es-ES" sz="2100" b="1" dirty="0">
                <a:solidFill>
                  <a:srgbClr val="FFFFFF"/>
                </a:solidFill>
              </a:rPr>
              <a:t>STOPPED AT G3 · BUILDING AND RUNNING AN UNVIABLE SYSTEM WAS AVOIDED</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65" name="Marca"/>
          <p:cNvSpPr/>
          <p:nvPr/>
        </p:nvSpPr>
        <p:spPr>
          <a:xfrm>
            <a:off x="609600" y="365760"/>
            <a:ext cx="182880" cy="182880"/>
          </a:xfrm>
          <a:prstGeom prst="rect">
            <a:avLst/>
          </a:prstGeom>
          <a:solidFill>
            <a:srgbClr val="990F3D"/>
          </a:solidFill>
        </p:spPr>
        <p:txBody>
          <a:bodyPr/>
          <a:lstStyle/>
          <a:p/>
        </p:txBody>
      </p:sp>
      <p:sp>
        <p:nvSpPr>
          <p:cNvPr id="166" name="Texto 166"/>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167" name="Texto 167"/>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Initiative 1, on the lifecycle</a:t>
            </a:r>
          </a:p>
        </p:txBody>
      </p:sp>
      <p:sp>
        <p:nvSpPr>
          <p:cNvPr id="168" name="Texto 168"/>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It reached phase 3 and did not pass gate G3</a:t>
            </a:r>
          </a:p>
        </p:txBody>
      </p:sp>
      <p:sp>
        <p:nvSpPr>
          <p:cNvPr id="148" name="Caja 148"/>
          <p:cNvSpPr/>
          <p:nvPr/>
        </p:nvSpPr>
        <p:spPr>
          <a:xfrm>
            <a:off x="68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 and constraints</a:t>
            </a:r>
          </a:p>
        </p:txBody>
      </p:sp>
      <p:sp>
        <p:nvSpPr>
          <p:cNvPr id="149" name="Texto 149"/>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150" name="Caja 150"/>
          <p:cNvSpPr/>
          <p:nvPr/>
        </p:nvSpPr>
        <p:spPr>
          <a:xfrm>
            <a:off x="205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Opportunity discovery</a:t>
            </a:r>
          </a:p>
        </p:txBody>
      </p:sp>
      <p:sp>
        <p:nvSpPr>
          <p:cNvPr id="151" name="Texto 151"/>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152" name="Caja 152"/>
          <p:cNvSpPr/>
          <p:nvPr/>
        </p:nvSpPr>
        <p:spPr>
          <a:xfrm>
            <a:off x="342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Value hypothesis</a:t>
            </a:r>
          </a:p>
        </p:txBody>
      </p:sp>
      <p:sp>
        <p:nvSpPr>
          <p:cNvPr id="153" name="Texto 153"/>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154" name="Caja 154"/>
          <p:cNvSpPr/>
          <p:nvPr/>
        </p:nvSpPr>
        <p:spPr>
          <a:xfrm>
            <a:off x="479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Feasibility and risk</a:t>
            </a:r>
          </a:p>
        </p:txBody>
      </p:sp>
      <p:sp>
        <p:nvSpPr>
          <p:cNvPr id="155" name="Texto 155"/>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156" name="Caja 156"/>
          <p:cNvSpPr/>
          <p:nvPr/>
        </p:nvSpPr>
        <p:spPr>
          <a:xfrm>
            <a:off x="616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F4</a:t>
            </a:r>
          </a:p>
          <a:p>
            <a:pPr algn="ctr"/>
            <a:r>
              <a:rPr lang="es-ES" sz="1050" dirty="0">
                <a:solidFill>
                  <a:srgbClr val="564D47"/>
                </a:solidFill>
              </a:rPr>
              <a:t>Solution design</a:t>
            </a:r>
          </a:p>
        </p:txBody>
      </p:sp>
      <p:sp>
        <p:nvSpPr>
          <p:cNvPr id="157" name="Texto 157"/>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158" name="Caja 158"/>
          <p:cNvSpPr/>
          <p:nvPr/>
        </p:nvSpPr>
        <p:spPr>
          <a:xfrm>
            <a:off x="753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F5</a:t>
            </a:r>
          </a:p>
          <a:p>
            <a:pPr algn="ctr"/>
            <a:r>
              <a:rPr lang="es-ES" sz="1050" dirty="0">
                <a:solidFill>
                  <a:srgbClr val="564D47"/>
                </a:solidFill>
              </a:rPr>
              <a:t>Delivery and validation</a:t>
            </a:r>
          </a:p>
        </p:txBody>
      </p:sp>
      <p:sp>
        <p:nvSpPr>
          <p:cNvPr id="159" name="Texto 159"/>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160" name="Caja 160"/>
          <p:cNvSpPr/>
          <p:nvPr/>
        </p:nvSpPr>
        <p:spPr>
          <a:xfrm>
            <a:off x="890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F6</a:t>
            </a:r>
          </a:p>
          <a:p>
            <a:pPr algn="ctr"/>
            <a:r>
              <a:rPr lang="es-ES" sz="1050" dirty="0">
                <a:solidFill>
                  <a:srgbClr val="564D47"/>
                </a:solidFill>
              </a:rPr>
              <a:t>Operation and governance</a:t>
            </a:r>
          </a:p>
        </p:txBody>
      </p:sp>
      <p:sp>
        <p:nvSpPr>
          <p:cNvPr id="161" name="Texto 161"/>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162" name="Caja 162"/>
          <p:cNvSpPr/>
          <p:nvPr/>
        </p:nvSpPr>
        <p:spPr>
          <a:xfrm>
            <a:off x="1027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F7</a:t>
            </a:r>
          </a:p>
          <a:p>
            <a:pPr algn="ctr"/>
            <a:r>
              <a:rPr lang="es-ES" sz="1050" dirty="0">
                <a:solidFill>
                  <a:srgbClr val="564D47"/>
                </a:solidFill>
              </a:rPr>
              <a:t>Evolution or retirement</a:t>
            </a:r>
          </a:p>
        </p:txBody>
      </p:sp>
      <p:sp>
        <p:nvSpPr>
          <p:cNvPr id="163" name="Texto 163"/>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164" name="Texto 164"/>
          <p:cNvSpPr txBox="1"/>
          <p:nvPr/>
        </p:nvSpPr>
        <p:spPr>
          <a:xfrm>
            <a:off x="609600" y="4430000"/>
            <a:ext cx="10972800" cy="600000"/>
          </a:xfrm>
          <a:prstGeom prst="rect">
            <a:avLst/>
          </a:prstGeom>
          <a:noFill/>
        </p:spPr>
        <p:txBody>
          <a:bodyPr wrap="square" anchor="t" lIns="45720" rIns="45720">
            <a:noAutofit/>
          </a:bodyPr>
          <a:lstStyle/>
          <a:p>
            <a:pPr algn="ctr"/>
            <a:r>
              <a:rPr lang="es-ES" sz="2200" b="1" dirty="0">
                <a:solidFill>
                  <a:srgbClr val="990F3D"/>
                </a:solidFill>
              </a:rPr>
              <a:t>STOPPED AT G3 · it leaves the funnel as "Discarded", with its reason</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72" name="Marca"/>
          <p:cNvSpPr/>
          <p:nvPr/>
        </p:nvSpPr>
        <p:spPr>
          <a:xfrm>
            <a:off x="609600" y="365760"/>
            <a:ext cx="182880" cy="182880"/>
          </a:xfrm>
          <a:prstGeom prst="rect">
            <a:avLst/>
          </a:prstGeom>
          <a:solidFill>
            <a:srgbClr val="990F3D"/>
          </a:solidFill>
        </p:spPr>
        <p:txBody>
          <a:bodyPr/>
          <a:lstStyle/>
          <a:p/>
        </p:txBody>
      </p:sp>
      <p:sp>
        <p:nvSpPr>
          <p:cNvPr id="173" name="Texto 17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174" name="Texto 17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Example 2 · When an initiative reaches production</a:t>
            </a:r>
          </a:p>
        </p:txBody>
      </p:sp>
      <p:sp>
        <p:nvSpPr>
          <p:cNvPr id="169" name="Texto 169"/>
          <p:cNvSpPr txBox="1"/>
          <p:nvPr/>
        </p:nvSpPr>
        <p:spPr>
          <a:xfrm>
            <a:off x="609600" y="1330000"/>
            <a:ext cx="10972800" cy="500000"/>
          </a:xfrm>
          <a:prstGeom prst="rect">
            <a:avLst/>
          </a:prstGeom>
          <a:noFill/>
        </p:spPr>
        <p:txBody>
          <a:bodyPr wrap="square" anchor="t" lIns="45720" rIns="45720">
            <a:noAutofit/>
          </a:bodyPr>
          <a:lstStyle/>
          <a:p>
            <a:pPr algn="l"/>
            <a:r>
              <a:rPr lang="es-ES" sz="1700" b="1" dirty="0">
                <a:solidFill>
                  <a:srgbClr val="2F2B28"/>
                </a:solidFill>
              </a:rPr>
              <a:t>First-line IT incident response assistant</a:t>
            </a:r>
          </a:p>
        </p:txBody>
      </p:sp>
      <p:sp>
        <p:nvSpPr>
          <p:cNvPr id="170" name="Texto 170"/>
          <p:cNvSpPr txBox="1"/>
          <p:nvPr/>
        </p:nvSpPr>
        <p:spPr>
          <a:xfrm>
            <a:off x="609600" y="1900000"/>
            <a:ext cx="10972800" cy="355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500" dirty="0">
                <a:solidFill>
                  <a:srgbClr val="2F2B28"/>
                </a:solidFill>
              </a:rPr>
              <a:t>Phases 0 and 1: IT sponsors it; against the non-AI alternative (more staff), the operations sphere with Optimise ambition is proposed (P07).</a:t>
            </a:r>
          </a:p>
          <a:p>
            <a:pPr marL="285750" indent="-285750">
              <a:spcAft>
                <a:spcPts val="400"/>
              </a:spcAft>
              <a:buClr>
                <a:srgbClr val="990F3D"/>
              </a:buClr>
              <a:buFont typeface="Arial"/>
              <a:buChar char="•"/>
            </a:pPr>
            <a:r>
              <a:rPr lang="es-ES" sz="1500" dirty="0">
                <a:solidFill>
                  <a:srgbClr val="2F2B28"/>
                </a:solidFill>
              </a:rPr>
              <a:t>Phase 2: hypothesis of 30% less resolution time for simple incidents; the controlled pilot yields 32%.</a:t>
            </a:r>
          </a:p>
          <a:p>
            <a:pPr marL="285750" indent="-285750">
              <a:spcAft>
                <a:spcPts val="400"/>
              </a:spcAft>
              <a:buClr>
                <a:srgbClr val="990F3D"/>
              </a:buClr>
              <a:buFont typeface="Arial"/>
              <a:buChar char="•"/>
            </a:pPr>
            <a:r>
              <a:rPr lang="es-ES" sz="1500" dirty="0">
                <a:solidFill>
                  <a:srgbClr val="2F2B28"/>
                </a:solidFill>
              </a:rPr>
              <a:t>Phase 3: no relevant bias, medium residual risk accepted by the right body (P12), supplier assessed (P14). G3, Proceed.</a:t>
            </a:r>
          </a:p>
          <a:p>
            <a:pPr marL="285750" indent="-285750">
              <a:spcAft>
                <a:spcPts val="400"/>
              </a:spcAft>
              <a:buClr>
                <a:srgbClr val="990F3D"/>
              </a:buClr>
              <a:buFont typeface="Arial"/>
              <a:buChar char="•"/>
            </a:pPr>
            <a:r>
              <a:rPr lang="es-ES" sz="1500" dirty="0">
                <a:solidFill>
                  <a:srgbClr val="2F2B28"/>
                </a:solidFill>
              </a:rPr>
              <a:t>Phases 4 and 5: mandatory human oversight above a severity level (P17), tested rollback (P19) and go-live sign-off (P23).</a:t>
            </a:r>
          </a:p>
          <a:p>
            <a:pPr marL="285750" indent="-285750">
              <a:spcAft>
                <a:spcPts val="400"/>
              </a:spcAft>
              <a:buClr>
                <a:srgbClr val="990F3D"/>
              </a:buClr>
              <a:buFont typeface="Arial"/>
              <a:buChar char="•"/>
            </a:pPr>
            <a:r>
              <a:rPr lang="es-ES" sz="1500" dirty="0">
                <a:solidFill>
                  <a:srgbClr val="2F2B28"/>
                </a:solidFill>
              </a:rPr>
              <a:t>Phase 6: fourteen months in use. Finance validates €1.1M a year (P28); released capacity was reassigned to complex incidents.</a:t>
            </a:r>
          </a:p>
          <a:p>
            <a:pPr marL="285750" indent="-285750">
              <a:spcAft>
                <a:spcPts val="400"/>
              </a:spcAft>
              <a:buClr>
                <a:srgbClr val="990F3D"/>
              </a:buClr>
              <a:buFont typeface="Arial"/>
              <a:buChar char="•"/>
            </a:pPr>
            <a:r>
              <a:rPr lang="es-ES" sz="1500" dirty="0">
                <a:solidFill>
                  <a:srgbClr val="2F2B28"/>
                </a:solidFill>
              </a:rPr>
              <a:t>In the funnel it sits under "In use"; on the dashboard it adds to annual net because its value is validated, not declared.</a:t>
            </a:r>
          </a:p>
        </p:txBody>
      </p:sp>
      <p:sp>
        <p:nvSpPr>
          <p:cNvPr id="171" name="Caja 171"/>
          <p:cNvSpPr/>
          <p:nvPr/>
        </p:nvSpPr>
        <p:spPr>
          <a:xfrm>
            <a:off x="609600" y="5600000"/>
            <a:ext cx="10972800" cy="900000"/>
          </a:xfrm>
          <a:prstGeom prst="roundRect">
            <a:avLst>
              <a:gd name="adj" fmla="val 6000"/>
            </a:avLst>
          </a:prstGeom>
          <a:solidFill>
            <a:srgbClr val="0D7680"/>
          </a:solidFill>
          <a:ln>
            <a:noFill/>
          </a:ln>
        </p:spPr>
        <p:txBody>
          <a:bodyPr wrap="square" anchor="ctr" lIns="45720" rIns="45720">
            <a:noAutofit/>
          </a:bodyPr>
          <a:lstStyle/>
          <a:p>
            <a:pPr algn="ctr"/>
            <a:r>
              <a:rPr lang="es-ES" sz="2100" b="1" dirty="0">
                <a:solidFill>
                  <a:srgbClr val="FFFFFF"/>
                </a:solidFill>
              </a:rPr>
              <a:t>IN PRODUCTION · €1.1M OF VALIDATED ANNUAL RETURN · QUARTERLY R6</a:t>
            </a: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92" name="Marca"/>
          <p:cNvSpPr/>
          <p:nvPr/>
        </p:nvSpPr>
        <p:spPr>
          <a:xfrm>
            <a:off x="609600" y="365760"/>
            <a:ext cx="182880" cy="182880"/>
          </a:xfrm>
          <a:prstGeom prst="rect">
            <a:avLst/>
          </a:prstGeom>
          <a:solidFill>
            <a:srgbClr val="990F3D"/>
          </a:solidFill>
        </p:spPr>
        <p:txBody>
          <a:bodyPr/>
          <a:lstStyle/>
          <a:p/>
        </p:txBody>
      </p:sp>
      <p:sp>
        <p:nvSpPr>
          <p:cNvPr id="193" name="Texto 19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194" name="Texto 19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Initiative 2, on the lifecycle</a:t>
            </a:r>
          </a:p>
        </p:txBody>
      </p:sp>
      <p:sp>
        <p:nvSpPr>
          <p:cNvPr id="195" name="Texto 19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It went through phases 0 to 6 and remains in use; phase 7 will come with G7</a:t>
            </a:r>
          </a:p>
        </p:txBody>
      </p:sp>
      <p:sp>
        <p:nvSpPr>
          <p:cNvPr id="175" name="Caja 175"/>
          <p:cNvSpPr/>
          <p:nvPr/>
        </p:nvSpPr>
        <p:spPr>
          <a:xfrm>
            <a:off x="68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 and constraints</a:t>
            </a:r>
          </a:p>
        </p:txBody>
      </p:sp>
      <p:sp>
        <p:nvSpPr>
          <p:cNvPr id="176" name="Texto 176"/>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177" name="Caja 177"/>
          <p:cNvSpPr/>
          <p:nvPr/>
        </p:nvSpPr>
        <p:spPr>
          <a:xfrm>
            <a:off x="205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Opportunity discovery</a:t>
            </a:r>
          </a:p>
        </p:txBody>
      </p:sp>
      <p:sp>
        <p:nvSpPr>
          <p:cNvPr id="178" name="Texto 178"/>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179" name="Caja 179"/>
          <p:cNvSpPr/>
          <p:nvPr/>
        </p:nvSpPr>
        <p:spPr>
          <a:xfrm>
            <a:off x="342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Value hypothesis</a:t>
            </a:r>
          </a:p>
        </p:txBody>
      </p:sp>
      <p:sp>
        <p:nvSpPr>
          <p:cNvPr id="180" name="Texto 180"/>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181" name="Caja 181"/>
          <p:cNvSpPr/>
          <p:nvPr/>
        </p:nvSpPr>
        <p:spPr>
          <a:xfrm>
            <a:off x="479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Feasibility and risk</a:t>
            </a:r>
          </a:p>
        </p:txBody>
      </p:sp>
      <p:sp>
        <p:nvSpPr>
          <p:cNvPr id="182" name="Texto 182"/>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183" name="Caja 183"/>
          <p:cNvSpPr/>
          <p:nvPr/>
        </p:nvSpPr>
        <p:spPr>
          <a:xfrm>
            <a:off x="616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F4</a:t>
            </a:r>
          </a:p>
          <a:p>
            <a:pPr algn="ctr"/>
            <a:r>
              <a:rPr lang="es-ES" sz="1050" dirty="0">
                <a:solidFill>
                  <a:srgbClr val="FFFFFF"/>
                </a:solidFill>
              </a:rPr>
              <a:t>Solution design</a:t>
            </a:r>
          </a:p>
        </p:txBody>
      </p:sp>
      <p:sp>
        <p:nvSpPr>
          <p:cNvPr id="184" name="Texto 184"/>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185" name="Caja 185"/>
          <p:cNvSpPr/>
          <p:nvPr/>
        </p:nvSpPr>
        <p:spPr>
          <a:xfrm>
            <a:off x="753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F5</a:t>
            </a:r>
          </a:p>
          <a:p>
            <a:pPr algn="ctr"/>
            <a:r>
              <a:rPr lang="es-ES" sz="1050" dirty="0">
                <a:solidFill>
                  <a:srgbClr val="FFFFFF"/>
                </a:solidFill>
              </a:rPr>
              <a:t>Delivery and validation</a:t>
            </a:r>
          </a:p>
        </p:txBody>
      </p:sp>
      <p:sp>
        <p:nvSpPr>
          <p:cNvPr id="186" name="Texto 186"/>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187" name="Caja 187"/>
          <p:cNvSpPr/>
          <p:nvPr/>
        </p:nvSpPr>
        <p:spPr>
          <a:xfrm>
            <a:off x="890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F6</a:t>
            </a:r>
          </a:p>
          <a:p>
            <a:pPr algn="ctr"/>
            <a:r>
              <a:rPr lang="es-ES" sz="1050" dirty="0">
                <a:solidFill>
                  <a:srgbClr val="FFFFFF"/>
                </a:solidFill>
              </a:rPr>
              <a:t>Operation and governance</a:t>
            </a:r>
          </a:p>
        </p:txBody>
      </p:sp>
      <p:sp>
        <p:nvSpPr>
          <p:cNvPr id="188" name="Texto 188"/>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189" name="Caja 189"/>
          <p:cNvSpPr/>
          <p:nvPr/>
        </p:nvSpPr>
        <p:spPr>
          <a:xfrm>
            <a:off x="1027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F7</a:t>
            </a:r>
          </a:p>
          <a:p>
            <a:pPr algn="ctr"/>
            <a:r>
              <a:rPr lang="es-ES" sz="1050" dirty="0">
                <a:solidFill>
                  <a:srgbClr val="564D47"/>
                </a:solidFill>
              </a:rPr>
              <a:t>Evolution or retirement</a:t>
            </a:r>
          </a:p>
        </p:txBody>
      </p:sp>
      <p:sp>
        <p:nvSpPr>
          <p:cNvPr id="190" name="Texto 190"/>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191" name="Texto 191"/>
          <p:cNvSpPr txBox="1"/>
          <p:nvPr/>
        </p:nvSpPr>
        <p:spPr>
          <a:xfrm>
            <a:off x="609600" y="4430000"/>
            <a:ext cx="10972800" cy="600000"/>
          </a:xfrm>
          <a:prstGeom prst="rect">
            <a:avLst/>
          </a:prstGeom>
          <a:noFill/>
        </p:spPr>
        <p:txBody>
          <a:bodyPr wrap="square" anchor="t" lIns="45720" rIns="45720">
            <a:noAutofit/>
          </a:bodyPr>
          <a:lstStyle/>
          <a:p>
            <a:pPr algn="ctr"/>
            <a:r>
              <a:rPr lang="es-ES" sz="2200" b="1" dirty="0">
                <a:solidFill>
                  <a:srgbClr val="0D7680"/>
                </a:solidFill>
              </a:rPr>
              <a:t>IN USE · each R6 confirms it keeps delivering value under control</a:t>
            </a: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97" name="Marca"/>
          <p:cNvSpPr/>
          <p:nvPr/>
        </p:nvSpPr>
        <p:spPr>
          <a:xfrm>
            <a:off x="609600" y="365760"/>
            <a:ext cx="182880" cy="182880"/>
          </a:xfrm>
          <a:prstGeom prst="rect">
            <a:avLst/>
          </a:prstGeom>
          <a:solidFill>
            <a:srgbClr val="990F3D"/>
          </a:solidFill>
        </p:spPr>
        <p:txBody>
          <a:bodyPr/>
          <a:lstStyle/>
          <a:p/>
        </p:txBody>
      </p:sp>
      <p:sp>
        <p:nvSpPr>
          <p:cNvPr id="198" name="Texto 19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199" name="Texto 19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How value is measured</a:t>
            </a:r>
          </a:p>
        </p:txBody>
      </p:sp>
      <p:sp>
        <p:nvSpPr>
          <p:cNvPr id="196" name="Texto 196"/>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Every amount carries a formula and a status: validated (finance), declared (the team) or estimated.</a:t>
            </a:r>
          </a:p>
          <a:p>
            <a:pPr marL="285750" indent="-285750">
              <a:spcAft>
                <a:spcPts val="400"/>
              </a:spcAft>
              <a:buClr>
                <a:srgbClr val="990F3D"/>
              </a:buClr>
              <a:buFont typeface="Arial"/>
              <a:buChar char="•"/>
            </a:pPr>
            <a:r>
              <a:rPr lang="es-ES" sz="1800" dirty="0">
                <a:solidFill>
                  <a:srgbClr val="2F2B28"/>
                </a:solidFill>
              </a:rPr>
              <a:t>Released hours are not savings until they are materialised: a cost goes down or they are reassigned to a valuable activity.</a:t>
            </a:r>
          </a:p>
          <a:p>
            <a:pPr marL="285750" indent="-285750">
              <a:spcAft>
                <a:spcPts val="400"/>
              </a:spcAft>
              <a:buClr>
                <a:srgbClr val="990F3D"/>
              </a:buClr>
              <a:buFont typeface="Arial"/>
              <a:buChar char="•"/>
            </a:pPr>
            <a:r>
              <a:rPr lang="es-ES" sz="1800" dirty="0">
                <a:solidFill>
                  <a:srgbClr val="2F2B28"/>
                </a:solidFill>
              </a:rPr>
              <a:t>Cost is complete: build, consumption, operation, human oversight and retirement.</a:t>
            </a:r>
          </a:p>
          <a:p>
            <a:pPr marL="285750" indent="-285750">
              <a:spcAft>
                <a:spcPts val="400"/>
              </a:spcAft>
              <a:buClr>
                <a:srgbClr val="990F3D"/>
              </a:buClr>
              <a:buFont typeface="Arial"/>
              <a:buChar char="•"/>
            </a:pPr>
            <a:r>
              <a:rPr lang="es-ES" sz="1800" dirty="0">
                <a:solidFill>
                  <a:srgbClr val="2F2B28"/>
                </a:solidFill>
              </a:rPr>
              <a:t>The transformation index uses eight evidence signals to tell transformation apart from mere efficiency.</a:t>
            </a:r>
          </a:p>
          <a:p>
            <a:pPr marL="285750" indent="-285750">
              <a:spcAft>
                <a:spcPts val="400"/>
              </a:spcAft>
              <a:buClr>
                <a:srgbClr val="990F3D"/>
              </a:buClr>
              <a:buFont typeface="Arial"/>
              <a:buChar char="•"/>
            </a:pPr>
            <a:r>
              <a:rPr lang="es-ES" sz="1800" dirty="0">
                <a:solidFill>
                  <a:srgbClr val="2F2B28"/>
                </a:solidFill>
              </a:rPr>
              <a:t>Ten measurement rules (document 40). No figure enters the portfolio net without its status.</a:t>
            </a:r>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200" name="Marca"/>
          <p:cNvSpPr/>
          <p:nvPr/>
        </p:nvSpPr>
        <p:spPr>
          <a:xfrm>
            <a:off x="609600" y="2400000"/>
            <a:ext cx="182880" cy="182880"/>
          </a:xfrm>
          <a:prstGeom prst="rect">
            <a:avLst/>
          </a:prstGeom>
          <a:solidFill>
            <a:srgbClr val="990F3D"/>
          </a:solidFill>
        </p:spPr>
        <p:txBody>
          <a:bodyPr/>
          <a:lstStyle/>
          <a:p/>
        </p:txBody>
      </p:sp>
      <p:sp>
        <p:nvSpPr>
          <p:cNvPr id="201" name="Texto 201"/>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FOR THE CONSULTANT</a:t>
            </a:r>
          </a:p>
        </p:txBody>
      </p:sp>
      <p:sp>
        <p:nvSpPr>
          <p:cNvPr id="202" name="Texto 202"/>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Applying SEVEN-G at clients, under your own name</a:t>
            </a:r>
          </a:p>
        </p:txBody>
      </p:sp>
      <p:sp>
        <p:nvSpPr>
          <p:cNvPr id="203" name="Texto 203"/>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The licence allows it, including in paid services and without hiring the author. In return it asks for fidelity, independence and honesty.</a:t>
            </a: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06" name="Marca"/>
          <p:cNvSpPr/>
          <p:nvPr/>
        </p:nvSpPr>
        <p:spPr>
          <a:xfrm>
            <a:off x="609600" y="365760"/>
            <a:ext cx="182880" cy="182880"/>
          </a:xfrm>
          <a:prstGeom prst="rect">
            <a:avLst/>
          </a:prstGeom>
          <a:solidFill>
            <a:srgbClr val="990F3D"/>
          </a:solidFill>
        </p:spPr>
        <p:txBody>
          <a:bodyPr/>
          <a:lstStyle/>
          <a:p/>
        </p:txBody>
      </p:sp>
      <p:sp>
        <p:nvSpPr>
          <p:cNvPr id="207" name="Texto 207"/>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208" name="Texto 208"/>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What the licence allows and what you take on</a:t>
            </a:r>
          </a:p>
        </p:txBody>
      </p:sp>
      <p:sp>
        <p:nvSpPr>
          <p:cNvPr id="204" name="Texto 204"/>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You may use, adapt and apply the framework in paid services without asking permission: credit the author, indicate changes and do not suggest endorsement.</a:t>
            </a:r>
          </a:p>
          <a:p>
            <a:pPr marL="285750" indent="-285750">
              <a:spcAft>
                <a:spcPts val="400"/>
              </a:spcAft>
              <a:buClr>
                <a:srgbClr val="990F3D"/>
              </a:buClr>
              <a:buFont typeface="Arial"/>
              <a:buChar char="•"/>
            </a:pPr>
            <a:r>
              <a:rPr lang="es-ES" sz="1800" dirty="0">
                <a:solidFill>
                  <a:srgbClr val="2F2B28"/>
                </a:solidFill>
              </a:rPr>
              <a:t>You answer to your client for your service: SEVEN-G is a reference framework, not a guarantee of results.</a:t>
            </a:r>
          </a:p>
          <a:p>
            <a:pPr marL="285750" indent="-285750">
              <a:spcAft>
                <a:spcPts val="400"/>
              </a:spcAft>
              <a:buClr>
                <a:srgbClr val="990F3D"/>
              </a:buClr>
              <a:buFont typeface="Arial"/>
              <a:buChar char="•"/>
            </a:pPr>
            <a:r>
              <a:rPr lang="es-ES" sz="1800" dirty="0">
                <a:solidFill>
                  <a:srgbClr val="2F2B28"/>
                </a:solidFill>
              </a:rPr>
              <a:t>You state which version you apply and what you have adapted, in every deliverable.</a:t>
            </a:r>
          </a:p>
          <a:p>
            <a:pPr marL="285750" indent="-285750">
              <a:spcAft>
                <a:spcPts val="400"/>
              </a:spcAft>
              <a:buClr>
                <a:srgbClr val="990F3D"/>
              </a:buClr>
              <a:buFont typeface="Arial"/>
              <a:buChar char="•"/>
            </a:pPr>
            <a:r>
              <a:rPr lang="es-ES" sz="1800" dirty="0">
                <a:solidFill>
                  <a:srgbClr val="2F2B28"/>
                </a:solidFill>
              </a:rPr>
              <a:t>Client information is not used with other clients or in examples, not even anonymised, without written authorisation.</a:t>
            </a:r>
          </a:p>
          <a:p>
            <a:pPr marL="285750" indent="-285750">
              <a:spcAft>
                <a:spcPts val="400"/>
              </a:spcAft>
              <a:buClr>
                <a:srgbClr val="990F3D"/>
              </a:buClr>
              <a:buFont typeface="Arial"/>
              <a:buChar char="•"/>
            </a:pPr>
            <a:r>
              <a:rPr lang="es-ES" sz="1800" dirty="0">
                <a:solidFill>
                  <a:srgbClr val="2F2B28"/>
                </a:solidFill>
              </a:rPr>
              <a:t>Regulatory classification and legal matters require qualified legal judgement; carry the legal notice into your deliverables.</a:t>
            </a:r>
          </a:p>
        </p:txBody>
      </p:sp>
      <p:sp>
        <p:nvSpPr>
          <p:cNvPr id="205" name="Texto 205"/>
          <p:cNvSpPr txBox="1"/>
          <p:nvPr/>
        </p:nvSpPr>
        <p:spPr>
          <a:xfrm>
            <a:off x="609600" y="6250000"/>
            <a:ext cx="10972800" cy="450000"/>
          </a:xfrm>
          <a:prstGeom prst="rect">
            <a:avLst/>
          </a:prstGeom>
          <a:noFill/>
        </p:spPr>
        <p:txBody>
          <a:bodyPr wrap="square" anchor="t" lIns="45720" rIns="45720">
            <a:noAutofit/>
          </a:bodyPr>
          <a:lstStyle/>
          <a:p>
            <a:pPr algn="l"/>
            <a:r>
              <a:rPr lang="es-ES" sz="1400" b="1" dirty="0">
                <a:solidFill>
                  <a:srgbClr val="0F5499"/>
                </a:solidFill>
              </a:rPr>
              <a:t>Document 91, section 2, and document 93.</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11" name="Marca"/>
          <p:cNvSpPr/>
          <p:nvPr/>
        </p:nvSpPr>
        <p:spPr>
          <a:xfrm>
            <a:off x="609600" y="365760"/>
            <a:ext cx="182880" cy="182880"/>
          </a:xfrm>
          <a:prstGeom prst="rect">
            <a:avLst/>
          </a:prstGeom>
          <a:solidFill>
            <a:srgbClr val="990F3D"/>
          </a:solidFill>
        </p:spPr>
        <p:txBody>
          <a:bodyPr/>
          <a:lstStyle/>
          <a:p/>
        </p:txBody>
      </p:sp>
      <p:sp>
        <p:nvSpPr>
          <p:cNvPr id="212" name="Texto 212"/>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213" name="Texto 213"/>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Six rules you cannot drop without saying so</a:t>
            </a:r>
          </a:p>
        </p:txBody>
      </p:sp>
      <p:sp>
        <p:nvSpPr>
          <p:cNvPr id="209" name="Texto 209"/>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700" dirty="0">
                <a:solidFill>
                  <a:srgbClr val="2F2B28"/>
                </a:solidFill>
              </a:rPr>
              <a:t>Segregation of duties: whoever builds does not control, and nobody approves themselves.</a:t>
            </a:r>
          </a:p>
          <a:p>
            <a:pPr marL="285750" indent="-285750">
              <a:spcAft>
                <a:spcPts val="400"/>
              </a:spcAft>
              <a:buClr>
                <a:srgbClr val="990F3D"/>
              </a:buClr>
              <a:buFont typeface="Arial"/>
              <a:buChar char="•"/>
            </a:pPr>
            <a:r>
              <a:rPr lang="es-ES" sz="1700" dirty="0">
                <a:solidFill>
                  <a:srgbClr val="2F2B28"/>
                </a:solidFill>
              </a:rPr>
              <a:t>Dual validation at the gates and a real ability to stop.</a:t>
            </a:r>
          </a:p>
          <a:p>
            <a:pPr marL="285750" indent="-285750">
              <a:spcAft>
                <a:spcPts val="400"/>
              </a:spcAft>
              <a:buClr>
                <a:srgbClr val="990F3D"/>
              </a:buClr>
              <a:buFont typeface="Arial"/>
              <a:buChar char="•"/>
            </a:pPr>
            <a:r>
              <a:rPr lang="es-ES" sz="1700" dirty="0">
                <a:solidFill>
                  <a:srgbClr val="2F2B28"/>
                </a:solidFill>
              </a:rPr>
              <a:t>The ten measurement rules: a status for every amount, and released capacity does not count until materialised.</a:t>
            </a:r>
          </a:p>
          <a:p>
            <a:pPr marL="285750" indent="-285750">
              <a:spcAft>
                <a:spcPts val="400"/>
              </a:spcAft>
              <a:buClr>
                <a:srgbClr val="990F3D"/>
              </a:buClr>
              <a:buFont typeface="Arial"/>
              <a:buChar char="•"/>
            </a:pPr>
            <a:r>
              <a:rPr lang="es-ES" sz="1700" dirty="0">
                <a:solidFill>
                  <a:srgbClr val="2F2B28"/>
                </a:solidFill>
              </a:rPr>
              <a:t>Ambition classified with the five questions.</a:t>
            </a:r>
          </a:p>
          <a:p>
            <a:pPr marL="285750" indent="-285750">
              <a:spcAft>
                <a:spcPts val="400"/>
              </a:spcAft>
              <a:buClr>
                <a:srgbClr val="990F3D"/>
              </a:buClr>
              <a:buFont typeface="Arial"/>
              <a:buChar char="•"/>
            </a:pPr>
            <a:r>
              <a:rPr lang="es-ES" sz="1700" dirty="0">
                <a:solidFill>
                  <a:srgbClr val="2F2B28"/>
                </a:solidFill>
              </a:rPr>
              <a:t>Maturity based on observable evidence, not self-assessment.</a:t>
            </a:r>
          </a:p>
          <a:p>
            <a:pPr marL="285750" indent="-285750">
              <a:spcAft>
                <a:spcPts val="400"/>
              </a:spcAft>
              <a:buClr>
                <a:srgbClr val="990F3D"/>
              </a:buClr>
              <a:buFont typeface="Arial"/>
              <a:buChar char="•"/>
            </a:pPr>
            <a:r>
              <a:rPr lang="es-ES" sz="1700" dirty="0">
                <a:solidFill>
                  <a:srgbClr val="2F2B28"/>
                </a:solidFill>
              </a:rPr>
              <a:t>A recommendations log with persistent identifiers and independent assessment.</a:t>
            </a:r>
          </a:p>
        </p:txBody>
      </p:sp>
      <p:sp>
        <p:nvSpPr>
          <p:cNvPr id="210" name="Texto 210"/>
          <p:cNvSpPr txBox="1"/>
          <p:nvPr/>
        </p:nvSpPr>
        <p:spPr>
          <a:xfrm>
            <a:off x="609600" y="6250000"/>
            <a:ext cx="10972800" cy="450000"/>
          </a:xfrm>
          <a:prstGeom prst="rect">
            <a:avLst/>
          </a:prstGeom>
          <a:noFill/>
        </p:spPr>
        <p:txBody>
          <a:bodyPr wrap="square" anchor="t" lIns="45720" rIns="45720">
            <a:noAutofit/>
          </a:bodyPr>
          <a:lstStyle/>
          <a:p>
            <a:pPr algn="l"/>
            <a:r>
              <a:rPr lang="es-ES" sz="1400" b="1" dirty="0">
                <a:solidFill>
                  <a:srgbClr val="0F5499"/>
                </a:solidFill>
              </a:rPr>
              <a:t>If you drop any, your service may be inspired by SEVEN-G, but must not be presented as an application of SEVEN-G.</a:t>
            </a: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30" name="Marca"/>
          <p:cNvSpPr/>
          <p:nvPr/>
        </p:nvSpPr>
        <p:spPr>
          <a:xfrm>
            <a:off x="609600" y="365760"/>
            <a:ext cx="182880" cy="182880"/>
          </a:xfrm>
          <a:prstGeom prst="rect">
            <a:avLst/>
          </a:prstGeom>
          <a:solidFill>
            <a:srgbClr val="990F3D"/>
          </a:solidFill>
        </p:spPr>
        <p:txBody>
          <a:bodyPr/>
          <a:lstStyle/>
          <a:p/>
        </p:txBody>
      </p:sp>
      <p:sp>
        <p:nvSpPr>
          <p:cNvPr id="231" name="Texto 23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232" name="Texto 23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Five engagement models</a:t>
            </a:r>
          </a:p>
        </p:txBody>
      </p:sp>
      <p:sp>
        <p:nvSpPr>
          <p:cNvPr id="233" name="Texto 233"/>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What each one delivers; durations are indicative</a:t>
            </a:r>
          </a:p>
        </p:txBody>
      </p:sp>
      <p:sp>
        <p:nvSpPr>
          <p:cNvPr id="214" name="Caja 214"/>
          <p:cNvSpPr/>
          <p:nvPr/>
        </p:nvSpPr>
        <p:spPr>
          <a:xfrm>
            <a:off x="609600" y="2050000"/>
            <a:ext cx="2098560" cy="8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M1 · Diagnosis</a:t>
            </a:r>
          </a:p>
        </p:txBody>
      </p:sp>
      <p:sp>
        <p:nvSpPr>
          <p:cNvPr id="215" name="Caja 215"/>
          <p:cNvSpPr/>
          <p:nvPr/>
        </p:nvSpPr>
        <p:spPr>
          <a:xfrm>
            <a:off x="60960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16" name="Texto 216"/>
          <p:cNvSpPr txBox="1"/>
          <p:nvPr/>
        </p:nvSpPr>
        <p:spPr>
          <a:xfrm>
            <a:off x="649600" y="2890000"/>
            <a:ext cx="2018560" cy="2340000"/>
          </a:xfrm>
          <a:prstGeom prst="rect">
            <a:avLst/>
          </a:prstGeom>
          <a:noFill/>
        </p:spPr>
        <p:txBody>
          <a:bodyPr wrap="square" anchor="t" lIns="45720" rIns="45720">
            <a:noAutofit/>
          </a:bodyPr>
          <a:lstStyle/>
          <a:p>
            <a:pPr algn="l"/>
            <a:r>
              <a:rPr lang="es-ES" sz="1300" dirty="0">
                <a:solidFill>
                  <a:srgbClr val="2F2B28"/>
                </a:solidFill>
              </a:rPr>
              <a:t>4 to 6 weeks. Inventory, evidence-based maturity (T15), transformation index (T14), current value and cost. C1 report (P33).</a:t>
            </a:r>
          </a:p>
        </p:txBody>
      </p:sp>
      <p:sp>
        <p:nvSpPr>
          <p:cNvPr id="217" name="Caja 217"/>
          <p:cNvSpPr/>
          <p:nvPr/>
        </p:nvSpPr>
        <p:spPr>
          <a:xfrm>
            <a:off x="2828160" y="2050000"/>
            <a:ext cx="2098560" cy="8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M2 · Implementation</a:t>
            </a:r>
          </a:p>
        </p:txBody>
      </p:sp>
      <p:sp>
        <p:nvSpPr>
          <p:cNvPr id="218" name="Caja 218"/>
          <p:cNvSpPr/>
          <p:nvPr/>
        </p:nvSpPr>
        <p:spPr>
          <a:xfrm>
            <a:off x="282816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19" name="Texto 219"/>
          <p:cNvSpPr txBox="1"/>
          <p:nvPr/>
        </p:nvSpPr>
        <p:spPr>
          <a:xfrm>
            <a:off x="2868160" y="2890000"/>
            <a:ext cx="2018560" cy="2340000"/>
          </a:xfrm>
          <a:prstGeom prst="rect">
            <a:avLst/>
          </a:prstGeom>
          <a:noFill/>
        </p:spPr>
        <p:txBody>
          <a:bodyPr wrap="square" anchor="t" lIns="45720" rIns="45720">
            <a:noAutofit/>
          </a:bodyPr>
          <a:lstStyle/>
          <a:p>
            <a:pPr algn="l"/>
            <a:r>
              <a:rPr lang="es-ES" sz="1300" dirty="0">
                <a:solidFill>
                  <a:srgbClr val="2F2B28"/>
                </a:solidFill>
              </a:rPr>
              <a:t>90 days. Thesis and risk appetite, governance, portfolio, T01 register and dashboard with real data, and the first board pack.</a:t>
            </a:r>
          </a:p>
        </p:txBody>
      </p:sp>
      <p:sp>
        <p:nvSpPr>
          <p:cNvPr id="220" name="Caja 220"/>
          <p:cNvSpPr/>
          <p:nvPr/>
        </p:nvSpPr>
        <p:spPr>
          <a:xfrm>
            <a:off x="5046720" y="2050000"/>
            <a:ext cx="2098560" cy="800000"/>
          </a:xfrm>
          <a:prstGeom prst="roundRect">
            <a:avLst>
              <a:gd name="adj" fmla="val 6000"/>
            </a:avLst>
          </a:prstGeom>
          <a:solidFill>
            <a:srgbClr val="990F3D"/>
          </a:solidFill>
          <a:ln>
            <a:noFill/>
          </a:ln>
        </p:spPr>
        <p:txBody>
          <a:bodyPr wrap="square" anchor="ctr" lIns="45720" rIns="45720">
            <a:noAutofit/>
          </a:bodyPr>
          <a:lstStyle/>
          <a:p>
            <a:pPr algn="ctr"/>
            <a:r>
              <a:rPr lang="es-ES" sz="1700" b="1" dirty="0">
                <a:solidFill>
                  <a:srgbClr val="FFFFFF"/>
                </a:solidFill>
              </a:rPr>
              <a:t>M3 · Audit</a:t>
            </a:r>
          </a:p>
        </p:txBody>
      </p:sp>
      <p:sp>
        <p:nvSpPr>
          <p:cNvPr id="221" name="Caja 221"/>
          <p:cNvSpPr/>
          <p:nvPr/>
        </p:nvSpPr>
        <p:spPr>
          <a:xfrm>
            <a:off x="504672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22" name="Texto 222"/>
          <p:cNvSpPr txBox="1"/>
          <p:nvPr/>
        </p:nvSpPr>
        <p:spPr>
          <a:xfrm>
            <a:off x="5086720" y="2890000"/>
            <a:ext cx="2018560" cy="2340000"/>
          </a:xfrm>
          <a:prstGeom prst="rect">
            <a:avLst/>
          </a:prstGeom>
          <a:noFill/>
        </p:spPr>
        <p:txBody>
          <a:bodyPr wrap="square" anchor="t" lIns="45720" rIns="45720">
            <a:noAutofit/>
          </a:bodyPr>
          <a:lstStyle/>
          <a:p>
            <a:pPr algn="l"/>
            <a:r>
              <a:rPr lang="es-ES" sz="1300" dirty="0">
                <a:solidFill>
                  <a:srgbClr val="2F2B28"/>
                </a:solidFill>
              </a:rPr>
              <a:t>Independent opinion: Compliant, Compliant with observations or Non-compliant. Plan, working papers and report (P58, P59, P60).</a:t>
            </a:r>
          </a:p>
        </p:txBody>
      </p:sp>
      <p:sp>
        <p:nvSpPr>
          <p:cNvPr id="223" name="Caja 223"/>
          <p:cNvSpPr/>
          <p:nvPr/>
        </p:nvSpPr>
        <p:spPr>
          <a:xfrm>
            <a:off x="7265280" y="2050000"/>
            <a:ext cx="2098560" cy="800000"/>
          </a:xfrm>
          <a:prstGeom prst="roundRect">
            <a:avLst>
              <a:gd name="adj" fmla="val 6000"/>
            </a:avLst>
          </a:prstGeom>
          <a:solidFill>
            <a:srgbClr val="A5822A"/>
          </a:solidFill>
          <a:ln>
            <a:noFill/>
          </a:ln>
        </p:spPr>
        <p:txBody>
          <a:bodyPr wrap="square" anchor="ctr" lIns="45720" rIns="45720">
            <a:noAutofit/>
          </a:bodyPr>
          <a:lstStyle/>
          <a:p>
            <a:pPr algn="ctr"/>
            <a:r>
              <a:rPr lang="es-ES" sz="1700" b="1" dirty="0">
                <a:solidFill>
                  <a:srgbClr val="FFFFFF"/>
                </a:solidFill>
              </a:rPr>
              <a:t>M4 · Board advisory</a:t>
            </a:r>
          </a:p>
        </p:txBody>
      </p:sp>
      <p:sp>
        <p:nvSpPr>
          <p:cNvPr id="224" name="Caja 224"/>
          <p:cNvSpPr/>
          <p:nvPr/>
        </p:nvSpPr>
        <p:spPr>
          <a:xfrm>
            <a:off x="726528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25" name="Texto 225"/>
          <p:cNvSpPr txBox="1"/>
          <p:nvPr/>
        </p:nvSpPr>
        <p:spPr>
          <a:xfrm>
            <a:off x="7305280" y="2890000"/>
            <a:ext cx="2018560" cy="2340000"/>
          </a:xfrm>
          <a:prstGeom prst="rect">
            <a:avLst/>
          </a:prstGeom>
          <a:noFill/>
        </p:spPr>
        <p:txBody>
          <a:bodyPr wrap="square" anchor="t" lIns="45720" rIns="45720">
            <a:noAutofit/>
          </a:bodyPr>
          <a:lstStyle/>
          <a:p>
            <a:pPr algn="l"/>
            <a:r>
              <a:rPr lang="es-ES" sz="1300" dirty="0">
                <a:solidFill>
                  <a:srgbClr val="2F2B28"/>
                </a:solidFill>
              </a:rPr>
              <a:t>Annual mandate. Preparing sessions, reviewing the quarterly pack, logged recommendations and independent assessments.</a:t>
            </a:r>
          </a:p>
        </p:txBody>
      </p:sp>
      <p:sp>
        <p:nvSpPr>
          <p:cNvPr id="226" name="Caja 226"/>
          <p:cNvSpPr/>
          <p:nvPr/>
        </p:nvSpPr>
        <p:spPr>
          <a:xfrm>
            <a:off x="9483840" y="2050000"/>
            <a:ext cx="209856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M5 · Ongoing support</a:t>
            </a:r>
          </a:p>
        </p:txBody>
      </p:sp>
      <p:sp>
        <p:nvSpPr>
          <p:cNvPr id="227" name="Caja 227"/>
          <p:cNvSpPr/>
          <p:nvPr/>
        </p:nvSpPr>
        <p:spPr>
          <a:xfrm>
            <a:off x="948384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28" name="Texto 228"/>
          <p:cNvSpPr txBox="1"/>
          <p:nvPr/>
        </p:nvSpPr>
        <p:spPr>
          <a:xfrm>
            <a:off x="9523840" y="2890000"/>
            <a:ext cx="2018560" cy="2340000"/>
          </a:xfrm>
          <a:prstGeom prst="rect">
            <a:avLst/>
          </a:prstGeom>
          <a:noFill/>
        </p:spPr>
        <p:txBody>
          <a:bodyPr wrap="square" anchor="t" lIns="45720" rIns="45720">
            <a:noAutofit/>
          </a:bodyPr>
          <a:lstStyle/>
          <a:p>
            <a:pPr algn="l"/>
            <a:r>
              <a:rPr lang="es-ES" sz="1300" dirty="0">
                <a:solidFill>
                  <a:srgbClr val="2F2B28"/>
                </a:solidFill>
              </a:rPr>
              <a:t>Support to the AI office: register, funnel metrics and packs, always with a transfer plan and an exit date (P71).</a:t>
            </a:r>
          </a:p>
        </p:txBody>
      </p:sp>
      <p:sp>
        <p:nvSpPr>
          <p:cNvPr id="229" name="Texto 229"/>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In all of them the company decides; you prepare, propose, verify or advise.</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36" name="Marca"/>
          <p:cNvSpPr/>
          <p:nvPr/>
        </p:nvSpPr>
        <p:spPr>
          <a:xfrm>
            <a:off x="609600" y="365760"/>
            <a:ext cx="182880" cy="182880"/>
          </a:xfrm>
          <a:prstGeom prst="rect">
            <a:avLst/>
          </a:prstGeom>
          <a:solidFill>
            <a:srgbClr val="990F3D"/>
          </a:solidFill>
        </p:spPr>
        <p:txBody>
          <a:bodyPr/>
          <a:lstStyle/>
          <a:p/>
        </p:txBody>
      </p:sp>
      <p:sp>
        <p:nvSpPr>
          <p:cNvPr id="237" name="Texto 237"/>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238" name="Texto 238"/>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Independence: whoever implements does not audit</a:t>
            </a:r>
          </a:p>
        </p:txBody>
      </p:sp>
      <p:sp>
        <p:nvSpPr>
          <p:cNvPr id="234" name="Texto 234"/>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You cannot independently verify, audit or assess what you, your firm or a related entity designed, implemented or operated.</a:t>
            </a:r>
          </a:p>
          <a:p>
            <a:pPr marL="285750" indent="-285750">
              <a:spcAft>
                <a:spcPts val="400"/>
              </a:spcAft>
              <a:buClr>
                <a:srgbClr val="990F3D"/>
              </a:buClr>
              <a:buFont typeface="Arial"/>
              <a:buChar char="•"/>
            </a:pPr>
            <a:r>
              <a:rPr lang="es-ES" sz="1800" dirty="0">
                <a:solidFill>
                  <a:srgbClr val="2F2B28"/>
                </a:solidFill>
              </a:rPr>
              <a:t>Implementation (M2) and audit (M3) are incompatible for the same scope; neither is advising the board (M4) on what you operate (M5).</a:t>
            </a:r>
          </a:p>
          <a:p>
            <a:pPr marL="285750" indent="-285750">
              <a:spcAft>
                <a:spcPts val="400"/>
              </a:spcAft>
              <a:buClr>
                <a:srgbClr val="990F3D"/>
              </a:buClr>
              <a:buFont typeface="Arial"/>
              <a:buChar char="•"/>
            </a:pPr>
            <a:r>
              <a:rPr lang="es-ES" sz="1800" dirty="0">
                <a:solidFill>
                  <a:srgbClr val="2F2B28"/>
                </a:solidFill>
              </a:rPr>
              <a:t>After an incompatible service, let at least one full annual cycle pass before auditing that scope.</a:t>
            </a:r>
          </a:p>
          <a:p>
            <a:pPr marL="285750" indent="-285750">
              <a:spcAft>
                <a:spcPts val="400"/>
              </a:spcAft>
              <a:buClr>
                <a:srgbClr val="990F3D"/>
              </a:buClr>
              <a:buFont typeface="Arial"/>
              <a:buChar char="•"/>
            </a:pPr>
            <a:r>
              <a:rPr lang="es-ES" sz="1800" dirty="0">
                <a:solidFill>
                  <a:srgbClr val="2F2B28"/>
                </a:solidFill>
              </a:rPr>
              <a:t>Declare in writing your relationships with technology vendors, your own tools and your fee scheme (P41).</a:t>
            </a:r>
          </a:p>
          <a:p>
            <a:pPr marL="285750" indent="-285750">
              <a:spcAft>
                <a:spcPts val="400"/>
              </a:spcAft>
              <a:buClr>
                <a:srgbClr val="990F3D"/>
              </a:buClr>
              <a:buFont typeface="Arial"/>
              <a:buChar char="•"/>
            </a:pPr>
            <a:r>
              <a:rPr lang="es-ES" sz="1800" dirty="0">
                <a:solidFill>
                  <a:srgbClr val="2F2B28"/>
                </a:solidFill>
              </a:rPr>
              <a:t>Value-linked fees: only on value validated by finance or by an audit that is not yours.</a:t>
            </a:r>
          </a:p>
        </p:txBody>
      </p:sp>
      <p:sp>
        <p:nvSpPr>
          <p:cNvPr id="235" name="Texto 235"/>
          <p:cNvSpPr txBox="1"/>
          <p:nvPr/>
        </p:nvSpPr>
        <p:spPr>
          <a:xfrm>
            <a:off x="609600" y="6250000"/>
            <a:ext cx="10972800" cy="450000"/>
          </a:xfrm>
          <a:prstGeom prst="rect">
            <a:avLst/>
          </a:prstGeom>
          <a:noFill/>
        </p:spPr>
        <p:txBody>
          <a:bodyPr wrap="square" anchor="t" lIns="45720" rIns="45720">
            <a:noAutofit/>
          </a:bodyPr>
          <a:lstStyle/>
          <a:p>
            <a:pPr algn="l"/>
            <a:r>
              <a:rPr lang="es-ES" sz="1400" b="1" dirty="0">
                <a:solidFill>
                  <a:srgbClr val="0F5499"/>
                </a:solidFill>
              </a:rPr>
              <a:t>Document 91, section 5.</a:t>
            </a: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49" name="Marca"/>
          <p:cNvSpPr/>
          <p:nvPr/>
        </p:nvSpPr>
        <p:spPr>
          <a:xfrm>
            <a:off x="609600" y="365760"/>
            <a:ext cx="182880" cy="182880"/>
          </a:xfrm>
          <a:prstGeom prst="rect">
            <a:avLst/>
          </a:prstGeom>
          <a:solidFill>
            <a:srgbClr val="990F3D"/>
          </a:solidFill>
        </p:spPr>
        <p:txBody>
          <a:bodyPr/>
          <a:lstStyle/>
          <a:p/>
        </p:txBody>
      </p:sp>
      <p:sp>
        <p:nvSpPr>
          <p:cNvPr id="250" name="Texto 250"/>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251" name="Texto 251"/>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What you can and cannot say</a:t>
            </a:r>
          </a:p>
        </p:txBody>
      </p:sp>
      <p:sp>
        <p:nvSpPr>
          <p:cNvPr id="252" name="Texto 252"/>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SEVEN-G is a registered trademark of Fernando García Varela; the content licence does not grant the trademark</a:t>
            </a:r>
          </a:p>
        </p:txBody>
      </p:sp>
      <p:sp>
        <p:nvSpPr>
          <p:cNvPr id="239" name="Caja 239"/>
          <p:cNvSpPr/>
          <p:nvPr/>
        </p:nvSpPr>
        <p:spPr>
          <a:xfrm>
            <a:off x="609600" y="2050000"/>
            <a:ext cx="357760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Yes</a:t>
            </a:r>
          </a:p>
        </p:txBody>
      </p:sp>
      <p:sp>
        <p:nvSpPr>
          <p:cNvPr id="240" name="Caja 240"/>
          <p:cNvSpPr/>
          <p:nvPr/>
        </p:nvSpPr>
        <p:spPr>
          <a:xfrm>
            <a:off x="6096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41" name="Texto 241"/>
          <p:cNvSpPr txBox="1"/>
          <p:nvPr/>
        </p:nvSpPr>
        <p:spPr>
          <a:xfrm>
            <a:off x="649600" y="2890000"/>
            <a:ext cx="3497600" cy="2340000"/>
          </a:xfrm>
          <a:prstGeom prst="rect">
            <a:avLst/>
          </a:prstGeom>
          <a:noFill/>
        </p:spPr>
        <p:txBody>
          <a:bodyPr wrap="square" anchor="t" lIns="45720" rIns="45720">
            <a:noAutofit/>
          </a:bodyPr>
          <a:lstStyle/>
          <a:p>
            <a:pPr algn="l"/>
            <a:r>
              <a:rPr lang="es-ES" sz="1300" dirty="0">
                <a:solidFill>
                  <a:srgbClr val="2F2B28"/>
                </a:solidFill>
              </a:rPr>
              <a:t>"Service based on SEVEN-G (version …), a framework by Fernando García Varela, CC BY 4.0."   "Methodology adapted from SEVEN-G; changes: …"   "Uses the sphere map and measurement rules of SEVEN-G."</a:t>
            </a:r>
          </a:p>
        </p:txBody>
      </p:sp>
      <p:sp>
        <p:nvSpPr>
          <p:cNvPr id="242" name="Caja 242"/>
          <p:cNvSpPr/>
          <p:nvPr/>
        </p:nvSpPr>
        <p:spPr>
          <a:xfrm>
            <a:off x="4307200" y="2050000"/>
            <a:ext cx="3577600" cy="800000"/>
          </a:xfrm>
          <a:prstGeom prst="roundRect">
            <a:avLst>
              <a:gd name="adj" fmla="val 6000"/>
            </a:avLst>
          </a:prstGeom>
          <a:solidFill>
            <a:srgbClr val="990F3D"/>
          </a:solidFill>
          <a:ln>
            <a:noFill/>
          </a:ln>
        </p:spPr>
        <p:txBody>
          <a:bodyPr wrap="square" anchor="ctr" lIns="45720" rIns="45720">
            <a:noAutofit/>
          </a:bodyPr>
          <a:lstStyle/>
          <a:p>
            <a:pPr algn="ctr"/>
            <a:r>
              <a:rPr lang="es-ES" sz="1700" b="1" dirty="0">
                <a:solidFill>
                  <a:srgbClr val="FFFFFF"/>
                </a:solidFill>
              </a:rPr>
              <a:t>No</a:t>
            </a:r>
          </a:p>
        </p:txBody>
      </p:sp>
      <p:sp>
        <p:nvSpPr>
          <p:cNvPr id="243" name="Caja 243"/>
          <p:cNvSpPr/>
          <p:nvPr/>
        </p:nvSpPr>
        <p:spPr>
          <a:xfrm>
            <a:off x="43072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44" name="Texto 244"/>
          <p:cNvSpPr txBox="1"/>
          <p:nvPr/>
        </p:nvSpPr>
        <p:spPr>
          <a:xfrm>
            <a:off x="4347200" y="2890000"/>
            <a:ext cx="3497600" cy="2340000"/>
          </a:xfrm>
          <a:prstGeom prst="rect">
            <a:avLst/>
          </a:prstGeom>
          <a:noFill/>
        </p:spPr>
        <p:txBody>
          <a:bodyPr wrap="square" anchor="t" lIns="45720" rIns="45720">
            <a:noAutofit/>
          </a:bodyPr>
          <a:lstStyle/>
          <a:p>
            <a:pPr algn="l"/>
            <a:r>
              <a:rPr lang="es-ES" sz="1300" dirty="0">
                <a:solidFill>
                  <a:srgbClr val="2F2B28"/>
                </a:solidFill>
              </a:rPr>
              <a:t>"SEVEN-G certified", "accredited consultancy", "official partner", "endorsed by the author": there is no certification or partner programme. Nor "compliance guaranteed by SEVEN-G".</a:t>
            </a:r>
          </a:p>
        </p:txBody>
      </p:sp>
      <p:sp>
        <p:nvSpPr>
          <p:cNvPr id="245" name="Caja 245"/>
          <p:cNvSpPr/>
          <p:nvPr/>
        </p:nvSpPr>
        <p:spPr>
          <a:xfrm>
            <a:off x="8004800" y="2050000"/>
            <a:ext cx="3577600" cy="800000"/>
          </a:xfrm>
          <a:prstGeom prst="roundRect">
            <a:avLst>
              <a:gd name="adj" fmla="val 6000"/>
            </a:avLst>
          </a:prstGeom>
          <a:solidFill>
            <a:srgbClr val="A5822A"/>
          </a:solidFill>
          <a:ln>
            <a:noFill/>
          </a:ln>
        </p:spPr>
        <p:txBody>
          <a:bodyPr wrap="square" anchor="ctr" lIns="45720" rIns="45720">
            <a:noAutofit/>
          </a:bodyPr>
          <a:lstStyle/>
          <a:p>
            <a:pPr algn="ctr"/>
            <a:r>
              <a:rPr lang="es-ES" sz="1700" b="1" dirty="0">
                <a:solidFill>
                  <a:srgbClr val="FFFFFF"/>
                </a:solidFill>
              </a:rPr>
              <a:t>Do not promise</a:t>
            </a:r>
          </a:p>
        </p:txBody>
      </p:sp>
      <p:sp>
        <p:nvSpPr>
          <p:cNvPr id="246" name="Caja 246"/>
          <p:cNvSpPr/>
          <p:nvPr/>
        </p:nvSpPr>
        <p:spPr>
          <a:xfrm>
            <a:off x="80048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47" name="Texto 247"/>
          <p:cNvSpPr txBox="1"/>
          <p:nvPr/>
        </p:nvSpPr>
        <p:spPr>
          <a:xfrm>
            <a:off x="8044800" y="2890000"/>
            <a:ext cx="3497600" cy="2340000"/>
          </a:xfrm>
          <a:prstGeom prst="rect">
            <a:avLst/>
          </a:prstGeom>
          <a:noFill/>
        </p:spPr>
        <p:txBody>
          <a:bodyPr wrap="square" anchor="t" lIns="45720" rIns="45720">
            <a:noAutofit/>
          </a:bodyPr>
          <a:lstStyle/>
          <a:p>
            <a:pPr algn="l"/>
            <a:r>
              <a:rPr lang="es-ES" sz="1300" dirty="0">
                <a:solidFill>
                  <a:srgbClr val="2F2B28"/>
                </a:solidFill>
              </a:rPr>
              <a:t>X% savings before the diagnosis, a maturity level by a date, "your company will transform", "no risk", or implementation deadlines without a diagnosis.</a:t>
            </a:r>
          </a:p>
        </p:txBody>
      </p:sp>
      <p:sp>
        <p:nvSpPr>
          <p:cNvPr id="248" name="Texto 248"/>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Document 91, sections 6 and 8.</a:t>
            </a:r>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54" name="Marca"/>
          <p:cNvSpPr/>
          <p:nvPr/>
        </p:nvSpPr>
        <p:spPr>
          <a:xfrm>
            <a:off x="609600" y="365760"/>
            <a:ext cx="182880" cy="182880"/>
          </a:xfrm>
          <a:prstGeom prst="rect">
            <a:avLst/>
          </a:prstGeom>
          <a:solidFill>
            <a:srgbClr val="990F3D"/>
          </a:solidFill>
        </p:spPr>
        <p:txBody>
          <a:bodyPr/>
          <a:lstStyle/>
          <a:p/>
        </p:txBody>
      </p:sp>
      <p:sp>
        <p:nvSpPr>
          <p:cNvPr id="255" name="Texto 25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CONSULTANT · SUPPORTING CLIENTS</a:t>
            </a:r>
          </a:p>
        </p:txBody>
      </p:sp>
      <p:sp>
        <p:nvSpPr>
          <p:cNvPr id="256" name="Texto 25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Your templates and leaving the engagement</a:t>
            </a:r>
          </a:p>
        </p:txBody>
      </p:sp>
      <p:sp>
        <p:nvSpPr>
          <p:cNvPr id="253" name="Texto 253"/>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P70 Proposal and engagement letter: scope, model (M1–M5), out of scope, roles on both sides and independence.</a:t>
            </a:r>
          </a:p>
          <a:p>
            <a:pPr marL="285750" indent="-285750">
              <a:spcAft>
                <a:spcPts val="400"/>
              </a:spcAft>
              <a:buClr>
                <a:srgbClr val="990F3D"/>
              </a:buClr>
              <a:buFont typeface="Arial"/>
              <a:buChar char="•"/>
            </a:pPr>
            <a:r>
              <a:rPr lang="es-ES" sz="1800" dirty="0">
                <a:solidFill>
                  <a:srgbClr val="2F2B28"/>
                </a:solidFill>
              </a:rPr>
              <a:t>P41 Declaration of independence and conflicts of interest, at the start of every M3 or M4 service.</a:t>
            </a:r>
          </a:p>
          <a:p>
            <a:pPr marL="285750" indent="-285750">
              <a:spcAft>
                <a:spcPts val="400"/>
              </a:spcAft>
              <a:buClr>
                <a:srgbClr val="990F3D"/>
              </a:buClr>
              <a:buFont typeface="Arial"/>
              <a:buChar char="•"/>
            </a:pPr>
            <a:r>
              <a:rPr lang="es-ES" sz="1800" dirty="0">
                <a:solidFill>
                  <a:srgbClr val="2F2B28"/>
                </a:solidFill>
              </a:rPr>
              <a:t>Quality: every deliverable states version and adaptations, links its evidence and is reviewed by a second professional.</a:t>
            </a:r>
          </a:p>
          <a:p>
            <a:pPr marL="285750" indent="-285750">
              <a:spcAft>
                <a:spcPts val="400"/>
              </a:spcAft>
              <a:buClr>
                <a:srgbClr val="990F3D"/>
              </a:buClr>
              <a:buFont typeface="Arial"/>
              <a:buChar char="•"/>
            </a:pPr>
            <a:r>
              <a:rPr lang="es-ES" sz="1800" dirty="0">
                <a:solidFill>
                  <a:srgbClr val="2F2B28"/>
                </a:solidFill>
              </a:rPr>
              <a:t>P71 Transfer plan and exit note: registers in open format, evidence located, pending items with an owner and open risks.</a:t>
            </a:r>
          </a:p>
          <a:p>
            <a:pPr marL="285750" indent="-285750">
              <a:spcAft>
                <a:spcPts val="400"/>
              </a:spcAft>
              <a:buClr>
                <a:srgbClr val="990F3D"/>
              </a:buClr>
              <a:buFont typeface="Arial"/>
              <a:buChar char="•"/>
            </a:pPr>
            <a:r>
              <a:rPr lang="es-ES" sz="1800" dirty="0">
                <a:solidFill>
                  <a:srgbClr val="2F2B28"/>
                </a:solidFill>
              </a:rPr>
              <a:t>The test of good work: the company does not need you to read or maintain anything you delivered.</a:t>
            </a:r>
          </a:p>
        </p:txBody>
      </p:sp>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57" name="Texto 257"/>
          <p:cNvSpPr txBox="1"/>
          <p:nvPr/>
        </p:nvSpPr>
        <p:spPr>
          <a:xfrm>
            <a:off x="609600" y="2300000"/>
            <a:ext cx="10972800" cy="900000"/>
          </a:xfrm>
          <a:prstGeom prst="rect">
            <a:avLst/>
          </a:prstGeom>
          <a:noFill/>
        </p:spPr>
        <p:txBody>
          <a:bodyPr wrap="square" anchor="t" lIns="45720" rIns="45720">
            <a:noAutofit/>
          </a:bodyPr>
          <a:lstStyle/>
          <a:p>
            <a:pPr algn="ctr"/>
            <a:r>
              <a:rPr lang="es-ES" sz="4400" b="1" dirty="0">
                <a:solidFill>
                  <a:srgbClr val="1A1817"/>
                </a:solidFill>
              </a:rPr>
              <a:t>Thank you</a:t>
            </a:r>
          </a:p>
        </p:txBody>
      </p:sp>
      <p:sp>
        <p:nvSpPr>
          <p:cNvPr id="258" name="Texto 258"/>
          <p:cNvSpPr txBox="1"/>
          <p:nvPr/>
        </p:nvSpPr>
        <p:spPr>
          <a:xfrm>
            <a:off x="609600" y="3350000"/>
            <a:ext cx="10972800" cy="900000"/>
          </a:xfrm>
          <a:prstGeom prst="rect">
            <a:avLst/>
          </a:prstGeom>
          <a:noFill/>
        </p:spPr>
        <p:txBody>
          <a:bodyPr wrap="square" anchor="t" lIns="45720" rIns="45720">
            <a:noAutofit/>
          </a:bodyPr>
          <a:lstStyle/>
          <a:p>
            <a:pPr algn="ctr"/>
            <a:r>
              <a:rPr lang="es-ES" sz="1900" dirty="0">
                <a:solidFill>
                  <a:srgbClr val="2F2B28"/>
                </a:solidFill>
              </a:rPr>
              <a:t>SEVEN-G is free: it is used, downloaded and adapted without registering, and the site will never write to you. If you want to talk to the author, the initiative is yours.</a:t>
            </a:r>
          </a:p>
        </p:txBody>
      </p:sp>
      <p:sp>
        <p:nvSpPr>
          <p:cNvPr id="259" name="Texto 259"/>
          <p:cNvSpPr txBox="1"/>
          <p:nvPr/>
        </p:nvSpPr>
        <p:spPr>
          <a:xfrm>
            <a:off x="609600" y="4350000"/>
            <a:ext cx="10972800" cy="500000"/>
          </a:xfrm>
          <a:prstGeom prst="rect">
            <a:avLst/>
          </a:prstGeom>
          <a:noFill/>
        </p:spPr>
        <p:txBody>
          <a:bodyPr wrap="square" anchor="t" lIns="45720" rIns="45720">
            <a:noAutofit/>
          </a:bodyPr>
          <a:lstStyle/>
          <a:p>
            <a:pPr algn="ctr"/>
            <a:r>
              <a:rPr lang="es-ES" sz="1600" dirty="0">
                <a:solidFill>
                  <a:srgbClr val="564D47"/>
                </a:solidFill>
              </a:rPr>
              <a:t>SEVEN-G is a registered trademark of Fernando García Varela · CC BY 4.0 (content) · MIT (code)</a:t>
            </a:r>
          </a:p>
        </p:txBody>
      </p:sp>
      <p:sp>
        <p:nvSpPr>
          <p:cNvPr id="260" name="Texto 260"/>
          <p:cNvSpPr txBox="1"/>
          <p:nvPr/>
        </p:nvSpPr>
        <p:spPr>
          <a:xfrm>
            <a:off x="609600" y="4950000"/>
            <a:ext cx="10972800" cy="500000"/>
          </a:xfrm>
          <a:prstGeom prst="rect">
            <a:avLst/>
          </a:prstGeom>
          <a:noFill/>
        </p:spPr>
        <p:txBody>
          <a:bodyPr wrap="square" anchor="t" lIns="45720" rIns="45720">
            <a:noAutofit/>
          </a:bodyPr>
          <a:lstStyle/>
          <a:p>
            <a:pPr algn="ctr"/>
            <a:r>
              <a:rPr lang="es-ES" sz="1700" dirty="0">
                <a:solidFill>
                  <a:srgbClr val="0F5499"/>
                </a:solidFill>
              </a:rPr>
              <a:t>https://www.linkedin.com/in/fernandogarciavarela/</a:t>
            </a:r>
          </a:p>
        </p:txBody>
      </p:sp>
      <p:sp>
        <p:nvSpPr>
          <p:cNvPr id="261" name="Texto 261"/>
          <p:cNvSpPr txBox="1"/>
          <p:nvPr/>
        </p:nvSpPr>
        <p:spPr>
          <a:xfrm>
            <a:off x="609600" y="5550000"/>
            <a:ext cx="10972800" cy="1000000"/>
          </a:xfrm>
          <a:prstGeom prst="rect">
            <a:avLst/>
          </a:prstGeom>
          <a:noFill/>
        </p:spPr>
        <p:txBody>
          <a:bodyPr wrap="square" anchor="t" lIns="45720" rIns="45720">
            <a:noAutofit/>
          </a:bodyPr>
          <a:lstStyle/>
          <a:p>
            <a:pPr algn="ctr"/>
            <a:r>
              <a:rPr lang="es-ES" sz="1000" dirty="0">
                <a:solidFill>
                  <a:srgbClr val="564D47"/>
                </a:solidFill>
              </a:rPr>
              <a:t>Legal notice: a generic, free methodological aid provided "as is" for information purposes; it is not legal advice and has not been legally reviewed for any case. Each organisation adapts it and is responsible for its legal review and its regulatory compliance; it may not reflect recent regulatory changes. To the fullest extent permitted by law, the author accepts no liability whatsoever for the effects of its application. It does not grant certification of any kind. Details in document 93.</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SEVEN-G">
  <a:themeElements>
    <a:clrScheme name="SEVEN-G">
      <a:dk1>
        <a:srgbClr val="1A1817"/>
      </a:dk1>
      <a:lt1>
        <a:srgbClr val="FBE2CD"/>
      </a:lt1>
      <a:dk2>
        <a:srgbClr val="2F2B28"/>
      </a:dk2>
      <a:lt2>
        <a:srgbClr val="FFFFFF"/>
      </a:lt2>
      <a:accent1>
        <a:srgbClr val="990F3D"/>
      </a:accent1>
      <a:accent2>
        <a:srgbClr val="0F5499"/>
      </a:accent2>
      <a:accent3>
        <a:srgbClr val="0D7680"/>
      </a:accent3>
      <a:accent4>
        <a:srgbClr val="593380"/>
      </a:accent4>
      <a:accent5>
        <a:srgbClr val="A5822A"/>
      </a:accent5>
      <a:accent6>
        <a:srgbClr val="71645B"/>
      </a:accent6>
      <a:hlink>
        <a:srgbClr val="0F5499"/>
      </a:hlink>
      <a:folHlink>
        <a:srgbClr val="593380"/>
      </a:folHlink>
    </a:clrScheme>
    <a:fontScheme name="SEVEN-G">
      <a:majorFont>
        <a:latin typeface="Georgia"/>
        <a:ea typeface=""/>
        <a:cs typeface=""/>
      </a:majorFont>
      <a:minorFont>
        <a:latin typeface="Arial"/>
        <a:ea typeface=""/>
        <a:cs typeface=""/>
      </a:minorFont>
    </a:fontScheme>
    <a:fmtScheme name="SEVEN-G">
      <a:fillStyleLst>
        <a:solidFill>
          <a:schemeClr val="accent1"/>
        </a:solidFill>
        <a:solidFill>
          <a:schemeClr val="accent1"/>
        </a:solidFill>
        <a:solidFill>
          <a:schemeClr val="accent1"/>
        </a:solidFill>
      </a:fillStyleLst>
      <a:lnStyleLst>
        <a:ln>
          <a:solidFill>
            <a:schemeClr val="accent1"/>
          </a:solidFill>
        </a:ln>
        <a:ln>
          <a:solidFill>
            <a:schemeClr val="accent1"/>
          </a:solidFill>
        </a:ln>
        <a:ln>
          <a:solidFill>
            <a:schemeClr val="accent1"/>
          </a:solidFill>
        </a:ln>
      </a:lnStyleLst>
      <a:effectStyleLst>
        <a:effectStyle>
          <a:effectLst/>
        </a:effectStyle>
        <a:effectStyle>
          <a:effectLst/>
        </a:effectStyle>
        <a:effectStyle>
          <a:effectLst/>
        </a:effectStyle>
      </a:effectStyleLst>
      <a:bgFillStyleLst>
        <a:solidFill>
          <a:schemeClr val="lt1"/>
        </a:solidFill>
        <a:solidFill>
          <a:schemeClr val="lt1"/>
        </a:solidFill>
        <a:solidFill>
          <a:schemeClr val="lt1"/>
        </a:solidFill>
      </a:bgFillStyleLst>
    </a:fmtScheme>
  </a:themeElements>
</a:theme>
</file>

<file path=docProps/app.xml><?xml version="1.0" encoding="utf-8"?>
<Properties xmlns="http://schemas.openxmlformats.org/officeDocument/2006/extended-properties">
  <Application>SEVEN-G build</Application>
  <Slides>27</Slides>
  <Company>Fernando García Varela</Company>
</Properties>
</file>

<file path=docProps/core.xml><?xml version="1.0" encoding="utf-8"?>
<cp:coreProperties xmlns:cp="http://schemas.openxmlformats.org/package/2006/metadata/core-properties" xmlns:dc="http://purl.org/dc/elements/1.1/" xmlns:dcterms="http://purl.org/dc/terms/" xmlns:xsi="http://www.w3.org/2001/XMLSchema-instance">
  <dc:title>SEVEN-G course for the consultant</dc:title>
  <dc:creator>Fernando García Varela</dc:creator>
  <cp:lastModifiedBy>SEVEN-G build</cp:lastModifiedBy>
  <dcterms:created xsi:type="dcterms:W3CDTF">2026-01-01T00:00:00Z</dcterms:created>
  <dcterms:modified xsi:type="dcterms:W3CDTF">2026-01-01T00:00:00Z</dcterms:modified>
</cp:coreProperties>
</file>
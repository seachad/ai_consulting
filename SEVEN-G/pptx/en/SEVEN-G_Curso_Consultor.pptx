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Consultant · Supporting clients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What SEVEN-G is, how the initiative funnel gets filled all the way to the board dashboard, and how to apply it at your clients under your own name.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Self-learning course · CC BY 4.0 · Examples with fictitious data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problem it solves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Many companies have AI pilots that work, but few reach production.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Value gets declared ("we freed up 200 hours") and almost nobody checks 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Nobody has clear authority to stop an initiative that is not working.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board asks about AI and gets a list of technical projects, not business decisions.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Is the company transforming with AI, or just a bit more efficient? Almost nobody can answer that with evidence.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This is not a technology problem: it is a governance and measurement problem.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SEVEN-G is and what it delivers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an enabling phase 0 and seven value phases, with governance throughout.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organises AI as a portfolio: every initiative has a phase, a cost, expected value and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places decision gates between phases: no verified evidence, no progress.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separates who decides, who builds and who controls, and turns regulation into phases, roles and evidence.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measures value in money and with a status —validated, declared or estimated— and shows it to the board on a dashboard.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is free and modifiable: documents, Word templates and tools, under an open licence.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Two levels: the company and each initiative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Diagnosis: inventory, maturity across seven dimensions and the transformation index.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Direction: the board approves the AI thesis, ambition per sphere and risk appetite.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Portfolio: which initiatives get funded, and in what order.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Oversight: board dashboard and the log of decisions and recommendations.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Annual review: what worked, what did not and what changes.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And, inside that portfolio, each initiative goes through its own eight-phase lifecycle.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An initiative's lifecycle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Eight phases with a decision gate at the end of each; below, the funnel stage where each phase shows up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Proposed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development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use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can happen at each gate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Five outcomes; whoever provides the evidence never verifies it or decides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Proceed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All criteria are met and the evidence is verified: it moves to the next phase.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With conditions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It proceeds, with a deadline and owner for what is pending. Never for critical security, legal or human-oversight controls.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Iterate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phase repeats with a specific adjustment and returns to the same gate. The third time, the higher body decides.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hypothesis does not hold but another reasonable one exists: back to phase 2. Only at G1, G2 and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Stop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plausible value, or unacceptable risk. The reason and lessons are recorded. It is a good outcome.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At G7 the outcomes are Scale, Iterate or Retire.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FROM DOCUMENT TO DASHBOARD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How the funnel gets filled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Nobody draws the funnel or the dashboard: they come out of what is filled in and decided at each phase. This is the path.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0 to 3: from idea to proof of concept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What is done, which templates are filled in and which gate closes each phase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The idea is authorised: sponsor, owner, scope, constraints and intensity (Lite or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P01 Initiative charter · P02 Context and constraints · P03 Roles · P04 Intensity · P05 Inventory entry.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enters "Proposed"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Opportunities are compared, including non-AI alternatives, and a sphere and ambition level are proposed.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P06 Opportunity portfolio and screening · P07 Sphere and ambition · P31 Use case sheet.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stays in "Proposed"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A falsifiable hypothesis in money, with baseline, attribution method and stop criteria set in advance.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P08 Value hypothesis canvas · P09 Baseline. Support: T11 calculator.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"Value hypothesis"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Proof of concept: feasibility, regulatory classification, risks and suppliers. It is the main stop gate.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P10 Feasibility · P11 Regulatory classification and impact · P12 Risks · P13 Mitigation · P14 Supplier.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"Proof of concept"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4 to 7: from design to production and retirement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Go-live does not close the cycle: it opens operation, with periodic reviews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Before building: architecture, data and model lineage, human oversight, security, rollback and adoption.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P15 Architecture · P16 Lineage · P17 Human oversight · P18 Security · P19 Rollback · P20 Adoption.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"In development"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Build, validate and pilot; the rollback is tested and go-live is signed off.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P21 Delivery report · P22 Validation and pilot · P23 Go-live sign-off · P12 updated.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moves to "In use"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Monitoring, incidents, changes and tracking of realised value, with a periodic continuity review.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P24 Operations manual · P25 Monitoring · P26 and P27 Incidents and changes · P28 Value · P65 R6 pack.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stays "In use" or brings G7 forward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With realised value on the table, the decision is to scale, iterate or retire, and lessons are recorded.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P28 Value tracking · P30 Scale-or-retire decision, with a retirement plan where applicable.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scale, iterate or "Disengaged"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initiative register (T01): where everything is recorded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Each initiative is entered like an opportunity in a CRM; here, the sample register with fictitious data</a:t>
            </a:r>
          </a:p>
        </p:txBody>
      </p:sp>
      <p:pic>
        <p:nvPicPr>
          <p:cNvPr id="112" name="Imagen 112" descr="Funnel view of the T01 initiative register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One bar per phase: how many initiatives are in each one now and how much expected value they carry.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When a gate is decided, the register stores the date, the outcome, who verified and who decided, and the status of each criterion.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From those dates it works out time in phase by itself and flags as "stalled" those beyond the reference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Figures carry a status: validated, declared or estimated. What is unknown stays "no data", never zero.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Alerts: pending gates, overdue conditions, risks without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Everything is saved in the company's own JSON file: no server and no data sent to anyone.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portfolio funnel: how to read it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The AI portfolio, read as a sales funnel. Illustrative data</a:t>
            </a:r>
          </a:p>
        </p:txBody>
      </p:sp>
      <p:pic>
        <p:nvPicPr>
          <p:cNvPr id="118" name="Imagen 118" descr="Funnel of AI initiatives with its stages, exits and cases in use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Inside the funnel, only what is in progress: 5 proposed, 4 with a value hypothesis, 3 in proof of concept and 4 in development.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left, how many reached each stage (40 → 31 → 24 → 17) and how long they take. The red triangle warns: proof of concept exceeds its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right, those that did not pass each stage and why: no plausible value, hypothesis refuted, unacceptable risk, cost above value.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Below, those that made it through: 11 in use, with their value and cost, and 1 disengaged.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goal is not to convert more: stopping an unviable initiative at G3 is a good outcome. 100% conversion would point to soft gates.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board dashboard (T17): how to read it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is generated from the same register, with nothing typed twice. Fictitious data</a:t>
            </a:r>
          </a:p>
        </p:txBody>
      </p:sp>
      <p:pic>
        <p:nvPicPr>
          <p:cNvPr id="124" name="Imagen 124" descr="Board dashboard with the portfolio and value cards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cases: how many are in use, in development, in proof of concept, proposed and 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Costs of €2.4M a year and total return of €7.3M (efficiencies plus return): annual net is €4.8M.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yellow card is the one that matters: only 36% of the value is validated by finance. The rest is declared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Released capacity that has not been materialised is shown separately and does not add up.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 red: only 3 of 15 cases have all the controls (impact assessments, security, user manual).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Other pages: funnel and lifecycle, history and adoption, risk and compliance, inventory.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If a figure on the dashboard looks wrong, the dashboard is not touched: the evidence is fixed in the register and it is generated again.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TWO EXAMPLES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One initiative that stops and one that reaches production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Fictitious, illustrative data: they do not describe any real company.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1 · When an initiative stops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Candidate screening in recruitment (HR)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HR sponsors it (P01–P05). Because it decides about people, intensity is Enterprise (P04). It enters "Proposed".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the hypothesis (P08) promises 40% less screening time against the baseline (P09). The pilot confirms it: G2,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the regulatory classification (P11) makes it a high-risk system. The bias test finds it penalises older candidates.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It iterates twice, adjusting variables: fixing the bias destroys the predictive power that justified the project.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high residual risk with no viable mitigation (P12, P13). The AI committee decides to Stop; it is recorded in P29 with its reason.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shows to the right of "Proof of concept": Discarded · unacceptable risk. Lesson: test for bias earlier, in phase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STOPPED AT G3 · BUILDING AND RUNNING AN UNVIABLE SYSTEM WAS AVOIDED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1, on the lifecycle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reached phase 3 and did not pass gate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Solution design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Delivery and validation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Operation and governance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STOPPED AT G3 · it leaves the funnel as "Discarded", with its reason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2 · When an initiative reaches production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First-line IT incident response assistant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IT sponsors it; against the non-AI alternative (more staff), the operations sphere with Optimise ambition is proposed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hypothesis of 30% less resolution time for simple incidents; the controlled pilot yields 32%.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no relevant bias, medium residual risk accepted by the right body (P12), supplier assessed (P14). G3,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4 and 5: mandatory human oversight above a severity level (P17), tested rollback (P19) and go-live sign-off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6: fourteen months in use. Finance validates €1.1M a year (P28); released capacity was reassigned to complex incidents.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sits under "In use"; on the dashboard it adds to annual net because its value is validated, not declared.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IN PRODUCTION · €1.1M OF VALIDATED ANNUAL RETURN · QUARTERLY R6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2, on the lifecycle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went through phases 0 to 6 and remains in use; phase 7 will come with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IN USE · each R6 confirms it keeps delivering value under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value is measured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Every amount carries a formula and a status: validated (finance), declared (the team)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Released hours are not savings until they are materialised: a cost goes down or they are reassigned to a valuable activity.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Cost is complete: build, consumption, operation, human oversight and retirement.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transformation index uses eight evidence signals to tell transformation apart from mere efficiency.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Ten measurement rules (document 40). No figure enters the portfolio net without its status.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FOR THE CONSULTANT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Applying SEVEN-G at clients, under your own name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The licence allows it, including in paid services and without hiring the author. In return it asks for fidelity, independence and honesty.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0" name="Texto 20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01" name="Texto 20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the licence allows and what you take on</a:t>
            </a:r>
          </a:p>
        </p:txBody>
      </p:sp>
      <p:sp>
        <p:nvSpPr>
          <p:cNvPr id="197" name="Texto 19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You may use, adapt and apply the framework in paid services without asking permission: credit the author, indicate changes and do not suggest endorsement.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You answer to your client for your service: SEVEN-G is a reference framework, not a guarantee of results.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You state which version you apply and what you have adapted, in every deliverable.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Client information is not used with other clients or in examples, not even anonymised, without written authorisation.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Regulatory classification and legal matters require qualified legal judgement; carry the legal notice into your deliverables.</a:t>
            </a:r>
          </a:p>
        </p:txBody>
      </p:sp>
      <p:sp>
        <p:nvSpPr>
          <p:cNvPr id="198" name="Texto 198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 91, section 2, and document 93.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5" name="Texto 20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06" name="Texto 20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Six rules you cannot drop without saying so</a:t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Segregation of duties: whoever builds does not control, and nobody approves themselves.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Dual validation at the gates and a real ability to stop.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The ten measurement rules: a status for every amount, and released capacity does not count until materialised.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Ambition classified with the five questions.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Maturity based on observable evidence, not self-assessment.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A recommendations log with persistent identifiers and independent assessment.</a:t>
            </a:r>
          </a:p>
        </p:txBody>
      </p:sp>
      <p:sp>
        <p:nvSpPr>
          <p:cNvPr id="203" name="Texto 203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If you drop any, your service may be inspired by SEVEN-G, but must not be presented as an application of SEVEN-G.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4" name="Texto 22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25" name="Texto 22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Five engagement models</a:t>
            </a:r>
          </a:p>
        </p:txBody>
      </p:sp>
      <p:sp>
        <p:nvSpPr>
          <p:cNvPr id="226" name="Texto 226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What each one delivers; durations are indicative</a:t>
            </a:r>
          </a:p>
        </p:txBody>
      </p:sp>
      <p:sp>
        <p:nvSpPr>
          <p:cNvPr id="207" name="Caja 207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M1 · Diagnosis</a:t>
            </a:r>
          </a:p>
        </p:txBody>
      </p:sp>
      <p:sp>
        <p:nvSpPr>
          <p:cNvPr id="208" name="Caja 208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9" name="Texto 209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4 to 6 weeks. Inventory, evidence-based maturity (T15), transformation index (T14), current value and cost. C1 report (P33).</a:t>
            </a:r>
          </a:p>
        </p:txBody>
      </p:sp>
      <p:sp>
        <p:nvSpPr>
          <p:cNvPr id="210" name="Caja 210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M2 · Implementation</a:t>
            </a:r>
          </a:p>
        </p:txBody>
      </p:sp>
      <p:sp>
        <p:nvSpPr>
          <p:cNvPr id="211" name="Caja 211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2" name="Texto 212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90 days. Thesis and risk appetite, governance, portfolio, T01 register and dashboard with real data, and the first board pack.</a:t>
            </a:r>
          </a:p>
        </p:txBody>
      </p:sp>
      <p:sp>
        <p:nvSpPr>
          <p:cNvPr id="213" name="Caja 213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M3 · Audit</a:t>
            </a:r>
          </a:p>
        </p:txBody>
      </p:sp>
      <p:sp>
        <p:nvSpPr>
          <p:cNvPr id="214" name="Caja 214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5" name="Texto 215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Independent opinion: Compliant, Compliant with observations or Non-compliant. Plan, working papers and report (P58, P59, P60).</a:t>
            </a:r>
          </a:p>
        </p:txBody>
      </p:sp>
      <p:sp>
        <p:nvSpPr>
          <p:cNvPr id="216" name="Caja 216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M4 · Board advisory</a:t>
            </a:r>
          </a:p>
        </p:txBody>
      </p:sp>
      <p:sp>
        <p:nvSpPr>
          <p:cNvPr id="217" name="Caja 217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8" name="Texto 218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Annual mandate. Preparing sessions, reviewing the quarterly pack, logged recommendations and independent assessments.</a:t>
            </a:r>
          </a:p>
        </p:txBody>
      </p:sp>
      <p:sp>
        <p:nvSpPr>
          <p:cNvPr id="219" name="Caja 219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M5 · Ongoing support</a:t>
            </a:r>
          </a:p>
        </p:txBody>
      </p:sp>
      <p:sp>
        <p:nvSpPr>
          <p:cNvPr id="220" name="Caja 220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21" name="Texto 221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Support to the AI office: register, funnel metrics and packs, always with a transfer plan and an exit date (P71).</a:t>
            </a:r>
          </a:p>
        </p:txBody>
      </p:sp>
      <p:sp>
        <p:nvSpPr>
          <p:cNvPr id="222" name="Texto 222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In all of them the company decides; you prepare, propose, verify or advise.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Independence: whoever implements does not audit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You cannot independently verify, audit or assess what you, your firm or a related entity designed, implemented or operated.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Implementation (M2) and audit (M3) are incompatible for the same scope; neither is advising the board (M4) on what you operate (M5).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After an incompatible service, let at least one full annual cycle pass before auditing that scope.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Declare in writing your relationships with technology vendors, your own tools and your fee scheme (P41).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Value-linked fees: only on value validated by finance or by an audit that is not yours.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 91, section 5.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3" name="Texto 2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44" name="Texto 2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you can and cannot say</a:t>
            </a:r>
          </a:p>
        </p:txBody>
      </p:sp>
      <p:sp>
        <p:nvSpPr>
          <p:cNvPr id="245" name="Texto 2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SEVEN-G is a registered trademark of Fernando García Varela; the content licence does not grant the trademark</a:t>
            </a:r>
          </a:p>
        </p:txBody>
      </p:sp>
      <p:sp>
        <p:nvSpPr>
          <p:cNvPr id="232" name="Caja 232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Yes</a:t>
            </a:r>
          </a:p>
        </p:txBody>
      </p:sp>
      <p:sp>
        <p:nvSpPr>
          <p:cNvPr id="233" name="Caja 233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4" name="Texto 234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"Service based on SEVEN-G (version …), a framework by Fernando García Varela, CC BY 4.0."   "Methodology adapted from SEVEN-G; changes: …"   "Uses the sphere map and measurement rules of SEVEN-G."</a:t>
            </a:r>
          </a:p>
        </p:txBody>
      </p:sp>
      <p:sp>
        <p:nvSpPr>
          <p:cNvPr id="235" name="Caja 235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236" name="Caja 236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7" name="Texto 237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"SEVEN-G certified", "accredited consultancy", "official partner", "endorsed by the author": there is no certification or partner programme. Nor "compliance guaranteed by SEVEN-G".</a:t>
            </a:r>
          </a:p>
        </p:txBody>
      </p:sp>
      <p:sp>
        <p:nvSpPr>
          <p:cNvPr id="238" name="Caja 238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Do not promise</a:t>
            </a:r>
          </a:p>
        </p:txBody>
      </p:sp>
      <p:sp>
        <p:nvSpPr>
          <p:cNvPr id="239" name="Caja 239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0" name="Texto 240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X% savings before the diagnosis, a maturity level by a date, "your company will transform", "no risk", or implementation deadlines without a diagnosis.</a:t>
            </a:r>
          </a:p>
        </p:txBody>
      </p:sp>
      <p:sp>
        <p:nvSpPr>
          <p:cNvPr id="241" name="Texto 24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 91, sections 6 and 8.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8" name="Texto 24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CONSULTANT · SUPPORTING CLIENTS</a:t>
            </a:r>
          </a:p>
        </p:txBody>
      </p:sp>
      <p:sp>
        <p:nvSpPr>
          <p:cNvPr id="249" name="Texto 24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Your templates and leaving the engagement</a:t>
            </a:r>
          </a:p>
        </p:txBody>
      </p:sp>
      <p:sp>
        <p:nvSpPr>
          <p:cNvPr id="246" name="Texto 246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P70 Proposal and engagement letter: scope, model (M1–M5), out of scope, roles on both sides and independence.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P41 Declaration of independence and conflicts of interest, at the start of every M3 or M4 service.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Quality: every deliverable states version and adaptations, links its evidence and is reviewed by a second professional.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P71 Transfer plan and exit note: registers in open format, evidence located, pending items with an owner and open risks.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test of good work: the company does not need you to read or maintain anything you delivered.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o 250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Thank you</a:t>
            </a:r>
          </a:p>
        </p:txBody>
      </p:sp>
      <p:sp>
        <p:nvSpPr>
          <p:cNvPr id="251" name="Texto 251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is free: it is used, downloaded and adapted without registering, and the site will never write to you. If you want to talk to the author, the initiative is yours.</a:t>
            </a:r>
          </a:p>
        </p:txBody>
      </p:sp>
      <p:sp>
        <p:nvSpPr>
          <p:cNvPr id="252" name="Texto 252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is a registered trademark of Fernando García Varela · CC BY 4.0 (content) · MIT (code)</a:t>
            </a:r>
          </a:p>
        </p:txBody>
      </p:sp>
      <p:sp>
        <p:nvSpPr>
          <p:cNvPr id="253" name="Texto 253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SEVEN-G course for the consultant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
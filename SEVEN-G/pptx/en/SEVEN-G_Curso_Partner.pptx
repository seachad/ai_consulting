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Partner · Building it into your methodology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What SEVEN-G is, how the initiative funnel gets filled all the way to the board dashboard, and how to build it into your own methodology or product.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Self-learning course · CC BY 4.0 · Examples with fictitious data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problem it solves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Many companies have AI pilots that work, but few reach production.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 gets declared ("we freed up 200 hours") and almost nobody checks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Nobody has clear authority to stop an initiative that is not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asks about AI and gets a list of technical projects, not business decisions.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 the company transforming with AI, or just a bit more efficient? Almost nobody can answer that with evidence.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This is not a technology problem: it is a governance and measurement problem.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SEVEN-G is and what it delivers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an enabling phase 0 and seven value phases, with governance throughout.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organises AI as a portfolio: every initiative has a phase, a cost, expected value and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places decision gates between phases: no verified evidence, no progress.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separates who decides, who builds and who controls, and turns regulation into phases, roles and evidence.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measures value in money and with a status —validated, declared or estimated— and shows it to the board on a dashboard.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is free and modifiable: documents, Word templates and tools, under an open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Two levels: the company and each initiative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Diagnosis: inventory, maturity across seven dimensions and the transformation index.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Direction: the board approves the AI thesis, ambition per sphere and risk appetite.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Portfolio: which initiatives get funded, and in what order.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Oversight: board dashboard and the log of decisions and recommendations.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Annual review: what worked, what did not and what changes.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And, inside that portfolio, each initiative goes through its own eight-phase lifecycle.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An initiative's lifecycle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Eight phases with a decision gate at the end of each; below, the funnel stage where each phase shows up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Proposed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development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use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can happen at each gate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Five outcomes; whoever provides the evidence never verifies it or decides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Proceed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All criteria are met and the evidence is verified: it moves to the next phase.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With conditions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It proceeds, with a deadline and owner for what is pending. Never for critical security, legal or human-oversight controls.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Iterate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phase repeats with a specific adjustment and returns to the same gate. The third time, the higher body decides.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hypothesis does not hold but another reasonable one exists: back to phase 2. Only at G1, G2 and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plausible value, or unacceptable risk. The reason and lessons are recorded. It is a good outcome.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At G7 the outcomes are Scale, Iterate or Retire.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FROM DOCUMENT TO DASHBOARD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How the funnel gets filled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Nobody draws the funnel or the dashboard: they come out of what is filled in and decided at each phase. This is the path.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0 to 3: from idea to proof of concept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What is done, which templates are filled in and which gate closes each phase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The idea is authorised: sponsor, owner, scope, constraints and intensity (Lite or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P01 Initiative charter · P02 Context and constraints · P03 Roles · P04 Intensity · P05 Inventory entry.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enters "Proposed"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Opportunities are compared, including non-AI alternatives, and a sphere and ambition level are proposed.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P06 Opportunity portfolio and screening · P07 Sphere and ambition · P31 Use case sheet.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stays in "Proposed"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A falsifiable hypothesis in money, with baseline, attribution method and stop criteria set in advance.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P08 Value hypothesis canvas · P09 Baseline. Support: T11 calculator.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"Value hypothesis"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Proof of concept: feasibility, regulatory classification, risks and suppliers. It is the main stop gate.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P10 Feasibility · P11 Regulatory classification and impact · P12 Risks · P13 Mitigation · P14 Supplier.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"Proof of concept"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4 to 7: from design to production and retirement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Go-live does not close the cycle: it opens operation, with periodic reviews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Before building: architecture, data and model lineage, human oversight, security, rollback and adoption.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P15 Architecture · P16 Lineage · P17 Human oversight · P18 Security · P19 Rollback · P20 Adoption.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"In development"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Build, validate and pilot; the rollback is tested and go-live is signed off.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P21 Delivery report · P22 Validation and pilot · P23 Go-live sign-off · P12 updated.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moves to "In use"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Monitoring, incidents, changes and tracking of realised value, with a periodic continuity review.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P24 Operations manual · P25 Monitoring · P26 and P27 Incidents and changes · P28 Value · P65 R6 pack.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stays "In use" or brings G7 forward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With realised value on the table, the decision is to scale, iterate or retire, and lessons are recorded.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P28 Value tracking · P30 Scale-or-retire decision, with a retirement plan where applicable.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scale, iterate or "Disengaged"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initiative register (T01): where everything is recorded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Each initiative is entered like an opportunity in a CRM; here, the sample register with fictitious data</a:t>
            </a:r>
          </a:p>
        </p:txBody>
      </p:sp>
      <p:pic>
        <p:nvPicPr>
          <p:cNvPr id="112" name="Imagen 112" descr="Funnel view of the T01 initiative register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One bar per phase: how many initiatives are in each one now and how much expected value they carry.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When a gate is decided, the register stores the date, the outcome, who verified and who decided, and the status of each criterion.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From those dates it works out time in phase by itself and flags as "stalled" those beyond the reference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Figures carry a status: validated, declared or estimated. What is unknown stays "no data", never zero.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Alerts: pending gates, overdue conditions, risks without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Everything is saved in the company's own JSON file: no server and no data sent to anyone.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portfolio funnel: how to read it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The AI portfolio, read as a sales funnel. Illustrative data</a:t>
            </a:r>
          </a:p>
        </p:txBody>
      </p:sp>
      <p:pic>
        <p:nvPicPr>
          <p:cNvPr id="118" name="Imagen 118" descr="Funnel of AI initiatives with its stages, exits and cases in use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Inside the funnel, only what is in progress: 5 proposed, 4 with a value hypothesis, 3 in proof of concept and 4 in development.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left, how many reached each stage (40 → 31 → 24 → 17) and how long they take. The red triangle warns: proof of concept exceeds its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right, those that did not pass each stage and why: no plausible value, hypothesis refuted, unacceptable risk, cost above value.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Below, those that made it through: 11 in use, with their value and cost, and 1 disengaged.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goal is not to convert more: stopping an unviable initiative at G3 is a good outcome. 100% conversion would point to soft gates.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board dashboard (T17): how to read it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is generated from the same register, with nothing typed twice. Fictitious data</a:t>
            </a:r>
          </a:p>
        </p:txBody>
      </p:sp>
      <p:pic>
        <p:nvPicPr>
          <p:cNvPr id="124" name="Imagen 124" descr="Board dashboard with the portfolio and value cards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cases: how many are in use, in development, in proof of concept, proposed and 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Costs of €2.4M a year and total return of €7.3M (efficiencies plus return): annual net is €4.8M.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yellow card is the one that matters: only 36% of the value is validated by finance. The rest is declared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Released capacity that has not been materialised is shown separately and does not add up.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 red: only 3 of 15 cases have all the controls (impact assessments, security, user manual).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Other pages: funnel and lifecycle, history and adoption, risk and compliance, inventory.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If a figure on the dashboard looks wrong, the dashboard is not touched: the evidence is fixed in the register and it is generated again.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TWO EXAMPLES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One initiative that stops and one that reaches production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Fictitious, illustrative data: they do not describe any real company.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1 · When an initiative stops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Candidate screening in recruitment (HR)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HR sponsors it (P01–P05). Because it decides about people, intensity is Enterprise (P04). It enters "Proposed".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the hypothesis (P08) promises 40% less screening time against the baseline (P09). The pilot confirms it: G2,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the regulatory classification (P11) makes it a high-risk system. The bias test finds it penalises older candidates.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It iterates twice, adjusting variables: fixing the bias destroys the predictive power that justified the project.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high residual risk with no viable mitigation (P12, P13). The AI committee decides to Stop; it is recorded in P29 with its reason.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shows to the right of "Proof of concept": Discarded · unacceptable risk. Lesson: test for bias earlier, in phase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STOPPED AT G3 · BUILDING AND RUNNING AN UNVIABLE SYSTEM WAS AVOIDED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1, on the lifecycle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reached phase 3 and did not pass gate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Solution design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Delivery and validation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Operation and governance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STOPPED AT G3 · it leaves the funnel as "Discarded", with its reason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2 · When an initiative reaches production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First-line IT incident response assistant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IT sponsors it; against the non-AI alternative (more staff), the operations sphere with Optimise ambition is proposed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hypothesis of 30% less resolution time for simple incidents; the controlled pilot yields 32%.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no relevant bias, medium residual risk accepted by the right body (P12), supplier assessed (P14). G3,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4 and 5: mandatory human oversight above a severity level (P17), tested rollback (P19) and go-live sign-off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6: fourteen months in use. Finance validates €1.1M a year (P28); released capacity was reassigned to complex incidents.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sits under "In use"; on the dashboard it adds to annual net because its value is validated, not declared.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IN PRODUCTION · €1.1M OF VALIDATED ANNUAL RETURN · QUARTERLY 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2, on the lifecycle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went through phases 0 to 6 and remains in use; phase 7 will come with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IN USE · each R6 confirms it keeps delivering value under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value is measured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Every amount carries a formula and a status: validated (finance), declared (the team)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Released hours are not savings until they are materialised: a cost goes down or they are reassigned to a valuable activity.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Cost is complete: build, consumption, operation, human oversight and retirement.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transformation index uses eight evidence signals to tell transformation apart from mere efficiency.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Ten measurement rules (document 40). No figure enters the portfolio net without its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FOR THE PARTNER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Integrating SEVEN-G into your own methodology or product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Here, "partner" means a company that builds the framework into its own offering under its open licence. There is no partner programme and no "official partner"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8" name="Texto 20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the licence allows and what it requires</a:t>
            </a:r>
          </a:p>
        </p:txBody>
      </p:sp>
      <p:sp>
        <p:nvSpPr>
          <p:cNvPr id="210" name="Texto 21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Content: CC BY 4.0. Tool code: MIT</a:t>
            </a:r>
          </a:p>
        </p:txBody>
      </p:sp>
      <p:sp>
        <p:nvSpPr>
          <p:cNvPr id="197" name="Caja 197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allows</a:t>
            </a:r>
          </a:p>
        </p:txBody>
      </p:sp>
      <p:sp>
        <p:nvSpPr>
          <p:cNvPr id="198" name="Caja 198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99" name="Texto 199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Copying, adapting, translating, trimming, renaming, merging with your methodology and building into products, including commercially, without asking permission or paying.</a:t>
            </a:r>
          </a:p>
        </p:txBody>
      </p:sp>
      <p:sp>
        <p:nvSpPr>
          <p:cNvPr id="200" name="Caja 200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requires</a:t>
            </a:r>
          </a:p>
        </p:txBody>
      </p:sp>
      <p:sp>
        <p:nvSpPr>
          <p:cNvPr id="201" name="Caja 201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Crediting the author (Fernando García Varela), linking the licence, indicating changes and keeping the legal notice. In code, keeping the copyright notice and the MIT licence.</a:t>
            </a:r>
          </a:p>
        </p:txBody>
      </p:sp>
      <p:sp>
        <p:nvSpPr>
          <p:cNvPr id="203" name="Caja 203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does not grant</a:t>
            </a:r>
          </a:p>
        </p:txBody>
      </p:sp>
      <p:sp>
        <p:nvSpPr>
          <p:cNvPr id="204" name="Caja 204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trademark: SEVEN-G is a registered trademark. You may name it to state accurately what you used; not to suggest endorsement, accreditation or certification.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Published versions are not revoked: what you integrate today you can keep using (document 93).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5" name="Texto 22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Modular adoption: four components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You can integrate the whole framework or just the pieces your methodology lacks</a:t>
            </a:r>
          </a:p>
        </p:txBody>
      </p:sp>
      <p:sp>
        <p:nvSpPr>
          <p:cNvPr id="211" name="Caja 211"/>
          <p:cNvSpPr/>
          <p:nvPr/>
        </p:nvSpPr>
        <p:spPr>
          <a:xfrm>
            <a:off x="6096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 · Impact map</a:t>
            </a:r>
          </a:p>
        </p:txBody>
      </p:sp>
      <p:sp>
        <p:nvSpPr>
          <p:cNvPr id="212" name="Caja 212"/>
          <p:cNvSpPr/>
          <p:nvPr/>
        </p:nvSpPr>
        <p:spPr>
          <a:xfrm>
            <a:off x="6096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3" name="Texto 213"/>
          <p:cNvSpPr txBox="1"/>
          <p:nvPr/>
        </p:nvSpPr>
        <p:spPr>
          <a:xfrm>
            <a:off x="6496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Nine spheres by three ambition levels (Optimise, Augment, Transform). Useful to prioritise and to talk to the board without technology.</a:t>
            </a:r>
          </a:p>
        </p:txBody>
      </p:sp>
      <p:sp>
        <p:nvSpPr>
          <p:cNvPr id="214" name="Caja 214"/>
          <p:cNvSpPr/>
          <p:nvPr/>
        </p:nvSpPr>
        <p:spPr>
          <a:xfrm>
            <a:off x="33828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B · Governance</a:t>
            </a:r>
          </a:p>
        </p:txBody>
      </p:sp>
      <p:sp>
        <p:nvSpPr>
          <p:cNvPr id="215" name="Caja 215"/>
          <p:cNvSpPr/>
          <p:nvPr/>
        </p:nvSpPr>
        <p:spPr>
          <a:xfrm>
            <a:off x="33828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6" name="Texto 216"/>
          <p:cNvSpPr txBox="1"/>
          <p:nvPr/>
        </p:nvSpPr>
        <p:spPr>
          <a:xfrm>
            <a:off x="34228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Phases, gates with dual validation, segregation of duties, risk, regulation and nonconformities.</a:t>
            </a:r>
          </a:p>
        </p:txBody>
      </p:sp>
      <p:sp>
        <p:nvSpPr>
          <p:cNvPr id="217" name="Caja 217"/>
          <p:cNvSpPr/>
          <p:nvPr/>
        </p:nvSpPr>
        <p:spPr>
          <a:xfrm>
            <a:off x="61560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 · Measurement</a:t>
            </a:r>
          </a:p>
        </p:txBody>
      </p:sp>
      <p:sp>
        <p:nvSpPr>
          <p:cNvPr id="218" name="Caja 218"/>
          <p:cNvSpPr/>
          <p:nvPr/>
        </p:nvSpPr>
        <p:spPr>
          <a:xfrm>
            <a:off x="61560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1960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Ten measurement rules, amount statuses, full costs and the transformation index.</a:t>
            </a:r>
          </a:p>
        </p:txBody>
      </p:sp>
      <p:sp>
        <p:nvSpPr>
          <p:cNvPr id="220" name="Caja 220"/>
          <p:cNvSpPr/>
          <p:nvPr/>
        </p:nvSpPr>
        <p:spPr>
          <a:xfrm>
            <a:off x="89292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D · Tools</a:t>
            </a:r>
          </a:p>
        </p:txBody>
      </p:sp>
      <p:sp>
        <p:nvSpPr>
          <p:cNvPr id="221" name="Caja 221"/>
          <p:cNvSpPr/>
          <p:nvPr/>
        </p:nvSpPr>
        <p:spPr>
          <a:xfrm>
            <a:off x="89292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89692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T01 register, calculators, maturity diagnostic and board dashboard: serverless HTML, JSON data, MIT code.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If you call it "SEVEN-G", respect its six essential rules; otherwise say "adapted from" and state what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to fit it into your methodology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Build a mapping table: your stages against phases 0 to 7, your committees against the bodies, your deliverables against the P templates.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Keep the codes (G0–G7, P01–P74, T01–T22) or publish your equivalence: your clients will be able to check against the source.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You may change names, thresholds, deadlines and weights. Do not change what protects the client: segregation of duties, evidence before deciding and a status for every amount.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State the base version and your changes; when the framework evolves, decide whether you update, and say so.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In a work that mixes frameworks it must be clear what comes from SEVEN-G. You may license your own contributions as you wish, without blocking the original's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4" name="Texto 23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Technical integration: data and tools</a:t>
            </a:r>
          </a:p>
        </p:txBody>
      </p:sp>
      <p:sp>
        <p:nvSpPr>
          <p:cNvPr id="232" name="Texto 23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One data model for everything: the T01 register's JSON, with its published schema. It can be imported, exported and merged by initiative code.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You can feed that JSON from your own platform (project management, GRC, CRM) and generate the board dashboard with the T17 connector.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tools are serverless HTML: host them wherever you like, with your brand next to the attribution, and they send data to no one.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74 templates are generated in Word from Markdown: you can change styles and cover and regenerate them with your branding.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New schema versions only add optional fields: old files keep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client's data belongs to the client: always leave it in an open format.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7" name="Texto 24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48" name="Texto 24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to name it in front of your clients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Stating accurately what was used is mandatory; suggesting endorsement is not allowed</a:t>
            </a:r>
          </a:p>
        </p:txBody>
      </p:sp>
      <p:sp>
        <p:nvSpPr>
          <p:cNvPr id="236" name="Caja 23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Appropriate</a:t>
            </a:r>
          </a:p>
        </p:txBody>
      </p:sp>
      <p:sp>
        <p:nvSpPr>
          <p:cNvPr id="237" name="Caja 23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8" name="Texto 23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"Based on SEVEN-G (version 0.80)."   "Adapted from SEVEN-G; changes: …"   "Includes the SEVEN-G initiative register (MIT)."   "This adaptation is not endorsed by the author."</a:t>
            </a:r>
          </a:p>
        </p:txBody>
      </p:sp>
      <p:sp>
        <p:nvSpPr>
          <p:cNvPr id="239" name="Caja 23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Inappropriate</a:t>
            </a:r>
          </a:p>
        </p:txBody>
      </p:sp>
      <p:sp>
        <p:nvSpPr>
          <p:cNvPr id="240" name="Caja 24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"Official partner", "approved", "accredited", "SEVEN-G certification", or stating on behalf of SEVEN-G or the author that a client complies with regulation.</a:t>
            </a:r>
          </a:p>
        </p:txBody>
      </p:sp>
      <p:sp>
        <p:nvSpPr>
          <p:cNvPr id="242" name="Caja 24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Notice to keep</a:t>
            </a:r>
          </a:p>
        </p:txBody>
      </p:sp>
      <p:sp>
        <p:nvSpPr>
          <p:cNvPr id="243" name="Caja 24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"Based on SEVEN-G (Fernando García Varela, CC BY 4.0). Guidance content, "as is", without warranties; not legal advice. The author does not validate or endorse this work."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93, sections 6, 7, 8 and 11.9.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2" name="Texto 25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Staying current and improving the framework</a:t>
            </a:r>
          </a:p>
        </p:txBody>
      </p:sp>
      <p:sp>
        <p:nvSpPr>
          <p:cNvPr id="250" name="Texto 25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site publishes the framework version and each document's version history: review the changes before updating your adaptation.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Issues and improvement requests: on the community page, with no account or email; the most-voted requests are taken 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translation of yours is a derivative work: state that it is unofficial, which version it comes from and who made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If you want something the licence does not give —custom work, training for your team, an agreement on trademark use— talk to the author. You start that conversation.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o 254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Thank you</a:t>
            </a:r>
          </a:p>
        </p:txBody>
      </p:sp>
      <p:sp>
        <p:nvSpPr>
          <p:cNvPr id="255" name="Texto 255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is free: it is used, downloaded and adapted without registering, and the site will never write to you. If you want to talk to the author, the initiative is yours.</a:t>
            </a:r>
          </a:p>
        </p:txBody>
      </p:sp>
      <p:sp>
        <p:nvSpPr>
          <p:cNvPr id="256" name="Texto 256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is a registered trademark of Fernando García Varela · CC BY 4.0 (content) · MIT (code)</a:t>
            </a:r>
          </a:p>
        </p:txBody>
      </p:sp>
      <p:sp>
        <p:nvSpPr>
          <p:cNvPr id="257" name="Texto 257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SEVEN-G course for the partner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
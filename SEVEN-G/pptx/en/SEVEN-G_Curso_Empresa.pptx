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 id="275" r:id="rIdS20"/>
    <p:sldId id="276" r:id="rIdS21"/>
    <p:sldId id="277" r:id="rIdS22"/>
    <p:sldId id="278" r:id="rIdS23"/>
    <p:sldId id="279" r:id="rIdS24"/>
    <p:sldId id="280" r:id="rIdS25"/>
    <p:sldId id="281" r:id="rIdS26"/>
    <p:sldId id="282" r:id="rIdS27"/>
  </p:sldIdLst>
  <p:sldSz cx="12192000" cy="6858000" type="screen16x9"/>
  <p:notesSz cx="6858000" cy="9144000"/>
</p:presentation>
</file>

<file path=ppt/_rels/presentation.xml.rels><?xml version="1.0" encoding="UTF-8" standalone="yes"?><Relationships xmlns="http://schemas.openxmlformats.org/package/2006/relationships"><Relationship Id="rIdM1" Type="http://schemas.openxmlformats.org/officeDocument/2006/relationships/slideMaster" Target="slideMasters/slideMaster1.xml"/><Relationship Id="rIdT1" Type="http://schemas.openxmlformats.org/officeDocument/2006/relationships/theme" Target="theme/theme1.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 Id="rIdS20" Type="http://schemas.openxmlformats.org/officeDocument/2006/relationships/slide" Target="slides/slide20.xml"/><Relationship Id="rIdS21" Type="http://schemas.openxmlformats.org/officeDocument/2006/relationships/slide" Target="slides/slide21.xml"/><Relationship Id="rIdS22" Type="http://schemas.openxmlformats.org/officeDocument/2006/relationships/slide" Target="slides/slide22.xml"/><Relationship Id="rIdS23" Type="http://schemas.openxmlformats.org/officeDocument/2006/relationships/slide" Target="slides/slide23.xml"/><Relationship Id="rIdS24" Type="http://schemas.openxmlformats.org/officeDocument/2006/relationships/slide" Target="slides/slide24.xml"/><Relationship Id="rIdS25" Type="http://schemas.openxmlformats.org/officeDocument/2006/relationships/slide" Target="slides/slide25.xml"/><Relationship Id="rIdS26" Type="http://schemas.openxmlformats.org/officeDocument/2006/relationships/slide" Target="slides/slide26.xml"/><Relationship Id="rIdS27" Type="http://schemas.openxmlformats.org/officeDocument/2006/relationships/slide" Target="slides/slide27.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Img_registro" Type="http://schemas.openxmlformats.org/officeDocument/2006/relationships/image" Target="../media/registro.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Img_embudo" Type="http://schemas.openxmlformats.org/officeDocument/2006/relationships/image" Target="../media/embudo.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Img_panel" Type="http://schemas.openxmlformats.org/officeDocument/2006/relationships/image" Target="../media/panel.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Img_impacto" Type="http://schemas.openxmlformats.org/officeDocument/2006/relationships/image" Target="../media/impacto.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6" name="Marca"/>
          <p:cNvSpPr/>
          <p:nvPr/>
        </p:nvSpPr>
        <p:spPr>
          <a:xfrm>
            <a:off x="609600" y="365760"/>
            <a:ext cx="182880" cy="182880"/>
          </a:xfrm>
          <a:prstGeom prst="rect">
            <a:avLst/>
          </a:prstGeom>
          <a:solidFill>
            <a:srgbClr val="990F3D"/>
          </a:solidFill>
        </p:spPr>
        <p:txBody>
          <a:bodyPr/>
          <a:lstStyle/>
          <a:p/>
        </p:txBody>
      </p:sp>
      <p:sp>
        <p:nvSpPr>
          <p:cNvPr id="7" name="Texto 7"/>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2" name="Texto 2"/>
          <p:cNvSpPr txBox="1"/>
          <p:nvPr/>
        </p:nvSpPr>
        <p:spPr>
          <a:xfrm>
            <a:off x="609600" y="1350000"/>
            <a:ext cx="10972800" cy="1100000"/>
          </a:xfrm>
          <a:prstGeom prst="rect">
            <a:avLst/>
          </a:prstGeom>
          <a:noFill/>
        </p:spPr>
        <p:txBody>
          <a:bodyPr wrap="square" anchor="t" lIns="45720" rIns="45720">
            <a:noAutofit/>
          </a:bodyPr>
          <a:lstStyle/>
          <a:p>
            <a:pPr algn="l"/>
            <a:r>
              <a:rPr lang="es-ES" sz="5000" b="1" dirty="0">
                <a:solidFill>
                  <a:srgbClr val="1A1817"/>
                </a:solidFill>
              </a:rPr>
              <a:t>SEVEN-G</a:t>
            </a:r>
          </a:p>
        </p:txBody>
      </p:sp>
      <p:sp>
        <p:nvSpPr>
          <p:cNvPr id="3" name="Caja 3"/>
          <p:cNvSpPr/>
          <p:nvPr/>
        </p:nvSpPr>
        <p:spPr>
          <a:xfrm>
            <a:off x="609600" y="2600000"/>
            <a:ext cx="5200000" cy="560000"/>
          </a:xfrm>
          <a:prstGeom prst="roundRect">
            <a:avLst>
              <a:gd name="adj" fmla="val 6000"/>
            </a:avLst>
          </a:prstGeom>
          <a:solidFill>
            <a:srgbClr val="990F3D"/>
          </a:solidFill>
          <a:ln>
            <a:noFill/>
          </a:ln>
        </p:spPr>
        <p:txBody>
          <a:bodyPr wrap="square" anchor="ctr" lIns="45720" rIns="45720">
            <a:noAutofit/>
          </a:bodyPr>
          <a:lstStyle/>
          <a:p>
            <a:pPr algn="ctr"/>
            <a:r>
              <a:rPr lang="es-ES" sz="1800" b="1" dirty="0">
                <a:solidFill>
                  <a:srgbClr val="FFFFFF"/>
                </a:solidFill>
              </a:rPr>
              <a:t>Company · Self-consulting</a:t>
            </a:r>
          </a:p>
        </p:txBody>
      </p:sp>
      <p:sp>
        <p:nvSpPr>
          <p:cNvPr id="4" name="Texto 4"/>
          <p:cNvSpPr txBox="1"/>
          <p:nvPr/>
        </p:nvSpPr>
        <p:spPr>
          <a:xfrm>
            <a:off x="609600" y="3450000"/>
            <a:ext cx="10500000" cy="1500000"/>
          </a:xfrm>
          <a:prstGeom prst="rect">
            <a:avLst/>
          </a:prstGeom>
          <a:noFill/>
        </p:spPr>
        <p:txBody>
          <a:bodyPr wrap="square" anchor="t" lIns="45720" rIns="45720">
            <a:noAutofit/>
          </a:bodyPr>
          <a:lstStyle/>
          <a:p>
            <a:pPr algn="l"/>
            <a:r>
              <a:rPr lang="es-ES" sz="2000" dirty="0">
                <a:solidFill>
                  <a:srgbClr val="2F2B28"/>
                </a:solidFill>
              </a:rPr>
              <a:t>What SEVEN-G is, how the initiative funnel gets filled all the way to the board dashboard, and how to implement it in your company by your own means.</a:t>
            </a:r>
          </a:p>
        </p:txBody>
      </p:sp>
      <p:sp>
        <p:nvSpPr>
          <p:cNvPr id="5" name="Texto 5"/>
          <p:cNvSpPr txBox="1"/>
          <p:nvPr/>
        </p:nvSpPr>
        <p:spPr>
          <a:xfrm>
            <a:off x="609600" y="6150000"/>
            <a:ext cx="10972800" cy="450000"/>
          </a:xfrm>
          <a:prstGeom prst="rect">
            <a:avLst/>
          </a:prstGeom>
          <a:noFill/>
        </p:spPr>
        <p:txBody>
          <a:bodyPr wrap="square" anchor="t" lIns="45720" rIns="45720">
            <a:noAutofit/>
          </a:bodyPr>
          <a:lstStyle/>
          <a:p>
            <a:pPr algn="l"/>
            <a:r>
              <a:rPr lang="es-ES" sz="1400" dirty="0">
                <a:solidFill>
                  <a:srgbClr val="0F5499"/>
                </a:solidFill>
              </a:rPr>
              <a:t>Fernando García Varela · Self-learning course · CC BY 4.0 · Examples with fictitious data</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0" name="Marca"/>
          <p:cNvSpPr/>
          <p:nvPr/>
        </p:nvSpPr>
        <p:spPr>
          <a:xfrm>
            <a:off x="609600" y="365760"/>
            <a:ext cx="182880" cy="182880"/>
          </a:xfrm>
          <a:prstGeom prst="rect">
            <a:avLst/>
          </a:prstGeom>
          <a:solidFill>
            <a:srgbClr val="990F3D"/>
          </a:solidFill>
        </p:spPr>
        <p:txBody>
          <a:bodyPr/>
          <a:lstStyle/>
          <a:p/>
        </p:txBody>
      </p:sp>
      <p:sp>
        <p:nvSpPr>
          <p:cNvPr id="11" name="Texto 11"/>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12" name="Texto 12"/>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The problem it solves</a:t>
            </a:r>
          </a:p>
        </p:txBody>
      </p:sp>
      <p:sp>
        <p:nvSpPr>
          <p:cNvPr id="8" name="Texto 8"/>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Many companies have AI pilots that work, but few reach production.</a:t>
            </a:r>
          </a:p>
          <a:p>
            <a:pPr marL="285750" indent="-285750">
              <a:spcAft>
                <a:spcPts val="400"/>
              </a:spcAft>
              <a:buClr>
                <a:srgbClr val="990F3D"/>
              </a:buClr>
              <a:buFont typeface="Arial"/>
              <a:buChar char="•"/>
            </a:pPr>
            <a:r>
              <a:rPr lang="es-ES" sz="1800" dirty="0">
                <a:solidFill>
                  <a:srgbClr val="2F2B28"/>
                </a:solidFill>
              </a:rPr>
              <a:t>Value gets declared ("we freed up 200 hours") and almost nobody checks it.</a:t>
            </a:r>
          </a:p>
          <a:p>
            <a:pPr marL="285750" indent="-285750">
              <a:spcAft>
                <a:spcPts val="400"/>
              </a:spcAft>
              <a:buClr>
                <a:srgbClr val="990F3D"/>
              </a:buClr>
              <a:buFont typeface="Arial"/>
              <a:buChar char="•"/>
            </a:pPr>
            <a:r>
              <a:rPr lang="es-ES" sz="1800" dirty="0">
                <a:solidFill>
                  <a:srgbClr val="2F2B28"/>
                </a:solidFill>
              </a:rPr>
              <a:t>Nobody has clear authority to stop an initiative that is not working.</a:t>
            </a:r>
          </a:p>
          <a:p>
            <a:pPr marL="285750" indent="-285750">
              <a:spcAft>
                <a:spcPts val="400"/>
              </a:spcAft>
              <a:buClr>
                <a:srgbClr val="990F3D"/>
              </a:buClr>
              <a:buFont typeface="Arial"/>
              <a:buChar char="•"/>
            </a:pPr>
            <a:r>
              <a:rPr lang="es-ES" sz="1800" dirty="0">
                <a:solidFill>
                  <a:srgbClr val="2F2B28"/>
                </a:solidFill>
              </a:rPr>
              <a:t>The board asks about AI and gets a list of technical projects, not business decisions.</a:t>
            </a:r>
          </a:p>
          <a:p>
            <a:pPr marL="285750" indent="-285750">
              <a:spcAft>
                <a:spcPts val="400"/>
              </a:spcAft>
              <a:buClr>
                <a:srgbClr val="990F3D"/>
              </a:buClr>
              <a:buFont typeface="Arial"/>
              <a:buChar char="•"/>
            </a:pPr>
            <a:r>
              <a:rPr lang="es-ES" sz="1800" dirty="0">
                <a:solidFill>
                  <a:srgbClr val="2F2B28"/>
                </a:solidFill>
              </a:rPr>
              <a:t>Is the company transforming with AI, or just a bit more efficient? Almost nobody can answer that with evidence.</a:t>
            </a:r>
          </a:p>
        </p:txBody>
      </p:sp>
      <p:sp>
        <p:nvSpPr>
          <p:cNvPr id="9" name="Texto 9"/>
          <p:cNvSpPr txBox="1"/>
          <p:nvPr/>
        </p:nvSpPr>
        <p:spPr>
          <a:xfrm>
            <a:off x="609600" y="6250000"/>
            <a:ext cx="10972800" cy="450000"/>
          </a:xfrm>
          <a:prstGeom prst="rect">
            <a:avLst/>
          </a:prstGeom>
          <a:noFill/>
        </p:spPr>
        <p:txBody>
          <a:bodyPr wrap="square" anchor="t" lIns="45720" rIns="45720">
            <a:noAutofit/>
          </a:bodyPr>
          <a:lstStyle/>
          <a:p>
            <a:pPr algn="l"/>
            <a:r>
              <a:rPr lang="es-ES" sz="1400" b="1" dirty="0">
                <a:solidFill>
                  <a:srgbClr val="0F5499"/>
                </a:solidFill>
              </a:rPr>
              <a:t>This is not a technology problem: it is a governance and measurement problem.</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4" name="Marca"/>
          <p:cNvSpPr/>
          <p:nvPr/>
        </p:nvSpPr>
        <p:spPr>
          <a:xfrm>
            <a:off x="609600" y="365760"/>
            <a:ext cx="182880" cy="182880"/>
          </a:xfrm>
          <a:prstGeom prst="rect">
            <a:avLst/>
          </a:prstGeom>
          <a:solidFill>
            <a:srgbClr val="990F3D"/>
          </a:solidFill>
        </p:spPr>
        <p:txBody>
          <a:bodyPr/>
          <a:lstStyle/>
          <a:p/>
        </p:txBody>
      </p:sp>
      <p:sp>
        <p:nvSpPr>
          <p:cNvPr id="15" name="Texto 1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16" name="Texto 1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What SEVEN-G is and what it delivers</a:t>
            </a:r>
          </a:p>
        </p:txBody>
      </p:sp>
      <p:sp>
        <p:nvSpPr>
          <p:cNvPr id="13" name="Texto 13"/>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Seven-phase Enterprise Value &amp; Governance: an enabling phase 0 and seven value phases, with governance throughout.</a:t>
            </a:r>
          </a:p>
          <a:p>
            <a:pPr marL="285750" indent="-285750">
              <a:spcAft>
                <a:spcPts val="400"/>
              </a:spcAft>
              <a:buClr>
                <a:srgbClr val="990F3D"/>
              </a:buClr>
              <a:buFont typeface="Arial"/>
              <a:buChar char="•"/>
            </a:pPr>
            <a:r>
              <a:rPr lang="es-ES" sz="1800" dirty="0">
                <a:solidFill>
                  <a:srgbClr val="2F2B28"/>
                </a:solidFill>
              </a:rPr>
              <a:t>It organises AI as a portfolio: every initiative has a phase, a cost, expected value and an owner.</a:t>
            </a:r>
          </a:p>
          <a:p>
            <a:pPr marL="285750" indent="-285750">
              <a:spcAft>
                <a:spcPts val="400"/>
              </a:spcAft>
              <a:buClr>
                <a:srgbClr val="990F3D"/>
              </a:buClr>
              <a:buFont typeface="Arial"/>
              <a:buChar char="•"/>
            </a:pPr>
            <a:r>
              <a:rPr lang="es-ES" sz="1800" dirty="0">
                <a:solidFill>
                  <a:srgbClr val="2F2B28"/>
                </a:solidFill>
              </a:rPr>
              <a:t>It places decision gates between phases: no verified evidence, no progress.</a:t>
            </a:r>
          </a:p>
          <a:p>
            <a:pPr marL="285750" indent="-285750">
              <a:spcAft>
                <a:spcPts val="400"/>
              </a:spcAft>
              <a:buClr>
                <a:srgbClr val="990F3D"/>
              </a:buClr>
              <a:buFont typeface="Arial"/>
              <a:buChar char="•"/>
            </a:pPr>
            <a:r>
              <a:rPr lang="es-ES" sz="1800" dirty="0">
                <a:solidFill>
                  <a:srgbClr val="2F2B28"/>
                </a:solidFill>
              </a:rPr>
              <a:t>It separates who decides, who builds and who controls, and turns regulation into phases, roles and evidence.</a:t>
            </a:r>
          </a:p>
          <a:p>
            <a:pPr marL="285750" indent="-285750">
              <a:spcAft>
                <a:spcPts val="400"/>
              </a:spcAft>
              <a:buClr>
                <a:srgbClr val="990F3D"/>
              </a:buClr>
              <a:buFont typeface="Arial"/>
              <a:buChar char="•"/>
            </a:pPr>
            <a:r>
              <a:rPr lang="es-ES" sz="1800" dirty="0">
                <a:solidFill>
                  <a:srgbClr val="2F2B28"/>
                </a:solidFill>
              </a:rPr>
              <a:t>It measures value in money and with a status —validated, declared or estimated— and shows it to the board on a dashboard.</a:t>
            </a:r>
          </a:p>
          <a:p>
            <a:pPr marL="285750" indent="-285750">
              <a:spcAft>
                <a:spcPts val="400"/>
              </a:spcAft>
              <a:buClr>
                <a:srgbClr val="990F3D"/>
              </a:buClr>
              <a:buFont typeface="Arial"/>
              <a:buChar char="•"/>
            </a:pPr>
            <a:r>
              <a:rPr lang="es-ES" sz="1800" dirty="0">
                <a:solidFill>
                  <a:srgbClr val="2F2B28"/>
                </a:solidFill>
              </a:rPr>
              <a:t>It is free and modifiable: documents, Word templates and tools, under an open licence.</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8" name="Marca"/>
          <p:cNvSpPr/>
          <p:nvPr/>
        </p:nvSpPr>
        <p:spPr>
          <a:xfrm>
            <a:off x="609600" y="365760"/>
            <a:ext cx="182880" cy="182880"/>
          </a:xfrm>
          <a:prstGeom prst="rect">
            <a:avLst/>
          </a:prstGeom>
          <a:solidFill>
            <a:srgbClr val="990F3D"/>
          </a:solidFill>
        </p:spPr>
        <p:txBody>
          <a:bodyPr/>
          <a:lstStyle/>
          <a:p/>
        </p:txBody>
      </p:sp>
      <p:sp>
        <p:nvSpPr>
          <p:cNvPr id="19" name="Texto 19"/>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20" name="Texto 20"/>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Two levels: the company and each initiative</a:t>
            </a:r>
          </a:p>
        </p:txBody>
      </p:sp>
      <p:sp>
        <p:nvSpPr>
          <p:cNvPr id="17" name="Texto 17"/>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C1 · Diagnosis: inventory, maturity across seven dimensions and the transformation index.</a:t>
            </a:r>
          </a:p>
          <a:p>
            <a:pPr marL="285750" indent="-285750">
              <a:spcAft>
                <a:spcPts val="400"/>
              </a:spcAft>
              <a:buClr>
                <a:srgbClr val="990F3D"/>
              </a:buClr>
              <a:buFont typeface="Arial"/>
              <a:buChar char="•"/>
            </a:pPr>
            <a:r>
              <a:rPr lang="es-ES" sz="1800" dirty="0">
                <a:solidFill>
                  <a:srgbClr val="2F2B28"/>
                </a:solidFill>
              </a:rPr>
              <a:t>C2 · Direction: the board approves the AI thesis, ambition per sphere and risk appetite.</a:t>
            </a:r>
          </a:p>
          <a:p>
            <a:pPr marL="285750" indent="-285750">
              <a:spcAft>
                <a:spcPts val="400"/>
              </a:spcAft>
              <a:buClr>
                <a:srgbClr val="990F3D"/>
              </a:buClr>
              <a:buFont typeface="Arial"/>
              <a:buChar char="•"/>
            </a:pPr>
            <a:r>
              <a:rPr lang="es-ES" sz="1800" dirty="0">
                <a:solidFill>
                  <a:srgbClr val="2F2B28"/>
                </a:solidFill>
              </a:rPr>
              <a:t>C3 · Portfolio: which initiatives get funded, and in what order.</a:t>
            </a:r>
          </a:p>
          <a:p>
            <a:pPr marL="285750" indent="-285750">
              <a:spcAft>
                <a:spcPts val="400"/>
              </a:spcAft>
              <a:buClr>
                <a:srgbClr val="990F3D"/>
              </a:buClr>
              <a:buFont typeface="Arial"/>
              <a:buChar char="•"/>
            </a:pPr>
            <a:r>
              <a:rPr lang="es-ES" sz="1800" dirty="0">
                <a:solidFill>
                  <a:srgbClr val="2F2B28"/>
                </a:solidFill>
              </a:rPr>
              <a:t>C4 · Oversight: board dashboard and the log of decisions and recommendations.</a:t>
            </a:r>
          </a:p>
          <a:p>
            <a:pPr marL="285750" indent="-285750">
              <a:spcAft>
                <a:spcPts val="400"/>
              </a:spcAft>
              <a:buClr>
                <a:srgbClr val="990F3D"/>
              </a:buClr>
              <a:buFont typeface="Arial"/>
              <a:buChar char="•"/>
            </a:pPr>
            <a:r>
              <a:rPr lang="es-ES" sz="1800" dirty="0">
                <a:solidFill>
                  <a:srgbClr val="2F2B28"/>
                </a:solidFill>
              </a:rPr>
              <a:t>C5 · Annual review: what worked, what did not and what changes.</a:t>
            </a:r>
          </a:p>
          <a:p>
            <a:pPr marL="285750" indent="-285750">
              <a:spcAft>
                <a:spcPts val="400"/>
              </a:spcAft>
              <a:buClr>
                <a:srgbClr val="990F3D"/>
              </a:buClr>
              <a:buFont typeface="Arial"/>
              <a:buChar char="•"/>
            </a:pPr>
            <a:r>
              <a:rPr lang="es-ES" sz="1800" dirty="0">
                <a:solidFill>
                  <a:srgbClr val="2F2B28"/>
                </a:solidFill>
              </a:rPr>
              <a:t>And, inside that portfolio, each initiative goes through its own eight-phase lifecycle.</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42" name="Marca"/>
          <p:cNvSpPr/>
          <p:nvPr/>
        </p:nvSpPr>
        <p:spPr>
          <a:xfrm>
            <a:off x="609600" y="365760"/>
            <a:ext cx="182880" cy="182880"/>
          </a:xfrm>
          <a:prstGeom prst="rect">
            <a:avLst/>
          </a:prstGeom>
          <a:solidFill>
            <a:srgbClr val="990F3D"/>
          </a:solidFill>
        </p:spPr>
        <p:txBody>
          <a:bodyPr/>
          <a:lstStyle/>
          <a:p/>
        </p:txBody>
      </p:sp>
      <p:sp>
        <p:nvSpPr>
          <p:cNvPr id="43" name="Texto 4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44" name="Texto 4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An initiative's lifecycle</a:t>
            </a:r>
          </a:p>
        </p:txBody>
      </p:sp>
      <p:sp>
        <p:nvSpPr>
          <p:cNvPr id="45" name="Texto 45"/>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Eight phases with a decision gate at the end of each; below, the funnel stage where each phase shows up</a:t>
            </a:r>
          </a:p>
        </p:txBody>
      </p:sp>
      <p:sp>
        <p:nvSpPr>
          <p:cNvPr id="21" name="Caja 21"/>
          <p:cNvSpPr/>
          <p:nvPr/>
        </p:nvSpPr>
        <p:spPr>
          <a:xfrm>
            <a:off x="681000" y="2350000"/>
            <a:ext cx="1240000" cy="1500000"/>
          </a:xfrm>
          <a:prstGeom prst="roundRect">
            <a:avLst>
              <a:gd name="adj" fmla="val 6000"/>
            </a:avLst>
          </a:prstGeom>
          <a:solidFill>
            <a:srgbClr val="564D47"/>
          </a:solidFill>
          <a:ln>
            <a:noFill/>
          </a:ln>
        </p:spPr>
        <p:txBody>
          <a:bodyPr wrap="square" anchor="ctr" lIns="45720" rIns="45720">
            <a:noAutofit/>
          </a:bodyPr>
          <a:lstStyle/>
          <a:p>
            <a:pPr algn="ctr"/>
            <a:r>
              <a:rPr lang="es-ES" sz="2400" b="1" dirty="0">
                <a:solidFill>
                  <a:srgbClr val="FFFFFF"/>
                </a:solidFill>
              </a:rPr>
              <a:t>F0</a:t>
            </a:r>
          </a:p>
          <a:p>
            <a:pPr algn="ctr"/>
            <a:r>
              <a:rPr lang="es-ES" sz="1050" dirty="0">
                <a:solidFill>
                  <a:srgbClr val="FFFFFF"/>
                </a:solidFill>
              </a:rPr>
              <a:t>Context and constraints</a:t>
            </a:r>
          </a:p>
        </p:txBody>
      </p:sp>
      <p:sp>
        <p:nvSpPr>
          <p:cNvPr id="22" name="Texto 22"/>
          <p:cNvSpPr txBox="1"/>
          <p:nvPr/>
        </p:nvSpPr>
        <p:spPr>
          <a:xfrm>
            <a:off x="1591000" y="3900000"/>
            <a:ext cx="800000" cy="300000"/>
          </a:xfrm>
          <a:prstGeom prst="rect">
            <a:avLst/>
          </a:prstGeom>
          <a:noFill/>
        </p:spPr>
        <p:txBody>
          <a:bodyPr wrap="square" anchor="t" lIns="45720" rIns="45720">
            <a:noAutofit/>
          </a:bodyPr>
          <a:lstStyle/>
          <a:p>
            <a:pPr algn="ctr"/>
            <a:r>
              <a:rPr lang="es-ES" sz="1200" b="1" dirty="0">
                <a:solidFill>
                  <a:srgbClr val="990F3D"/>
                </a:solidFill>
              </a:rPr>
              <a:t>G0</a:t>
            </a:r>
          </a:p>
        </p:txBody>
      </p:sp>
      <p:sp>
        <p:nvSpPr>
          <p:cNvPr id="23" name="Caja 23"/>
          <p:cNvSpPr/>
          <p:nvPr/>
        </p:nvSpPr>
        <p:spPr>
          <a:xfrm>
            <a:off x="2051000" y="2350000"/>
            <a:ext cx="1240000" cy="1500000"/>
          </a:xfrm>
          <a:prstGeom prst="roundRect">
            <a:avLst>
              <a:gd name="adj" fmla="val 6000"/>
            </a:avLst>
          </a:prstGeom>
          <a:solidFill>
            <a:srgbClr val="0F5499"/>
          </a:solidFill>
          <a:ln>
            <a:noFill/>
          </a:ln>
        </p:spPr>
        <p:txBody>
          <a:bodyPr wrap="square" anchor="ctr" lIns="45720" rIns="45720">
            <a:noAutofit/>
          </a:bodyPr>
          <a:lstStyle/>
          <a:p>
            <a:pPr algn="ctr"/>
            <a:r>
              <a:rPr lang="es-ES" sz="2400" b="1" dirty="0">
                <a:solidFill>
                  <a:srgbClr val="FFFFFF"/>
                </a:solidFill>
              </a:rPr>
              <a:t>F1</a:t>
            </a:r>
          </a:p>
          <a:p>
            <a:pPr algn="ctr"/>
            <a:r>
              <a:rPr lang="es-ES" sz="1050" dirty="0">
                <a:solidFill>
                  <a:srgbClr val="FFFFFF"/>
                </a:solidFill>
              </a:rPr>
              <a:t>Opportunity discovery</a:t>
            </a:r>
          </a:p>
        </p:txBody>
      </p:sp>
      <p:sp>
        <p:nvSpPr>
          <p:cNvPr id="24" name="Texto 24"/>
          <p:cNvSpPr txBox="1"/>
          <p:nvPr/>
        </p:nvSpPr>
        <p:spPr>
          <a:xfrm>
            <a:off x="2961000" y="3900000"/>
            <a:ext cx="800000" cy="300000"/>
          </a:xfrm>
          <a:prstGeom prst="rect">
            <a:avLst/>
          </a:prstGeom>
          <a:noFill/>
        </p:spPr>
        <p:txBody>
          <a:bodyPr wrap="square" anchor="t" lIns="45720" rIns="45720">
            <a:noAutofit/>
          </a:bodyPr>
          <a:lstStyle/>
          <a:p>
            <a:pPr algn="ctr"/>
            <a:r>
              <a:rPr lang="es-ES" sz="1200" b="1" dirty="0">
                <a:solidFill>
                  <a:srgbClr val="990F3D"/>
                </a:solidFill>
              </a:rPr>
              <a:t>G1</a:t>
            </a:r>
          </a:p>
        </p:txBody>
      </p:sp>
      <p:sp>
        <p:nvSpPr>
          <p:cNvPr id="25" name="Caja 25"/>
          <p:cNvSpPr/>
          <p:nvPr/>
        </p:nvSpPr>
        <p:spPr>
          <a:xfrm>
            <a:off x="3421000" y="2350000"/>
            <a:ext cx="1240000" cy="1500000"/>
          </a:xfrm>
          <a:prstGeom prst="roundRect">
            <a:avLst>
              <a:gd name="adj" fmla="val 6000"/>
            </a:avLst>
          </a:prstGeom>
          <a:solidFill>
            <a:srgbClr val="0F5499"/>
          </a:solidFill>
          <a:ln>
            <a:noFill/>
          </a:ln>
        </p:spPr>
        <p:txBody>
          <a:bodyPr wrap="square" anchor="ctr" lIns="45720" rIns="45720">
            <a:noAutofit/>
          </a:bodyPr>
          <a:lstStyle/>
          <a:p>
            <a:pPr algn="ctr"/>
            <a:r>
              <a:rPr lang="es-ES" sz="2400" b="1" dirty="0">
                <a:solidFill>
                  <a:srgbClr val="FFFFFF"/>
                </a:solidFill>
              </a:rPr>
              <a:t>F2</a:t>
            </a:r>
          </a:p>
          <a:p>
            <a:pPr algn="ctr"/>
            <a:r>
              <a:rPr lang="es-ES" sz="1050" dirty="0">
                <a:solidFill>
                  <a:srgbClr val="FFFFFF"/>
                </a:solidFill>
              </a:rPr>
              <a:t>Value hypothesis</a:t>
            </a:r>
          </a:p>
        </p:txBody>
      </p:sp>
      <p:sp>
        <p:nvSpPr>
          <p:cNvPr id="26" name="Texto 26"/>
          <p:cNvSpPr txBox="1"/>
          <p:nvPr/>
        </p:nvSpPr>
        <p:spPr>
          <a:xfrm>
            <a:off x="4331000" y="3900000"/>
            <a:ext cx="800000" cy="300000"/>
          </a:xfrm>
          <a:prstGeom prst="rect">
            <a:avLst/>
          </a:prstGeom>
          <a:noFill/>
        </p:spPr>
        <p:txBody>
          <a:bodyPr wrap="square" anchor="t" lIns="45720" rIns="45720">
            <a:noAutofit/>
          </a:bodyPr>
          <a:lstStyle/>
          <a:p>
            <a:pPr algn="ctr"/>
            <a:r>
              <a:rPr lang="es-ES" sz="1200" b="1" dirty="0">
                <a:solidFill>
                  <a:srgbClr val="990F3D"/>
                </a:solidFill>
              </a:rPr>
              <a:t>G2</a:t>
            </a:r>
          </a:p>
        </p:txBody>
      </p:sp>
      <p:sp>
        <p:nvSpPr>
          <p:cNvPr id="27" name="Caja 27"/>
          <p:cNvSpPr/>
          <p:nvPr/>
        </p:nvSpPr>
        <p:spPr>
          <a:xfrm>
            <a:off x="4791000" y="2350000"/>
            <a:ext cx="1240000" cy="1500000"/>
          </a:xfrm>
          <a:prstGeom prst="roundRect">
            <a:avLst>
              <a:gd name="adj" fmla="val 6000"/>
            </a:avLst>
          </a:prstGeom>
          <a:solidFill>
            <a:srgbClr val="0F5499"/>
          </a:solidFill>
          <a:ln>
            <a:noFill/>
          </a:ln>
        </p:spPr>
        <p:txBody>
          <a:bodyPr wrap="square" anchor="ctr" lIns="45720" rIns="45720">
            <a:noAutofit/>
          </a:bodyPr>
          <a:lstStyle/>
          <a:p>
            <a:pPr algn="ctr"/>
            <a:r>
              <a:rPr lang="es-ES" sz="2400" b="1" dirty="0">
                <a:solidFill>
                  <a:srgbClr val="FFFFFF"/>
                </a:solidFill>
              </a:rPr>
              <a:t>F3</a:t>
            </a:r>
          </a:p>
          <a:p>
            <a:pPr algn="ctr"/>
            <a:r>
              <a:rPr lang="es-ES" sz="1050" dirty="0">
                <a:solidFill>
                  <a:srgbClr val="FFFFFF"/>
                </a:solidFill>
              </a:rPr>
              <a:t>Feasibility and risk</a:t>
            </a:r>
          </a:p>
        </p:txBody>
      </p:sp>
      <p:sp>
        <p:nvSpPr>
          <p:cNvPr id="28" name="Texto 28"/>
          <p:cNvSpPr txBox="1"/>
          <p:nvPr/>
        </p:nvSpPr>
        <p:spPr>
          <a:xfrm>
            <a:off x="5701000" y="3900000"/>
            <a:ext cx="800000" cy="300000"/>
          </a:xfrm>
          <a:prstGeom prst="rect">
            <a:avLst/>
          </a:prstGeom>
          <a:noFill/>
        </p:spPr>
        <p:txBody>
          <a:bodyPr wrap="square" anchor="t" lIns="45720" rIns="45720">
            <a:noAutofit/>
          </a:bodyPr>
          <a:lstStyle/>
          <a:p>
            <a:pPr algn="ctr"/>
            <a:r>
              <a:rPr lang="es-ES" sz="1200" b="1" dirty="0">
                <a:solidFill>
                  <a:srgbClr val="990F3D"/>
                </a:solidFill>
              </a:rPr>
              <a:t>G3</a:t>
            </a:r>
          </a:p>
        </p:txBody>
      </p:sp>
      <p:sp>
        <p:nvSpPr>
          <p:cNvPr id="29" name="Caja 29"/>
          <p:cNvSpPr/>
          <p:nvPr/>
        </p:nvSpPr>
        <p:spPr>
          <a:xfrm>
            <a:off x="6161000" y="2350000"/>
            <a:ext cx="1240000" cy="1500000"/>
          </a:xfrm>
          <a:prstGeom prst="roundRect">
            <a:avLst>
              <a:gd name="adj" fmla="val 6000"/>
            </a:avLst>
          </a:prstGeom>
          <a:solidFill>
            <a:srgbClr val="593380"/>
          </a:solidFill>
          <a:ln>
            <a:noFill/>
          </a:ln>
        </p:spPr>
        <p:txBody>
          <a:bodyPr wrap="square" anchor="ctr" lIns="45720" rIns="45720">
            <a:noAutofit/>
          </a:bodyPr>
          <a:lstStyle/>
          <a:p>
            <a:pPr algn="ctr"/>
            <a:r>
              <a:rPr lang="es-ES" sz="2400" b="1" dirty="0">
                <a:solidFill>
                  <a:srgbClr val="FFFFFF"/>
                </a:solidFill>
              </a:rPr>
              <a:t>F4</a:t>
            </a:r>
          </a:p>
          <a:p>
            <a:pPr algn="ctr"/>
            <a:r>
              <a:rPr lang="es-ES" sz="1050" dirty="0">
                <a:solidFill>
                  <a:srgbClr val="FFFFFF"/>
                </a:solidFill>
              </a:rPr>
              <a:t>Solution design</a:t>
            </a:r>
          </a:p>
        </p:txBody>
      </p:sp>
      <p:sp>
        <p:nvSpPr>
          <p:cNvPr id="30" name="Texto 30"/>
          <p:cNvSpPr txBox="1"/>
          <p:nvPr/>
        </p:nvSpPr>
        <p:spPr>
          <a:xfrm>
            <a:off x="7071000" y="3900000"/>
            <a:ext cx="800000" cy="300000"/>
          </a:xfrm>
          <a:prstGeom prst="rect">
            <a:avLst/>
          </a:prstGeom>
          <a:noFill/>
        </p:spPr>
        <p:txBody>
          <a:bodyPr wrap="square" anchor="t" lIns="45720" rIns="45720">
            <a:noAutofit/>
          </a:bodyPr>
          <a:lstStyle/>
          <a:p>
            <a:pPr algn="ctr"/>
            <a:r>
              <a:rPr lang="es-ES" sz="1200" b="1" dirty="0">
                <a:solidFill>
                  <a:srgbClr val="990F3D"/>
                </a:solidFill>
              </a:rPr>
              <a:t>G4</a:t>
            </a:r>
          </a:p>
        </p:txBody>
      </p:sp>
      <p:sp>
        <p:nvSpPr>
          <p:cNvPr id="31" name="Caja 31"/>
          <p:cNvSpPr/>
          <p:nvPr/>
        </p:nvSpPr>
        <p:spPr>
          <a:xfrm>
            <a:off x="7531000" y="2350000"/>
            <a:ext cx="1240000" cy="1500000"/>
          </a:xfrm>
          <a:prstGeom prst="roundRect">
            <a:avLst>
              <a:gd name="adj" fmla="val 6000"/>
            </a:avLst>
          </a:prstGeom>
          <a:solidFill>
            <a:srgbClr val="593380"/>
          </a:solidFill>
          <a:ln>
            <a:noFill/>
          </a:ln>
        </p:spPr>
        <p:txBody>
          <a:bodyPr wrap="square" anchor="ctr" lIns="45720" rIns="45720">
            <a:noAutofit/>
          </a:bodyPr>
          <a:lstStyle/>
          <a:p>
            <a:pPr algn="ctr"/>
            <a:r>
              <a:rPr lang="es-ES" sz="2400" b="1" dirty="0">
                <a:solidFill>
                  <a:srgbClr val="FFFFFF"/>
                </a:solidFill>
              </a:rPr>
              <a:t>F5</a:t>
            </a:r>
          </a:p>
          <a:p>
            <a:pPr algn="ctr"/>
            <a:r>
              <a:rPr lang="es-ES" sz="1050" dirty="0">
                <a:solidFill>
                  <a:srgbClr val="FFFFFF"/>
                </a:solidFill>
              </a:rPr>
              <a:t>Delivery and validation</a:t>
            </a:r>
          </a:p>
        </p:txBody>
      </p:sp>
      <p:sp>
        <p:nvSpPr>
          <p:cNvPr id="32" name="Texto 32"/>
          <p:cNvSpPr txBox="1"/>
          <p:nvPr/>
        </p:nvSpPr>
        <p:spPr>
          <a:xfrm>
            <a:off x="8441000" y="3900000"/>
            <a:ext cx="800000" cy="300000"/>
          </a:xfrm>
          <a:prstGeom prst="rect">
            <a:avLst/>
          </a:prstGeom>
          <a:noFill/>
        </p:spPr>
        <p:txBody>
          <a:bodyPr wrap="square" anchor="t" lIns="45720" rIns="45720">
            <a:noAutofit/>
          </a:bodyPr>
          <a:lstStyle/>
          <a:p>
            <a:pPr algn="ctr"/>
            <a:r>
              <a:rPr lang="es-ES" sz="1200" b="1" dirty="0">
                <a:solidFill>
                  <a:srgbClr val="990F3D"/>
                </a:solidFill>
              </a:rPr>
              <a:t>G5</a:t>
            </a:r>
          </a:p>
        </p:txBody>
      </p:sp>
      <p:sp>
        <p:nvSpPr>
          <p:cNvPr id="33" name="Caja 33"/>
          <p:cNvSpPr/>
          <p:nvPr/>
        </p:nvSpPr>
        <p:spPr>
          <a:xfrm>
            <a:off x="890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F6</a:t>
            </a:r>
          </a:p>
          <a:p>
            <a:pPr algn="ctr"/>
            <a:r>
              <a:rPr lang="es-ES" sz="1050" dirty="0">
                <a:solidFill>
                  <a:srgbClr val="FFFFFF"/>
                </a:solidFill>
              </a:rPr>
              <a:t>Operation and governance</a:t>
            </a:r>
          </a:p>
        </p:txBody>
      </p:sp>
      <p:sp>
        <p:nvSpPr>
          <p:cNvPr id="34" name="Texto 34"/>
          <p:cNvSpPr txBox="1"/>
          <p:nvPr/>
        </p:nvSpPr>
        <p:spPr>
          <a:xfrm>
            <a:off x="9811000" y="3900000"/>
            <a:ext cx="800000" cy="300000"/>
          </a:xfrm>
          <a:prstGeom prst="rect">
            <a:avLst/>
          </a:prstGeom>
          <a:noFill/>
        </p:spPr>
        <p:txBody>
          <a:bodyPr wrap="square" anchor="t" lIns="45720" rIns="45720">
            <a:noAutofit/>
          </a:bodyPr>
          <a:lstStyle/>
          <a:p>
            <a:pPr algn="ctr"/>
            <a:r>
              <a:rPr lang="es-ES" sz="1200" b="1" dirty="0">
                <a:solidFill>
                  <a:srgbClr val="990F3D"/>
                </a:solidFill>
              </a:rPr>
              <a:t>R6</a:t>
            </a:r>
          </a:p>
        </p:txBody>
      </p:sp>
      <p:sp>
        <p:nvSpPr>
          <p:cNvPr id="35" name="Caja 35"/>
          <p:cNvSpPr/>
          <p:nvPr/>
        </p:nvSpPr>
        <p:spPr>
          <a:xfrm>
            <a:off x="1027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F7</a:t>
            </a:r>
          </a:p>
          <a:p>
            <a:pPr algn="ctr"/>
            <a:r>
              <a:rPr lang="es-ES" sz="1050" dirty="0">
                <a:solidFill>
                  <a:srgbClr val="FFFFFF"/>
                </a:solidFill>
              </a:rPr>
              <a:t>Evolution or retirement</a:t>
            </a:r>
          </a:p>
        </p:txBody>
      </p:sp>
      <p:sp>
        <p:nvSpPr>
          <p:cNvPr id="36" name="Texto 36"/>
          <p:cNvSpPr txBox="1"/>
          <p:nvPr/>
        </p:nvSpPr>
        <p:spPr>
          <a:xfrm>
            <a:off x="11181000" y="3900000"/>
            <a:ext cx="800000" cy="300000"/>
          </a:xfrm>
          <a:prstGeom prst="rect">
            <a:avLst/>
          </a:prstGeom>
          <a:noFill/>
        </p:spPr>
        <p:txBody>
          <a:bodyPr wrap="square" anchor="t" lIns="45720" rIns="45720">
            <a:noAutofit/>
          </a:bodyPr>
          <a:lstStyle/>
          <a:p>
            <a:pPr algn="ctr"/>
            <a:r>
              <a:rPr lang="es-ES" sz="1200" b="1" dirty="0">
                <a:solidFill>
                  <a:srgbClr val="990F3D"/>
                </a:solidFill>
              </a:rPr>
              <a:t>G7</a:t>
            </a:r>
          </a:p>
        </p:txBody>
      </p:sp>
      <p:sp>
        <p:nvSpPr>
          <p:cNvPr id="37" name="Caja 37"/>
          <p:cNvSpPr/>
          <p:nvPr/>
        </p:nvSpPr>
        <p:spPr>
          <a:xfrm>
            <a:off x="681000" y="4330000"/>
            <a:ext cx="2610000" cy="520000"/>
          </a:xfrm>
          <a:prstGeom prst="roundRect">
            <a:avLst>
              <a:gd name="adj" fmla="val 6000"/>
            </a:avLst>
          </a:prstGeom>
          <a:solidFill>
            <a:srgbClr val="593380"/>
          </a:solidFill>
          <a:ln>
            <a:noFill/>
          </a:ln>
        </p:spPr>
        <p:txBody>
          <a:bodyPr wrap="square" anchor="ctr" lIns="45720" rIns="45720">
            <a:noAutofit/>
          </a:bodyPr>
          <a:lstStyle/>
          <a:p>
            <a:pPr algn="ctr"/>
            <a:r>
              <a:rPr lang="es-ES" sz="1300" b="1" dirty="0">
                <a:solidFill>
                  <a:srgbClr val="FFFFFF"/>
                </a:solidFill>
              </a:rPr>
              <a:t>Proposed</a:t>
            </a:r>
          </a:p>
        </p:txBody>
      </p:sp>
      <p:sp>
        <p:nvSpPr>
          <p:cNvPr id="38" name="Caja 38"/>
          <p:cNvSpPr/>
          <p:nvPr/>
        </p:nvSpPr>
        <p:spPr>
          <a:xfrm>
            <a:off x="3421000" y="4330000"/>
            <a:ext cx="1240000" cy="520000"/>
          </a:xfrm>
          <a:prstGeom prst="roundRect">
            <a:avLst>
              <a:gd name="adj" fmla="val 6000"/>
            </a:avLst>
          </a:prstGeom>
          <a:solidFill>
            <a:srgbClr val="0F5499"/>
          </a:solidFill>
          <a:ln>
            <a:noFill/>
          </a:ln>
        </p:spPr>
        <p:txBody>
          <a:bodyPr wrap="square" anchor="ctr" lIns="45720" rIns="45720">
            <a:noAutofit/>
          </a:bodyPr>
          <a:lstStyle/>
          <a:p>
            <a:pPr algn="ctr"/>
            <a:r>
              <a:rPr lang="es-ES" sz="1300" b="1" dirty="0">
                <a:solidFill>
                  <a:srgbClr val="FFFFFF"/>
                </a:solidFill>
              </a:rPr>
              <a:t>Value hypothesis</a:t>
            </a:r>
          </a:p>
        </p:txBody>
      </p:sp>
      <p:sp>
        <p:nvSpPr>
          <p:cNvPr id="39" name="Caja 39"/>
          <p:cNvSpPr/>
          <p:nvPr/>
        </p:nvSpPr>
        <p:spPr>
          <a:xfrm>
            <a:off x="4791000" y="4330000"/>
            <a:ext cx="1240000" cy="520000"/>
          </a:xfrm>
          <a:prstGeom prst="roundRect">
            <a:avLst>
              <a:gd name="adj" fmla="val 6000"/>
            </a:avLst>
          </a:prstGeom>
          <a:solidFill>
            <a:srgbClr val="A5822A"/>
          </a:solidFill>
          <a:ln>
            <a:noFill/>
          </a:ln>
        </p:spPr>
        <p:txBody>
          <a:bodyPr wrap="square" anchor="ctr" lIns="45720" rIns="45720">
            <a:noAutofit/>
          </a:bodyPr>
          <a:lstStyle/>
          <a:p>
            <a:pPr algn="ctr"/>
            <a:r>
              <a:rPr lang="es-ES" sz="1300" b="1" dirty="0">
                <a:solidFill>
                  <a:srgbClr val="FFFFFF"/>
                </a:solidFill>
              </a:rPr>
              <a:t>Proof of concept</a:t>
            </a:r>
          </a:p>
        </p:txBody>
      </p:sp>
      <p:sp>
        <p:nvSpPr>
          <p:cNvPr id="40" name="Caja 40"/>
          <p:cNvSpPr/>
          <p:nvPr/>
        </p:nvSpPr>
        <p:spPr>
          <a:xfrm>
            <a:off x="6161000" y="4330000"/>
            <a:ext cx="2610000" cy="520000"/>
          </a:xfrm>
          <a:prstGeom prst="roundRect">
            <a:avLst>
              <a:gd name="adj" fmla="val 6000"/>
            </a:avLst>
          </a:prstGeom>
          <a:solidFill>
            <a:srgbClr val="1A1817"/>
          </a:solidFill>
          <a:ln>
            <a:noFill/>
          </a:ln>
        </p:spPr>
        <p:txBody>
          <a:bodyPr wrap="square" anchor="ctr" lIns="45720" rIns="45720">
            <a:noAutofit/>
          </a:bodyPr>
          <a:lstStyle/>
          <a:p>
            <a:pPr algn="ctr"/>
            <a:r>
              <a:rPr lang="es-ES" sz="1300" b="1" dirty="0">
                <a:solidFill>
                  <a:srgbClr val="FFFFFF"/>
                </a:solidFill>
              </a:rPr>
              <a:t>In development</a:t>
            </a:r>
          </a:p>
        </p:txBody>
      </p:sp>
      <p:sp>
        <p:nvSpPr>
          <p:cNvPr id="41" name="Caja 41"/>
          <p:cNvSpPr/>
          <p:nvPr/>
        </p:nvSpPr>
        <p:spPr>
          <a:xfrm>
            <a:off x="8901000" y="4330000"/>
            <a:ext cx="2610000" cy="520000"/>
          </a:xfrm>
          <a:prstGeom prst="roundRect">
            <a:avLst>
              <a:gd name="adj" fmla="val 6000"/>
            </a:avLst>
          </a:prstGeom>
          <a:solidFill>
            <a:srgbClr val="2E7D32"/>
          </a:solidFill>
          <a:ln>
            <a:noFill/>
          </a:ln>
        </p:spPr>
        <p:txBody>
          <a:bodyPr wrap="square" anchor="ctr" lIns="45720" rIns="45720">
            <a:noAutofit/>
          </a:bodyPr>
          <a:lstStyle/>
          <a:p>
            <a:pPr algn="ctr"/>
            <a:r>
              <a:rPr lang="es-ES" sz="1300" b="1" dirty="0">
                <a:solidFill>
                  <a:srgbClr val="FFFFFF"/>
                </a:solidFill>
              </a:rPr>
              <a:t>In use</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62" name="Marca"/>
          <p:cNvSpPr/>
          <p:nvPr/>
        </p:nvSpPr>
        <p:spPr>
          <a:xfrm>
            <a:off x="609600" y="365760"/>
            <a:ext cx="182880" cy="182880"/>
          </a:xfrm>
          <a:prstGeom prst="rect">
            <a:avLst/>
          </a:prstGeom>
          <a:solidFill>
            <a:srgbClr val="990F3D"/>
          </a:solidFill>
        </p:spPr>
        <p:txBody>
          <a:bodyPr/>
          <a:lstStyle/>
          <a:p/>
        </p:txBody>
      </p:sp>
      <p:sp>
        <p:nvSpPr>
          <p:cNvPr id="63" name="Texto 6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64" name="Texto 6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What can happen at each gate</a:t>
            </a:r>
          </a:p>
        </p:txBody>
      </p:sp>
      <p:sp>
        <p:nvSpPr>
          <p:cNvPr id="65" name="Texto 65"/>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Five outcomes; whoever provides the evidence never verifies it or decides</a:t>
            </a:r>
          </a:p>
        </p:txBody>
      </p:sp>
      <p:sp>
        <p:nvSpPr>
          <p:cNvPr id="46" name="Caja 46"/>
          <p:cNvSpPr/>
          <p:nvPr/>
        </p:nvSpPr>
        <p:spPr>
          <a:xfrm>
            <a:off x="609600" y="2050000"/>
            <a:ext cx="2098560" cy="8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Proceed</a:t>
            </a:r>
          </a:p>
        </p:txBody>
      </p:sp>
      <p:sp>
        <p:nvSpPr>
          <p:cNvPr id="47" name="Caja 47"/>
          <p:cNvSpPr/>
          <p:nvPr/>
        </p:nvSpPr>
        <p:spPr>
          <a:xfrm>
            <a:off x="60960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48" name="Texto 48"/>
          <p:cNvSpPr txBox="1"/>
          <p:nvPr/>
        </p:nvSpPr>
        <p:spPr>
          <a:xfrm>
            <a:off x="649600" y="2890000"/>
            <a:ext cx="2018560" cy="2340000"/>
          </a:xfrm>
          <a:prstGeom prst="rect">
            <a:avLst/>
          </a:prstGeom>
          <a:noFill/>
        </p:spPr>
        <p:txBody>
          <a:bodyPr wrap="square" anchor="t" lIns="45720" rIns="45720">
            <a:noAutofit/>
          </a:bodyPr>
          <a:lstStyle/>
          <a:p>
            <a:pPr algn="l"/>
            <a:r>
              <a:rPr lang="es-ES" sz="1300" dirty="0">
                <a:solidFill>
                  <a:srgbClr val="2F2B28"/>
                </a:solidFill>
              </a:rPr>
              <a:t>All criteria are met and the evidence is verified: it moves to the next phase.</a:t>
            </a:r>
          </a:p>
        </p:txBody>
      </p:sp>
      <p:sp>
        <p:nvSpPr>
          <p:cNvPr id="49" name="Caja 49"/>
          <p:cNvSpPr/>
          <p:nvPr/>
        </p:nvSpPr>
        <p:spPr>
          <a:xfrm>
            <a:off x="2828160" y="2050000"/>
            <a:ext cx="2098560" cy="8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With conditions</a:t>
            </a:r>
          </a:p>
        </p:txBody>
      </p:sp>
      <p:sp>
        <p:nvSpPr>
          <p:cNvPr id="50" name="Caja 50"/>
          <p:cNvSpPr/>
          <p:nvPr/>
        </p:nvSpPr>
        <p:spPr>
          <a:xfrm>
            <a:off x="282816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51" name="Texto 51"/>
          <p:cNvSpPr txBox="1"/>
          <p:nvPr/>
        </p:nvSpPr>
        <p:spPr>
          <a:xfrm>
            <a:off x="2868160" y="2890000"/>
            <a:ext cx="2018560" cy="2340000"/>
          </a:xfrm>
          <a:prstGeom prst="rect">
            <a:avLst/>
          </a:prstGeom>
          <a:noFill/>
        </p:spPr>
        <p:txBody>
          <a:bodyPr wrap="square" anchor="t" lIns="45720" rIns="45720">
            <a:noAutofit/>
          </a:bodyPr>
          <a:lstStyle/>
          <a:p>
            <a:pPr algn="l"/>
            <a:r>
              <a:rPr lang="es-ES" sz="1300" dirty="0">
                <a:solidFill>
                  <a:srgbClr val="2F2B28"/>
                </a:solidFill>
              </a:rPr>
              <a:t>It proceeds, with a deadline and owner for what is pending. Never for critical security, legal or human-oversight controls.</a:t>
            </a:r>
          </a:p>
        </p:txBody>
      </p:sp>
      <p:sp>
        <p:nvSpPr>
          <p:cNvPr id="52" name="Caja 52"/>
          <p:cNvSpPr/>
          <p:nvPr/>
        </p:nvSpPr>
        <p:spPr>
          <a:xfrm>
            <a:off x="5046720" y="2050000"/>
            <a:ext cx="2098560" cy="800000"/>
          </a:xfrm>
          <a:prstGeom prst="roundRect">
            <a:avLst>
              <a:gd name="adj" fmla="val 6000"/>
            </a:avLst>
          </a:prstGeom>
          <a:solidFill>
            <a:srgbClr val="A5822A"/>
          </a:solidFill>
          <a:ln>
            <a:noFill/>
          </a:ln>
        </p:spPr>
        <p:txBody>
          <a:bodyPr wrap="square" anchor="ctr" lIns="45720" rIns="45720">
            <a:noAutofit/>
          </a:bodyPr>
          <a:lstStyle/>
          <a:p>
            <a:pPr algn="ctr"/>
            <a:r>
              <a:rPr lang="es-ES" sz="1700" b="1" dirty="0">
                <a:solidFill>
                  <a:srgbClr val="FFFFFF"/>
                </a:solidFill>
              </a:rPr>
              <a:t>Iterate</a:t>
            </a:r>
          </a:p>
        </p:txBody>
      </p:sp>
      <p:sp>
        <p:nvSpPr>
          <p:cNvPr id="53" name="Caja 53"/>
          <p:cNvSpPr/>
          <p:nvPr/>
        </p:nvSpPr>
        <p:spPr>
          <a:xfrm>
            <a:off x="504672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54" name="Texto 54"/>
          <p:cNvSpPr txBox="1"/>
          <p:nvPr/>
        </p:nvSpPr>
        <p:spPr>
          <a:xfrm>
            <a:off x="5086720" y="2890000"/>
            <a:ext cx="2018560" cy="2340000"/>
          </a:xfrm>
          <a:prstGeom prst="rect">
            <a:avLst/>
          </a:prstGeom>
          <a:noFill/>
        </p:spPr>
        <p:txBody>
          <a:bodyPr wrap="square" anchor="t" lIns="45720" rIns="45720">
            <a:noAutofit/>
          </a:bodyPr>
          <a:lstStyle/>
          <a:p>
            <a:pPr algn="l"/>
            <a:r>
              <a:rPr lang="es-ES" sz="1300" dirty="0">
                <a:solidFill>
                  <a:srgbClr val="2F2B28"/>
                </a:solidFill>
              </a:rPr>
              <a:t>The phase repeats with a specific adjustment and returns to the same gate. The third time, the higher body decides.</a:t>
            </a:r>
          </a:p>
        </p:txBody>
      </p:sp>
      <p:sp>
        <p:nvSpPr>
          <p:cNvPr id="55" name="Caja 55"/>
          <p:cNvSpPr/>
          <p:nvPr/>
        </p:nvSpPr>
        <p:spPr>
          <a:xfrm>
            <a:off x="7265280" y="2050000"/>
            <a:ext cx="2098560" cy="8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Pivot</a:t>
            </a:r>
          </a:p>
        </p:txBody>
      </p:sp>
      <p:sp>
        <p:nvSpPr>
          <p:cNvPr id="56" name="Caja 56"/>
          <p:cNvSpPr/>
          <p:nvPr/>
        </p:nvSpPr>
        <p:spPr>
          <a:xfrm>
            <a:off x="726528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57" name="Texto 57"/>
          <p:cNvSpPr txBox="1"/>
          <p:nvPr/>
        </p:nvSpPr>
        <p:spPr>
          <a:xfrm>
            <a:off x="7305280" y="2890000"/>
            <a:ext cx="2018560" cy="2340000"/>
          </a:xfrm>
          <a:prstGeom prst="rect">
            <a:avLst/>
          </a:prstGeom>
          <a:noFill/>
        </p:spPr>
        <p:txBody>
          <a:bodyPr wrap="square" anchor="t" lIns="45720" rIns="45720">
            <a:noAutofit/>
          </a:bodyPr>
          <a:lstStyle/>
          <a:p>
            <a:pPr algn="l"/>
            <a:r>
              <a:rPr lang="es-ES" sz="1300" dirty="0">
                <a:solidFill>
                  <a:srgbClr val="2F2B28"/>
                </a:solidFill>
              </a:rPr>
              <a:t>The hypothesis does not hold but another reasonable one exists: back to phase 2. Only at G1, G2 and G3.</a:t>
            </a:r>
          </a:p>
        </p:txBody>
      </p:sp>
      <p:sp>
        <p:nvSpPr>
          <p:cNvPr id="58" name="Caja 58"/>
          <p:cNvSpPr/>
          <p:nvPr/>
        </p:nvSpPr>
        <p:spPr>
          <a:xfrm>
            <a:off x="9483840" y="2050000"/>
            <a:ext cx="2098560" cy="800000"/>
          </a:xfrm>
          <a:prstGeom prst="roundRect">
            <a:avLst>
              <a:gd name="adj" fmla="val 6000"/>
            </a:avLst>
          </a:prstGeom>
          <a:solidFill>
            <a:srgbClr val="990F3D"/>
          </a:solidFill>
          <a:ln>
            <a:noFill/>
          </a:ln>
        </p:spPr>
        <p:txBody>
          <a:bodyPr wrap="square" anchor="ctr" lIns="45720" rIns="45720">
            <a:noAutofit/>
          </a:bodyPr>
          <a:lstStyle/>
          <a:p>
            <a:pPr algn="ctr"/>
            <a:r>
              <a:rPr lang="es-ES" sz="1700" b="1" dirty="0">
                <a:solidFill>
                  <a:srgbClr val="FFFFFF"/>
                </a:solidFill>
              </a:rPr>
              <a:t>Stop</a:t>
            </a:r>
          </a:p>
        </p:txBody>
      </p:sp>
      <p:sp>
        <p:nvSpPr>
          <p:cNvPr id="59" name="Caja 59"/>
          <p:cNvSpPr/>
          <p:nvPr/>
        </p:nvSpPr>
        <p:spPr>
          <a:xfrm>
            <a:off x="948384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60" name="Texto 60"/>
          <p:cNvSpPr txBox="1"/>
          <p:nvPr/>
        </p:nvSpPr>
        <p:spPr>
          <a:xfrm>
            <a:off x="9523840" y="2890000"/>
            <a:ext cx="2018560" cy="2340000"/>
          </a:xfrm>
          <a:prstGeom prst="rect">
            <a:avLst/>
          </a:prstGeom>
          <a:noFill/>
        </p:spPr>
        <p:txBody>
          <a:bodyPr wrap="square" anchor="t" lIns="45720" rIns="45720">
            <a:noAutofit/>
          </a:bodyPr>
          <a:lstStyle/>
          <a:p>
            <a:pPr algn="l"/>
            <a:r>
              <a:rPr lang="es-ES" sz="1300" dirty="0">
                <a:solidFill>
                  <a:srgbClr val="2F2B28"/>
                </a:solidFill>
              </a:rPr>
              <a:t>No plausible value, or unacceptable risk. The reason and lessons are recorded. It is a good outcome.</a:t>
            </a:r>
          </a:p>
        </p:txBody>
      </p:sp>
      <p:sp>
        <p:nvSpPr>
          <p:cNvPr id="61" name="Texto 61"/>
          <p:cNvSpPr txBox="1"/>
          <p:nvPr/>
        </p:nvSpPr>
        <p:spPr>
          <a:xfrm>
            <a:off x="609600" y="6150000"/>
            <a:ext cx="10972800" cy="500000"/>
          </a:xfrm>
          <a:prstGeom prst="rect">
            <a:avLst/>
          </a:prstGeom>
          <a:noFill/>
        </p:spPr>
        <p:txBody>
          <a:bodyPr wrap="square" anchor="t" lIns="45720" rIns="45720">
            <a:noAutofit/>
          </a:bodyPr>
          <a:lstStyle/>
          <a:p>
            <a:pPr algn="l"/>
            <a:r>
              <a:rPr lang="es-ES" sz="1400" b="1" dirty="0">
                <a:solidFill>
                  <a:srgbClr val="0F5499"/>
                </a:solidFill>
              </a:rPr>
              <a:t>At G7 the outcomes are Scale, Iterate or Retire.</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817"/>
        </a:solidFill>
        <a:effectLst/>
      </p:bgPr>
    </p:bg>
    <p:spTree>
      <p:nvGrpSpPr>
        <p:cNvPr id="1" name=""/>
        <p:cNvGrpSpPr/>
        <p:nvPr/>
      </p:nvGrpSpPr>
      <p:grpSpPr>
        <a:xfrm>
          <a:off x="0" y="0"/>
          <a:ext cx="0" cy="0"/>
          <a:chOff x="0" y="0"/>
          <a:chExt cx="0" cy="0"/>
        </a:xfrm>
      </p:grpSpPr>
      <p:sp>
        <p:nvSpPr>
          <p:cNvPr id="66" name="Marca"/>
          <p:cNvSpPr/>
          <p:nvPr/>
        </p:nvSpPr>
        <p:spPr>
          <a:xfrm>
            <a:off x="609600" y="2400000"/>
            <a:ext cx="182880" cy="182880"/>
          </a:xfrm>
          <a:prstGeom prst="rect">
            <a:avLst/>
          </a:prstGeom>
          <a:solidFill>
            <a:srgbClr val="990F3D"/>
          </a:solidFill>
        </p:spPr>
        <p:txBody>
          <a:bodyPr/>
          <a:lstStyle/>
          <a:p/>
        </p:txBody>
      </p:sp>
      <p:sp>
        <p:nvSpPr>
          <p:cNvPr id="67" name="Texto 67"/>
          <p:cNvSpPr txBox="1"/>
          <p:nvPr/>
        </p:nvSpPr>
        <p:spPr>
          <a:xfrm>
            <a:off x="838200" y="2320000"/>
            <a:ext cx="9000000" cy="400000"/>
          </a:xfrm>
          <a:prstGeom prst="rect">
            <a:avLst/>
          </a:prstGeom>
          <a:noFill/>
        </p:spPr>
        <p:txBody>
          <a:bodyPr wrap="square" anchor="t" lIns="45720" rIns="45720">
            <a:noAutofit/>
          </a:bodyPr>
          <a:lstStyle/>
          <a:p>
            <a:pPr algn="l"/>
            <a:r>
              <a:rPr lang="es-ES" sz="1600" b="1" dirty="0">
                <a:solidFill>
                  <a:srgbClr val="F3CFB2"/>
                </a:solidFill>
              </a:rPr>
              <a:t>FROM DOCUMENT TO DASHBOARD</a:t>
            </a:r>
          </a:p>
        </p:txBody>
      </p:sp>
      <p:sp>
        <p:nvSpPr>
          <p:cNvPr id="68" name="Texto 68"/>
          <p:cNvSpPr txBox="1"/>
          <p:nvPr/>
        </p:nvSpPr>
        <p:spPr>
          <a:xfrm>
            <a:off x="609600" y="2850000"/>
            <a:ext cx="10972800" cy="1400000"/>
          </a:xfrm>
          <a:prstGeom prst="rect">
            <a:avLst/>
          </a:prstGeom>
          <a:noFill/>
        </p:spPr>
        <p:txBody>
          <a:bodyPr wrap="square" anchor="t" lIns="45720" rIns="45720">
            <a:noAutofit/>
          </a:bodyPr>
          <a:lstStyle/>
          <a:p>
            <a:pPr algn="l"/>
            <a:r>
              <a:rPr lang="es-ES" sz="4000" b="1" dirty="0">
                <a:solidFill>
                  <a:srgbClr val="FBE2CD"/>
                </a:solidFill>
              </a:rPr>
              <a:t>How the funnel gets filled</a:t>
            </a:r>
          </a:p>
        </p:txBody>
      </p:sp>
      <p:sp>
        <p:nvSpPr>
          <p:cNvPr id="69" name="Texto 69"/>
          <p:cNvSpPr txBox="1"/>
          <p:nvPr/>
        </p:nvSpPr>
        <p:spPr>
          <a:xfrm>
            <a:off x="609600" y="4400000"/>
            <a:ext cx="10500000" cy="900000"/>
          </a:xfrm>
          <a:prstGeom prst="rect">
            <a:avLst/>
          </a:prstGeom>
          <a:noFill/>
        </p:spPr>
        <p:txBody>
          <a:bodyPr wrap="square" anchor="t" lIns="45720" rIns="45720">
            <a:noAutofit/>
          </a:bodyPr>
          <a:lstStyle/>
          <a:p>
            <a:pPr algn="l"/>
            <a:r>
              <a:rPr lang="es-ES" sz="1700" dirty="0">
                <a:solidFill>
                  <a:srgbClr val="F3CFB2"/>
                </a:solidFill>
              </a:rPr>
              <a:t>Nobody draws the funnel or the dashboard: they come out of what is filled in and decided at each phase. This is the path.</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87" name="Marca"/>
          <p:cNvSpPr/>
          <p:nvPr/>
        </p:nvSpPr>
        <p:spPr>
          <a:xfrm>
            <a:off x="609600" y="365760"/>
            <a:ext cx="182880" cy="182880"/>
          </a:xfrm>
          <a:prstGeom prst="rect">
            <a:avLst/>
          </a:prstGeom>
          <a:solidFill>
            <a:srgbClr val="990F3D"/>
          </a:solidFill>
        </p:spPr>
        <p:txBody>
          <a:bodyPr/>
          <a:lstStyle/>
          <a:p/>
        </p:txBody>
      </p:sp>
      <p:sp>
        <p:nvSpPr>
          <p:cNvPr id="88" name="Texto 88"/>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89" name="Texto 89"/>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Phases 0 to 3: from idea to proof of concept</a:t>
            </a:r>
          </a:p>
        </p:txBody>
      </p:sp>
      <p:sp>
        <p:nvSpPr>
          <p:cNvPr id="90" name="Texto 90"/>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What is done, which templates are filled in and which gate closes each phase</a:t>
            </a:r>
          </a:p>
        </p:txBody>
      </p:sp>
      <p:sp>
        <p:nvSpPr>
          <p:cNvPr id="70" name="Caja 70"/>
          <p:cNvSpPr/>
          <p:nvPr/>
        </p:nvSpPr>
        <p:spPr>
          <a:xfrm>
            <a:off x="609600" y="1900000"/>
            <a:ext cx="2645700" cy="700000"/>
          </a:xfrm>
          <a:prstGeom prst="roundRect">
            <a:avLst>
              <a:gd name="adj" fmla="val 6000"/>
            </a:avLst>
          </a:prstGeom>
          <a:solidFill>
            <a:srgbClr val="564D47"/>
          </a:solidFill>
          <a:ln>
            <a:noFill/>
          </a:ln>
        </p:spPr>
        <p:txBody>
          <a:bodyPr wrap="square" anchor="ctr" lIns="45720" rIns="45720">
            <a:noAutofit/>
          </a:bodyPr>
          <a:lstStyle/>
          <a:p>
            <a:pPr algn="ctr"/>
            <a:r>
              <a:rPr lang="es-ES" sz="1700" b="1" dirty="0">
                <a:solidFill>
                  <a:srgbClr val="FFFFFF"/>
                </a:solidFill>
              </a:rPr>
              <a:t>F0</a:t>
            </a:r>
          </a:p>
          <a:p>
            <a:pPr algn="ctr"/>
            <a:r>
              <a:rPr lang="es-ES" sz="1150" dirty="0">
                <a:solidFill>
                  <a:srgbClr val="FFFFFF"/>
                </a:solidFill>
              </a:rPr>
              <a:t>Context and constraints</a:t>
            </a:r>
          </a:p>
        </p:txBody>
      </p:sp>
      <p:sp>
        <p:nvSpPr>
          <p:cNvPr id="71" name="Caja 71"/>
          <p:cNvSpPr/>
          <p:nvPr/>
        </p:nvSpPr>
        <p:spPr>
          <a:xfrm>
            <a:off x="6096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72" name="Texto 72"/>
          <p:cNvSpPr txBox="1"/>
          <p:nvPr/>
        </p:nvSpPr>
        <p:spPr>
          <a:xfrm>
            <a:off x="6496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The idea is authorised: sponsor, owner, scope, constraints and intensity (Lite or Enterprise).</a:t>
            </a:r>
          </a:p>
          <a:p>
            <a:pPr algn="l">
              <a:spcAft>
                <a:spcPts val="500"/>
              </a:spcAft>
            </a:pPr>
            <a:r>
              <a:rPr lang="es-ES" sz="1150" b="1" dirty="0">
                <a:solidFill>
                  <a:srgbClr val="1A1817"/>
                </a:solidFill>
              </a:rPr>
              <a:t>Filled in. </a:t>
            </a:r>
            <a:r>
              <a:rPr lang="es-ES" sz="1150" dirty="0">
                <a:solidFill>
                  <a:srgbClr val="2F2B28"/>
                </a:solidFill>
              </a:rPr>
              <a:t>P01 Initiative charter · P02 Context and constraints · P03 Roles · P04 Intensity · P05 Inventory entry.</a:t>
            </a:r>
          </a:p>
        </p:txBody>
      </p:sp>
      <p:sp>
        <p:nvSpPr>
          <p:cNvPr id="73" name="Caja 73"/>
          <p:cNvSpPr/>
          <p:nvPr/>
        </p:nvSpPr>
        <p:spPr>
          <a:xfrm>
            <a:off x="6096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G0 → enters "Proposed"</a:t>
            </a:r>
          </a:p>
        </p:txBody>
      </p:sp>
      <p:sp>
        <p:nvSpPr>
          <p:cNvPr id="74" name="Caja 74"/>
          <p:cNvSpPr/>
          <p:nvPr/>
        </p:nvSpPr>
        <p:spPr>
          <a:xfrm>
            <a:off x="3385300" y="1900000"/>
            <a:ext cx="2645700" cy="7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F1</a:t>
            </a:r>
          </a:p>
          <a:p>
            <a:pPr algn="ctr"/>
            <a:r>
              <a:rPr lang="es-ES" sz="1150" dirty="0">
                <a:solidFill>
                  <a:srgbClr val="FFFFFF"/>
                </a:solidFill>
              </a:rPr>
              <a:t>Discovery</a:t>
            </a:r>
          </a:p>
        </p:txBody>
      </p:sp>
      <p:sp>
        <p:nvSpPr>
          <p:cNvPr id="75" name="Caja 75"/>
          <p:cNvSpPr/>
          <p:nvPr/>
        </p:nvSpPr>
        <p:spPr>
          <a:xfrm>
            <a:off x="33853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76" name="Texto 76"/>
          <p:cNvSpPr txBox="1"/>
          <p:nvPr/>
        </p:nvSpPr>
        <p:spPr>
          <a:xfrm>
            <a:off x="34253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Opportunities are compared, including non-AI alternatives, and a sphere and ambition level are proposed.</a:t>
            </a:r>
          </a:p>
          <a:p>
            <a:pPr algn="l">
              <a:spcAft>
                <a:spcPts val="500"/>
              </a:spcAft>
            </a:pPr>
            <a:r>
              <a:rPr lang="es-ES" sz="1150" b="1" dirty="0">
                <a:solidFill>
                  <a:srgbClr val="1A1817"/>
                </a:solidFill>
              </a:rPr>
              <a:t>Filled in. </a:t>
            </a:r>
            <a:r>
              <a:rPr lang="es-ES" sz="1150" dirty="0">
                <a:solidFill>
                  <a:srgbClr val="2F2B28"/>
                </a:solidFill>
              </a:rPr>
              <a:t>P06 Opportunity portfolio and screening · P07 Sphere and ambition · P31 Use case sheet.</a:t>
            </a:r>
          </a:p>
        </p:txBody>
      </p:sp>
      <p:sp>
        <p:nvSpPr>
          <p:cNvPr id="77" name="Caja 77"/>
          <p:cNvSpPr/>
          <p:nvPr/>
        </p:nvSpPr>
        <p:spPr>
          <a:xfrm>
            <a:off x="33853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G1 → stays in "Proposed"</a:t>
            </a:r>
          </a:p>
        </p:txBody>
      </p:sp>
      <p:sp>
        <p:nvSpPr>
          <p:cNvPr id="78" name="Caja 78"/>
          <p:cNvSpPr/>
          <p:nvPr/>
        </p:nvSpPr>
        <p:spPr>
          <a:xfrm>
            <a:off x="6161000" y="1900000"/>
            <a:ext cx="2645700" cy="7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F2</a:t>
            </a:r>
          </a:p>
          <a:p>
            <a:pPr algn="ctr"/>
            <a:r>
              <a:rPr lang="es-ES" sz="1150" dirty="0">
                <a:solidFill>
                  <a:srgbClr val="FFFFFF"/>
                </a:solidFill>
              </a:rPr>
              <a:t>Value hypothesis</a:t>
            </a:r>
          </a:p>
        </p:txBody>
      </p:sp>
      <p:sp>
        <p:nvSpPr>
          <p:cNvPr id="79" name="Caja 79"/>
          <p:cNvSpPr/>
          <p:nvPr/>
        </p:nvSpPr>
        <p:spPr>
          <a:xfrm>
            <a:off x="61610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80" name="Texto 80"/>
          <p:cNvSpPr txBox="1"/>
          <p:nvPr/>
        </p:nvSpPr>
        <p:spPr>
          <a:xfrm>
            <a:off x="62010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A falsifiable hypothesis in money, with baseline, attribution method and stop criteria set in advance.</a:t>
            </a:r>
          </a:p>
          <a:p>
            <a:pPr algn="l">
              <a:spcAft>
                <a:spcPts val="500"/>
              </a:spcAft>
            </a:pPr>
            <a:r>
              <a:rPr lang="es-ES" sz="1150" b="1" dirty="0">
                <a:solidFill>
                  <a:srgbClr val="1A1817"/>
                </a:solidFill>
              </a:rPr>
              <a:t>Filled in. </a:t>
            </a:r>
            <a:r>
              <a:rPr lang="es-ES" sz="1150" dirty="0">
                <a:solidFill>
                  <a:srgbClr val="2F2B28"/>
                </a:solidFill>
              </a:rPr>
              <a:t>P08 Value hypothesis canvas · P09 Baseline. Support: T11 calculator.</a:t>
            </a:r>
          </a:p>
        </p:txBody>
      </p:sp>
      <p:sp>
        <p:nvSpPr>
          <p:cNvPr id="81" name="Caja 81"/>
          <p:cNvSpPr/>
          <p:nvPr/>
        </p:nvSpPr>
        <p:spPr>
          <a:xfrm>
            <a:off x="61610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G2 → "Value hypothesis"</a:t>
            </a:r>
          </a:p>
        </p:txBody>
      </p:sp>
      <p:sp>
        <p:nvSpPr>
          <p:cNvPr id="82" name="Caja 82"/>
          <p:cNvSpPr/>
          <p:nvPr/>
        </p:nvSpPr>
        <p:spPr>
          <a:xfrm>
            <a:off x="8936700" y="1900000"/>
            <a:ext cx="2645700" cy="7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F3</a:t>
            </a:r>
          </a:p>
          <a:p>
            <a:pPr algn="ctr"/>
            <a:r>
              <a:rPr lang="es-ES" sz="1150" dirty="0">
                <a:solidFill>
                  <a:srgbClr val="FFFFFF"/>
                </a:solidFill>
              </a:rPr>
              <a:t>Feasibility and risk</a:t>
            </a:r>
          </a:p>
        </p:txBody>
      </p:sp>
      <p:sp>
        <p:nvSpPr>
          <p:cNvPr id="83" name="Caja 83"/>
          <p:cNvSpPr/>
          <p:nvPr/>
        </p:nvSpPr>
        <p:spPr>
          <a:xfrm>
            <a:off x="89367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84" name="Texto 84"/>
          <p:cNvSpPr txBox="1"/>
          <p:nvPr/>
        </p:nvSpPr>
        <p:spPr>
          <a:xfrm>
            <a:off x="89767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Proof of concept: feasibility, regulatory classification, risks and suppliers. It is the main stop gate.</a:t>
            </a:r>
          </a:p>
          <a:p>
            <a:pPr algn="l">
              <a:spcAft>
                <a:spcPts val="500"/>
              </a:spcAft>
            </a:pPr>
            <a:r>
              <a:rPr lang="es-ES" sz="1150" b="1" dirty="0">
                <a:solidFill>
                  <a:srgbClr val="1A1817"/>
                </a:solidFill>
              </a:rPr>
              <a:t>Filled in. </a:t>
            </a:r>
            <a:r>
              <a:rPr lang="es-ES" sz="1150" dirty="0">
                <a:solidFill>
                  <a:srgbClr val="2F2B28"/>
                </a:solidFill>
              </a:rPr>
              <a:t>P10 Feasibility · P11 Regulatory classification and impact · P12 Risks · P13 Mitigation · P14 Supplier.</a:t>
            </a:r>
          </a:p>
        </p:txBody>
      </p:sp>
      <p:sp>
        <p:nvSpPr>
          <p:cNvPr id="85" name="Caja 85"/>
          <p:cNvSpPr/>
          <p:nvPr/>
        </p:nvSpPr>
        <p:spPr>
          <a:xfrm>
            <a:off x="89367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G3 → "Proof of concept"</a:t>
            </a:r>
          </a:p>
        </p:txBody>
      </p:sp>
      <p:sp>
        <p:nvSpPr>
          <p:cNvPr id="86" name="Texto 86"/>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Every gate decision is recorded in P29 and in the T01 register, with the status of each criterion and its evidence.</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08" name="Marca"/>
          <p:cNvSpPr/>
          <p:nvPr/>
        </p:nvSpPr>
        <p:spPr>
          <a:xfrm>
            <a:off x="609600" y="365760"/>
            <a:ext cx="182880" cy="182880"/>
          </a:xfrm>
          <a:prstGeom prst="rect">
            <a:avLst/>
          </a:prstGeom>
          <a:solidFill>
            <a:srgbClr val="990F3D"/>
          </a:solidFill>
        </p:spPr>
        <p:txBody>
          <a:bodyPr/>
          <a:lstStyle/>
          <a:p/>
        </p:txBody>
      </p:sp>
      <p:sp>
        <p:nvSpPr>
          <p:cNvPr id="109" name="Texto 109"/>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110" name="Texto 110"/>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Phases 4 to 7: from design to production and retirement</a:t>
            </a:r>
          </a:p>
        </p:txBody>
      </p:sp>
      <p:sp>
        <p:nvSpPr>
          <p:cNvPr id="111" name="Texto 111"/>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Go-live does not close the cycle: it opens operation, with periodic reviews</a:t>
            </a:r>
          </a:p>
        </p:txBody>
      </p:sp>
      <p:sp>
        <p:nvSpPr>
          <p:cNvPr id="91" name="Caja 91"/>
          <p:cNvSpPr/>
          <p:nvPr/>
        </p:nvSpPr>
        <p:spPr>
          <a:xfrm>
            <a:off x="609600" y="1900000"/>
            <a:ext cx="2645700" cy="7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F4</a:t>
            </a:r>
          </a:p>
          <a:p>
            <a:pPr algn="ctr"/>
            <a:r>
              <a:rPr lang="es-ES" sz="1150" dirty="0">
                <a:solidFill>
                  <a:srgbClr val="FFFFFF"/>
                </a:solidFill>
              </a:rPr>
              <a:t>Solution design</a:t>
            </a:r>
          </a:p>
        </p:txBody>
      </p:sp>
      <p:sp>
        <p:nvSpPr>
          <p:cNvPr id="92" name="Caja 92"/>
          <p:cNvSpPr/>
          <p:nvPr/>
        </p:nvSpPr>
        <p:spPr>
          <a:xfrm>
            <a:off x="6096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93" name="Texto 93"/>
          <p:cNvSpPr txBox="1"/>
          <p:nvPr/>
        </p:nvSpPr>
        <p:spPr>
          <a:xfrm>
            <a:off x="6496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Before building: architecture, data and model lineage, human oversight, security, rollback and adoption.</a:t>
            </a:r>
          </a:p>
          <a:p>
            <a:pPr algn="l">
              <a:spcAft>
                <a:spcPts val="500"/>
              </a:spcAft>
            </a:pPr>
            <a:r>
              <a:rPr lang="es-ES" sz="1150" b="1" dirty="0">
                <a:solidFill>
                  <a:srgbClr val="1A1817"/>
                </a:solidFill>
              </a:rPr>
              <a:t>Filled in. </a:t>
            </a:r>
            <a:r>
              <a:rPr lang="es-ES" sz="1150" dirty="0">
                <a:solidFill>
                  <a:srgbClr val="2F2B28"/>
                </a:solidFill>
              </a:rPr>
              <a:t>P15 Architecture · P16 Lineage · P17 Human oversight · P18 Security · P19 Rollback · P20 Adoption.</a:t>
            </a:r>
          </a:p>
        </p:txBody>
      </p:sp>
      <p:sp>
        <p:nvSpPr>
          <p:cNvPr id="94" name="Caja 94"/>
          <p:cNvSpPr/>
          <p:nvPr/>
        </p:nvSpPr>
        <p:spPr>
          <a:xfrm>
            <a:off x="6096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G4 → "In development"</a:t>
            </a:r>
          </a:p>
        </p:txBody>
      </p:sp>
      <p:sp>
        <p:nvSpPr>
          <p:cNvPr id="95" name="Caja 95"/>
          <p:cNvSpPr/>
          <p:nvPr/>
        </p:nvSpPr>
        <p:spPr>
          <a:xfrm>
            <a:off x="3385300" y="1900000"/>
            <a:ext cx="2645700" cy="7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F5</a:t>
            </a:r>
          </a:p>
          <a:p>
            <a:pPr algn="ctr"/>
            <a:r>
              <a:rPr lang="es-ES" sz="1150" dirty="0">
                <a:solidFill>
                  <a:srgbClr val="FFFFFF"/>
                </a:solidFill>
              </a:rPr>
              <a:t>Delivery and validation</a:t>
            </a:r>
          </a:p>
        </p:txBody>
      </p:sp>
      <p:sp>
        <p:nvSpPr>
          <p:cNvPr id="96" name="Caja 96"/>
          <p:cNvSpPr/>
          <p:nvPr/>
        </p:nvSpPr>
        <p:spPr>
          <a:xfrm>
            <a:off x="33853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97" name="Texto 97"/>
          <p:cNvSpPr txBox="1"/>
          <p:nvPr/>
        </p:nvSpPr>
        <p:spPr>
          <a:xfrm>
            <a:off x="34253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Build, validate and pilot; the rollback is tested and go-live is signed off.</a:t>
            </a:r>
          </a:p>
          <a:p>
            <a:pPr algn="l">
              <a:spcAft>
                <a:spcPts val="500"/>
              </a:spcAft>
            </a:pPr>
            <a:r>
              <a:rPr lang="es-ES" sz="1150" b="1" dirty="0">
                <a:solidFill>
                  <a:srgbClr val="1A1817"/>
                </a:solidFill>
              </a:rPr>
              <a:t>Filled in. </a:t>
            </a:r>
            <a:r>
              <a:rPr lang="es-ES" sz="1150" dirty="0">
                <a:solidFill>
                  <a:srgbClr val="2F2B28"/>
                </a:solidFill>
              </a:rPr>
              <a:t>P21 Delivery report · P22 Validation and pilot · P23 Go-live sign-off · P12 updated.</a:t>
            </a:r>
          </a:p>
        </p:txBody>
      </p:sp>
      <p:sp>
        <p:nvSpPr>
          <p:cNvPr id="98" name="Caja 98"/>
          <p:cNvSpPr/>
          <p:nvPr/>
        </p:nvSpPr>
        <p:spPr>
          <a:xfrm>
            <a:off x="33853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G5 → moves to "In use"</a:t>
            </a:r>
          </a:p>
        </p:txBody>
      </p:sp>
      <p:sp>
        <p:nvSpPr>
          <p:cNvPr id="99" name="Caja 99"/>
          <p:cNvSpPr/>
          <p:nvPr/>
        </p:nvSpPr>
        <p:spPr>
          <a:xfrm>
            <a:off x="6161000" y="1900000"/>
            <a:ext cx="2645700" cy="7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F6</a:t>
            </a:r>
          </a:p>
          <a:p>
            <a:pPr algn="ctr"/>
            <a:r>
              <a:rPr lang="es-ES" sz="1150" dirty="0">
                <a:solidFill>
                  <a:srgbClr val="FFFFFF"/>
                </a:solidFill>
              </a:rPr>
              <a:t>Operation and governance</a:t>
            </a:r>
          </a:p>
        </p:txBody>
      </p:sp>
      <p:sp>
        <p:nvSpPr>
          <p:cNvPr id="100" name="Caja 100"/>
          <p:cNvSpPr/>
          <p:nvPr/>
        </p:nvSpPr>
        <p:spPr>
          <a:xfrm>
            <a:off x="61610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101" name="Texto 101"/>
          <p:cNvSpPr txBox="1"/>
          <p:nvPr/>
        </p:nvSpPr>
        <p:spPr>
          <a:xfrm>
            <a:off x="62010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Monitoring, incidents, changes and tracking of realised value, with a periodic continuity review.</a:t>
            </a:r>
          </a:p>
          <a:p>
            <a:pPr algn="l">
              <a:spcAft>
                <a:spcPts val="500"/>
              </a:spcAft>
            </a:pPr>
            <a:r>
              <a:rPr lang="es-ES" sz="1150" b="1" dirty="0">
                <a:solidFill>
                  <a:srgbClr val="1A1817"/>
                </a:solidFill>
              </a:rPr>
              <a:t>Filled in. </a:t>
            </a:r>
            <a:r>
              <a:rPr lang="es-ES" sz="1150" dirty="0">
                <a:solidFill>
                  <a:srgbClr val="2F2B28"/>
                </a:solidFill>
              </a:rPr>
              <a:t>P24 Operations manual · P25 Monitoring · P26 and P27 Incidents and changes · P28 Value · P65 R6 pack.</a:t>
            </a:r>
          </a:p>
        </p:txBody>
      </p:sp>
      <p:sp>
        <p:nvSpPr>
          <p:cNvPr id="102" name="Caja 102"/>
          <p:cNvSpPr/>
          <p:nvPr/>
        </p:nvSpPr>
        <p:spPr>
          <a:xfrm>
            <a:off x="61610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R6 → stays "In use" or brings G7 forward</a:t>
            </a:r>
          </a:p>
        </p:txBody>
      </p:sp>
      <p:sp>
        <p:nvSpPr>
          <p:cNvPr id="103" name="Caja 103"/>
          <p:cNvSpPr/>
          <p:nvPr/>
        </p:nvSpPr>
        <p:spPr>
          <a:xfrm>
            <a:off x="8936700" y="1900000"/>
            <a:ext cx="2645700" cy="7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F7</a:t>
            </a:r>
          </a:p>
          <a:p>
            <a:pPr algn="ctr"/>
            <a:r>
              <a:rPr lang="es-ES" sz="1150" dirty="0">
                <a:solidFill>
                  <a:srgbClr val="FFFFFF"/>
                </a:solidFill>
              </a:rPr>
              <a:t>Evolution or retirement</a:t>
            </a:r>
          </a:p>
        </p:txBody>
      </p:sp>
      <p:sp>
        <p:nvSpPr>
          <p:cNvPr id="104" name="Caja 104"/>
          <p:cNvSpPr/>
          <p:nvPr/>
        </p:nvSpPr>
        <p:spPr>
          <a:xfrm>
            <a:off x="89367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105" name="Texto 105"/>
          <p:cNvSpPr txBox="1"/>
          <p:nvPr/>
        </p:nvSpPr>
        <p:spPr>
          <a:xfrm>
            <a:off x="89767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With realised value on the table, the decision is to scale, iterate or retire, and lessons are recorded.</a:t>
            </a:r>
          </a:p>
          <a:p>
            <a:pPr algn="l">
              <a:spcAft>
                <a:spcPts val="500"/>
              </a:spcAft>
            </a:pPr>
            <a:r>
              <a:rPr lang="es-ES" sz="1150" b="1" dirty="0">
                <a:solidFill>
                  <a:srgbClr val="1A1817"/>
                </a:solidFill>
              </a:rPr>
              <a:t>Filled in. </a:t>
            </a:r>
            <a:r>
              <a:rPr lang="es-ES" sz="1150" dirty="0">
                <a:solidFill>
                  <a:srgbClr val="2F2B28"/>
                </a:solidFill>
              </a:rPr>
              <a:t>P28 Value tracking · P30 Scale-or-retire decision, with a retirement plan where applicable.</a:t>
            </a:r>
          </a:p>
        </p:txBody>
      </p:sp>
      <p:sp>
        <p:nvSpPr>
          <p:cNvPr id="106" name="Caja 106"/>
          <p:cNvSpPr/>
          <p:nvPr/>
        </p:nvSpPr>
        <p:spPr>
          <a:xfrm>
            <a:off x="89367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G7 → scale, iterate or "Disengaged"</a:t>
            </a:r>
          </a:p>
        </p:txBody>
      </p:sp>
      <p:sp>
        <p:nvSpPr>
          <p:cNvPr id="107" name="Texto 107"/>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Every gate decision is recorded in P29 and in the T01 register, with the status of each criterion and its evidence.</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14" name="Marca"/>
          <p:cNvSpPr/>
          <p:nvPr/>
        </p:nvSpPr>
        <p:spPr>
          <a:xfrm>
            <a:off x="609600" y="365760"/>
            <a:ext cx="182880" cy="182880"/>
          </a:xfrm>
          <a:prstGeom prst="rect">
            <a:avLst/>
          </a:prstGeom>
          <a:solidFill>
            <a:srgbClr val="990F3D"/>
          </a:solidFill>
        </p:spPr>
        <p:txBody>
          <a:bodyPr/>
          <a:lstStyle/>
          <a:p/>
        </p:txBody>
      </p:sp>
      <p:sp>
        <p:nvSpPr>
          <p:cNvPr id="115" name="Texto 11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116" name="Texto 11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The initiative register (T01): where everything is recorded</a:t>
            </a:r>
          </a:p>
        </p:txBody>
      </p:sp>
      <p:sp>
        <p:nvSpPr>
          <p:cNvPr id="117" name="Texto 117"/>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Each initiative is entered like an opportunity in a CRM; here, the sample register with fictitious data</a:t>
            </a:r>
          </a:p>
        </p:txBody>
      </p:sp>
      <p:pic>
        <p:nvPicPr>
          <p:cNvPr id="112" name="Imagen 112" descr="Funnel view of the T01 initiative register"/>
          <p:cNvPicPr>
            <a:picLocks noChangeAspect="1"/>
          </p:cNvPicPr>
          <p:nvPr/>
        </p:nvPicPr>
        <p:blipFill>
          <a:blip r:embed="rIdImg_registro"/>
          <a:stretch>
            <a:fillRect/>
          </a:stretch>
        </p:blipFill>
        <p:spPr>
          <a:xfrm>
            <a:off x="609600" y="1900000"/>
            <a:ext cx="6211111" cy="4300000"/>
          </a:xfrm>
          <a:prstGeom prst="rect">
            <a:avLst/>
          </a:prstGeom>
          <a:ln w="12700">
            <a:solidFill>
              <a:srgbClr val="C9A78D"/>
            </a:solidFill>
          </a:ln>
        </p:spPr>
      </p:pic>
      <p:sp>
        <p:nvSpPr>
          <p:cNvPr id="113" name="Texto 113"/>
          <p:cNvSpPr txBox="1"/>
          <p:nvPr/>
        </p:nvSpPr>
        <p:spPr>
          <a:xfrm>
            <a:off x="7709600" y="1850000"/>
            <a:ext cx="38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One bar per phase: how many initiatives are in each one now and how much expected value they carry.</a:t>
            </a:r>
          </a:p>
          <a:p>
            <a:pPr marL="285750" indent="-285750">
              <a:spcAft>
                <a:spcPts val="400"/>
              </a:spcAft>
              <a:buClr>
                <a:srgbClr val="990F3D"/>
              </a:buClr>
              <a:buFont typeface="Arial"/>
              <a:buChar char="•"/>
            </a:pPr>
            <a:r>
              <a:rPr lang="es-ES" sz="1300" dirty="0">
                <a:solidFill>
                  <a:srgbClr val="2F2B28"/>
                </a:solidFill>
              </a:rPr>
              <a:t>When a gate is decided, the register stores the date, the outcome, who verified and who decided, and the status of each criterion.</a:t>
            </a:r>
          </a:p>
          <a:p>
            <a:pPr marL="285750" indent="-285750">
              <a:spcAft>
                <a:spcPts val="400"/>
              </a:spcAft>
              <a:buClr>
                <a:srgbClr val="990F3D"/>
              </a:buClr>
              <a:buFont typeface="Arial"/>
              <a:buChar char="•"/>
            </a:pPr>
            <a:r>
              <a:rPr lang="es-ES" sz="1300" dirty="0">
                <a:solidFill>
                  <a:srgbClr val="2F2B28"/>
                </a:solidFill>
              </a:rPr>
              <a:t>From those dates it works out time in phase by itself and flags as "stalled" those beyond the reference time limit.</a:t>
            </a:r>
          </a:p>
          <a:p>
            <a:pPr marL="285750" indent="-285750">
              <a:spcAft>
                <a:spcPts val="400"/>
              </a:spcAft>
              <a:buClr>
                <a:srgbClr val="990F3D"/>
              </a:buClr>
              <a:buFont typeface="Arial"/>
              <a:buChar char="•"/>
            </a:pPr>
            <a:r>
              <a:rPr lang="es-ES" sz="1300" dirty="0">
                <a:solidFill>
                  <a:srgbClr val="2F2B28"/>
                </a:solidFill>
              </a:rPr>
              <a:t>Figures carry a status: validated, declared or estimated. What is unknown stays "no data", never zero.</a:t>
            </a:r>
          </a:p>
          <a:p>
            <a:pPr marL="285750" indent="-285750">
              <a:spcAft>
                <a:spcPts val="400"/>
              </a:spcAft>
              <a:buClr>
                <a:srgbClr val="990F3D"/>
              </a:buClr>
              <a:buFont typeface="Arial"/>
              <a:buChar char="•"/>
            </a:pPr>
            <a:r>
              <a:rPr lang="es-ES" sz="1300" dirty="0">
                <a:solidFill>
                  <a:srgbClr val="2F2B28"/>
                </a:solidFill>
              </a:rPr>
              <a:t>Alerts: pending gates, overdue conditions, risks without an owner.</a:t>
            </a:r>
          </a:p>
          <a:p>
            <a:pPr marL="285750" indent="-285750">
              <a:spcAft>
                <a:spcPts val="400"/>
              </a:spcAft>
              <a:buClr>
                <a:srgbClr val="990F3D"/>
              </a:buClr>
              <a:buFont typeface="Arial"/>
              <a:buChar char="•"/>
            </a:pPr>
            <a:r>
              <a:rPr lang="es-ES" sz="1300" dirty="0">
                <a:solidFill>
                  <a:srgbClr val="2F2B28"/>
                </a:solidFill>
              </a:rPr>
              <a:t>Everything is saved in the company's own JSON file: no server and no data sent to anyone.</a:t>
            </a: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20" name="Marca"/>
          <p:cNvSpPr/>
          <p:nvPr/>
        </p:nvSpPr>
        <p:spPr>
          <a:xfrm>
            <a:off x="609600" y="365760"/>
            <a:ext cx="182880" cy="182880"/>
          </a:xfrm>
          <a:prstGeom prst="rect">
            <a:avLst/>
          </a:prstGeom>
          <a:solidFill>
            <a:srgbClr val="990F3D"/>
          </a:solidFill>
        </p:spPr>
        <p:txBody>
          <a:bodyPr/>
          <a:lstStyle/>
          <a:p/>
        </p:txBody>
      </p:sp>
      <p:sp>
        <p:nvSpPr>
          <p:cNvPr id="121" name="Texto 121"/>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122" name="Texto 122"/>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The portfolio funnel: how to read it</a:t>
            </a:r>
          </a:p>
        </p:txBody>
      </p:sp>
      <p:sp>
        <p:nvSpPr>
          <p:cNvPr id="123" name="Texto 123"/>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The AI portfolio, read as a sales funnel. Illustrative data</a:t>
            </a:r>
          </a:p>
        </p:txBody>
      </p:sp>
      <p:pic>
        <p:nvPicPr>
          <p:cNvPr id="118" name="Imagen 118" descr="Funnel of AI initiatives with its stages, exits and cases in use"/>
          <p:cNvPicPr>
            <a:picLocks noChangeAspect="1"/>
          </p:cNvPicPr>
          <p:nvPr/>
        </p:nvPicPr>
        <p:blipFill>
          <a:blip r:embed="rIdImg_embudo"/>
          <a:stretch>
            <a:fillRect/>
          </a:stretch>
        </p:blipFill>
        <p:spPr>
          <a:xfrm>
            <a:off x="609600" y="1900000"/>
            <a:ext cx="7500000" cy="3692308"/>
          </a:xfrm>
          <a:prstGeom prst="rect">
            <a:avLst/>
          </a:prstGeom>
          <a:ln w="12700">
            <a:solidFill>
              <a:srgbClr val="C9A78D"/>
            </a:solidFill>
          </a:ln>
        </p:spPr>
      </p:pic>
      <p:sp>
        <p:nvSpPr>
          <p:cNvPr id="119" name="Texto 119"/>
          <p:cNvSpPr txBox="1"/>
          <p:nvPr/>
        </p:nvSpPr>
        <p:spPr>
          <a:xfrm>
            <a:off x="8309600" y="1850000"/>
            <a:ext cx="32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Inside the funnel, only what is in progress: 5 proposed, 4 with a value hypothesis, 3 in proof of concept and 4 in development.</a:t>
            </a:r>
          </a:p>
          <a:p>
            <a:pPr marL="285750" indent="-285750">
              <a:spcAft>
                <a:spcPts val="400"/>
              </a:spcAft>
              <a:buClr>
                <a:srgbClr val="990F3D"/>
              </a:buClr>
              <a:buFont typeface="Arial"/>
              <a:buChar char="•"/>
            </a:pPr>
            <a:r>
              <a:rPr lang="es-ES" sz="1300" dirty="0">
                <a:solidFill>
                  <a:srgbClr val="2F2B28"/>
                </a:solidFill>
              </a:rPr>
              <a:t>On the left, how many reached each stage (40 → 31 → 24 → 17) and how long they take. The red triangle warns: proof of concept exceeds its time limit.</a:t>
            </a:r>
          </a:p>
          <a:p>
            <a:pPr marL="285750" indent="-285750">
              <a:spcAft>
                <a:spcPts val="400"/>
              </a:spcAft>
              <a:buClr>
                <a:srgbClr val="990F3D"/>
              </a:buClr>
              <a:buFont typeface="Arial"/>
              <a:buChar char="•"/>
            </a:pPr>
            <a:r>
              <a:rPr lang="es-ES" sz="1300" dirty="0">
                <a:solidFill>
                  <a:srgbClr val="2F2B28"/>
                </a:solidFill>
              </a:rPr>
              <a:t>On the right, those that did not pass each stage and why: no plausible value, hypothesis refuted, unacceptable risk, cost above value.</a:t>
            </a:r>
          </a:p>
          <a:p>
            <a:pPr marL="285750" indent="-285750">
              <a:spcAft>
                <a:spcPts val="400"/>
              </a:spcAft>
              <a:buClr>
                <a:srgbClr val="990F3D"/>
              </a:buClr>
              <a:buFont typeface="Arial"/>
              <a:buChar char="•"/>
            </a:pPr>
            <a:r>
              <a:rPr lang="es-ES" sz="1300" dirty="0">
                <a:solidFill>
                  <a:srgbClr val="2F2B28"/>
                </a:solidFill>
              </a:rPr>
              <a:t>Below, those that made it through: 11 in use, with their value and cost, and 1 disengaged.</a:t>
            </a:r>
          </a:p>
          <a:p>
            <a:pPr marL="285750" indent="-285750">
              <a:spcAft>
                <a:spcPts val="400"/>
              </a:spcAft>
              <a:buClr>
                <a:srgbClr val="990F3D"/>
              </a:buClr>
              <a:buFont typeface="Arial"/>
              <a:buChar char="•"/>
            </a:pPr>
            <a:r>
              <a:rPr lang="es-ES" sz="1300" dirty="0">
                <a:solidFill>
                  <a:srgbClr val="2F2B28"/>
                </a:solidFill>
              </a:rPr>
              <a:t>The goal is not to convert more: stopping an unviable initiative at G3 is a good outcome. 100% conversion would point to soft gates.</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27" name="Marca"/>
          <p:cNvSpPr/>
          <p:nvPr/>
        </p:nvSpPr>
        <p:spPr>
          <a:xfrm>
            <a:off x="609600" y="365760"/>
            <a:ext cx="182880" cy="182880"/>
          </a:xfrm>
          <a:prstGeom prst="rect">
            <a:avLst/>
          </a:prstGeom>
          <a:solidFill>
            <a:srgbClr val="990F3D"/>
          </a:solidFill>
        </p:spPr>
        <p:txBody>
          <a:bodyPr/>
          <a:lstStyle/>
          <a:p/>
        </p:txBody>
      </p:sp>
      <p:sp>
        <p:nvSpPr>
          <p:cNvPr id="128" name="Texto 128"/>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129" name="Texto 129"/>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The board dashboard (T17): how to read it</a:t>
            </a:r>
          </a:p>
        </p:txBody>
      </p:sp>
      <p:sp>
        <p:nvSpPr>
          <p:cNvPr id="130" name="Texto 130"/>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It is generated from the same register, with nothing typed twice. Fictitious data</a:t>
            </a:r>
          </a:p>
        </p:txBody>
      </p:sp>
      <p:pic>
        <p:nvPicPr>
          <p:cNvPr id="124" name="Imagen 124" descr="Board dashboard: portfolio and value cards and the «What holds back scaling» reading"/>
          <p:cNvPicPr>
            <a:picLocks noChangeAspect="1"/>
          </p:cNvPicPr>
          <p:nvPr/>
        </p:nvPicPr>
        <p:blipFill>
          <a:blip r:embed="rIdImg_panel"/>
          <a:stretch>
            <a:fillRect/>
          </a:stretch>
        </p:blipFill>
        <p:spPr>
          <a:xfrm>
            <a:off x="609600" y="1900000"/>
            <a:ext cx="6700000" cy="4243333"/>
          </a:xfrm>
          <a:prstGeom prst="rect">
            <a:avLst/>
          </a:prstGeom>
          <a:ln w="12700">
            <a:solidFill>
              <a:srgbClr val="C9A78D"/>
            </a:solidFill>
          </a:ln>
        </p:spPr>
      </p:pic>
      <p:sp>
        <p:nvSpPr>
          <p:cNvPr id="125" name="Texto 125"/>
          <p:cNvSpPr txBox="1"/>
          <p:nvPr/>
        </p:nvSpPr>
        <p:spPr>
          <a:xfrm>
            <a:off x="7509600" y="1850000"/>
            <a:ext cx="40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At the top, the figures: 15 cases, costs of €2.4M a year, total return of €7.3M and annual net of €4.8M. Each figure can be clicked to open its cases.</a:t>
            </a:r>
          </a:p>
          <a:p>
            <a:pPr marL="285750" indent="-285750">
              <a:spcAft>
                <a:spcPts val="400"/>
              </a:spcAft>
              <a:buClr>
                <a:srgbClr val="990F3D"/>
              </a:buClr>
              <a:buFont typeface="Arial"/>
              <a:buChar char="•"/>
            </a:pPr>
            <a:r>
              <a:rPr lang="es-ES" sz="1300" dirty="0">
                <a:solidFill>
                  <a:srgbClr val="2F2B28"/>
                </a:solidFill>
              </a:rPr>
              <a:t>The yellow card is the one that matters: only 36% of the value is validated by finance. In red: only 3 of 15 cases have all the controls.</a:t>
            </a:r>
          </a:p>
          <a:p>
            <a:pPr marL="285750" indent="-285750">
              <a:spcAft>
                <a:spcPts val="400"/>
              </a:spcAft>
              <a:buClr>
                <a:srgbClr val="990F3D"/>
              </a:buClr>
              <a:buFont typeface="Arial"/>
              <a:buChar char="•"/>
            </a:pPr>
            <a:r>
              <a:rPr lang="es-ES" sz="1300" dirty="0">
                <a:solidFill>
                  <a:srgbClr val="2F2B28"/>
                </a:solidFill>
              </a:rPr>
              <a:t>Below, «What holds back scaling»: the three barriers to start with, with what they block, what to do, who and the value at stake (document 60 §10.4).</a:t>
            </a:r>
          </a:p>
          <a:p>
            <a:pPr marL="285750" indent="-285750">
              <a:spcAft>
                <a:spcPts val="400"/>
              </a:spcAft>
              <a:buClr>
                <a:srgbClr val="990F3D"/>
              </a:buClr>
              <a:buFont typeface="Arial"/>
              <a:buChar char="•"/>
            </a:pPr>
            <a:r>
              <a:rPr lang="es-ES" sz="1300" dirty="0">
                <a:solidFill>
                  <a:srgbClr val="2F2B28"/>
                </a:solidFill>
              </a:rPr>
              <a:t>In the example: first risk and compliance (blocks G5), then unvalidated value (blocks G7 · Scale) and cases that do not move forward.</a:t>
            </a:r>
          </a:p>
          <a:p>
            <a:pPr marL="285750" indent="-285750">
              <a:spcAft>
                <a:spcPts val="400"/>
              </a:spcAft>
              <a:buClr>
                <a:srgbClr val="990F3D"/>
              </a:buClr>
              <a:buFont typeface="Arial"/>
              <a:buChar char="•"/>
            </a:pPr>
            <a:r>
              <a:rPr lang="es-ES" sz="1300" dirty="0">
                <a:solidFill>
                  <a:srgbClr val="2F2B28"/>
                </a:solidFill>
              </a:rPr>
              <a:t>The value at stake ranks, it does not promise: it is declared, not validated.</a:t>
            </a:r>
          </a:p>
        </p:txBody>
      </p:sp>
      <p:sp>
        <p:nvSpPr>
          <p:cNvPr id="126" name="Texto 126"/>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If a figure on the dashboard looks wrong, the dashboard is not touched: the evidence is fixed in the register and it is generated again.</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34" name="Marca"/>
          <p:cNvSpPr/>
          <p:nvPr/>
        </p:nvSpPr>
        <p:spPr>
          <a:xfrm>
            <a:off x="609600" y="365760"/>
            <a:ext cx="182880" cy="182880"/>
          </a:xfrm>
          <a:prstGeom prst="rect">
            <a:avLst/>
          </a:prstGeom>
          <a:solidFill>
            <a:srgbClr val="990F3D"/>
          </a:solidFill>
        </p:spPr>
        <p:txBody>
          <a:bodyPr/>
          <a:lstStyle/>
          <a:p/>
        </p:txBody>
      </p:sp>
      <p:sp>
        <p:nvSpPr>
          <p:cNvPr id="135" name="Texto 13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136" name="Texto 13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Where the impact is: spheres × ambition</a:t>
            </a:r>
          </a:p>
        </p:txBody>
      </p:sp>
      <p:sp>
        <p:nvSpPr>
          <p:cNvPr id="137" name="Texto 137"/>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The portfolio heat map (T16) in the same dashboard. Fictitious data</a:t>
            </a:r>
          </a:p>
        </p:txBody>
      </p:sp>
      <p:pic>
        <p:nvPicPr>
          <p:cNvPr id="131" name="Imagen 131" descr="Heat map of spheres by ambition level with cases, investment, net and gaps"/>
          <p:cNvPicPr>
            <a:picLocks noChangeAspect="1"/>
          </p:cNvPicPr>
          <p:nvPr/>
        </p:nvPicPr>
        <p:blipFill>
          <a:blip r:embed="rIdImg_impacto"/>
          <a:stretch>
            <a:fillRect/>
          </a:stretch>
        </p:blipFill>
        <p:spPr>
          <a:xfrm>
            <a:off x="609600" y="1900000"/>
            <a:ext cx="6700000" cy="4243333"/>
          </a:xfrm>
          <a:prstGeom prst="rect">
            <a:avLst/>
          </a:prstGeom>
          <a:ln w="12700">
            <a:solidFill>
              <a:srgbClr val="C9A78D"/>
            </a:solidFill>
          </a:ln>
        </p:spPr>
      </p:pic>
      <p:sp>
        <p:nvSpPr>
          <p:cNvPr id="132" name="Texto 132"/>
          <p:cNvSpPr txBox="1"/>
          <p:nvPr/>
        </p:nvSpPr>
        <p:spPr>
          <a:xfrm>
            <a:off x="7509600" y="1850000"/>
            <a:ext cx="40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Rows: the areas where AI creates value (customer, product, people, operations, data, knowledge, decision). Columns: optimise, augment, transform.</a:t>
            </a:r>
          </a:p>
          <a:p>
            <a:pPr marL="285750" indent="-285750">
              <a:spcAft>
                <a:spcPts val="400"/>
              </a:spcAft>
              <a:buClr>
                <a:srgbClr val="990F3D"/>
              </a:buClr>
              <a:buFont typeface="Arial"/>
              <a:buChar char="•"/>
            </a:pPr>
            <a:r>
              <a:rPr lang="es-ES" sz="1300" dirty="0">
                <a:solidFill>
                  <a:srgbClr val="2F2B28"/>
                </a:solidFill>
              </a:rPr>
              <a:t>Each cell: cases, investment and cost, annual net and validated value; the colour shows where spending is concentrated.</a:t>
            </a:r>
          </a:p>
          <a:p>
            <a:pPr marL="285750" indent="-285750">
              <a:spcAft>
                <a:spcPts val="400"/>
              </a:spcAft>
              <a:buClr>
                <a:srgbClr val="990F3D"/>
              </a:buClr>
              <a:buFont typeface="Arial"/>
              <a:buChar char="•"/>
            </a:pPr>
            <a:r>
              <a:rPr lang="es-ES" sz="1300" dirty="0">
                <a:solidFill>
                  <a:srgbClr val="2F2B28"/>
                </a:solidFill>
              </a:rPr>
              <a:t>«Gap»: the ambition management approved in C2 for that sphere has no case that has passed G2.</a:t>
            </a:r>
          </a:p>
          <a:p>
            <a:pPr marL="285750" indent="-285750">
              <a:spcAft>
                <a:spcPts val="400"/>
              </a:spcAft>
              <a:buClr>
                <a:srgbClr val="990F3D"/>
              </a:buClr>
              <a:buFont typeface="Arial"/>
              <a:buChar char="•"/>
            </a:pPr>
            <a:r>
              <a:rPr lang="es-ES" sz="1300" dirty="0">
                <a:solidFill>
                  <a:srgbClr val="2F2B28"/>
                </a:solidFill>
              </a:rPr>
              <a:t>In the example: 40% of spending is in Customer, Data has no activity and five spheres have a gap.</a:t>
            </a:r>
          </a:p>
          <a:p>
            <a:pPr marL="285750" indent="-285750">
              <a:spcAft>
                <a:spcPts val="400"/>
              </a:spcAft>
              <a:buClr>
                <a:srgbClr val="990F3D"/>
              </a:buClr>
              <a:buFont typeface="Arial"/>
              <a:buChar char="•"/>
            </a:pPr>
            <a:r>
              <a:rPr lang="es-ES" sz="1300" dirty="0">
                <a:solidFill>
                  <a:srgbClr val="2F2B28"/>
                </a:solidFill>
              </a:rPr>
              <a:t>The target ambition comes from the thesis approved in the register; it is not written in the dashboard.</a:t>
            </a:r>
          </a:p>
        </p:txBody>
      </p:sp>
      <p:sp>
        <p:nvSpPr>
          <p:cNvPr id="133" name="Texto 133"/>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The question it answers: where does AI have most impact in the company and where are we not playing? (document 10 §8)</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817"/>
        </a:solidFill>
        <a:effectLst/>
      </p:bgPr>
    </p:bg>
    <p:spTree>
      <p:nvGrpSpPr>
        <p:cNvPr id="1" name=""/>
        <p:cNvGrpSpPr/>
        <p:nvPr/>
      </p:nvGrpSpPr>
      <p:grpSpPr>
        <a:xfrm>
          <a:off x="0" y="0"/>
          <a:ext cx="0" cy="0"/>
          <a:chOff x="0" y="0"/>
          <a:chExt cx="0" cy="0"/>
        </a:xfrm>
      </p:grpSpPr>
      <p:sp>
        <p:nvSpPr>
          <p:cNvPr id="138" name="Marca"/>
          <p:cNvSpPr/>
          <p:nvPr/>
        </p:nvSpPr>
        <p:spPr>
          <a:xfrm>
            <a:off x="609600" y="2400000"/>
            <a:ext cx="182880" cy="182880"/>
          </a:xfrm>
          <a:prstGeom prst="rect">
            <a:avLst/>
          </a:prstGeom>
          <a:solidFill>
            <a:srgbClr val="990F3D"/>
          </a:solidFill>
        </p:spPr>
        <p:txBody>
          <a:bodyPr/>
          <a:lstStyle/>
          <a:p/>
        </p:txBody>
      </p:sp>
      <p:sp>
        <p:nvSpPr>
          <p:cNvPr id="139" name="Texto 139"/>
          <p:cNvSpPr txBox="1"/>
          <p:nvPr/>
        </p:nvSpPr>
        <p:spPr>
          <a:xfrm>
            <a:off x="838200" y="2320000"/>
            <a:ext cx="9000000" cy="400000"/>
          </a:xfrm>
          <a:prstGeom prst="rect">
            <a:avLst/>
          </a:prstGeom>
          <a:noFill/>
        </p:spPr>
        <p:txBody>
          <a:bodyPr wrap="square" anchor="t" lIns="45720" rIns="45720">
            <a:noAutofit/>
          </a:bodyPr>
          <a:lstStyle/>
          <a:p>
            <a:pPr algn="l"/>
            <a:r>
              <a:rPr lang="es-ES" sz="1600" b="1" dirty="0">
                <a:solidFill>
                  <a:srgbClr val="F3CFB2"/>
                </a:solidFill>
              </a:rPr>
              <a:t>TWO EXAMPLES</a:t>
            </a:r>
          </a:p>
        </p:txBody>
      </p:sp>
      <p:sp>
        <p:nvSpPr>
          <p:cNvPr id="140" name="Texto 140"/>
          <p:cNvSpPr txBox="1"/>
          <p:nvPr/>
        </p:nvSpPr>
        <p:spPr>
          <a:xfrm>
            <a:off x="609600" y="2850000"/>
            <a:ext cx="10972800" cy="1400000"/>
          </a:xfrm>
          <a:prstGeom prst="rect">
            <a:avLst/>
          </a:prstGeom>
          <a:noFill/>
        </p:spPr>
        <p:txBody>
          <a:bodyPr wrap="square" anchor="t" lIns="45720" rIns="45720">
            <a:noAutofit/>
          </a:bodyPr>
          <a:lstStyle/>
          <a:p>
            <a:pPr algn="l"/>
            <a:r>
              <a:rPr lang="es-ES" sz="4000" b="1" dirty="0">
                <a:solidFill>
                  <a:srgbClr val="FBE2CD"/>
                </a:solidFill>
              </a:rPr>
              <a:t>One initiative that stops and one that reaches production</a:t>
            </a:r>
          </a:p>
        </p:txBody>
      </p:sp>
      <p:sp>
        <p:nvSpPr>
          <p:cNvPr id="141" name="Texto 141"/>
          <p:cNvSpPr txBox="1"/>
          <p:nvPr/>
        </p:nvSpPr>
        <p:spPr>
          <a:xfrm>
            <a:off x="609600" y="4400000"/>
            <a:ext cx="10500000" cy="900000"/>
          </a:xfrm>
          <a:prstGeom prst="rect">
            <a:avLst/>
          </a:prstGeom>
          <a:noFill/>
        </p:spPr>
        <p:txBody>
          <a:bodyPr wrap="square" anchor="t" lIns="45720" rIns="45720">
            <a:noAutofit/>
          </a:bodyPr>
          <a:lstStyle/>
          <a:p>
            <a:pPr algn="l"/>
            <a:r>
              <a:rPr lang="es-ES" sz="1700" dirty="0">
                <a:solidFill>
                  <a:srgbClr val="F3CFB2"/>
                </a:solidFill>
              </a:rPr>
              <a:t>Fictitious, illustrative data: they do not describe any real company.</a:t>
            </a: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45" name="Marca"/>
          <p:cNvSpPr/>
          <p:nvPr/>
        </p:nvSpPr>
        <p:spPr>
          <a:xfrm>
            <a:off x="609600" y="365760"/>
            <a:ext cx="182880" cy="182880"/>
          </a:xfrm>
          <a:prstGeom prst="rect">
            <a:avLst/>
          </a:prstGeom>
          <a:solidFill>
            <a:srgbClr val="990F3D"/>
          </a:solidFill>
        </p:spPr>
        <p:txBody>
          <a:bodyPr/>
          <a:lstStyle/>
          <a:p/>
        </p:txBody>
      </p:sp>
      <p:sp>
        <p:nvSpPr>
          <p:cNvPr id="146" name="Texto 146"/>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147" name="Texto 147"/>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Example 1 · When an initiative stops</a:t>
            </a:r>
          </a:p>
        </p:txBody>
      </p:sp>
      <p:sp>
        <p:nvSpPr>
          <p:cNvPr id="142" name="Texto 142"/>
          <p:cNvSpPr txBox="1"/>
          <p:nvPr/>
        </p:nvSpPr>
        <p:spPr>
          <a:xfrm>
            <a:off x="609600" y="1330000"/>
            <a:ext cx="10972800" cy="500000"/>
          </a:xfrm>
          <a:prstGeom prst="rect">
            <a:avLst/>
          </a:prstGeom>
          <a:noFill/>
        </p:spPr>
        <p:txBody>
          <a:bodyPr wrap="square" anchor="t" lIns="45720" rIns="45720">
            <a:noAutofit/>
          </a:bodyPr>
          <a:lstStyle/>
          <a:p>
            <a:pPr algn="l"/>
            <a:r>
              <a:rPr lang="es-ES" sz="1700" b="1" dirty="0">
                <a:solidFill>
                  <a:srgbClr val="2F2B28"/>
                </a:solidFill>
              </a:rPr>
              <a:t>Candidate screening in recruitment (HR)</a:t>
            </a:r>
          </a:p>
        </p:txBody>
      </p:sp>
      <p:sp>
        <p:nvSpPr>
          <p:cNvPr id="143" name="Texto 143"/>
          <p:cNvSpPr txBox="1"/>
          <p:nvPr/>
        </p:nvSpPr>
        <p:spPr>
          <a:xfrm>
            <a:off x="609600" y="1900000"/>
            <a:ext cx="10972800" cy="355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500" dirty="0">
                <a:solidFill>
                  <a:srgbClr val="2F2B28"/>
                </a:solidFill>
              </a:rPr>
              <a:t>Phases 0 and 1: HR sponsors it (P01–P05). Because it decides about people, intensity is Enterprise (P04). It enters "Proposed".</a:t>
            </a:r>
          </a:p>
          <a:p>
            <a:pPr marL="285750" indent="-285750">
              <a:spcAft>
                <a:spcPts val="400"/>
              </a:spcAft>
              <a:buClr>
                <a:srgbClr val="990F3D"/>
              </a:buClr>
              <a:buFont typeface="Arial"/>
              <a:buChar char="•"/>
            </a:pPr>
            <a:r>
              <a:rPr lang="es-ES" sz="1500" dirty="0">
                <a:solidFill>
                  <a:srgbClr val="2F2B28"/>
                </a:solidFill>
              </a:rPr>
              <a:t>Phase 2: the hypothesis (P08) promises 40% less screening time against the baseline (P09). The pilot confirms it: G2, Proceed.</a:t>
            </a:r>
          </a:p>
          <a:p>
            <a:pPr marL="285750" indent="-285750">
              <a:spcAft>
                <a:spcPts val="400"/>
              </a:spcAft>
              <a:buClr>
                <a:srgbClr val="990F3D"/>
              </a:buClr>
              <a:buFont typeface="Arial"/>
              <a:buChar char="•"/>
            </a:pPr>
            <a:r>
              <a:rPr lang="es-ES" sz="1500" dirty="0">
                <a:solidFill>
                  <a:srgbClr val="2F2B28"/>
                </a:solidFill>
              </a:rPr>
              <a:t>Phase 3: the regulatory classification (P11) makes it a high-risk system. The bias test finds it penalises older candidates.</a:t>
            </a:r>
          </a:p>
          <a:p>
            <a:pPr marL="285750" indent="-285750">
              <a:spcAft>
                <a:spcPts val="400"/>
              </a:spcAft>
              <a:buClr>
                <a:srgbClr val="990F3D"/>
              </a:buClr>
              <a:buFont typeface="Arial"/>
              <a:buChar char="•"/>
            </a:pPr>
            <a:r>
              <a:rPr lang="es-ES" sz="1500" dirty="0">
                <a:solidFill>
                  <a:srgbClr val="2F2B28"/>
                </a:solidFill>
              </a:rPr>
              <a:t>It iterates twice, adjusting variables: fixing the bias destroys the predictive power that justified the project.</a:t>
            </a:r>
          </a:p>
          <a:p>
            <a:pPr marL="285750" indent="-285750">
              <a:spcAft>
                <a:spcPts val="400"/>
              </a:spcAft>
              <a:buClr>
                <a:srgbClr val="990F3D"/>
              </a:buClr>
              <a:buFont typeface="Arial"/>
              <a:buChar char="•"/>
            </a:pPr>
            <a:r>
              <a:rPr lang="es-ES" sz="1500" dirty="0">
                <a:solidFill>
                  <a:srgbClr val="2F2B28"/>
                </a:solidFill>
              </a:rPr>
              <a:t>G3: high residual risk with no viable mitigation (P12, P13). The AI committee decides to Stop; it is recorded in P29 with its reason.</a:t>
            </a:r>
          </a:p>
          <a:p>
            <a:pPr marL="285750" indent="-285750">
              <a:spcAft>
                <a:spcPts val="400"/>
              </a:spcAft>
              <a:buClr>
                <a:srgbClr val="990F3D"/>
              </a:buClr>
              <a:buFont typeface="Arial"/>
              <a:buChar char="•"/>
            </a:pPr>
            <a:r>
              <a:rPr lang="es-ES" sz="1500" dirty="0">
                <a:solidFill>
                  <a:srgbClr val="2F2B28"/>
                </a:solidFill>
              </a:rPr>
              <a:t>In the funnel it shows to the right of "Proof of concept": Discarded · unacceptable risk. Lesson: test for bias earlier, in phase 2.</a:t>
            </a:r>
          </a:p>
        </p:txBody>
      </p:sp>
      <p:sp>
        <p:nvSpPr>
          <p:cNvPr id="144" name="Caja 144"/>
          <p:cNvSpPr/>
          <p:nvPr/>
        </p:nvSpPr>
        <p:spPr>
          <a:xfrm>
            <a:off x="609600" y="5600000"/>
            <a:ext cx="10972800" cy="900000"/>
          </a:xfrm>
          <a:prstGeom prst="roundRect">
            <a:avLst>
              <a:gd name="adj" fmla="val 6000"/>
            </a:avLst>
          </a:prstGeom>
          <a:solidFill>
            <a:srgbClr val="990F3D"/>
          </a:solidFill>
          <a:ln>
            <a:noFill/>
          </a:ln>
        </p:spPr>
        <p:txBody>
          <a:bodyPr wrap="square" anchor="ctr" lIns="45720" rIns="45720">
            <a:noAutofit/>
          </a:bodyPr>
          <a:lstStyle/>
          <a:p>
            <a:pPr algn="ctr"/>
            <a:r>
              <a:rPr lang="es-ES" sz="2100" b="1" dirty="0">
                <a:solidFill>
                  <a:srgbClr val="FFFFFF"/>
                </a:solidFill>
              </a:rPr>
              <a:t>STOPPED AT G3 · BUILDING AND RUNNING AN UNVIABLE SYSTEM WAS AVOIDED</a:t>
            </a: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65" name="Marca"/>
          <p:cNvSpPr/>
          <p:nvPr/>
        </p:nvSpPr>
        <p:spPr>
          <a:xfrm>
            <a:off x="609600" y="365760"/>
            <a:ext cx="182880" cy="182880"/>
          </a:xfrm>
          <a:prstGeom prst="rect">
            <a:avLst/>
          </a:prstGeom>
          <a:solidFill>
            <a:srgbClr val="990F3D"/>
          </a:solidFill>
        </p:spPr>
        <p:txBody>
          <a:bodyPr/>
          <a:lstStyle/>
          <a:p/>
        </p:txBody>
      </p:sp>
      <p:sp>
        <p:nvSpPr>
          <p:cNvPr id="166" name="Texto 166"/>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167" name="Texto 167"/>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Initiative 1, on the lifecycle</a:t>
            </a:r>
          </a:p>
        </p:txBody>
      </p:sp>
      <p:sp>
        <p:nvSpPr>
          <p:cNvPr id="168" name="Texto 168"/>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It reached phase 3 and did not pass gate G3</a:t>
            </a:r>
          </a:p>
        </p:txBody>
      </p:sp>
      <p:sp>
        <p:nvSpPr>
          <p:cNvPr id="148" name="Caja 148"/>
          <p:cNvSpPr/>
          <p:nvPr/>
        </p:nvSpPr>
        <p:spPr>
          <a:xfrm>
            <a:off x="68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F0</a:t>
            </a:r>
          </a:p>
          <a:p>
            <a:pPr algn="ctr"/>
            <a:r>
              <a:rPr lang="es-ES" sz="1050" dirty="0">
                <a:solidFill>
                  <a:srgbClr val="FFFFFF"/>
                </a:solidFill>
              </a:rPr>
              <a:t>Context and constraints</a:t>
            </a:r>
          </a:p>
        </p:txBody>
      </p:sp>
      <p:sp>
        <p:nvSpPr>
          <p:cNvPr id="149" name="Texto 149"/>
          <p:cNvSpPr txBox="1"/>
          <p:nvPr/>
        </p:nvSpPr>
        <p:spPr>
          <a:xfrm>
            <a:off x="1591000" y="3900000"/>
            <a:ext cx="800000" cy="300000"/>
          </a:xfrm>
          <a:prstGeom prst="rect">
            <a:avLst/>
          </a:prstGeom>
          <a:noFill/>
        </p:spPr>
        <p:txBody>
          <a:bodyPr wrap="square" anchor="t" lIns="45720" rIns="45720">
            <a:noAutofit/>
          </a:bodyPr>
          <a:lstStyle/>
          <a:p>
            <a:pPr algn="ctr"/>
            <a:r>
              <a:rPr lang="es-ES" sz="1200" b="1" dirty="0">
                <a:solidFill>
                  <a:srgbClr val="990F3D"/>
                </a:solidFill>
              </a:rPr>
              <a:t>G0</a:t>
            </a:r>
          </a:p>
        </p:txBody>
      </p:sp>
      <p:sp>
        <p:nvSpPr>
          <p:cNvPr id="150" name="Caja 150"/>
          <p:cNvSpPr/>
          <p:nvPr/>
        </p:nvSpPr>
        <p:spPr>
          <a:xfrm>
            <a:off x="205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F1</a:t>
            </a:r>
          </a:p>
          <a:p>
            <a:pPr algn="ctr"/>
            <a:r>
              <a:rPr lang="es-ES" sz="1050" dirty="0">
                <a:solidFill>
                  <a:srgbClr val="FFFFFF"/>
                </a:solidFill>
              </a:rPr>
              <a:t>Opportunity discovery</a:t>
            </a:r>
          </a:p>
        </p:txBody>
      </p:sp>
      <p:sp>
        <p:nvSpPr>
          <p:cNvPr id="151" name="Texto 151"/>
          <p:cNvSpPr txBox="1"/>
          <p:nvPr/>
        </p:nvSpPr>
        <p:spPr>
          <a:xfrm>
            <a:off x="2961000" y="3900000"/>
            <a:ext cx="800000" cy="300000"/>
          </a:xfrm>
          <a:prstGeom prst="rect">
            <a:avLst/>
          </a:prstGeom>
          <a:noFill/>
        </p:spPr>
        <p:txBody>
          <a:bodyPr wrap="square" anchor="t" lIns="45720" rIns="45720">
            <a:noAutofit/>
          </a:bodyPr>
          <a:lstStyle/>
          <a:p>
            <a:pPr algn="ctr"/>
            <a:r>
              <a:rPr lang="es-ES" sz="1200" b="1" dirty="0">
                <a:solidFill>
                  <a:srgbClr val="990F3D"/>
                </a:solidFill>
              </a:rPr>
              <a:t>G1</a:t>
            </a:r>
          </a:p>
        </p:txBody>
      </p:sp>
      <p:sp>
        <p:nvSpPr>
          <p:cNvPr id="152" name="Caja 152"/>
          <p:cNvSpPr/>
          <p:nvPr/>
        </p:nvSpPr>
        <p:spPr>
          <a:xfrm>
            <a:off x="342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F2</a:t>
            </a:r>
          </a:p>
          <a:p>
            <a:pPr algn="ctr"/>
            <a:r>
              <a:rPr lang="es-ES" sz="1050" dirty="0">
                <a:solidFill>
                  <a:srgbClr val="FFFFFF"/>
                </a:solidFill>
              </a:rPr>
              <a:t>Value hypothesis</a:t>
            </a:r>
          </a:p>
        </p:txBody>
      </p:sp>
      <p:sp>
        <p:nvSpPr>
          <p:cNvPr id="153" name="Texto 153"/>
          <p:cNvSpPr txBox="1"/>
          <p:nvPr/>
        </p:nvSpPr>
        <p:spPr>
          <a:xfrm>
            <a:off x="4331000" y="3900000"/>
            <a:ext cx="800000" cy="300000"/>
          </a:xfrm>
          <a:prstGeom prst="rect">
            <a:avLst/>
          </a:prstGeom>
          <a:noFill/>
        </p:spPr>
        <p:txBody>
          <a:bodyPr wrap="square" anchor="t" lIns="45720" rIns="45720">
            <a:noAutofit/>
          </a:bodyPr>
          <a:lstStyle/>
          <a:p>
            <a:pPr algn="ctr"/>
            <a:r>
              <a:rPr lang="es-ES" sz="1200" b="1" dirty="0">
                <a:solidFill>
                  <a:srgbClr val="990F3D"/>
                </a:solidFill>
              </a:rPr>
              <a:t>G2</a:t>
            </a:r>
          </a:p>
        </p:txBody>
      </p:sp>
      <p:sp>
        <p:nvSpPr>
          <p:cNvPr id="154" name="Caja 154"/>
          <p:cNvSpPr/>
          <p:nvPr/>
        </p:nvSpPr>
        <p:spPr>
          <a:xfrm>
            <a:off x="479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F3</a:t>
            </a:r>
          </a:p>
          <a:p>
            <a:pPr algn="ctr"/>
            <a:r>
              <a:rPr lang="es-ES" sz="1050" dirty="0">
                <a:solidFill>
                  <a:srgbClr val="FFFFFF"/>
                </a:solidFill>
              </a:rPr>
              <a:t>Feasibility and risk</a:t>
            </a:r>
          </a:p>
        </p:txBody>
      </p:sp>
      <p:sp>
        <p:nvSpPr>
          <p:cNvPr id="155" name="Texto 155"/>
          <p:cNvSpPr txBox="1"/>
          <p:nvPr/>
        </p:nvSpPr>
        <p:spPr>
          <a:xfrm>
            <a:off x="5701000" y="3900000"/>
            <a:ext cx="800000" cy="300000"/>
          </a:xfrm>
          <a:prstGeom prst="rect">
            <a:avLst/>
          </a:prstGeom>
          <a:noFill/>
        </p:spPr>
        <p:txBody>
          <a:bodyPr wrap="square" anchor="t" lIns="45720" rIns="45720">
            <a:noAutofit/>
          </a:bodyPr>
          <a:lstStyle/>
          <a:p>
            <a:pPr algn="ctr"/>
            <a:r>
              <a:rPr lang="es-ES" sz="1200" b="1" dirty="0">
                <a:solidFill>
                  <a:srgbClr val="990F3D"/>
                </a:solidFill>
              </a:rPr>
              <a:t>G3</a:t>
            </a:r>
          </a:p>
        </p:txBody>
      </p:sp>
      <p:sp>
        <p:nvSpPr>
          <p:cNvPr id="156" name="Caja 156"/>
          <p:cNvSpPr/>
          <p:nvPr/>
        </p:nvSpPr>
        <p:spPr>
          <a:xfrm>
            <a:off x="616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F4</a:t>
            </a:r>
          </a:p>
          <a:p>
            <a:pPr algn="ctr"/>
            <a:r>
              <a:rPr lang="es-ES" sz="1050" dirty="0">
                <a:solidFill>
                  <a:srgbClr val="564D47"/>
                </a:solidFill>
              </a:rPr>
              <a:t>Solution design</a:t>
            </a:r>
          </a:p>
        </p:txBody>
      </p:sp>
      <p:sp>
        <p:nvSpPr>
          <p:cNvPr id="157" name="Texto 157"/>
          <p:cNvSpPr txBox="1"/>
          <p:nvPr/>
        </p:nvSpPr>
        <p:spPr>
          <a:xfrm>
            <a:off x="7071000" y="3900000"/>
            <a:ext cx="800000" cy="300000"/>
          </a:xfrm>
          <a:prstGeom prst="rect">
            <a:avLst/>
          </a:prstGeom>
          <a:noFill/>
        </p:spPr>
        <p:txBody>
          <a:bodyPr wrap="square" anchor="t" lIns="45720" rIns="45720">
            <a:noAutofit/>
          </a:bodyPr>
          <a:lstStyle/>
          <a:p>
            <a:pPr algn="ctr"/>
            <a:r>
              <a:rPr lang="es-ES" sz="1200" b="1" dirty="0">
                <a:solidFill>
                  <a:srgbClr val="990F3D"/>
                </a:solidFill>
              </a:rPr>
              <a:t>G4</a:t>
            </a:r>
          </a:p>
        </p:txBody>
      </p:sp>
      <p:sp>
        <p:nvSpPr>
          <p:cNvPr id="158" name="Caja 158"/>
          <p:cNvSpPr/>
          <p:nvPr/>
        </p:nvSpPr>
        <p:spPr>
          <a:xfrm>
            <a:off x="753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F5</a:t>
            </a:r>
          </a:p>
          <a:p>
            <a:pPr algn="ctr"/>
            <a:r>
              <a:rPr lang="es-ES" sz="1050" dirty="0">
                <a:solidFill>
                  <a:srgbClr val="564D47"/>
                </a:solidFill>
              </a:rPr>
              <a:t>Delivery and validation</a:t>
            </a:r>
          </a:p>
        </p:txBody>
      </p:sp>
      <p:sp>
        <p:nvSpPr>
          <p:cNvPr id="159" name="Texto 159"/>
          <p:cNvSpPr txBox="1"/>
          <p:nvPr/>
        </p:nvSpPr>
        <p:spPr>
          <a:xfrm>
            <a:off x="8441000" y="3900000"/>
            <a:ext cx="800000" cy="300000"/>
          </a:xfrm>
          <a:prstGeom prst="rect">
            <a:avLst/>
          </a:prstGeom>
          <a:noFill/>
        </p:spPr>
        <p:txBody>
          <a:bodyPr wrap="square" anchor="t" lIns="45720" rIns="45720">
            <a:noAutofit/>
          </a:bodyPr>
          <a:lstStyle/>
          <a:p>
            <a:pPr algn="ctr"/>
            <a:r>
              <a:rPr lang="es-ES" sz="1200" b="1" dirty="0">
                <a:solidFill>
                  <a:srgbClr val="990F3D"/>
                </a:solidFill>
              </a:rPr>
              <a:t>G5</a:t>
            </a:r>
          </a:p>
        </p:txBody>
      </p:sp>
      <p:sp>
        <p:nvSpPr>
          <p:cNvPr id="160" name="Caja 160"/>
          <p:cNvSpPr/>
          <p:nvPr/>
        </p:nvSpPr>
        <p:spPr>
          <a:xfrm>
            <a:off x="890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F6</a:t>
            </a:r>
          </a:p>
          <a:p>
            <a:pPr algn="ctr"/>
            <a:r>
              <a:rPr lang="es-ES" sz="1050" dirty="0">
                <a:solidFill>
                  <a:srgbClr val="564D47"/>
                </a:solidFill>
              </a:rPr>
              <a:t>Operation and governance</a:t>
            </a:r>
          </a:p>
        </p:txBody>
      </p:sp>
      <p:sp>
        <p:nvSpPr>
          <p:cNvPr id="161" name="Texto 161"/>
          <p:cNvSpPr txBox="1"/>
          <p:nvPr/>
        </p:nvSpPr>
        <p:spPr>
          <a:xfrm>
            <a:off x="9811000" y="3900000"/>
            <a:ext cx="800000" cy="300000"/>
          </a:xfrm>
          <a:prstGeom prst="rect">
            <a:avLst/>
          </a:prstGeom>
          <a:noFill/>
        </p:spPr>
        <p:txBody>
          <a:bodyPr wrap="square" anchor="t" lIns="45720" rIns="45720">
            <a:noAutofit/>
          </a:bodyPr>
          <a:lstStyle/>
          <a:p>
            <a:pPr algn="ctr"/>
            <a:r>
              <a:rPr lang="es-ES" sz="1200" b="1" dirty="0">
                <a:solidFill>
                  <a:srgbClr val="990F3D"/>
                </a:solidFill>
              </a:rPr>
              <a:t>R6</a:t>
            </a:r>
          </a:p>
        </p:txBody>
      </p:sp>
      <p:sp>
        <p:nvSpPr>
          <p:cNvPr id="162" name="Caja 162"/>
          <p:cNvSpPr/>
          <p:nvPr/>
        </p:nvSpPr>
        <p:spPr>
          <a:xfrm>
            <a:off x="1027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F7</a:t>
            </a:r>
          </a:p>
          <a:p>
            <a:pPr algn="ctr"/>
            <a:r>
              <a:rPr lang="es-ES" sz="1050" dirty="0">
                <a:solidFill>
                  <a:srgbClr val="564D47"/>
                </a:solidFill>
              </a:rPr>
              <a:t>Evolution or retirement</a:t>
            </a:r>
          </a:p>
        </p:txBody>
      </p:sp>
      <p:sp>
        <p:nvSpPr>
          <p:cNvPr id="163" name="Texto 163"/>
          <p:cNvSpPr txBox="1"/>
          <p:nvPr/>
        </p:nvSpPr>
        <p:spPr>
          <a:xfrm>
            <a:off x="11181000" y="3900000"/>
            <a:ext cx="800000" cy="300000"/>
          </a:xfrm>
          <a:prstGeom prst="rect">
            <a:avLst/>
          </a:prstGeom>
          <a:noFill/>
        </p:spPr>
        <p:txBody>
          <a:bodyPr wrap="square" anchor="t" lIns="45720" rIns="45720">
            <a:noAutofit/>
          </a:bodyPr>
          <a:lstStyle/>
          <a:p>
            <a:pPr algn="ctr"/>
            <a:r>
              <a:rPr lang="es-ES" sz="1200" b="1" dirty="0">
                <a:solidFill>
                  <a:srgbClr val="990F3D"/>
                </a:solidFill>
              </a:rPr>
              <a:t>G7</a:t>
            </a:r>
          </a:p>
        </p:txBody>
      </p:sp>
      <p:sp>
        <p:nvSpPr>
          <p:cNvPr id="164" name="Texto 164"/>
          <p:cNvSpPr txBox="1"/>
          <p:nvPr/>
        </p:nvSpPr>
        <p:spPr>
          <a:xfrm>
            <a:off x="609600" y="4430000"/>
            <a:ext cx="10972800" cy="600000"/>
          </a:xfrm>
          <a:prstGeom prst="rect">
            <a:avLst/>
          </a:prstGeom>
          <a:noFill/>
        </p:spPr>
        <p:txBody>
          <a:bodyPr wrap="square" anchor="t" lIns="45720" rIns="45720">
            <a:noAutofit/>
          </a:bodyPr>
          <a:lstStyle/>
          <a:p>
            <a:pPr algn="ctr"/>
            <a:r>
              <a:rPr lang="es-ES" sz="2200" b="1" dirty="0">
                <a:solidFill>
                  <a:srgbClr val="990F3D"/>
                </a:solidFill>
              </a:rPr>
              <a:t>STOPPED AT G3 · it leaves the funnel as "Discarded", with its reason</a:t>
            </a: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72" name="Marca"/>
          <p:cNvSpPr/>
          <p:nvPr/>
        </p:nvSpPr>
        <p:spPr>
          <a:xfrm>
            <a:off x="609600" y="365760"/>
            <a:ext cx="182880" cy="182880"/>
          </a:xfrm>
          <a:prstGeom prst="rect">
            <a:avLst/>
          </a:prstGeom>
          <a:solidFill>
            <a:srgbClr val="990F3D"/>
          </a:solidFill>
        </p:spPr>
        <p:txBody>
          <a:bodyPr/>
          <a:lstStyle/>
          <a:p/>
        </p:txBody>
      </p:sp>
      <p:sp>
        <p:nvSpPr>
          <p:cNvPr id="173" name="Texto 17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174" name="Texto 17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Example 2 · When an initiative reaches production</a:t>
            </a:r>
          </a:p>
        </p:txBody>
      </p:sp>
      <p:sp>
        <p:nvSpPr>
          <p:cNvPr id="169" name="Texto 169"/>
          <p:cNvSpPr txBox="1"/>
          <p:nvPr/>
        </p:nvSpPr>
        <p:spPr>
          <a:xfrm>
            <a:off x="609600" y="1330000"/>
            <a:ext cx="10972800" cy="500000"/>
          </a:xfrm>
          <a:prstGeom prst="rect">
            <a:avLst/>
          </a:prstGeom>
          <a:noFill/>
        </p:spPr>
        <p:txBody>
          <a:bodyPr wrap="square" anchor="t" lIns="45720" rIns="45720">
            <a:noAutofit/>
          </a:bodyPr>
          <a:lstStyle/>
          <a:p>
            <a:pPr algn="l"/>
            <a:r>
              <a:rPr lang="es-ES" sz="1700" b="1" dirty="0">
                <a:solidFill>
                  <a:srgbClr val="2F2B28"/>
                </a:solidFill>
              </a:rPr>
              <a:t>First-line IT incident response assistant</a:t>
            </a:r>
          </a:p>
        </p:txBody>
      </p:sp>
      <p:sp>
        <p:nvSpPr>
          <p:cNvPr id="170" name="Texto 170"/>
          <p:cNvSpPr txBox="1"/>
          <p:nvPr/>
        </p:nvSpPr>
        <p:spPr>
          <a:xfrm>
            <a:off x="609600" y="1900000"/>
            <a:ext cx="10972800" cy="355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500" dirty="0">
                <a:solidFill>
                  <a:srgbClr val="2F2B28"/>
                </a:solidFill>
              </a:rPr>
              <a:t>Phases 0 and 1: IT sponsors it; against the non-AI alternative (more staff), the operations sphere with Optimise ambition is proposed (P07).</a:t>
            </a:r>
          </a:p>
          <a:p>
            <a:pPr marL="285750" indent="-285750">
              <a:spcAft>
                <a:spcPts val="400"/>
              </a:spcAft>
              <a:buClr>
                <a:srgbClr val="990F3D"/>
              </a:buClr>
              <a:buFont typeface="Arial"/>
              <a:buChar char="•"/>
            </a:pPr>
            <a:r>
              <a:rPr lang="es-ES" sz="1500" dirty="0">
                <a:solidFill>
                  <a:srgbClr val="2F2B28"/>
                </a:solidFill>
              </a:rPr>
              <a:t>Phase 2: hypothesis of 30% less resolution time for simple incidents; the controlled pilot yields 32%.</a:t>
            </a:r>
          </a:p>
          <a:p>
            <a:pPr marL="285750" indent="-285750">
              <a:spcAft>
                <a:spcPts val="400"/>
              </a:spcAft>
              <a:buClr>
                <a:srgbClr val="990F3D"/>
              </a:buClr>
              <a:buFont typeface="Arial"/>
              <a:buChar char="•"/>
            </a:pPr>
            <a:r>
              <a:rPr lang="es-ES" sz="1500" dirty="0">
                <a:solidFill>
                  <a:srgbClr val="2F2B28"/>
                </a:solidFill>
              </a:rPr>
              <a:t>Phase 3: no relevant bias, medium residual risk accepted by the right body (P12), supplier assessed (P14). G3, Proceed.</a:t>
            </a:r>
          </a:p>
          <a:p>
            <a:pPr marL="285750" indent="-285750">
              <a:spcAft>
                <a:spcPts val="400"/>
              </a:spcAft>
              <a:buClr>
                <a:srgbClr val="990F3D"/>
              </a:buClr>
              <a:buFont typeface="Arial"/>
              <a:buChar char="•"/>
            </a:pPr>
            <a:r>
              <a:rPr lang="es-ES" sz="1500" dirty="0">
                <a:solidFill>
                  <a:srgbClr val="2F2B28"/>
                </a:solidFill>
              </a:rPr>
              <a:t>Phases 4 and 5: mandatory human oversight above a severity level (P17), tested rollback (P19) and go-live sign-off (P23).</a:t>
            </a:r>
          </a:p>
          <a:p>
            <a:pPr marL="285750" indent="-285750">
              <a:spcAft>
                <a:spcPts val="400"/>
              </a:spcAft>
              <a:buClr>
                <a:srgbClr val="990F3D"/>
              </a:buClr>
              <a:buFont typeface="Arial"/>
              <a:buChar char="•"/>
            </a:pPr>
            <a:r>
              <a:rPr lang="es-ES" sz="1500" dirty="0">
                <a:solidFill>
                  <a:srgbClr val="2F2B28"/>
                </a:solidFill>
              </a:rPr>
              <a:t>Phase 6: fourteen months in use. Finance validates €1.1M a year (P28); released capacity was reassigned to complex incidents.</a:t>
            </a:r>
          </a:p>
          <a:p>
            <a:pPr marL="285750" indent="-285750">
              <a:spcAft>
                <a:spcPts val="400"/>
              </a:spcAft>
              <a:buClr>
                <a:srgbClr val="990F3D"/>
              </a:buClr>
              <a:buFont typeface="Arial"/>
              <a:buChar char="•"/>
            </a:pPr>
            <a:r>
              <a:rPr lang="es-ES" sz="1500" dirty="0">
                <a:solidFill>
                  <a:srgbClr val="2F2B28"/>
                </a:solidFill>
              </a:rPr>
              <a:t>In the funnel it sits under "In use"; on the dashboard it adds to annual net because its value is validated, not declared.</a:t>
            </a:r>
          </a:p>
        </p:txBody>
      </p:sp>
      <p:sp>
        <p:nvSpPr>
          <p:cNvPr id="171" name="Caja 171"/>
          <p:cNvSpPr/>
          <p:nvPr/>
        </p:nvSpPr>
        <p:spPr>
          <a:xfrm>
            <a:off x="609600" y="5600000"/>
            <a:ext cx="10972800" cy="900000"/>
          </a:xfrm>
          <a:prstGeom prst="roundRect">
            <a:avLst>
              <a:gd name="adj" fmla="val 6000"/>
            </a:avLst>
          </a:prstGeom>
          <a:solidFill>
            <a:srgbClr val="0D7680"/>
          </a:solidFill>
          <a:ln>
            <a:noFill/>
          </a:ln>
        </p:spPr>
        <p:txBody>
          <a:bodyPr wrap="square" anchor="ctr" lIns="45720" rIns="45720">
            <a:noAutofit/>
          </a:bodyPr>
          <a:lstStyle/>
          <a:p>
            <a:pPr algn="ctr"/>
            <a:r>
              <a:rPr lang="es-ES" sz="2100" b="1" dirty="0">
                <a:solidFill>
                  <a:srgbClr val="FFFFFF"/>
                </a:solidFill>
              </a:rPr>
              <a:t>IN PRODUCTION · €1.1M OF VALIDATED ANNUAL RETURN · QUARTERLY R6</a:t>
            </a:r>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92" name="Marca"/>
          <p:cNvSpPr/>
          <p:nvPr/>
        </p:nvSpPr>
        <p:spPr>
          <a:xfrm>
            <a:off x="609600" y="365760"/>
            <a:ext cx="182880" cy="182880"/>
          </a:xfrm>
          <a:prstGeom prst="rect">
            <a:avLst/>
          </a:prstGeom>
          <a:solidFill>
            <a:srgbClr val="990F3D"/>
          </a:solidFill>
        </p:spPr>
        <p:txBody>
          <a:bodyPr/>
          <a:lstStyle/>
          <a:p/>
        </p:txBody>
      </p:sp>
      <p:sp>
        <p:nvSpPr>
          <p:cNvPr id="193" name="Texto 19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194" name="Texto 19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Initiative 2, on the lifecycle</a:t>
            </a:r>
          </a:p>
        </p:txBody>
      </p:sp>
      <p:sp>
        <p:nvSpPr>
          <p:cNvPr id="195" name="Texto 195"/>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It went through phases 0 to 6 and remains in use; phase 7 will come with G7</a:t>
            </a:r>
          </a:p>
        </p:txBody>
      </p:sp>
      <p:sp>
        <p:nvSpPr>
          <p:cNvPr id="175" name="Caja 175"/>
          <p:cNvSpPr/>
          <p:nvPr/>
        </p:nvSpPr>
        <p:spPr>
          <a:xfrm>
            <a:off x="68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F0</a:t>
            </a:r>
          </a:p>
          <a:p>
            <a:pPr algn="ctr"/>
            <a:r>
              <a:rPr lang="es-ES" sz="1050" dirty="0">
                <a:solidFill>
                  <a:srgbClr val="FFFFFF"/>
                </a:solidFill>
              </a:rPr>
              <a:t>Context and constraints</a:t>
            </a:r>
          </a:p>
        </p:txBody>
      </p:sp>
      <p:sp>
        <p:nvSpPr>
          <p:cNvPr id="176" name="Texto 176"/>
          <p:cNvSpPr txBox="1"/>
          <p:nvPr/>
        </p:nvSpPr>
        <p:spPr>
          <a:xfrm>
            <a:off x="1591000" y="3900000"/>
            <a:ext cx="800000" cy="300000"/>
          </a:xfrm>
          <a:prstGeom prst="rect">
            <a:avLst/>
          </a:prstGeom>
          <a:noFill/>
        </p:spPr>
        <p:txBody>
          <a:bodyPr wrap="square" anchor="t" lIns="45720" rIns="45720">
            <a:noAutofit/>
          </a:bodyPr>
          <a:lstStyle/>
          <a:p>
            <a:pPr algn="ctr"/>
            <a:r>
              <a:rPr lang="es-ES" sz="1200" b="1" dirty="0">
                <a:solidFill>
                  <a:srgbClr val="990F3D"/>
                </a:solidFill>
              </a:rPr>
              <a:t>G0</a:t>
            </a:r>
          </a:p>
        </p:txBody>
      </p:sp>
      <p:sp>
        <p:nvSpPr>
          <p:cNvPr id="177" name="Caja 177"/>
          <p:cNvSpPr/>
          <p:nvPr/>
        </p:nvSpPr>
        <p:spPr>
          <a:xfrm>
            <a:off x="205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F1</a:t>
            </a:r>
          </a:p>
          <a:p>
            <a:pPr algn="ctr"/>
            <a:r>
              <a:rPr lang="es-ES" sz="1050" dirty="0">
                <a:solidFill>
                  <a:srgbClr val="FFFFFF"/>
                </a:solidFill>
              </a:rPr>
              <a:t>Opportunity discovery</a:t>
            </a:r>
          </a:p>
        </p:txBody>
      </p:sp>
      <p:sp>
        <p:nvSpPr>
          <p:cNvPr id="178" name="Texto 178"/>
          <p:cNvSpPr txBox="1"/>
          <p:nvPr/>
        </p:nvSpPr>
        <p:spPr>
          <a:xfrm>
            <a:off x="2961000" y="3900000"/>
            <a:ext cx="800000" cy="300000"/>
          </a:xfrm>
          <a:prstGeom prst="rect">
            <a:avLst/>
          </a:prstGeom>
          <a:noFill/>
        </p:spPr>
        <p:txBody>
          <a:bodyPr wrap="square" anchor="t" lIns="45720" rIns="45720">
            <a:noAutofit/>
          </a:bodyPr>
          <a:lstStyle/>
          <a:p>
            <a:pPr algn="ctr"/>
            <a:r>
              <a:rPr lang="es-ES" sz="1200" b="1" dirty="0">
                <a:solidFill>
                  <a:srgbClr val="990F3D"/>
                </a:solidFill>
              </a:rPr>
              <a:t>G1</a:t>
            </a:r>
          </a:p>
        </p:txBody>
      </p:sp>
      <p:sp>
        <p:nvSpPr>
          <p:cNvPr id="179" name="Caja 179"/>
          <p:cNvSpPr/>
          <p:nvPr/>
        </p:nvSpPr>
        <p:spPr>
          <a:xfrm>
            <a:off x="342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F2</a:t>
            </a:r>
          </a:p>
          <a:p>
            <a:pPr algn="ctr"/>
            <a:r>
              <a:rPr lang="es-ES" sz="1050" dirty="0">
                <a:solidFill>
                  <a:srgbClr val="FFFFFF"/>
                </a:solidFill>
              </a:rPr>
              <a:t>Value hypothesis</a:t>
            </a:r>
          </a:p>
        </p:txBody>
      </p:sp>
      <p:sp>
        <p:nvSpPr>
          <p:cNvPr id="180" name="Texto 180"/>
          <p:cNvSpPr txBox="1"/>
          <p:nvPr/>
        </p:nvSpPr>
        <p:spPr>
          <a:xfrm>
            <a:off x="4331000" y="3900000"/>
            <a:ext cx="800000" cy="300000"/>
          </a:xfrm>
          <a:prstGeom prst="rect">
            <a:avLst/>
          </a:prstGeom>
          <a:noFill/>
        </p:spPr>
        <p:txBody>
          <a:bodyPr wrap="square" anchor="t" lIns="45720" rIns="45720">
            <a:noAutofit/>
          </a:bodyPr>
          <a:lstStyle/>
          <a:p>
            <a:pPr algn="ctr"/>
            <a:r>
              <a:rPr lang="es-ES" sz="1200" b="1" dirty="0">
                <a:solidFill>
                  <a:srgbClr val="990F3D"/>
                </a:solidFill>
              </a:rPr>
              <a:t>G2</a:t>
            </a:r>
          </a:p>
        </p:txBody>
      </p:sp>
      <p:sp>
        <p:nvSpPr>
          <p:cNvPr id="181" name="Caja 181"/>
          <p:cNvSpPr/>
          <p:nvPr/>
        </p:nvSpPr>
        <p:spPr>
          <a:xfrm>
            <a:off x="479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F3</a:t>
            </a:r>
          </a:p>
          <a:p>
            <a:pPr algn="ctr"/>
            <a:r>
              <a:rPr lang="es-ES" sz="1050" dirty="0">
                <a:solidFill>
                  <a:srgbClr val="FFFFFF"/>
                </a:solidFill>
              </a:rPr>
              <a:t>Feasibility and risk</a:t>
            </a:r>
          </a:p>
        </p:txBody>
      </p:sp>
      <p:sp>
        <p:nvSpPr>
          <p:cNvPr id="182" name="Texto 182"/>
          <p:cNvSpPr txBox="1"/>
          <p:nvPr/>
        </p:nvSpPr>
        <p:spPr>
          <a:xfrm>
            <a:off x="5701000" y="3900000"/>
            <a:ext cx="800000" cy="300000"/>
          </a:xfrm>
          <a:prstGeom prst="rect">
            <a:avLst/>
          </a:prstGeom>
          <a:noFill/>
        </p:spPr>
        <p:txBody>
          <a:bodyPr wrap="square" anchor="t" lIns="45720" rIns="45720">
            <a:noAutofit/>
          </a:bodyPr>
          <a:lstStyle/>
          <a:p>
            <a:pPr algn="ctr"/>
            <a:r>
              <a:rPr lang="es-ES" sz="1200" b="1" dirty="0">
                <a:solidFill>
                  <a:srgbClr val="990F3D"/>
                </a:solidFill>
              </a:rPr>
              <a:t>G3</a:t>
            </a:r>
          </a:p>
        </p:txBody>
      </p:sp>
      <p:sp>
        <p:nvSpPr>
          <p:cNvPr id="183" name="Caja 183"/>
          <p:cNvSpPr/>
          <p:nvPr/>
        </p:nvSpPr>
        <p:spPr>
          <a:xfrm>
            <a:off x="616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F4</a:t>
            </a:r>
          </a:p>
          <a:p>
            <a:pPr algn="ctr"/>
            <a:r>
              <a:rPr lang="es-ES" sz="1050" dirty="0">
                <a:solidFill>
                  <a:srgbClr val="FFFFFF"/>
                </a:solidFill>
              </a:rPr>
              <a:t>Solution design</a:t>
            </a:r>
          </a:p>
        </p:txBody>
      </p:sp>
      <p:sp>
        <p:nvSpPr>
          <p:cNvPr id="184" name="Texto 184"/>
          <p:cNvSpPr txBox="1"/>
          <p:nvPr/>
        </p:nvSpPr>
        <p:spPr>
          <a:xfrm>
            <a:off x="7071000" y="3900000"/>
            <a:ext cx="800000" cy="300000"/>
          </a:xfrm>
          <a:prstGeom prst="rect">
            <a:avLst/>
          </a:prstGeom>
          <a:noFill/>
        </p:spPr>
        <p:txBody>
          <a:bodyPr wrap="square" anchor="t" lIns="45720" rIns="45720">
            <a:noAutofit/>
          </a:bodyPr>
          <a:lstStyle/>
          <a:p>
            <a:pPr algn="ctr"/>
            <a:r>
              <a:rPr lang="es-ES" sz="1200" b="1" dirty="0">
                <a:solidFill>
                  <a:srgbClr val="990F3D"/>
                </a:solidFill>
              </a:rPr>
              <a:t>G4</a:t>
            </a:r>
          </a:p>
        </p:txBody>
      </p:sp>
      <p:sp>
        <p:nvSpPr>
          <p:cNvPr id="185" name="Caja 185"/>
          <p:cNvSpPr/>
          <p:nvPr/>
        </p:nvSpPr>
        <p:spPr>
          <a:xfrm>
            <a:off x="753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F5</a:t>
            </a:r>
          </a:p>
          <a:p>
            <a:pPr algn="ctr"/>
            <a:r>
              <a:rPr lang="es-ES" sz="1050" dirty="0">
                <a:solidFill>
                  <a:srgbClr val="FFFFFF"/>
                </a:solidFill>
              </a:rPr>
              <a:t>Delivery and validation</a:t>
            </a:r>
          </a:p>
        </p:txBody>
      </p:sp>
      <p:sp>
        <p:nvSpPr>
          <p:cNvPr id="186" name="Texto 186"/>
          <p:cNvSpPr txBox="1"/>
          <p:nvPr/>
        </p:nvSpPr>
        <p:spPr>
          <a:xfrm>
            <a:off x="8441000" y="3900000"/>
            <a:ext cx="800000" cy="300000"/>
          </a:xfrm>
          <a:prstGeom prst="rect">
            <a:avLst/>
          </a:prstGeom>
          <a:noFill/>
        </p:spPr>
        <p:txBody>
          <a:bodyPr wrap="square" anchor="t" lIns="45720" rIns="45720">
            <a:noAutofit/>
          </a:bodyPr>
          <a:lstStyle/>
          <a:p>
            <a:pPr algn="ctr"/>
            <a:r>
              <a:rPr lang="es-ES" sz="1200" b="1" dirty="0">
                <a:solidFill>
                  <a:srgbClr val="990F3D"/>
                </a:solidFill>
              </a:rPr>
              <a:t>G5</a:t>
            </a:r>
          </a:p>
        </p:txBody>
      </p:sp>
      <p:sp>
        <p:nvSpPr>
          <p:cNvPr id="187" name="Caja 187"/>
          <p:cNvSpPr/>
          <p:nvPr/>
        </p:nvSpPr>
        <p:spPr>
          <a:xfrm>
            <a:off x="890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F6</a:t>
            </a:r>
          </a:p>
          <a:p>
            <a:pPr algn="ctr"/>
            <a:r>
              <a:rPr lang="es-ES" sz="1050" dirty="0">
                <a:solidFill>
                  <a:srgbClr val="FFFFFF"/>
                </a:solidFill>
              </a:rPr>
              <a:t>Operation and governance</a:t>
            </a:r>
          </a:p>
        </p:txBody>
      </p:sp>
      <p:sp>
        <p:nvSpPr>
          <p:cNvPr id="188" name="Texto 188"/>
          <p:cNvSpPr txBox="1"/>
          <p:nvPr/>
        </p:nvSpPr>
        <p:spPr>
          <a:xfrm>
            <a:off x="9811000" y="3900000"/>
            <a:ext cx="800000" cy="300000"/>
          </a:xfrm>
          <a:prstGeom prst="rect">
            <a:avLst/>
          </a:prstGeom>
          <a:noFill/>
        </p:spPr>
        <p:txBody>
          <a:bodyPr wrap="square" anchor="t" lIns="45720" rIns="45720">
            <a:noAutofit/>
          </a:bodyPr>
          <a:lstStyle/>
          <a:p>
            <a:pPr algn="ctr"/>
            <a:r>
              <a:rPr lang="es-ES" sz="1200" b="1" dirty="0">
                <a:solidFill>
                  <a:srgbClr val="990F3D"/>
                </a:solidFill>
              </a:rPr>
              <a:t>R6</a:t>
            </a:r>
          </a:p>
        </p:txBody>
      </p:sp>
      <p:sp>
        <p:nvSpPr>
          <p:cNvPr id="189" name="Caja 189"/>
          <p:cNvSpPr/>
          <p:nvPr/>
        </p:nvSpPr>
        <p:spPr>
          <a:xfrm>
            <a:off x="1027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F7</a:t>
            </a:r>
          </a:p>
          <a:p>
            <a:pPr algn="ctr"/>
            <a:r>
              <a:rPr lang="es-ES" sz="1050" dirty="0">
                <a:solidFill>
                  <a:srgbClr val="564D47"/>
                </a:solidFill>
              </a:rPr>
              <a:t>Evolution or retirement</a:t>
            </a:r>
          </a:p>
        </p:txBody>
      </p:sp>
      <p:sp>
        <p:nvSpPr>
          <p:cNvPr id="190" name="Texto 190"/>
          <p:cNvSpPr txBox="1"/>
          <p:nvPr/>
        </p:nvSpPr>
        <p:spPr>
          <a:xfrm>
            <a:off x="11181000" y="3900000"/>
            <a:ext cx="800000" cy="300000"/>
          </a:xfrm>
          <a:prstGeom prst="rect">
            <a:avLst/>
          </a:prstGeom>
          <a:noFill/>
        </p:spPr>
        <p:txBody>
          <a:bodyPr wrap="square" anchor="t" lIns="45720" rIns="45720">
            <a:noAutofit/>
          </a:bodyPr>
          <a:lstStyle/>
          <a:p>
            <a:pPr algn="ctr"/>
            <a:r>
              <a:rPr lang="es-ES" sz="1200" b="1" dirty="0">
                <a:solidFill>
                  <a:srgbClr val="990F3D"/>
                </a:solidFill>
              </a:rPr>
              <a:t>G7</a:t>
            </a:r>
          </a:p>
        </p:txBody>
      </p:sp>
      <p:sp>
        <p:nvSpPr>
          <p:cNvPr id="191" name="Texto 191"/>
          <p:cNvSpPr txBox="1"/>
          <p:nvPr/>
        </p:nvSpPr>
        <p:spPr>
          <a:xfrm>
            <a:off x="609600" y="4430000"/>
            <a:ext cx="10972800" cy="600000"/>
          </a:xfrm>
          <a:prstGeom prst="rect">
            <a:avLst/>
          </a:prstGeom>
          <a:noFill/>
        </p:spPr>
        <p:txBody>
          <a:bodyPr wrap="square" anchor="t" lIns="45720" rIns="45720">
            <a:noAutofit/>
          </a:bodyPr>
          <a:lstStyle/>
          <a:p>
            <a:pPr algn="ctr"/>
            <a:r>
              <a:rPr lang="es-ES" sz="2200" b="1" dirty="0">
                <a:solidFill>
                  <a:srgbClr val="0D7680"/>
                </a:solidFill>
              </a:rPr>
              <a:t>IN USE · each R6 confirms it keeps delivering value under control</a:t>
            </a:r>
          </a:p>
        </p:txBody>
      </p:sp>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97" name="Marca"/>
          <p:cNvSpPr/>
          <p:nvPr/>
        </p:nvSpPr>
        <p:spPr>
          <a:xfrm>
            <a:off x="609600" y="365760"/>
            <a:ext cx="182880" cy="182880"/>
          </a:xfrm>
          <a:prstGeom prst="rect">
            <a:avLst/>
          </a:prstGeom>
          <a:solidFill>
            <a:srgbClr val="990F3D"/>
          </a:solidFill>
        </p:spPr>
        <p:txBody>
          <a:bodyPr/>
          <a:lstStyle/>
          <a:p/>
        </p:txBody>
      </p:sp>
      <p:sp>
        <p:nvSpPr>
          <p:cNvPr id="198" name="Texto 198"/>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199" name="Texto 199"/>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How value is measured</a:t>
            </a:r>
          </a:p>
        </p:txBody>
      </p:sp>
      <p:sp>
        <p:nvSpPr>
          <p:cNvPr id="196" name="Texto 196"/>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Every amount carries a formula and a status: validated (finance), declared (the team) or estimated.</a:t>
            </a:r>
          </a:p>
          <a:p>
            <a:pPr marL="285750" indent="-285750">
              <a:spcAft>
                <a:spcPts val="400"/>
              </a:spcAft>
              <a:buClr>
                <a:srgbClr val="990F3D"/>
              </a:buClr>
              <a:buFont typeface="Arial"/>
              <a:buChar char="•"/>
            </a:pPr>
            <a:r>
              <a:rPr lang="es-ES" sz="1800" dirty="0">
                <a:solidFill>
                  <a:srgbClr val="2F2B28"/>
                </a:solidFill>
              </a:rPr>
              <a:t>Released hours are not savings until they are materialised: a cost goes down or they are reassigned to a valuable activity.</a:t>
            </a:r>
          </a:p>
          <a:p>
            <a:pPr marL="285750" indent="-285750">
              <a:spcAft>
                <a:spcPts val="400"/>
              </a:spcAft>
              <a:buClr>
                <a:srgbClr val="990F3D"/>
              </a:buClr>
              <a:buFont typeface="Arial"/>
              <a:buChar char="•"/>
            </a:pPr>
            <a:r>
              <a:rPr lang="es-ES" sz="1800" dirty="0">
                <a:solidFill>
                  <a:srgbClr val="2F2B28"/>
                </a:solidFill>
              </a:rPr>
              <a:t>Cost is complete: build, consumption, operation, human oversight and retirement.</a:t>
            </a:r>
          </a:p>
          <a:p>
            <a:pPr marL="285750" indent="-285750">
              <a:spcAft>
                <a:spcPts val="400"/>
              </a:spcAft>
              <a:buClr>
                <a:srgbClr val="990F3D"/>
              </a:buClr>
              <a:buFont typeface="Arial"/>
              <a:buChar char="•"/>
            </a:pPr>
            <a:r>
              <a:rPr lang="es-ES" sz="1800" dirty="0">
                <a:solidFill>
                  <a:srgbClr val="2F2B28"/>
                </a:solidFill>
              </a:rPr>
              <a:t>The transformation index uses eight evidence signals to tell transformation apart from mere efficiency.</a:t>
            </a:r>
          </a:p>
          <a:p>
            <a:pPr marL="285750" indent="-285750">
              <a:spcAft>
                <a:spcPts val="400"/>
              </a:spcAft>
              <a:buClr>
                <a:srgbClr val="990F3D"/>
              </a:buClr>
              <a:buFont typeface="Arial"/>
              <a:buChar char="•"/>
            </a:pPr>
            <a:r>
              <a:rPr lang="es-ES" sz="1800" dirty="0">
                <a:solidFill>
                  <a:srgbClr val="2F2B28"/>
                </a:solidFill>
              </a:rPr>
              <a:t>Ten measurement rules (document 40). No figure enters the portfolio net without its status.</a:t>
            </a:r>
          </a:p>
        </p:txBody>
      </p:sp>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1817"/>
        </a:solidFill>
        <a:effectLst/>
      </p:bgPr>
    </p:bg>
    <p:spTree>
      <p:nvGrpSpPr>
        <p:cNvPr id="1" name=""/>
        <p:cNvGrpSpPr/>
        <p:nvPr/>
      </p:nvGrpSpPr>
      <p:grpSpPr>
        <a:xfrm>
          <a:off x="0" y="0"/>
          <a:ext cx="0" cy="0"/>
          <a:chOff x="0" y="0"/>
          <a:chExt cx="0" cy="0"/>
        </a:xfrm>
      </p:grpSpPr>
      <p:sp>
        <p:nvSpPr>
          <p:cNvPr id="200" name="Marca"/>
          <p:cNvSpPr/>
          <p:nvPr/>
        </p:nvSpPr>
        <p:spPr>
          <a:xfrm>
            <a:off x="609600" y="2400000"/>
            <a:ext cx="182880" cy="182880"/>
          </a:xfrm>
          <a:prstGeom prst="rect">
            <a:avLst/>
          </a:prstGeom>
          <a:solidFill>
            <a:srgbClr val="990F3D"/>
          </a:solidFill>
        </p:spPr>
        <p:txBody>
          <a:bodyPr/>
          <a:lstStyle/>
          <a:p/>
        </p:txBody>
      </p:sp>
      <p:sp>
        <p:nvSpPr>
          <p:cNvPr id="201" name="Texto 201"/>
          <p:cNvSpPr txBox="1"/>
          <p:nvPr/>
        </p:nvSpPr>
        <p:spPr>
          <a:xfrm>
            <a:off x="838200" y="2320000"/>
            <a:ext cx="9000000" cy="400000"/>
          </a:xfrm>
          <a:prstGeom prst="rect">
            <a:avLst/>
          </a:prstGeom>
          <a:noFill/>
        </p:spPr>
        <p:txBody>
          <a:bodyPr wrap="square" anchor="t" lIns="45720" rIns="45720">
            <a:noAutofit/>
          </a:bodyPr>
          <a:lstStyle/>
          <a:p>
            <a:pPr algn="l"/>
            <a:r>
              <a:rPr lang="es-ES" sz="1600" b="1" dirty="0">
                <a:solidFill>
                  <a:srgbClr val="F3CFB2"/>
                </a:solidFill>
              </a:rPr>
              <a:t>SELF-CONSULTING</a:t>
            </a:r>
          </a:p>
        </p:txBody>
      </p:sp>
      <p:sp>
        <p:nvSpPr>
          <p:cNvPr id="202" name="Texto 202"/>
          <p:cNvSpPr txBox="1"/>
          <p:nvPr/>
        </p:nvSpPr>
        <p:spPr>
          <a:xfrm>
            <a:off x="609600" y="2850000"/>
            <a:ext cx="10972800" cy="1400000"/>
          </a:xfrm>
          <a:prstGeom prst="rect">
            <a:avLst/>
          </a:prstGeom>
          <a:noFill/>
        </p:spPr>
        <p:txBody>
          <a:bodyPr wrap="square" anchor="t" lIns="45720" rIns="45720">
            <a:noAutofit/>
          </a:bodyPr>
          <a:lstStyle/>
          <a:p>
            <a:pPr algn="l"/>
            <a:r>
              <a:rPr lang="es-ES" sz="4000" b="1" dirty="0">
                <a:solidFill>
                  <a:srgbClr val="FBE2CD"/>
                </a:solidFill>
              </a:rPr>
              <a:t>Implementing it in your company, by your own means</a:t>
            </a:r>
          </a:p>
        </p:txBody>
      </p:sp>
      <p:sp>
        <p:nvSpPr>
          <p:cNvPr id="203" name="Texto 203"/>
          <p:cNvSpPr txBox="1"/>
          <p:nvPr/>
        </p:nvSpPr>
        <p:spPr>
          <a:xfrm>
            <a:off x="609600" y="4400000"/>
            <a:ext cx="10500000" cy="900000"/>
          </a:xfrm>
          <a:prstGeom prst="rect">
            <a:avLst/>
          </a:prstGeom>
          <a:noFill/>
        </p:spPr>
        <p:txBody>
          <a:bodyPr wrap="square" anchor="t" lIns="45720" rIns="45720">
            <a:noAutofit/>
          </a:bodyPr>
          <a:lstStyle/>
          <a:p>
            <a:pPr algn="l"/>
            <a:r>
              <a:rPr lang="es-ES" sz="1700" dirty="0">
                <a:solidFill>
                  <a:srgbClr val="F3CFB2"/>
                </a:solidFill>
              </a:rPr>
              <a:t>The framework is designed to be applied without hiring anyone. This is what it takes, and in what order.</a:t>
            </a:r>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05" name="Marca"/>
          <p:cNvSpPr/>
          <p:nvPr/>
        </p:nvSpPr>
        <p:spPr>
          <a:xfrm>
            <a:off x="609600" y="365760"/>
            <a:ext cx="182880" cy="182880"/>
          </a:xfrm>
          <a:prstGeom prst="rect">
            <a:avLst/>
          </a:prstGeom>
          <a:solidFill>
            <a:srgbClr val="990F3D"/>
          </a:solidFill>
        </p:spPr>
        <p:txBody>
          <a:bodyPr/>
          <a:lstStyle/>
          <a:p/>
        </p:txBody>
      </p:sp>
      <p:sp>
        <p:nvSpPr>
          <p:cNvPr id="206" name="Texto 206"/>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207" name="Texto 207"/>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Before starting: what the company needs</a:t>
            </a:r>
          </a:p>
        </p:txBody>
      </p:sp>
      <p:sp>
        <p:nvSpPr>
          <p:cNvPr id="204" name="Texto 204"/>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An implementation mandate signed by the top executive, with objective, perimeter and deadline (P32).</a:t>
            </a:r>
          </a:p>
          <a:p>
            <a:pPr marL="285750" indent="-285750">
              <a:spcAft>
                <a:spcPts val="400"/>
              </a:spcAft>
              <a:buClr>
                <a:srgbClr val="990F3D"/>
              </a:buClr>
              <a:buFont typeface="Arial"/>
              <a:buChar char="•"/>
            </a:pPr>
            <a:r>
              <a:rPr lang="es-ES" sz="1800" dirty="0">
                <a:solidFill>
                  <a:srgbClr val="2F2B28"/>
                </a:solidFill>
              </a:rPr>
              <a:t>The board knows the plan and reserves a session around week 12 to approve the direction (C2).</a:t>
            </a:r>
          </a:p>
          <a:p>
            <a:pPr marL="285750" indent="-285750">
              <a:spcAft>
                <a:spcPts val="400"/>
              </a:spcAft>
              <a:buClr>
                <a:srgbClr val="990F3D"/>
              </a:buClr>
              <a:buFont typeface="Arial"/>
              <a:buChar char="•"/>
            </a:pPr>
            <a:r>
              <a:rPr lang="es-ES" sz="1800" dirty="0">
                <a:solidFill>
                  <a:srgbClr val="2F2B28"/>
                </a:solidFill>
              </a:rPr>
              <a:t>An implementation lead with real dedication and a core team: business, technology, data, risk, compliance, security, people and finance.</a:t>
            </a:r>
          </a:p>
          <a:p>
            <a:pPr marL="285750" indent="-285750">
              <a:spcAft>
                <a:spcPts val="400"/>
              </a:spcAft>
              <a:buClr>
                <a:srgbClr val="990F3D"/>
              </a:buClr>
              <a:buFont typeface="Arial"/>
              <a:buChar char="•"/>
            </a:pPr>
            <a:r>
              <a:rPr lang="es-ES" sz="1800" dirty="0">
                <a:solidFill>
                  <a:srgbClr val="2F2B28"/>
                </a:solidFill>
              </a:rPr>
              <a:t>Internal audit informed and legal counsel available for regulatory classification.</a:t>
            </a:r>
          </a:p>
          <a:p>
            <a:pPr marL="285750" indent="-285750">
              <a:spcAft>
                <a:spcPts val="400"/>
              </a:spcAft>
              <a:buClr>
                <a:srgbClr val="990F3D"/>
              </a:buClr>
              <a:buFont typeface="Arial"/>
              <a:buChar char="•"/>
            </a:pPr>
            <a:r>
              <a:rPr lang="es-ES" sz="1800" dirty="0">
                <a:solidFill>
                  <a:srgbClr val="2F2B28"/>
                </a:solidFill>
              </a:rPr>
              <a:t>A register: T01, or a spreadsheet with the same fields.</a:t>
            </a:r>
          </a:p>
          <a:p>
            <a:pPr marL="285750" indent="-285750">
              <a:spcAft>
                <a:spcPts val="400"/>
              </a:spcAft>
              <a:buClr>
                <a:srgbClr val="990F3D"/>
              </a:buClr>
              <a:buFont typeface="Arial"/>
              <a:buChar char="•"/>
            </a:pPr>
            <a:r>
              <a:rPr lang="es-ES" sz="1800" dirty="0">
                <a:solidFill>
                  <a:srgbClr val="2F2B28"/>
                </a:solidFill>
              </a:rPr>
              <a:t>No moratorium: AI activity continues; only what the diagnosis flags as unacceptable risk is stopped.</a:t>
            </a:r>
          </a:p>
        </p:txBody>
      </p:sp>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10" name="Marca"/>
          <p:cNvSpPr/>
          <p:nvPr/>
        </p:nvSpPr>
        <p:spPr>
          <a:xfrm>
            <a:off x="609600" y="365760"/>
            <a:ext cx="182880" cy="182880"/>
          </a:xfrm>
          <a:prstGeom prst="rect">
            <a:avLst/>
          </a:prstGeom>
          <a:solidFill>
            <a:srgbClr val="990F3D"/>
          </a:solidFill>
        </p:spPr>
        <p:txBody>
          <a:bodyPr/>
          <a:lstStyle/>
          <a:p/>
        </p:txBody>
      </p:sp>
      <p:sp>
        <p:nvSpPr>
          <p:cNvPr id="211" name="Texto 211"/>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212" name="Texto 212"/>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Lite or Enterprise: proportionality</a:t>
            </a:r>
          </a:p>
        </p:txBody>
      </p:sp>
      <p:sp>
        <p:nvSpPr>
          <p:cNvPr id="208" name="Texto 208"/>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Two different decisions: implementation scope belongs to the company; intensity, to each initiative.</a:t>
            </a:r>
          </a:p>
          <a:p>
            <a:pPr marL="285750" indent="-285750">
              <a:spcAft>
                <a:spcPts val="400"/>
              </a:spcAft>
              <a:buClr>
                <a:srgbClr val="990F3D"/>
              </a:buClr>
              <a:buFont typeface="Arial"/>
              <a:buChar char="•"/>
            </a:pPr>
            <a:r>
              <a:rPr lang="es-ES" sz="1800" dirty="0">
                <a:solidFill>
                  <a:srgbClr val="2F2B28"/>
                </a:solidFill>
              </a:rPr>
              <a:t>Size does not decide. One Enterprise criterion is enough for an initiative: high risk, decisions about people, direct exposure, acting agents, protected data, critical function, Transform or high investment.</a:t>
            </a:r>
          </a:p>
          <a:p>
            <a:pPr marL="285750" indent="-285750">
              <a:spcAft>
                <a:spcPts val="400"/>
              </a:spcAft>
              <a:buClr>
                <a:srgbClr val="990F3D"/>
              </a:buClr>
              <a:buFont typeface="Arial"/>
              <a:buChar char="•"/>
            </a:pPr>
            <a:r>
              <a:rPr lang="es-ES" sz="1800" dirty="0">
                <a:solidFill>
                  <a:srgbClr val="2F2B28"/>
                </a:solidFill>
              </a:rPr>
              <a:t>Minimum Lite path: board with a quarterly AI item, monthly executive committee and a one-person part-time AI office.</a:t>
            </a:r>
          </a:p>
          <a:p>
            <a:pPr marL="285750" indent="-285750">
              <a:spcAft>
                <a:spcPts val="400"/>
              </a:spcAft>
              <a:buClr>
                <a:srgbClr val="990F3D"/>
              </a:buClr>
              <a:buFont typeface="Arial"/>
              <a:buChar char="•"/>
            </a:pPr>
            <a:r>
              <a:rPr lang="es-ES" sz="1800" dirty="0">
                <a:solidFill>
                  <a:srgbClr val="2F2B28"/>
                </a:solidFill>
              </a:rPr>
              <a:t>In Lite, gates are grouped (G0–G2 together, G4–G5 together, six-monthly R6). G3 always stands alone.</a:t>
            </a:r>
          </a:p>
          <a:p>
            <a:pPr marL="285750" indent="-285750">
              <a:spcAft>
                <a:spcPts val="400"/>
              </a:spcAft>
              <a:buClr>
                <a:srgbClr val="990F3D"/>
              </a:buClr>
              <a:buFont typeface="Arial"/>
              <a:buChar char="•"/>
            </a:pPr>
            <a:r>
              <a:rPr lang="es-ES" sz="1800" dirty="0">
                <a:solidFill>
                  <a:srgbClr val="2F2B28"/>
                </a:solidFill>
              </a:rPr>
              <a:t>No mandatory evidence is skipped in Lite: it is simplified. The inventory is never reduced.</a:t>
            </a:r>
          </a:p>
        </p:txBody>
      </p:sp>
      <p:sp>
        <p:nvSpPr>
          <p:cNvPr id="209" name="Texto 209"/>
          <p:cNvSpPr txBox="1"/>
          <p:nvPr/>
        </p:nvSpPr>
        <p:spPr>
          <a:xfrm>
            <a:off x="609600" y="6250000"/>
            <a:ext cx="10972800" cy="450000"/>
          </a:xfrm>
          <a:prstGeom prst="rect">
            <a:avLst/>
          </a:prstGeom>
          <a:noFill/>
        </p:spPr>
        <p:txBody>
          <a:bodyPr wrap="square" anchor="t" lIns="45720" rIns="45720">
            <a:noAutofit/>
          </a:bodyPr>
          <a:lstStyle/>
          <a:p>
            <a:pPr algn="l"/>
            <a:r>
              <a:rPr lang="es-ES" sz="1400" b="1" dirty="0">
                <a:solidFill>
                  <a:srgbClr val="0F5499"/>
                </a:solidFill>
              </a:rPr>
              <a:t>Document 90, section 2.4, and the obligation matrix (document 94).</a:t>
            </a:r>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23" name="Marca"/>
          <p:cNvSpPr/>
          <p:nvPr/>
        </p:nvSpPr>
        <p:spPr>
          <a:xfrm>
            <a:off x="609600" y="365760"/>
            <a:ext cx="182880" cy="182880"/>
          </a:xfrm>
          <a:prstGeom prst="rect">
            <a:avLst/>
          </a:prstGeom>
          <a:solidFill>
            <a:srgbClr val="990F3D"/>
          </a:solidFill>
        </p:spPr>
        <p:txBody>
          <a:bodyPr/>
          <a:lstStyle/>
          <a:p/>
        </p:txBody>
      </p:sp>
      <p:sp>
        <p:nvSpPr>
          <p:cNvPr id="224" name="Texto 224"/>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225" name="Texto 225"/>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The 90-day plan</a:t>
            </a:r>
          </a:p>
        </p:txBody>
      </p:sp>
      <p:sp>
        <p:nvSpPr>
          <p:cNvPr id="226" name="Texto 226"/>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Three months, three results and one board decision</a:t>
            </a:r>
          </a:p>
        </p:txBody>
      </p:sp>
      <p:sp>
        <p:nvSpPr>
          <p:cNvPr id="213" name="Caja 213"/>
          <p:cNvSpPr/>
          <p:nvPr/>
        </p:nvSpPr>
        <p:spPr>
          <a:xfrm>
            <a:off x="609600" y="2050000"/>
            <a:ext cx="3577600" cy="8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Month 1 · Diagnosis (C1)</a:t>
            </a:r>
          </a:p>
        </p:txBody>
      </p:sp>
      <p:sp>
        <p:nvSpPr>
          <p:cNvPr id="214" name="Caja 214"/>
          <p:cNvSpPr/>
          <p:nvPr/>
        </p:nvSpPr>
        <p:spPr>
          <a:xfrm>
            <a:off x="6096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15" name="Texto 215"/>
          <p:cNvSpPr txBox="1"/>
          <p:nvPr/>
        </p:nvSpPr>
        <p:spPr>
          <a:xfrm>
            <a:off x="649600" y="2890000"/>
            <a:ext cx="3497600" cy="2340000"/>
          </a:xfrm>
          <a:prstGeom prst="rect">
            <a:avLst/>
          </a:prstGeom>
          <a:noFill/>
        </p:spPr>
        <p:txBody>
          <a:bodyPr wrap="square" anchor="t" lIns="45720" rIns="45720">
            <a:noAutofit/>
          </a:bodyPr>
          <a:lstStyle/>
          <a:p>
            <a:pPr algn="l"/>
            <a:r>
              <a:rPr lang="es-ES" sz="1300" dirty="0">
                <a:solidFill>
                  <a:srgbClr val="2F2B28"/>
                </a:solidFill>
              </a:rPr>
              <a:t>Mandate (P32). Inventory of all AI, including third-party and unauthorised, with a completeness statement. Evidence-based maturity (T15) and transformation index (T14). Milestone 1: verified C1 report (P33).</a:t>
            </a:r>
          </a:p>
        </p:txBody>
      </p:sp>
      <p:sp>
        <p:nvSpPr>
          <p:cNvPr id="216" name="Caja 216"/>
          <p:cNvSpPr/>
          <p:nvPr/>
        </p:nvSpPr>
        <p:spPr>
          <a:xfrm>
            <a:off x="4307200" y="2050000"/>
            <a:ext cx="3577600" cy="8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Month 2 · Risks and opportunities</a:t>
            </a:r>
          </a:p>
        </p:txBody>
      </p:sp>
      <p:sp>
        <p:nvSpPr>
          <p:cNvPr id="217" name="Caja 217"/>
          <p:cNvSpPr/>
          <p:nvPr/>
        </p:nvSpPr>
        <p:spPr>
          <a:xfrm>
            <a:off x="43072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18" name="Texto 218"/>
          <p:cNvSpPr txBox="1"/>
          <p:nvPr/>
        </p:nvSpPr>
        <p:spPr>
          <a:xfrm>
            <a:off x="4347200" y="2890000"/>
            <a:ext cx="3497600" cy="2340000"/>
          </a:xfrm>
          <a:prstGeom prst="rect">
            <a:avLst/>
          </a:prstGeom>
          <a:noFill/>
        </p:spPr>
        <p:txBody>
          <a:bodyPr wrap="square" anchor="t" lIns="45720" rIns="45720">
            <a:noAutofit/>
          </a:bodyPr>
          <a:lstStyle/>
          <a:p>
            <a:pPr algn="l"/>
            <a:r>
              <a:rPr lang="es-ES" sz="1300" dirty="0">
                <a:solidFill>
                  <a:srgbClr val="2F2B28"/>
                </a:solidFill>
              </a:rPr>
              <a:t>Workshops per sphere: risks of what already exists (P11, P12) and opportunities with estimated value (P06, P07). Draft AI thesis, ambition and risk appetite (P35). Milestone 2: C2 proposal ready for the board.</a:t>
            </a:r>
          </a:p>
        </p:txBody>
      </p:sp>
      <p:sp>
        <p:nvSpPr>
          <p:cNvPr id="219" name="Caja 219"/>
          <p:cNvSpPr/>
          <p:nvPr/>
        </p:nvSpPr>
        <p:spPr>
          <a:xfrm>
            <a:off x="8004800" y="2050000"/>
            <a:ext cx="3577600" cy="8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Month 3 · Governance and portfolio</a:t>
            </a:r>
          </a:p>
        </p:txBody>
      </p:sp>
      <p:sp>
        <p:nvSpPr>
          <p:cNvPr id="220" name="Caja 220"/>
          <p:cNvSpPr/>
          <p:nvPr/>
        </p:nvSpPr>
        <p:spPr>
          <a:xfrm>
            <a:off x="80048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21" name="Texto 221"/>
          <p:cNvSpPr txBox="1"/>
          <p:nvPr/>
        </p:nvSpPr>
        <p:spPr>
          <a:xfrm>
            <a:off x="8044800" y="2890000"/>
            <a:ext cx="3497600" cy="2340000"/>
          </a:xfrm>
          <a:prstGeom prst="rect">
            <a:avLst/>
          </a:prstGeom>
          <a:noFill/>
        </p:spPr>
        <p:txBody>
          <a:bodyPr wrap="square" anchor="t" lIns="45720" rIns="45720">
            <a:noAutofit/>
          </a:bodyPr>
          <a:lstStyle/>
          <a:p>
            <a:pPr algn="l"/>
            <a:r>
              <a:rPr lang="es-ES" sz="1300" dirty="0">
                <a:solidFill>
                  <a:srgbClr val="2F2B28"/>
                </a:solidFill>
              </a:rPr>
              <a:t>Bodies and roles with no incompatibilities (P38, P03), gates and policies, first dashboard with real data (T17) and prioritised portfolio (P36). The board approves C2 and the committee, C3. Milestone 3: business as usual.</a:t>
            </a:r>
          </a:p>
        </p:txBody>
      </p:sp>
      <p:sp>
        <p:nvSpPr>
          <p:cNvPr id="222" name="Texto 222"/>
          <p:cNvSpPr txBox="1"/>
          <p:nvPr/>
        </p:nvSpPr>
        <p:spPr>
          <a:xfrm>
            <a:off x="609600" y="6150000"/>
            <a:ext cx="10972800" cy="500000"/>
          </a:xfrm>
          <a:prstGeom prst="rect">
            <a:avLst/>
          </a:prstGeom>
          <a:noFill/>
        </p:spPr>
        <p:txBody>
          <a:bodyPr wrap="square" anchor="t" lIns="45720" rIns="45720">
            <a:noAutofit/>
          </a:bodyPr>
          <a:lstStyle/>
          <a:p>
            <a:pPr algn="l"/>
            <a:r>
              <a:rPr lang="es-ES" sz="1400" b="1" dirty="0">
                <a:solidFill>
                  <a:srgbClr val="0F5499"/>
                </a:solidFill>
              </a:rPr>
              <a:t>From week 13, no new initiative spends budget without going through G0.</a:t>
            </a:r>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28" name="Marca"/>
          <p:cNvSpPr/>
          <p:nvPr/>
        </p:nvSpPr>
        <p:spPr>
          <a:xfrm>
            <a:off x="609600" y="365760"/>
            <a:ext cx="182880" cy="182880"/>
          </a:xfrm>
          <a:prstGeom prst="rect">
            <a:avLst/>
          </a:prstGeom>
          <a:solidFill>
            <a:srgbClr val="990F3D"/>
          </a:solidFill>
        </p:spPr>
        <p:txBody>
          <a:bodyPr/>
          <a:lstStyle/>
          <a:p/>
        </p:txBody>
      </p:sp>
      <p:sp>
        <p:nvSpPr>
          <p:cNvPr id="229" name="Texto 229"/>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230" name="Texto 230"/>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Three guarantees that are never negotiable, even at small scale</a:t>
            </a:r>
          </a:p>
        </p:txBody>
      </p:sp>
      <p:sp>
        <p:nvSpPr>
          <p:cNvPr id="227" name="Texto 227"/>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Whoever builds neither verifies nor decides on their own work.</a:t>
            </a:r>
          </a:p>
          <a:p>
            <a:pPr marL="285750" indent="-285750">
              <a:spcAft>
                <a:spcPts val="400"/>
              </a:spcAft>
              <a:buClr>
                <a:srgbClr val="990F3D"/>
              </a:buClr>
              <a:buFont typeface="Arial"/>
              <a:buChar char="•"/>
            </a:pPr>
            <a:r>
              <a:rPr lang="es-ES" sz="1800" dirty="0">
                <a:solidFill>
                  <a:srgbClr val="2F2B28"/>
                </a:solidFill>
              </a:rPr>
              <a:t>Risk sign-off comes from someone independent of the team.</a:t>
            </a:r>
          </a:p>
          <a:p>
            <a:pPr marL="285750" indent="-285750">
              <a:spcAft>
                <a:spcPts val="400"/>
              </a:spcAft>
              <a:buClr>
                <a:srgbClr val="990F3D"/>
              </a:buClr>
              <a:buFont typeface="Arial"/>
              <a:buChar char="•"/>
            </a:pPr>
            <a:r>
              <a:rPr lang="es-ES" sz="1800" dirty="0">
                <a:solidFill>
                  <a:srgbClr val="2F2B28"/>
                </a:solidFill>
              </a:rPr>
              <a:t>The board approves the direction and the risk appetite: this is not delegated.</a:t>
            </a:r>
          </a:p>
          <a:p>
            <a:pPr marL="285750" indent="-285750">
              <a:spcAft>
                <a:spcPts val="400"/>
              </a:spcAft>
              <a:buClr>
                <a:srgbClr val="990F3D"/>
              </a:buClr>
              <a:buFont typeface="Arial"/>
              <a:buChar char="•"/>
            </a:pPr>
            <a:r>
              <a:rPr lang="es-ES" sz="1800" dirty="0">
                <a:solidFill>
                  <a:srgbClr val="2F2B28"/>
                </a:solidFill>
              </a:rPr>
              <a:t>One person can hold several roles if they are not incompatible; the T01 register checks it (P03).</a:t>
            </a:r>
          </a:p>
          <a:p>
            <a:pPr marL="285750" indent="-285750">
              <a:spcAft>
                <a:spcPts val="400"/>
              </a:spcAft>
              <a:buClr>
                <a:srgbClr val="990F3D"/>
              </a:buClr>
              <a:buFont typeface="Arial"/>
              <a:buChar char="•"/>
            </a:pPr>
            <a:r>
              <a:rPr lang="es-ES" sz="1800" dirty="0">
                <a:solidFill>
                  <a:srgbClr val="2F2B28"/>
                </a:solidFill>
              </a:rPr>
              <a:t>What already exists is regularised with approved deadlines, not ignored: inventory first, then risks, then gates.</a:t>
            </a:r>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32" name="Marca"/>
          <p:cNvSpPr/>
          <p:nvPr/>
        </p:nvSpPr>
        <p:spPr>
          <a:xfrm>
            <a:off x="609600" y="365760"/>
            <a:ext cx="182880" cy="182880"/>
          </a:xfrm>
          <a:prstGeom prst="rect">
            <a:avLst/>
          </a:prstGeom>
          <a:solidFill>
            <a:srgbClr val="990F3D"/>
          </a:solidFill>
        </p:spPr>
        <p:txBody>
          <a:bodyPr/>
          <a:lstStyle/>
          <a:p/>
        </p:txBody>
      </p:sp>
      <p:sp>
        <p:nvSpPr>
          <p:cNvPr id="233" name="Texto 23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234" name="Texto 23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Common mistakes when implementing it yourself</a:t>
            </a:r>
          </a:p>
        </p:txBody>
      </p:sp>
      <p:sp>
        <p:nvSpPr>
          <p:cNvPr id="231" name="Texto 231"/>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Applying Enterprise to everything: the framework becomes heavy and is abandoned. Or applying nothing "because we are small".</a:t>
            </a:r>
          </a:p>
          <a:p>
            <a:pPr marL="285750" indent="-285750">
              <a:spcAft>
                <a:spcPts val="400"/>
              </a:spcAft>
              <a:buClr>
                <a:srgbClr val="990F3D"/>
              </a:buClr>
              <a:buFont typeface="Arial"/>
              <a:buChar char="•"/>
            </a:pPr>
            <a:r>
              <a:rPr lang="es-ES" sz="1800" dirty="0">
                <a:solidFill>
                  <a:srgbClr val="2F2B28"/>
                </a:solidFill>
              </a:rPr>
              <a:t>Filling in templates after deciding: after-the-fact documentation invalidates the gate.</a:t>
            </a:r>
          </a:p>
          <a:p>
            <a:pPr marL="285750" indent="-285750">
              <a:spcAft>
                <a:spcPts val="400"/>
              </a:spcAft>
              <a:buClr>
                <a:srgbClr val="990F3D"/>
              </a:buClr>
              <a:buFont typeface="Arial"/>
              <a:buChar char="•"/>
            </a:pPr>
            <a:r>
              <a:rPr lang="es-ES" sz="1800" dirty="0">
                <a:solidFill>
                  <a:srgbClr val="2F2B28"/>
                </a:solidFill>
              </a:rPr>
              <a:t>Adding released hours as savings on the dashboard.</a:t>
            </a:r>
          </a:p>
          <a:p>
            <a:pPr marL="285750" indent="-285750">
              <a:spcAft>
                <a:spcPts val="400"/>
              </a:spcAft>
              <a:buClr>
                <a:srgbClr val="990F3D"/>
              </a:buClr>
              <a:buFont typeface="Arial"/>
              <a:buChar char="•"/>
            </a:pPr>
            <a:r>
              <a:rPr lang="es-ES" sz="1800" dirty="0">
                <a:solidFill>
                  <a:srgbClr val="2F2B28"/>
                </a:solidFill>
              </a:rPr>
              <a:t>Never stopping anything: a portfolio with no stops has formalities, not gates.</a:t>
            </a:r>
          </a:p>
          <a:p>
            <a:pPr marL="285750" indent="-285750">
              <a:spcAft>
                <a:spcPts val="400"/>
              </a:spcAft>
              <a:buClr>
                <a:srgbClr val="990F3D"/>
              </a:buClr>
              <a:buFont typeface="Arial"/>
              <a:buChar char="•"/>
            </a:pPr>
            <a:r>
              <a:rPr lang="es-ES" sz="1800" dirty="0">
                <a:solidFill>
                  <a:srgbClr val="2F2B28"/>
                </a:solidFill>
              </a:rPr>
              <a:t>An incomplete inventory: third-party AI and unauthorised use count too.</a:t>
            </a:r>
          </a:p>
          <a:p>
            <a:pPr marL="285750" indent="-285750">
              <a:spcAft>
                <a:spcPts val="400"/>
              </a:spcAft>
              <a:buClr>
                <a:srgbClr val="990F3D"/>
              </a:buClr>
              <a:buFont typeface="Arial"/>
              <a:buChar char="•"/>
            </a:pPr>
            <a:r>
              <a:rPr lang="es-ES" sz="1800" dirty="0">
                <a:solidFill>
                  <a:srgbClr val="2F2B28"/>
                </a:solidFill>
              </a:rPr>
              <a:t>Leaving the board out until the end: its session is booked on day one.</a:t>
            </a:r>
          </a:p>
        </p:txBody>
      </p:sp>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36" name="Marca"/>
          <p:cNvSpPr/>
          <p:nvPr/>
        </p:nvSpPr>
        <p:spPr>
          <a:xfrm>
            <a:off x="609600" y="365760"/>
            <a:ext cx="182880" cy="182880"/>
          </a:xfrm>
          <a:prstGeom prst="rect">
            <a:avLst/>
          </a:prstGeom>
          <a:solidFill>
            <a:srgbClr val="990F3D"/>
          </a:solidFill>
        </p:spPr>
        <p:txBody>
          <a:bodyPr/>
          <a:lstStyle/>
          <a:p/>
        </p:txBody>
      </p:sp>
      <p:sp>
        <p:nvSpPr>
          <p:cNvPr id="237" name="Texto 237"/>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COMPANY · SELF-CONSULTING</a:t>
            </a:r>
          </a:p>
        </p:txBody>
      </p:sp>
      <p:sp>
        <p:nvSpPr>
          <p:cNvPr id="238" name="Texto 238"/>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Where to start tomorrow</a:t>
            </a:r>
          </a:p>
        </p:txBody>
      </p:sp>
      <p:sp>
        <p:nvSpPr>
          <p:cNvPr id="235" name="Texto 235"/>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One afternoon: open the sample register (T01) and its dashboard (T17), and answer the maturity diagnostic (T15) with your real situation.</a:t>
            </a:r>
          </a:p>
          <a:p>
            <a:pPr marL="285750" indent="-285750">
              <a:spcAft>
                <a:spcPts val="400"/>
              </a:spcAft>
              <a:buClr>
                <a:srgbClr val="990F3D"/>
              </a:buClr>
              <a:buFont typeface="Arial"/>
              <a:buChar char="•"/>
            </a:pPr>
            <a:r>
              <a:rPr lang="es-ES" sz="1800" dirty="0">
                <a:solidFill>
                  <a:srgbClr val="2F2B28"/>
                </a:solidFill>
              </a:rPr>
              <a:t>One week: documents 00, 01 and 90; decide Lite or Enterprise scope and draft the mandate (P32).</a:t>
            </a:r>
          </a:p>
          <a:p>
            <a:pPr marL="285750" indent="-285750">
              <a:spcAft>
                <a:spcPts val="400"/>
              </a:spcAft>
              <a:buClr>
                <a:srgbClr val="990F3D"/>
              </a:buClr>
              <a:buFont typeface="Arial"/>
              <a:buChar char="•"/>
            </a:pPr>
            <a:r>
              <a:rPr lang="es-ES" sz="1800" dirty="0">
                <a:solidFill>
                  <a:srgbClr val="2F2B28"/>
                </a:solidFill>
              </a:rPr>
              <a:t>Adoption can be modular: just the register, just the gates, just measurement or just the dashboard, and extend later.</a:t>
            </a:r>
          </a:p>
          <a:p>
            <a:pPr marL="285750" indent="-285750">
              <a:spcAft>
                <a:spcPts val="400"/>
              </a:spcAft>
              <a:buClr>
                <a:srgbClr val="990F3D"/>
              </a:buClr>
              <a:buFont typeface="Arial"/>
              <a:buChar char="•"/>
            </a:pPr>
            <a:r>
              <a:rPr lang="es-ES" sz="1800" dirty="0">
                <a:solidFill>
                  <a:srgbClr val="2F2B28"/>
                </a:solidFill>
              </a:rPr>
              <a:t>If you want support, you can ask any professional; document 91 explains how to avoid depending on them.</a:t>
            </a:r>
          </a:p>
          <a:p>
            <a:pPr marL="285750" indent="-285750">
              <a:spcAft>
                <a:spcPts val="400"/>
              </a:spcAft>
              <a:buClr>
                <a:srgbClr val="990F3D"/>
              </a:buClr>
              <a:buFont typeface="Arial"/>
              <a:buChar char="•"/>
            </a:pPr>
            <a:r>
              <a:rPr lang="es-ES" sz="1800" dirty="0">
                <a:solidFill>
                  <a:srgbClr val="2F2B28"/>
                </a:solidFill>
              </a:rPr>
              <a:t>None of this requires registering or hiring anyone.</a:t>
            </a:r>
          </a:p>
        </p:txBody>
      </p:sp>
    </p:spTree>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39" name="Texto 239"/>
          <p:cNvSpPr txBox="1"/>
          <p:nvPr/>
        </p:nvSpPr>
        <p:spPr>
          <a:xfrm>
            <a:off x="609600" y="2300000"/>
            <a:ext cx="10972800" cy="900000"/>
          </a:xfrm>
          <a:prstGeom prst="rect">
            <a:avLst/>
          </a:prstGeom>
          <a:noFill/>
        </p:spPr>
        <p:txBody>
          <a:bodyPr wrap="square" anchor="t" lIns="45720" rIns="45720">
            <a:noAutofit/>
          </a:bodyPr>
          <a:lstStyle/>
          <a:p>
            <a:pPr algn="ctr"/>
            <a:r>
              <a:rPr lang="es-ES" sz="4400" b="1" dirty="0">
                <a:solidFill>
                  <a:srgbClr val="1A1817"/>
                </a:solidFill>
              </a:rPr>
              <a:t>Thank you</a:t>
            </a:r>
          </a:p>
        </p:txBody>
      </p:sp>
      <p:sp>
        <p:nvSpPr>
          <p:cNvPr id="240" name="Texto 240"/>
          <p:cNvSpPr txBox="1"/>
          <p:nvPr/>
        </p:nvSpPr>
        <p:spPr>
          <a:xfrm>
            <a:off x="609600" y="3350000"/>
            <a:ext cx="10972800" cy="900000"/>
          </a:xfrm>
          <a:prstGeom prst="rect">
            <a:avLst/>
          </a:prstGeom>
          <a:noFill/>
        </p:spPr>
        <p:txBody>
          <a:bodyPr wrap="square" anchor="t" lIns="45720" rIns="45720">
            <a:noAutofit/>
          </a:bodyPr>
          <a:lstStyle/>
          <a:p>
            <a:pPr algn="ctr"/>
            <a:r>
              <a:rPr lang="es-ES" sz="1900" dirty="0">
                <a:solidFill>
                  <a:srgbClr val="2F2B28"/>
                </a:solidFill>
              </a:rPr>
              <a:t>SEVEN-G is free: it is used, downloaded and adapted without registering, and the site will never write to you. If you want to talk to the author, the initiative is yours.</a:t>
            </a:r>
          </a:p>
        </p:txBody>
      </p:sp>
      <p:sp>
        <p:nvSpPr>
          <p:cNvPr id="241" name="Texto 241"/>
          <p:cNvSpPr txBox="1"/>
          <p:nvPr/>
        </p:nvSpPr>
        <p:spPr>
          <a:xfrm>
            <a:off x="609600" y="4350000"/>
            <a:ext cx="10972800" cy="500000"/>
          </a:xfrm>
          <a:prstGeom prst="rect">
            <a:avLst/>
          </a:prstGeom>
          <a:noFill/>
        </p:spPr>
        <p:txBody>
          <a:bodyPr wrap="square" anchor="t" lIns="45720" rIns="45720">
            <a:noAutofit/>
          </a:bodyPr>
          <a:lstStyle/>
          <a:p>
            <a:pPr algn="ctr"/>
            <a:r>
              <a:rPr lang="es-ES" sz="1600" dirty="0">
                <a:solidFill>
                  <a:srgbClr val="564D47"/>
                </a:solidFill>
              </a:rPr>
              <a:t>SEVEN-G is a registered trademark of Fernando García Varela · CC BY 4.0 (content) · MIT (code)</a:t>
            </a:r>
          </a:p>
        </p:txBody>
      </p:sp>
      <p:sp>
        <p:nvSpPr>
          <p:cNvPr id="242" name="Texto 242"/>
          <p:cNvSpPr txBox="1"/>
          <p:nvPr/>
        </p:nvSpPr>
        <p:spPr>
          <a:xfrm>
            <a:off x="609600" y="4950000"/>
            <a:ext cx="10972800" cy="500000"/>
          </a:xfrm>
          <a:prstGeom prst="rect">
            <a:avLst/>
          </a:prstGeom>
          <a:noFill/>
        </p:spPr>
        <p:txBody>
          <a:bodyPr wrap="square" anchor="t" lIns="45720" rIns="45720">
            <a:noAutofit/>
          </a:bodyPr>
          <a:lstStyle/>
          <a:p>
            <a:pPr algn="ctr"/>
            <a:r>
              <a:rPr lang="es-ES" sz="1700" dirty="0">
                <a:solidFill>
                  <a:srgbClr val="0F5499"/>
                </a:solidFill>
              </a:rPr>
              <a:t>https://www.linkedin.com/in/fernandogarciavarela/</a:t>
            </a:r>
          </a:p>
        </p:txBody>
      </p:sp>
      <p:sp>
        <p:nvSpPr>
          <p:cNvPr id="243" name="Texto 243"/>
          <p:cNvSpPr txBox="1"/>
          <p:nvPr/>
        </p:nvSpPr>
        <p:spPr>
          <a:xfrm>
            <a:off x="609600" y="5550000"/>
            <a:ext cx="10972800" cy="1000000"/>
          </a:xfrm>
          <a:prstGeom prst="rect">
            <a:avLst/>
          </a:prstGeom>
          <a:noFill/>
        </p:spPr>
        <p:txBody>
          <a:bodyPr wrap="square" anchor="t" lIns="45720" rIns="45720">
            <a:noAutofit/>
          </a:bodyPr>
          <a:lstStyle/>
          <a:p>
            <a:pPr algn="ctr"/>
            <a:r>
              <a:rPr lang="es-ES" sz="1000" dirty="0">
                <a:solidFill>
                  <a:srgbClr val="564D47"/>
                </a:solidFill>
              </a:rPr>
              <a:t>Legal notice: a generic, free methodological aid provided "as is" for information purposes; it is not legal advice and has not been legally reviewed for any case. Each organisation adapts it and is responsible for its legal review and its regulatory compliance; it may not reflect recent regulatory changes. To the fullest extent permitted by law, the author accepts no liability whatsoever for the effects of its application. It does not grant certification of any kind. Details in document 93.</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SEVEN-G">
  <a:themeElements>
    <a:clrScheme name="SEVEN-G">
      <a:dk1>
        <a:srgbClr val="1A1817"/>
      </a:dk1>
      <a:lt1>
        <a:srgbClr val="FBE2CD"/>
      </a:lt1>
      <a:dk2>
        <a:srgbClr val="2F2B28"/>
      </a:dk2>
      <a:lt2>
        <a:srgbClr val="FFFFFF"/>
      </a:lt2>
      <a:accent1>
        <a:srgbClr val="990F3D"/>
      </a:accent1>
      <a:accent2>
        <a:srgbClr val="0F5499"/>
      </a:accent2>
      <a:accent3>
        <a:srgbClr val="0D7680"/>
      </a:accent3>
      <a:accent4>
        <a:srgbClr val="593380"/>
      </a:accent4>
      <a:accent5>
        <a:srgbClr val="A5822A"/>
      </a:accent5>
      <a:accent6>
        <a:srgbClr val="71645B"/>
      </a:accent6>
      <a:hlink>
        <a:srgbClr val="0F5499"/>
      </a:hlink>
      <a:folHlink>
        <a:srgbClr val="593380"/>
      </a:folHlink>
    </a:clrScheme>
    <a:fontScheme name="SEVEN-G">
      <a:majorFont>
        <a:latin typeface="Georgia"/>
        <a:ea typeface=""/>
        <a:cs typeface=""/>
      </a:majorFont>
      <a:minorFont>
        <a:latin typeface="Arial"/>
        <a:ea typeface=""/>
        <a:cs typeface=""/>
      </a:minorFont>
    </a:fontScheme>
    <a:fmtScheme name="SEVEN-G">
      <a:fillStyleLst>
        <a:solidFill>
          <a:schemeClr val="accent1"/>
        </a:solidFill>
        <a:solidFill>
          <a:schemeClr val="accent1"/>
        </a:solidFill>
        <a:solidFill>
          <a:schemeClr val="accent1"/>
        </a:solidFill>
      </a:fillStyleLst>
      <a:lnStyleLst>
        <a:ln>
          <a:solidFill>
            <a:schemeClr val="accent1"/>
          </a:solidFill>
        </a:ln>
        <a:ln>
          <a:solidFill>
            <a:schemeClr val="accent1"/>
          </a:solidFill>
        </a:ln>
        <a:ln>
          <a:solidFill>
            <a:schemeClr val="accent1"/>
          </a:solidFill>
        </a:ln>
      </a:lnStyleLst>
      <a:effectStyleLst>
        <a:effectStyle>
          <a:effectLst/>
        </a:effectStyle>
        <a:effectStyle>
          <a:effectLst/>
        </a:effectStyle>
        <a:effectStyle>
          <a:effectLst/>
        </a:effectStyle>
      </a:effectStyleLst>
      <a:bgFillStyleLst>
        <a:solidFill>
          <a:schemeClr val="lt1"/>
        </a:solidFill>
        <a:solidFill>
          <a:schemeClr val="lt1"/>
        </a:solidFill>
        <a:solidFill>
          <a:schemeClr val="lt1"/>
        </a:solidFill>
      </a:bgFillStyleLst>
    </a:fmtScheme>
  </a:themeElements>
</a:theme>
</file>

<file path=docProps/app.xml><?xml version="1.0" encoding="utf-8"?>
<Properties xmlns="http://schemas.openxmlformats.org/officeDocument/2006/extended-properties">
  <Application>SEVEN-G build</Application>
  <Slides>27</Slides>
  <Company>Fernando García Varela</Company>
</Properties>
</file>

<file path=docProps/core.xml><?xml version="1.0" encoding="utf-8"?>
<cp:coreProperties xmlns:cp="http://schemas.openxmlformats.org/package/2006/metadata/core-properties" xmlns:dc="http://purl.org/dc/elements/1.1/" xmlns:dcterms="http://purl.org/dc/terms/" xmlns:xsi="http://www.w3.org/2001/XMLSchema-instance">
  <dc:title>SEVEN-G course for the company</dc:title>
  <dc:creator>Fernando García Varela</dc:creator>
  <cp:lastModifiedBy>SEVEN-G build</cp:lastModifiedBy>
  <dcterms:created xsi:type="dcterms:W3CDTF">2026-01-01T00:00:00Z</dcterms:created>
  <dcterms:modified xsi:type="dcterms:W3CDTF">2026-01-01T00:00:00Z</dcterms:modified>
</cp:coreProperties>
</file>
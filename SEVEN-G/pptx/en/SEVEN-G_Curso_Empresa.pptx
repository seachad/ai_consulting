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1"/>
  </p:sldMasterIdLst>
  <p:sldIdLst>
    <p:sldId id="256" r:id="rIdS1"/>
    <p:sldId id="257" r:id="rIdS2"/>
    <p:sldId id="258" r:id="rIdS3"/>
    <p:sldId id="259" r:id="rIdS4"/>
    <p:sldId id="260" r:id="rIdS5"/>
    <p:sldId id="261" r:id="rIdS6"/>
    <p:sldId id="262" r:id="rIdS7"/>
    <p:sldId id="263" r:id="rIdS8"/>
    <p:sldId id="264" r:id="rIdS9"/>
    <p:sldId id="265" r:id="rIdS10"/>
    <p:sldId id="266" r:id="rIdS11"/>
    <p:sldId id="267" r:id="rIdS12"/>
    <p:sldId id="268" r:id="rIdS13"/>
    <p:sldId id="269" r:id="rIdS14"/>
    <p:sldId id="270" r:id="rIdS15"/>
    <p:sldId id="271" r:id="rIdS16"/>
    <p:sldId id="272" r:id="rIdS17"/>
    <p:sldId id="273" r:id="rIdS18"/>
    <p:sldId id="274" r:id="rIdS19"/>
    <p:sldId id="275" r:id="rIdS20"/>
    <p:sldId id="276" r:id="rIdS21"/>
    <p:sldId id="277" r:id="rIdS22"/>
    <p:sldId id="278" r:id="rIdS23"/>
    <p:sldId id="279" r:id="rIdS24"/>
    <p:sldId id="280" r:id="rIdS25"/>
    <p:sldId id="281" r:id="rIdS26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M1" Type="http://schemas.openxmlformats.org/officeDocument/2006/relationships/slideMaster" Target="slideMasters/slideMaster1.xml"/><Relationship Id="rIdT1" Type="http://schemas.openxmlformats.org/officeDocument/2006/relationships/theme" Target="theme/theme1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Relationship Id="rIdS24" Type="http://schemas.openxmlformats.org/officeDocument/2006/relationships/slide" Target="slides/slide24.xml"/><Relationship Id="rIdS25" Type="http://schemas.openxmlformats.org/officeDocument/2006/relationships/slide" Target="slides/slide25.xml"/><Relationship Id="rIdS26" Type="http://schemas.openxmlformats.org/officeDocument/2006/relationships/slide" Target="slides/slide26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registro" Type="http://schemas.openxmlformats.org/officeDocument/2006/relationships/image" Target="../media/registro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embudo" Type="http://schemas.openxmlformats.org/officeDocument/2006/relationships/image" Target="../media/embudo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Img_panel" Type="http://schemas.openxmlformats.org/officeDocument/2006/relationships/image" Target="../media/panel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7" name="Texto 7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2" name="Texto 2"/>
          <p:cNvSpPr txBox="1"/>
          <p:nvPr/>
        </p:nvSpPr>
        <p:spPr>
          <a:xfrm>
            <a:off x="609600" y="1350000"/>
            <a:ext cx="10972800" cy="11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5000" b="1" dirty="0">
                <a:solidFill>
                  <a:srgbClr val="1A1817"/>
                </a:solidFill>
              </a:rPr>
              <a:t>SEVEN-G</a:t>
            </a:r>
          </a:p>
        </p:txBody>
      </p:sp>
      <p:sp>
        <p:nvSpPr>
          <p:cNvPr id="3" name="Caja 3"/>
          <p:cNvSpPr/>
          <p:nvPr/>
        </p:nvSpPr>
        <p:spPr>
          <a:xfrm>
            <a:off x="609600" y="2600000"/>
            <a:ext cx="52000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800" b="1" dirty="0">
                <a:solidFill>
                  <a:srgbClr val="FFFFFF"/>
                </a:solidFill>
              </a:rPr>
              <a:t>Company · Self-consulting</a:t>
            </a:r>
          </a:p>
        </p:txBody>
      </p:sp>
      <p:sp>
        <p:nvSpPr>
          <p:cNvPr id="4" name="Texto 4"/>
          <p:cNvSpPr txBox="1"/>
          <p:nvPr/>
        </p:nvSpPr>
        <p:spPr>
          <a:xfrm>
            <a:off x="609600" y="3450000"/>
            <a:ext cx="10500000" cy="1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000" dirty="0">
                <a:solidFill>
                  <a:srgbClr val="2F2B28"/>
                </a:solidFill>
              </a:rPr>
              <a:t>What SEVEN-G is, how the initiative funnel gets filled all the way to the board dashboard, and how to implement it in your company by your own means.</a:t>
            </a:r>
          </a:p>
        </p:txBody>
      </p:sp>
      <p:sp>
        <p:nvSpPr>
          <p:cNvPr id="5" name="Texto 5"/>
          <p:cNvSpPr txBox="1"/>
          <p:nvPr/>
        </p:nvSpPr>
        <p:spPr>
          <a:xfrm>
            <a:off x="609600" y="61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dirty="0">
                <a:solidFill>
                  <a:srgbClr val="0F5499"/>
                </a:solidFill>
              </a:rPr>
              <a:t>Fernando García Varela · Self-learning course · CC BY 4.0 · Examples with fictitious data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1" name="Texto 1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12" name="Texto 1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The problem it solves</a:t>
            </a:r>
          </a:p>
        </p:txBody>
      </p:sp>
      <p:sp>
        <p:nvSpPr>
          <p:cNvPr id="8" name="Texto 8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Many companies have AI pilots that work, but few reach production.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Value gets declared ("we freed up 200 hours") and almost nobody checks it.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Nobody has clear authority to stop an initiative that is not working.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The board asks about AI and gets a list of technical projects, not business decisions.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Is the company transforming with AI, or just a bit more efficient? Almost nobody can answer that with evidence.</a:t>
            </a:r>
          </a:p>
        </p:txBody>
      </p:sp>
      <p:sp>
        <p:nvSpPr>
          <p:cNvPr id="9" name="Texto 9"/>
          <p:cNvSpPr txBox="1"/>
          <p:nvPr/>
        </p:nvSpPr>
        <p:spPr>
          <a:xfrm>
            <a:off x="609600" y="62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This is not a technology problem: it is a governance and measurement problem.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5" name="Texto 1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16" name="Texto 1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What SEVEN-G is and what it delivers</a:t>
            </a:r>
          </a:p>
        </p:txBody>
      </p:sp>
      <p:sp>
        <p:nvSpPr>
          <p:cNvPr id="13" name="Texto 13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Seven-phase Enterprise Value &amp; Governance: an enabling phase 0 and seven value phases, with governance throughout.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organises AI as a portfolio: every initiative has a phase, a cost, expected value and an owner.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places decision gates between phases: no verified evidence, no progress.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separates who decides, who builds and who controls, and turns regulation into phases, roles and evidence.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measures value in money and with a status —validated, declared or estimated— and shows it to the board on a dashboard.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It is free and modifiable: documents, Word templates and tools, under an open licence.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" name="Texto 1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20" name="Texto 2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Two levels: the company and each initiative</a:t>
            </a:r>
          </a:p>
        </p:txBody>
      </p:sp>
      <p:sp>
        <p:nvSpPr>
          <p:cNvPr id="17" name="Texto 17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C1 · Diagnosis: inventory, maturity across seven dimensions and the transformation index.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C2 · Direction: the board approves the AI thesis, ambition per sphere and risk appetite.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C3 · Portfolio: which initiatives get funded, and in what order.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C4 · Oversight: board dashboard and the log of decisions and recommendations.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C5 · Annual review: what worked, what did not and what changes.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And, inside that portfolio, each initiative goes through its own eight-phase lifecycle.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43" name="Texto 43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44" name="Texto 44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An initiative's lifecycle</a:t>
            </a:r>
          </a:p>
        </p:txBody>
      </p:sp>
      <p:sp>
        <p:nvSpPr>
          <p:cNvPr id="45" name="Texto 45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Eight phases with a decision gate at the end of each; below, the funnel stage where each phase shows up</a:t>
            </a:r>
          </a:p>
        </p:txBody>
      </p:sp>
      <p:sp>
        <p:nvSpPr>
          <p:cNvPr id="21" name="Caja 21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64D4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22" name="Texto 22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23" name="Caja 23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Opportunity discovery</a:t>
            </a:r>
          </a:p>
        </p:txBody>
      </p:sp>
      <p:sp>
        <p:nvSpPr>
          <p:cNvPr id="24" name="Texto 24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25" name="Caja 25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26" name="Texto 26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27" name="Caja 27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28" name="Texto 28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29" name="Caja 29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Solution design</a:t>
            </a:r>
          </a:p>
        </p:txBody>
      </p:sp>
      <p:sp>
        <p:nvSpPr>
          <p:cNvPr id="30" name="Texto 30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31" name="Caja 31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Delivery and validation</a:t>
            </a:r>
          </a:p>
        </p:txBody>
      </p:sp>
      <p:sp>
        <p:nvSpPr>
          <p:cNvPr id="32" name="Texto 32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33" name="Caja 33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Operation and governance</a:t>
            </a:r>
          </a:p>
        </p:txBody>
      </p:sp>
      <p:sp>
        <p:nvSpPr>
          <p:cNvPr id="34" name="Texto 34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35" name="Caja 35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Evolution or retirement</a:t>
            </a:r>
          </a:p>
        </p:txBody>
      </p:sp>
      <p:sp>
        <p:nvSpPr>
          <p:cNvPr id="36" name="Texto 36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37" name="Caja 37"/>
          <p:cNvSpPr/>
          <p:nvPr/>
        </p:nvSpPr>
        <p:spPr>
          <a:xfrm>
            <a:off x="68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Proposed</a:t>
            </a:r>
          </a:p>
        </p:txBody>
      </p:sp>
      <p:sp>
        <p:nvSpPr>
          <p:cNvPr id="38" name="Caja 38"/>
          <p:cNvSpPr/>
          <p:nvPr/>
        </p:nvSpPr>
        <p:spPr>
          <a:xfrm>
            <a:off x="3421000" y="4330000"/>
            <a:ext cx="1240000" cy="52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39" name="Caja 39"/>
          <p:cNvSpPr/>
          <p:nvPr/>
        </p:nvSpPr>
        <p:spPr>
          <a:xfrm>
            <a:off x="4791000" y="4330000"/>
            <a:ext cx="1240000" cy="52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Proof of concept</a:t>
            </a:r>
          </a:p>
        </p:txBody>
      </p:sp>
      <p:sp>
        <p:nvSpPr>
          <p:cNvPr id="40" name="Caja 40"/>
          <p:cNvSpPr/>
          <p:nvPr/>
        </p:nvSpPr>
        <p:spPr>
          <a:xfrm>
            <a:off x="616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1A181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In development</a:t>
            </a:r>
          </a:p>
        </p:txBody>
      </p:sp>
      <p:sp>
        <p:nvSpPr>
          <p:cNvPr id="41" name="Caja 41"/>
          <p:cNvSpPr/>
          <p:nvPr/>
        </p:nvSpPr>
        <p:spPr>
          <a:xfrm>
            <a:off x="8901000" y="4330000"/>
            <a:ext cx="2610000" cy="520000"/>
          </a:xfrm>
          <a:prstGeom prst="roundRect">
            <a:avLst>
              <a:gd name="adj" fmla="val 6000"/>
            </a:avLst>
          </a:prstGeom>
          <a:solidFill>
            <a:srgbClr val="2E7D3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300" b="1" dirty="0">
                <a:solidFill>
                  <a:srgbClr val="FFFFFF"/>
                </a:solidFill>
              </a:rPr>
              <a:t>In use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3" name="Texto 63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64" name="Texto 64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What can happen at each gate</a:t>
            </a:r>
          </a:p>
        </p:txBody>
      </p:sp>
      <p:sp>
        <p:nvSpPr>
          <p:cNvPr id="65" name="Texto 65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Five outcomes; whoever provides the evidence never verifies it or decides</a:t>
            </a:r>
          </a:p>
        </p:txBody>
      </p:sp>
      <p:sp>
        <p:nvSpPr>
          <p:cNvPr id="46" name="Caja 46"/>
          <p:cNvSpPr/>
          <p:nvPr/>
        </p:nvSpPr>
        <p:spPr>
          <a:xfrm>
            <a:off x="60960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Proceed</a:t>
            </a:r>
          </a:p>
        </p:txBody>
      </p:sp>
      <p:sp>
        <p:nvSpPr>
          <p:cNvPr id="47" name="Caja 47"/>
          <p:cNvSpPr/>
          <p:nvPr/>
        </p:nvSpPr>
        <p:spPr>
          <a:xfrm>
            <a:off x="60960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48" name="Texto 48"/>
          <p:cNvSpPr txBox="1"/>
          <p:nvPr/>
        </p:nvSpPr>
        <p:spPr>
          <a:xfrm>
            <a:off x="64960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All criteria are met and the evidence is verified: it moves to the next phase.</a:t>
            </a:r>
          </a:p>
        </p:txBody>
      </p:sp>
      <p:sp>
        <p:nvSpPr>
          <p:cNvPr id="49" name="Caja 49"/>
          <p:cNvSpPr/>
          <p:nvPr/>
        </p:nvSpPr>
        <p:spPr>
          <a:xfrm>
            <a:off x="282816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With conditions</a:t>
            </a:r>
          </a:p>
        </p:txBody>
      </p:sp>
      <p:sp>
        <p:nvSpPr>
          <p:cNvPr id="50" name="Caja 50"/>
          <p:cNvSpPr/>
          <p:nvPr/>
        </p:nvSpPr>
        <p:spPr>
          <a:xfrm>
            <a:off x="282816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1" name="Texto 51"/>
          <p:cNvSpPr txBox="1"/>
          <p:nvPr/>
        </p:nvSpPr>
        <p:spPr>
          <a:xfrm>
            <a:off x="286816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It proceeds, with a deadline and owner for what is pending. Never for critical security, legal or human-oversight controls.</a:t>
            </a:r>
          </a:p>
        </p:txBody>
      </p:sp>
      <p:sp>
        <p:nvSpPr>
          <p:cNvPr id="52" name="Caja 52"/>
          <p:cNvSpPr/>
          <p:nvPr/>
        </p:nvSpPr>
        <p:spPr>
          <a:xfrm>
            <a:off x="504672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A5822A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Iterate</a:t>
            </a:r>
          </a:p>
        </p:txBody>
      </p:sp>
      <p:sp>
        <p:nvSpPr>
          <p:cNvPr id="53" name="Caja 53"/>
          <p:cNvSpPr/>
          <p:nvPr/>
        </p:nvSpPr>
        <p:spPr>
          <a:xfrm>
            <a:off x="504672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4" name="Texto 54"/>
          <p:cNvSpPr txBox="1"/>
          <p:nvPr/>
        </p:nvSpPr>
        <p:spPr>
          <a:xfrm>
            <a:off x="508672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The phase repeats with a specific adjustment and returns to the same gate. The third time, the higher body decides.</a:t>
            </a:r>
          </a:p>
        </p:txBody>
      </p:sp>
      <p:sp>
        <p:nvSpPr>
          <p:cNvPr id="55" name="Caja 55"/>
          <p:cNvSpPr/>
          <p:nvPr/>
        </p:nvSpPr>
        <p:spPr>
          <a:xfrm>
            <a:off x="726528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Pivot</a:t>
            </a:r>
          </a:p>
        </p:txBody>
      </p:sp>
      <p:sp>
        <p:nvSpPr>
          <p:cNvPr id="56" name="Caja 56"/>
          <p:cNvSpPr/>
          <p:nvPr/>
        </p:nvSpPr>
        <p:spPr>
          <a:xfrm>
            <a:off x="726528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57" name="Texto 57"/>
          <p:cNvSpPr txBox="1"/>
          <p:nvPr/>
        </p:nvSpPr>
        <p:spPr>
          <a:xfrm>
            <a:off x="730528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The hypothesis does not hold but another reasonable one exists: back to phase 2. Only at G1, G2 and G3.</a:t>
            </a:r>
          </a:p>
        </p:txBody>
      </p:sp>
      <p:sp>
        <p:nvSpPr>
          <p:cNvPr id="58" name="Caja 58"/>
          <p:cNvSpPr/>
          <p:nvPr/>
        </p:nvSpPr>
        <p:spPr>
          <a:xfrm>
            <a:off x="9483840" y="2050000"/>
            <a:ext cx="2098560" cy="8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Stop</a:t>
            </a:r>
          </a:p>
        </p:txBody>
      </p:sp>
      <p:sp>
        <p:nvSpPr>
          <p:cNvPr id="59" name="Caja 59"/>
          <p:cNvSpPr/>
          <p:nvPr/>
        </p:nvSpPr>
        <p:spPr>
          <a:xfrm>
            <a:off x="9483840" y="2790000"/>
            <a:ext cx="209856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60" name="Texto 60"/>
          <p:cNvSpPr txBox="1"/>
          <p:nvPr/>
        </p:nvSpPr>
        <p:spPr>
          <a:xfrm>
            <a:off x="9523840" y="2890000"/>
            <a:ext cx="201856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No plausible value, or unacceptable risk. The reason and lessons are recorded. It is a good outcome.</a:t>
            </a:r>
          </a:p>
        </p:txBody>
      </p:sp>
      <p:sp>
        <p:nvSpPr>
          <p:cNvPr id="61" name="Texto 61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At G7 the outcomes are Scale, Iterate or Retire.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67" name="Texto 67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FROM DOCUMENT TO DASHBOARD</a:t>
            </a:r>
          </a:p>
        </p:txBody>
      </p:sp>
      <p:sp>
        <p:nvSpPr>
          <p:cNvPr id="68" name="Texto 68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How the funnel gets filled</a:t>
            </a:r>
          </a:p>
        </p:txBody>
      </p:sp>
      <p:sp>
        <p:nvSpPr>
          <p:cNvPr id="69" name="Texto 69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Nobody draws the funnel or the dashboard: they come out of what is filled in and decided at each phase. This is the path.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88" name="Texto 8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89" name="Texto 8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Phases 0 to 3: from idea to proof of concept</a:t>
            </a:r>
          </a:p>
        </p:txBody>
      </p:sp>
      <p:sp>
        <p:nvSpPr>
          <p:cNvPr id="90" name="Texto 9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What is done, which templates are filled in and which gate closes each phase</a:t>
            </a:r>
          </a:p>
        </p:txBody>
      </p:sp>
      <p:sp>
        <p:nvSpPr>
          <p:cNvPr id="70" name="Caja 70"/>
          <p:cNvSpPr/>
          <p:nvPr/>
        </p:nvSpPr>
        <p:spPr>
          <a:xfrm>
            <a:off x="6096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64D47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71" name="Caja 71"/>
          <p:cNvSpPr/>
          <p:nvPr/>
        </p:nvSpPr>
        <p:spPr>
          <a:xfrm>
            <a:off x="6096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72" name="Texto 72"/>
          <p:cNvSpPr txBox="1"/>
          <p:nvPr/>
        </p:nvSpPr>
        <p:spPr>
          <a:xfrm>
            <a:off x="6496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The idea is authorised: sponsor, owner, scope, constraints and intensity (Lite or Enterprise).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P01 Initiative charter · P02 Context and constraints · P03 Roles · P04 Intensity · P05 Inventory entry.</a:t>
            </a:r>
          </a:p>
        </p:txBody>
      </p:sp>
      <p:sp>
        <p:nvSpPr>
          <p:cNvPr id="73" name="Caja 73"/>
          <p:cNvSpPr/>
          <p:nvPr/>
        </p:nvSpPr>
        <p:spPr>
          <a:xfrm>
            <a:off x="6096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G0 → enters "Proposed"</a:t>
            </a:r>
          </a:p>
        </p:txBody>
      </p:sp>
      <p:sp>
        <p:nvSpPr>
          <p:cNvPr id="74" name="Caja 74"/>
          <p:cNvSpPr/>
          <p:nvPr/>
        </p:nvSpPr>
        <p:spPr>
          <a:xfrm>
            <a:off x="33853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Discovery</a:t>
            </a:r>
          </a:p>
        </p:txBody>
      </p:sp>
      <p:sp>
        <p:nvSpPr>
          <p:cNvPr id="75" name="Caja 75"/>
          <p:cNvSpPr/>
          <p:nvPr/>
        </p:nvSpPr>
        <p:spPr>
          <a:xfrm>
            <a:off x="33853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76" name="Texto 76"/>
          <p:cNvSpPr txBox="1"/>
          <p:nvPr/>
        </p:nvSpPr>
        <p:spPr>
          <a:xfrm>
            <a:off x="34253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Opportunities are compared, including non-AI alternatives, and a sphere and ambition level are proposed.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P06 Opportunity portfolio and screening · P07 Sphere and ambition · P31 Use case sheet.</a:t>
            </a:r>
          </a:p>
        </p:txBody>
      </p:sp>
      <p:sp>
        <p:nvSpPr>
          <p:cNvPr id="77" name="Caja 77"/>
          <p:cNvSpPr/>
          <p:nvPr/>
        </p:nvSpPr>
        <p:spPr>
          <a:xfrm>
            <a:off x="33853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G1 → stays in "Proposed"</a:t>
            </a:r>
          </a:p>
        </p:txBody>
      </p:sp>
      <p:sp>
        <p:nvSpPr>
          <p:cNvPr id="78" name="Caja 78"/>
          <p:cNvSpPr/>
          <p:nvPr/>
        </p:nvSpPr>
        <p:spPr>
          <a:xfrm>
            <a:off x="61610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79" name="Caja 79"/>
          <p:cNvSpPr/>
          <p:nvPr/>
        </p:nvSpPr>
        <p:spPr>
          <a:xfrm>
            <a:off x="61610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80" name="Texto 80"/>
          <p:cNvSpPr txBox="1"/>
          <p:nvPr/>
        </p:nvSpPr>
        <p:spPr>
          <a:xfrm>
            <a:off x="62010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A falsifiable hypothesis in money, with baseline, attribution method and stop criteria set in advance.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P08 Value hypothesis canvas · P09 Baseline. Support: T11 calculator.</a:t>
            </a:r>
          </a:p>
        </p:txBody>
      </p:sp>
      <p:sp>
        <p:nvSpPr>
          <p:cNvPr id="81" name="Caja 81"/>
          <p:cNvSpPr/>
          <p:nvPr/>
        </p:nvSpPr>
        <p:spPr>
          <a:xfrm>
            <a:off x="61610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G2 → "Value hypothesis"</a:t>
            </a:r>
          </a:p>
        </p:txBody>
      </p:sp>
      <p:sp>
        <p:nvSpPr>
          <p:cNvPr id="82" name="Caja 82"/>
          <p:cNvSpPr/>
          <p:nvPr/>
        </p:nvSpPr>
        <p:spPr>
          <a:xfrm>
            <a:off x="89367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83" name="Caja 83"/>
          <p:cNvSpPr/>
          <p:nvPr/>
        </p:nvSpPr>
        <p:spPr>
          <a:xfrm>
            <a:off x="89367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84" name="Texto 84"/>
          <p:cNvSpPr txBox="1"/>
          <p:nvPr/>
        </p:nvSpPr>
        <p:spPr>
          <a:xfrm>
            <a:off x="89767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Proof of concept: feasibility, regulatory classification, risks and suppliers. It is the main stop gate.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P10 Feasibility · P11 Regulatory classification and impact · P12 Risks · P13 Mitigation · P14 Supplier.</a:t>
            </a:r>
          </a:p>
        </p:txBody>
      </p:sp>
      <p:sp>
        <p:nvSpPr>
          <p:cNvPr id="85" name="Caja 85"/>
          <p:cNvSpPr/>
          <p:nvPr/>
        </p:nvSpPr>
        <p:spPr>
          <a:xfrm>
            <a:off x="89367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G3 → "Proof of concept"</a:t>
            </a:r>
          </a:p>
        </p:txBody>
      </p:sp>
      <p:sp>
        <p:nvSpPr>
          <p:cNvPr id="86" name="Texto 86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Every gate decision is recorded in P29 and in the T01 register, with the status of each criterion and its evidence.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09" name="Texto 10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110" name="Texto 11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Phases 4 to 7: from design to production and retirement</a:t>
            </a:r>
          </a:p>
        </p:txBody>
      </p:sp>
      <p:sp>
        <p:nvSpPr>
          <p:cNvPr id="111" name="Texto 111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Go-live does not close the cycle: it opens operation, with periodic reviews</a:t>
            </a:r>
          </a:p>
        </p:txBody>
      </p:sp>
      <p:sp>
        <p:nvSpPr>
          <p:cNvPr id="91" name="Caja 91"/>
          <p:cNvSpPr/>
          <p:nvPr/>
        </p:nvSpPr>
        <p:spPr>
          <a:xfrm>
            <a:off x="6096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Solution design</a:t>
            </a:r>
          </a:p>
        </p:txBody>
      </p:sp>
      <p:sp>
        <p:nvSpPr>
          <p:cNvPr id="92" name="Caja 92"/>
          <p:cNvSpPr/>
          <p:nvPr/>
        </p:nvSpPr>
        <p:spPr>
          <a:xfrm>
            <a:off x="6096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93" name="Texto 93"/>
          <p:cNvSpPr txBox="1"/>
          <p:nvPr/>
        </p:nvSpPr>
        <p:spPr>
          <a:xfrm>
            <a:off x="6496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Before building: architecture, data and model lineage, human oversight, security, rollback and adoption.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P15 Architecture · P16 Lineage · P17 Human oversight · P18 Security · P19 Rollback · P20 Adoption.</a:t>
            </a:r>
          </a:p>
        </p:txBody>
      </p:sp>
      <p:sp>
        <p:nvSpPr>
          <p:cNvPr id="94" name="Caja 94"/>
          <p:cNvSpPr/>
          <p:nvPr/>
        </p:nvSpPr>
        <p:spPr>
          <a:xfrm>
            <a:off x="6096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G4 → "In development"</a:t>
            </a:r>
          </a:p>
        </p:txBody>
      </p:sp>
      <p:sp>
        <p:nvSpPr>
          <p:cNvPr id="95" name="Caja 95"/>
          <p:cNvSpPr/>
          <p:nvPr/>
        </p:nvSpPr>
        <p:spPr>
          <a:xfrm>
            <a:off x="33853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Delivery and validation</a:t>
            </a:r>
          </a:p>
        </p:txBody>
      </p:sp>
      <p:sp>
        <p:nvSpPr>
          <p:cNvPr id="96" name="Caja 96"/>
          <p:cNvSpPr/>
          <p:nvPr/>
        </p:nvSpPr>
        <p:spPr>
          <a:xfrm>
            <a:off x="33853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97" name="Texto 97"/>
          <p:cNvSpPr txBox="1"/>
          <p:nvPr/>
        </p:nvSpPr>
        <p:spPr>
          <a:xfrm>
            <a:off x="34253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Build, validate and pilot; the rollback is tested and go-live is signed off.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P21 Delivery report · P22 Validation and pilot · P23 Go-live sign-off · P12 updated.</a:t>
            </a:r>
          </a:p>
        </p:txBody>
      </p:sp>
      <p:sp>
        <p:nvSpPr>
          <p:cNvPr id="98" name="Caja 98"/>
          <p:cNvSpPr/>
          <p:nvPr/>
        </p:nvSpPr>
        <p:spPr>
          <a:xfrm>
            <a:off x="33853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G5 → moves to "In use"</a:t>
            </a:r>
          </a:p>
        </p:txBody>
      </p:sp>
      <p:sp>
        <p:nvSpPr>
          <p:cNvPr id="99" name="Caja 99"/>
          <p:cNvSpPr/>
          <p:nvPr/>
        </p:nvSpPr>
        <p:spPr>
          <a:xfrm>
            <a:off x="61610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Operation and governance</a:t>
            </a:r>
          </a:p>
        </p:txBody>
      </p:sp>
      <p:sp>
        <p:nvSpPr>
          <p:cNvPr id="100" name="Caja 100"/>
          <p:cNvSpPr/>
          <p:nvPr/>
        </p:nvSpPr>
        <p:spPr>
          <a:xfrm>
            <a:off x="61610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01" name="Texto 101"/>
          <p:cNvSpPr txBox="1"/>
          <p:nvPr/>
        </p:nvSpPr>
        <p:spPr>
          <a:xfrm>
            <a:off x="62010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Monitoring, incidents, changes and tracking of realised value, with a periodic continuity review.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P24 Operations manual · P25 Monitoring · P26 and P27 Incidents and changes · P28 Value · P65 R6 pack.</a:t>
            </a:r>
          </a:p>
        </p:txBody>
      </p:sp>
      <p:sp>
        <p:nvSpPr>
          <p:cNvPr id="102" name="Caja 102"/>
          <p:cNvSpPr/>
          <p:nvPr/>
        </p:nvSpPr>
        <p:spPr>
          <a:xfrm>
            <a:off x="61610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R6 → stays "In use" or brings G7 forward</a:t>
            </a:r>
          </a:p>
        </p:txBody>
      </p:sp>
      <p:sp>
        <p:nvSpPr>
          <p:cNvPr id="103" name="Caja 103"/>
          <p:cNvSpPr/>
          <p:nvPr/>
        </p:nvSpPr>
        <p:spPr>
          <a:xfrm>
            <a:off x="8936700" y="1900000"/>
            <a:ext cx="2645700" cy="7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F7</a:t>
            </a:r>
          </a:p>
          <a:p>
            <a:pPr algn="ctr"/>
            <a:r>
              <a:rPr lang="es-ES" sz="1150" dirty="0">
                <a:solidFill>
                  <a:srgbClr val="FFFFFF"/>
                </a:solidFill>
              </a:rPr>
              <a:t>Evolution or retirement</a:t>
            </a:r>
          </a:p>
        </p:txBody>
      </p:sp>
      <p:sp>
        <p:nvSpPr>
          <p:cNvPr id="104" name="Caja 104"/>
          <p:cNvSpPr/>
          <p:nvPr/>
        </p:nvSpPr>
        <p:spPr>
          <a:xfrm>
            <a:off x="8936700" y="2540000"/>
            <a:ext cx="2645700" cy="295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105" name="Texto 105"/>
          <p:cNvSpPr txBox="1"/>
          <p:nvPr/>
        </p:nvSpPr>
        <p:spPr>
          <a:xfrm>
            <a:off x="8976700" y="2660000"/>
            <a:ext cx="2565700" cy="278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What is done. </a:t>
            </a:r>
            <a:r>
              <a:rPr lang="es-ES" sz="1150" dirty="0">
                <a:solidFill>
                  <a:srgbClr val="2F2B28"/>
                </a:solidFill>
              </a:rPr>
              <a:t>With realised value on the table, the decision is to scale, iterate or retire, and lessons are recorded.</a:t>
            </a:r>
          </a:p>
          <a:p>
            <a:pPr algn="l">
              <a:spcAft>
                <a:spcPts val="500"/>
              </a:spcAft>
            </a:pPr>
            <a:r>
              <a:rPr lang="es-ES" sz="1150" b="1" dirty="0">
                <a:solidFill>
                  <a:srgbClr val="1A1817"/>
                </a:solidFill>
              </a:rPr>
              <a:t>Filled in. </a:t>
            </a:r>
            <a:r>
              <a:rPr lang="es-ES" sz="1150" dirty="0">
                <a:solidFill>
                  <a:srgbClr val="2F2B28"/>
                </a:solidFill>
              </a:rPr>
              <a:t>P28 Value tracking · P30 Scale-or-retire decision, with a retirement plan where applicable.</a:t>
            </a:r>
          </a:p>
        </p:txBody>
      </p:sp>
      <p:sp>
        <p:nvSpPr>
          <p:cNvPr id="106" name="Caja 106"/>
          <p:cNvSpPr/>
          <p:nvPr/>
        </p:nvSpPr>
        <p:spPr>
          <a:xfrm>
            <a:off x="8936700" y="5550000"/>
            <a:ext cx="2645700" cy="56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150" b="1" dirty="0">
                <a:solidFill>
                  <a:srgbClr val="FFFFFF"/>
                </a:solidFill>
              </a:rPr>
              <a:t>G7 → scale, iterate or "Disengaged"</a:t>
            </a:r>
          </a:p>
        </p:txBody>
      </p:sp>
      <p:sp>
        <p:nvSpPr>
          <p:cNvPr id="107" name="Texto 107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Every gate decision is recorded in P29 and in the T01 register, with the status of each criterion and its evidence.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15" name="Texto 115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116" name="Texto 116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The initiative register (T01): where everything is recorded</a:t>
            </a:r>
          </a:p>
        </p:txBody>
      </p:sp>
      <p:sp>
        <p:nvSpPr>
          <p:cNvPr id="117" name="Texto 117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Each initiative is entered like an opportunity in a CRM; here, the sample register with fictitious data</a:t>
            </a:r>
          </a:p>
        </p:txBody>
      </p:sp>
      <p:pic>
        <p:nvPicPr>
          <p:cNvPr id="112" name="Imagen 112" descr="Funnel view of the T01 initiative register"/>
          <p:cNvPicPr>
            <a:picLocks noChangeAspect="1"/>
          </p:cNvPicPr>
          <p:nvPr/>
        </p:nvPicPr>
        <p:blipFill>
          <a:blip r:embed="rIdImg_registro"/>
          <a:stretch>
            <a:fillRect/>
          </a:stretch>
        </p:blipFill>
        <p:spPr>
          <a:xfrm>
            <a:off x="609600" y="1900000"/>
            <a:ext cx="6211111" cy="4300000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13" name="Texto 113"/>
          <p:cNvSpPr txBox="1"/>
          <p:nvPr/>
        </p:nvSpPr>
        <p:spPr>
          <a:xfrm>
            <a:off x="7709600" y="1850000"/>
            <a:ext cx="38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One bar per phase: how many initiatives are in each one now and how much expected value they carry.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When a gate is decided, the register stores the date, the outcome, who verified and who decided, and the status of each criterion.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From those dates it works out time in phase by itself and flags as "stalled" those beyond the reference time limit.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Figures carry a status: validated, declared or estimated. What is unknown stays "no data", never zero.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Alerts: pending gates, overdue conditions, risks without an owner.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Everything is saved in the company's own JSON file: no server and no data sent to anyone.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21" name="Texto 12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122" name="Texto 12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The portfolio funnel: how to read it</a:t>
            </a:r>
          </a:p>
        </p:txBody>
      </p:sp>
      <p:sp>
        <p:nvSpPr>
          <p:cNvPr id="123" name="Texto 123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The AI portfolio, read as a sales funnel. Illustrative data</a:t>
            </a:r>
          </a:p>
        </p:txBody>
      </p:sp>
      <p:pic>
        <p:nvPicPr>
          <p:cNvPr id="118" name="Imagen 118" descr="Funnel of AI initiatives with its stages, exits and cases in use"/>
          <p:cNvPicPr>
            <a:picLocks noChangeAspect="1"/>
          </p:cNvPicPr>
          <p:nvPr/>
        </p:nvPicPr>
        <p:blipFill>
          <a:blip r:embed="rIdImg_embudo"/>
          <a:stretch>
            <a:fillRect/>
          </a:stretch>
        </p:blipFill>
        <p:spPr>
          <a:xfrm>
            <a:off x="609600" y="1900000"/>
            <a:ext cx="7500000" cy="3692308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19" name="Texto 119"/>
          <p:cNvSpPr txBox="1"/>
          <p:nvPr/>
        </p:nvSpPr>
        <p:spPr>
          <a:xfrm>
            <a:off x="8309600" y="1850000"/>
            <a:ext cx="32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Inside the funnel, only what is in progress: 5 proposed, 4 with a value hypothesis, 3 in proof of concept and 4 in development.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On the left, how many reached each stage (40 → 31 → 24 → 17) and how long they take. The red triangle warns: proof of concept exceeds its time limit.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On the right, those that did not pass each stage and why: no plausible value, hypothesis refuted, unacceptable risk, cost above value.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Below, those that made it through: 11 in use, with their value and cost, and 1 disengaged.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The goal is not to convert more: stopping an unviable initiative at G3 is a good outcome. 100% conversion would point to soft gates.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28" name="Texto 128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129" name="Texto 129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The board dashboard (T17): how to read it</a:t>
            </a:r>
          </a:p>
        </p:txBody>
      </p:sp>
      <p:sp>
        <p:nvSpPr>
          <p:cNvPr id="130" name="Texto 130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It is generated from the same register, with nothing typed twice. Fictitious data</a:t>
            </a:r>
          </a:p>
        </p:txBody>
      </p:sp>
      <p:pic>
        <p:nvPicPr>
          <p:cNvPr id="124" name="Imagen 124" descr="Board dashboard with the portfolio and value cards"/>
          <p:cNvPicPr>
            <a:picLocks noChangeAspect="1"/>
          </p:cNvPicPr>
          <p:nvPr/>
        </p:nvPicPr>
        <p:blipFill>
          <a:blip r:embed="rIdImg_panel"/>
          <a:stretch>
            <a:fillRect/>
          </a:stretch>
        </p:blipFill>
        <p:spPr>
          <a:xfrm>
            <a:off x="609600" y="1900000"/>
            <a:ext cx="6700000" cy="4243333"/>
          </a:xfrm>
          <a:prstGeom prst="rect">
            <a:avLst/>
          </a:prstGeom>
          <a:ln w="12700">
            <a:solidFill>
              <a:srgbClr val="C9A78D"/>
            </a:solidFill>
          </a:ln>
        </p:spPr>
      </p:pic>
      <p:sp>
        <p:nvSpPr>
          <p:cNvPr id="125" name="Texto 125"/>
          <p:cNvSpPr txBox="1"/>
          <p:nvPr/>
        </p:nvSpPr>
        <p:spPr>
          <a:xfrm>
            <a:off x="7509600" y="1850000"/>
            <a:ext cx="40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15 cases: how many are in use, in development, in proof of concept, proposed and out.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Costs of €2.4M a year and total return of €7.3M (efficiencies plus return): annual net is €4.8M.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The yellow card is the one that matters: only 36% of the value is validated by finance. The rest is declared or estimated.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Released capacity that has not been materialised is shown separately and does not add up.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In red: only 3 of 15 cases have all the controls (impact assessments, security, user manual).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300" dirty="0">
                <a:solidFill>
                  <a:srgbClr val="2F2B28"/>
                </a:solidFill>
              </a:rPr>
              <a:t>Other pages: funnel and lifecycle, history and adoption, risk and compliance, inventory.</a:t>
            </a:r>
          </a:p>
        </p:txBody>
      </p:sp>
      <p:sp>
        <p:nvSpPr>
          <p:cNvPr id="126" name="Texto 126"/>
          <p:cNvSpPr txBox="1"/>
          <p:nvPr/>
        </p:nvSpPr>
        <p:spPr>
          <a:xfrm>
            <a:off x="609600" y="626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b="1" dirty="0">
                <a:solidFill>
                  <a:srgbClr val="0F5499"/>
                </a:solidFill>
              </a:rPr>
              <a:t>If a figure on the dashboard looks wrong, the dashboard is not touched: the evidence is fixed in the register and it is generated again.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2" name="Texto 132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TWO EXAMPLES</a:t>
            </a:r>
          </a:p>
        </p:txBody>
      </p:sp>
      <p:sp>
        <p:nvSpPr>
          <p:cNvPr id="133" name="Texto 133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One initiative that stops and one that reaches production</a:t>
            </a:r>
          </a:p>
        </p:txBody>
      </p:sp>
      <p:sp>
        <p:nvSpPr>
          <p:cNvPr id="134" name="Texto 134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Fictitious, illustrative data: they do not describe any real company.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39" name="Texto 13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140" name="Texto 14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Example 1 · When an initiative stops</a:t>
            </a:r>
          </a:p>
        </p:txBody>
      </p:sp>
      <p:sp>
        <p:nvSpPr>
          <p:cNvPr id="135" name="Texto 135"/>
          <p:cNvSpPr txBox="1"/>
          <p:nvPr/>
        </p:nvSpPr>
        <p:spPr>
          <a:xfrm>
            <a:off x="609600" y="133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Candidate screening in recruitment (HR)</a:t>
            </a:r>
          </a:p>
        </p:txBody>
      </p:sp>
      <p:sp>
        <p:nvSpPr>
          <p:cNvPr id="136" name="Texto 136"/>
          <p:cNvSpPr txBox="1"/>
          <p:nvPr/>
        </p:nvSpPr>
        <p:spPr>
          <a:xfrm>
            <a:off x="609600" y="1900000"/>
            <a:ext cx="10972800" cy="35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Phases 0 and 1: HR sponsors it (P01–P05). Because it decides about people, intensity is Enterprise (P04). It enters "Proposed".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2: the hypothesis (P08) promises 40% less screening time against the baseline (P09). The pilot confirms it: G2, Proceed.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3: the regulatory classification (P11) makes it a high-risk system. The bias test finds it penalises older candidates.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It iterates twice, adjusting variables: fixing the bias destroys the predictive power that justified the project.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G3: high residual risk with no viable mitigation (P12, P13). The AI committee decides to Stop; it is recorded in P29 with its reason.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In the funnel it shows to the right of "Proof of concept": Discarded · unacceptable risk. Lesson: test for bias earlier, in phase 2.</a:t>
            </a:r>
          </a:p>
        </p:txBody>
      </p:sp>
      <p:sp>
        <p:nvSpPr>
          <p:cNvPr id="137" name="Caja 137"/>
          <p:cNvSpPr/>
          <p:nvPr/>
        </p:nvSpPr>
        <p:spPr>
          <a:xfrm>
            <a:off x="609600" y="5600000"/>
            <a:ext cx="10972800" cy="9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100" b="1" dirty="0">
                <a:solidFill>
                  <a:srgbClr val="FFFFFF"/>
                </a:solidFill>
              </a:rPr>
              <a:t>STOPPED AT G3 · BUILDING AND RUNNING AN UNVIABLE SYSTEM WAS AVOIDED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59" name="Texto 15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160" name="Texto 16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Initiative 1, on the lifecycle</a:t>
            </a:r>
          </a:p>
        </p:txBody>
      </p:sp>
      <p:sp>
        <p:nvSpPr>
          <p:cNvPr id="161" name="Texto 161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It reached phase 3 and did not pass gate G3</a:t>
            </a:r>
          </a:p>
        </p:txBody>
      </p:sp>
      <p:sp>
        <p:nvSpPr>
          <p:cNvPr id="141" name="Caja 141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142" name="Texto 142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143" name="Caja 143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Opportunity discovery</a:t>
            </a:r>
          </a:p>
        </p:txBody>
      </p:sp>
      <p:sp>
        <p:nvSpPr>
          <p:cNvPr id="144" name="Texto 144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145" name="Caja 145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146" name="Texto 146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147" name="Caja 147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990F3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148" name="Texto 148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149" name="Caja 149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Solution design</a:t>
            </a:r>
          </a:p>
        </p:txBody>
      </p:sp>
      <p:sp>
        <p:nvSpPr>
          <p:cNvPr id="150" name="Texto 150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151" name="Caja 151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Delivery and validation</a:t>
            </a:r>
          </a:p>
        </p:txBody>
      </p:sp>
      <p:sp>
        <p:nvSpPr>
          <p:cNvPr id="152" name="Texto 152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153" name="Caja 153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Operation and governance</a:t>
            </a:r>
          </a:p>
        </p:txBody>
      </p:sp>
      <p:sp>
        <p:nvSpPr>
          <p:cNvPr id="154" name="Texto 154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155" name="Caja 155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Evolution or retirement</a:t>
            </a:r>
          </a:p>
        </p:txBody>
      </p:sp>
      <p:sp>
        <p:nvSpPr>
          <p:cNvPr id="156" name="Texto 156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157" name="Texto 157"/>
          <p:cNvSpPr txBox="1"/>
          <p:nvPr/>
        </p:nvSpPr>
        <p:spPr>
          <a:xfrm>
            <a:off x="609600" y="4430000"/>
            <a:ext cx="10972800" cy="6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2200" b="1" dirty="0">
                <a:solidFill>
                  <a:srgbClr val="990F3D"/>
                </a:solidFill>
              </a:rPr>
              <a:t>STOPPED AT G3 · it leaves the funnel as "Discarded", with its reason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66" name="Texto 166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167" name="Texto 167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Example 2 · When an initiative reaches production</a:t>
            </a:r>
          </a:p>
        </p:txBody>
      </p:sp>
      <p:sp>
        <p:nvSpPr>
          <p:cNvPr id="162" name="Texto 162"/>
          <p:cNvSpPr txBox="1"/>
          <p:nvPr/>
        </p:nvSpPr>
        <p:spPr>
          <a:xfrm>
            <a:off x="609600" y="133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b="1" dirty="0">
                <a:solidFill>
                  <a:srgbClr val="2F2B28"/>
                </a:solidFill>
              </a:rPr>
              <a:t>First-line IT incident response assistant</a:t>
            </a:r>
          </a:p>
        </p:txBody>
      </p:sp>
      <p:sp>
        <p:nvSpPr>
          <p:cNvPr id="163" name="Texto 163"/>
          <p:cNvSpPr txBox="1"/>
          <p:nvPr/>
        </p:nvSpPr>
        <p:spPr>
          <a:xfrm>
            <a:off x="609600" y="1900000"/>
            <a:ext cx="10972800" cy="35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Phases 0 and 1: IT sponsors it; against the non-AI alternative (more staff), the operations sphere with Optimise ambition is proposed (P07).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2: hypothesis of 30% less resolution time for simple incidents; the controlled pilot yields 32%.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3: no relevant bias, medium residual risk accepted by the right body (P12), supplier assessed (P14). G3, Proceed.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Phases 4 and 5: mandatory human oversight above a severity level (P17), tested rollback (P19) and go-live sign-off (P23).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Phase 6: fourteen months in use. Finance validates €1.1M a year (P28); released capacity was reassigned to complex incidents.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500" dirty="0">
                <a:solidFill>
                  <a:srgbClr val="2F2B28"/>
                </a:solidFill>
              </a:rPr>
              <a:t>In the funnel it sits under "In use"; on the dashboard it adds to annual net because its value is validated, not declared.</a:t>
            </a:r>
          </a:p>
        </p:txBody>
      </p:sp>
      <p:sp>
        <p:nvSpPr>
          <p:cNvPr id="164" name="Caja 164"/>
          <p:cNvSpPr/>
          <p:nvPr/>
        </p:nvSpPr>
        <p:spPr>
          <a:xfrm>
            <a:off x="609600" y="5600000"/>
            <a:ext cx="10972800" cy="9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100" b="1" dirty="0">
                <a:solidFill>
                  <a:srgbClr val="FFFFFF"/>
                </a:solidFill>
              </a:rPr>
              <a:t>IN PRODUCTION · €1.1M OF VALIDATED ANNUAL RETURN · QUARTERLY R6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86" name="Texto 186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187" name="Texto 187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Initiative 2, on the lifecycle</a:t>
            </a:r>
          </a:p>
        </p:txBody>
      </p:sp>
      <p:sp>
        <p:nvSpPr>
          <p:cNvPr id="188" name="Texto 188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It went through phases 0 to 6 and remains in use; phase 7 will come with G7</a:t>
            </a:r>
          </a:p>
        </p:txBody>
      </p:sp>
      <p:sp>
        <p:nvSpPr>
          <p:cNvPr id="168" name="Caja 168"/>
          <p:cNvSpPr/>
          <p:nvPr/>
        </p:nvSpPr>
        <p:spPr>
          <a:xfrm>
            <a:off x="68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F0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Context and constraints</a:t>
            </a:r>
          </a:p>
        </p:txBody>
      </p:sp>
      <p:sp>
        <p:nvSpPr>
          <p:cNvPr id="169" name="Texto 169"/>
          <p:cNvSpPr txBox="1"/>
          <p:nvPr/>
        </p:nvSpPr>
        <p:spPr>
          <a:xfrm>
            <a:off x="159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G0</a:t>
            </a:r>
          </a:p>
        </p:txBody>
      </p:sp>
      <p:sp>
        <p:nvSpPr>
          <p:cNvPr id="170" name="Caja 170"/>
          <p:cNvSpPr/>
          <p:nvPr/>
        </p:nvSpPr>
        <p:spPr>
          <a:xfrm>
            <a:off x="205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F1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Opportunity discovery</a:t>
            </a:r>
          </a:p>
        </p:txBody>
      </p:sp>
      <p:sp>
        <p:nvSpPr>
          <p:cNvPr id="171" name="Texto 171"/>
          <p:cNvSpPr txBox="1"/>
          <p:nvPr/>
        </p:nvSpPr>
        <p:spPr>
          <a:xfrm>
            <a:off x="296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G1</a:t>
            </a:r>
          </a:p>
        </p:txBody>
      </p:sp>
      <p:sp>
        <p:nvSpPr>
          <p:cNvPr id="172" name="Caja 172"/>
          <p:cNvSpPr/>
          <p:nvPr/>
        </p:nvSpPr>
        <p:spPr>
          <a:xfrm>
            <a:off x="342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F2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Value hypothesis</a:t>
            </a:r>
          </a:p>
        </p:txBody>
      </p:sp>
      <p:sp>
        <p:nvSpPr>
          <p:cNvPr id="173" name="Texto 173"/>
          <p:cNvSpPr txBox="1"/>
          <p:nvPr/>
        </p:nvSpPr>
        <p:spPr>
          <a:xfrm>
            <a:off x="433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G2</a:t>
            </a:r>
          </a:p>
        </p:txBody>
      </p:sp>
      <p:sp>
        <p:nvSpPr>
          <p:cNvPr id="174" name="Caja 174"/>
          <p:cNvSpPr/>
          <p:nvPr/>
        </p:nvSpPr>
        <p:spPr>
          <a:xfrm>
            <a:off x="479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F3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Feasibility and risk</a:t>
            </a:r>
          </a:p>
        </p:txBody>
      </p:sp>
      <p:sp>
        <p:nvSpPr>
          <p:cNvPr id="175" name="Texto 175"/>
          <p:cNvSpPr txBox="1"/>
          <p:nvPr/>
        </p:nvSpPr>
        <p:spPr>
          <a:xfrm>
            <a:off x="570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G3</a:t>
            </a:r>
          </a:p>
        </p:txBody>
      </p:sp>
      <p:sp>
        <p:nvSpPr>
          <p:cNvPr id="176" name="Caja 176"/>
          <p:cNvSpPr/>
          <p:nvPr/>
        </p:nvSpPr>
        <p:spPr>
          <a:xfrm>
            <a:off x="616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F4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Solution design</a:t>
            </a:r>
          </a:p>
        </p:txBody>
      </p:sp>
      <p:sp>
        <p:nvSpPr>
          <p:cNvPr id="177" name="Texto 177"/>
          <p:cNvSpPr txBox="1"/>
          <p:nvPr/>
        </p:nvSpPr>
        <p:spPr>
          <a:xfrm>
            <a:off x="707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G4</a:t>
            </a:r>
          </a:p>
        </p:txBody>
      </p:sp>
      <p:sp>
        <p:nvSpPr>
          <p:cNvPr id="178" name="Caja 178"/>
          <p:cNvSpPr/>
          <p:nvPr/>
        </p:nvSpPr>
        <p:spPr>
          <a:xfrm>
            <a:off x="753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F5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Delivery and validation</a:t>
            </a:r>
          </a:p>
        </p:txBody>
      </p:sp>
      <p:sp>
        <p:nvSpPr>
          <p:cNvPr id="179" name="Texto 179"/>
          <p:cNvSpPr txBox="1"/>
          <p:nvPr/>
        </p:nvSpPr>
        <p:spPr>
          <a:xfrm>
            <a:off x="844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G5</a:t>
            </a:r>
          </a:p>
        </p:txBody>
      </p:sp>
      <p:sp>
        <p:nvSpPr>
          <p:cNvPr id="180" name="Caja 180"/>
          <p:cNvSpPr/>
          <p:nvPr/>
        </p:nvSpPr>
        <p:spPr>
          <a:xfrm>
            <a:off x="890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FFFFFF"/>
                </a:solidFill>
              </a:rPr>
              <a:t>F6</a:t>
            </a:r>
          </a:p>
          <a:p>
            <a:pPr algn="ctr"/>
            <a:r>
              <a:rPr lang="es-ES" sz="1050" dirty="0">
                <a:solidFill>
                  <a:srgbClr val="FFFFFF"/>
                </a:solidFill>
              </a:rPr>
              <a:t>Operation and governance</a:t>
            </a:r>
          </a:p>
        </p:txBody>
      </p:sp>
      <p:sp>
        <p:nvSpPr>
          <p:cNvPr id="181" name="Texto 181"/>
          <p:cNvSpPr txBox="1"/>
          <p:nvPr/>
        </p:nvSpPr>
        <p:spPr>
          <a:xfrm>
            <a:off x="981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R6</a:t>
            </a:r>
          </a:p>
        </p:txBody>
      </p:sp>
      <p:sp>
        <p:nvSpPr>
          <p:cNvPr id="182" name="Caja 182"/>
          <p:cNvSpPr/>
          <p:nvPr/>
        </p:nvSpPr>
        <p:spPr>
          <a:xfrm>
            <a:off x="10271000" y="2350000"/>
            <a:ext cx="1240000" cy="1500000"/>
          </a:xfrm>
          <a:prstGeom prst="roundRect">
            <a:avLst>
              <a:gd name="adj" fmla="val 6000"/>
            </a:avLst>
          </a:prstGeom>
          <a:solidFill>
            <a:srgbClr val="C9A78D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2400" b="1" dirty="0">
                <a:solidFill>
                  <a:srgbClr val="564D47"/>
                </a:solidFill>
              </a:rPr>
              <a:t>F7</a:t>
            </a:r>
          </a:p>
          <a:p>
            <a:pPr algn="ctr"/>
            <a:r>
              <a:rPr lang="es-ES" sz="1050" dirty="0">
                <a:solidFill>
                  <a:srgbClr val="564D47"/>
                </a:solidFill>
              </a:rPr>
              <a:t>Evolution or retirement</a:t>
            </a:r>
          </a:p>
        </p:txBody>
      </p:sp>
      <p:sp>
        <p:nvSpPr>
          <p:cNvPr id="183" name="Texto 183"/>
          <p:cNvSpPr txBox="1"/>
          <p:nvPr/>
        </p:nvSpPr>
        <p:spPr>
          <a:xfrm>
            <a:off x="11181000" y="3900000"/>
            <a:ext cx="800000" cy="3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200" b="1" dirty="0">
                <a:solidFill>
                  <a:srgbClr val="990F3D"/>
                </a:solidFill>
              </a:rPr>
              <a:t>G7</a:t>
            </a:r>
          </a:p>
        </p:txBody>
      </p:sp>
      <p:sp>
        <p:nvSpPr>
          <p:cNvPr id="184" name="Texto 184"/>
          <p:cNvSpPr txBox="1"/>
          <p:nvPr/>
        </p:nvSpPr>
        <p:spPr>
          <a:xfrm>
            <a:off x="609600" y="4430000"/>
            <a:ext cx="10972800" cy="6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2200" b="1" dirty="0">
                <a:solidFill>
                  <a:srgbClr val="0D7680"/>
                </a:solidFill>
              </a:rPr>
              <a:t>IN USE · each R6 confirms it keeps delivering value under control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1" name="Texto 191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192" name="Texto 192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How value is measured</a:t>
            </a:r>
          </a:p>
        </p:txBody>
      </p:sp>
      <p:sp>
        <p:nvSpPr>
          <p:cNvPr id="189" name="Texto 189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Every amount carries a formula and a status: validated (finance), declared (the team) or estimated.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Released hours are not savings until they are materialised: a cost goes down or they are reassigned to a valuable activity.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Cost is complete: build, consumption, operation, human oversight and retirement.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The transformation index uses eight evidence signals to tell transformation apart from mere efficiency.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Ten measurement rules (document 40). No figure enters the portfolio net without its status.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Marca"/>
          <p:cNvSpPr/>
          <p:nvPr/>
        </p:nvSpPr>
        <p:spPr>
          <a:xfrm>
            <a:off x="609600" y="240000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4" name="Texto 194"/>
          <p:cNvSpPr txBox="1"/>
          <p:nvPr/>
        </p:nvSpPr>
        <p:spPr>
          <a:xfrm>
            <a:off x="838200" y="2320000"/>
            <a:ext cx="9000000" cy="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600" b="1" dirty="0">
                <a:solidFill>
                  <a:srgbClr val="F3CFB2"/>
                </a:solidFill>
              </a:rPr>
              <a:t>SELF-CONSULTING</a:t>
            </a:r>
          </a:p>
        </p:txBody>
      </p:sp>
      <p:sp>
        <p:nvSpPr>
          <p:cNvPr id="195" name="Texto 195"/>
          <p:cNvSpPr txBox="1"/>
          <p:nvPr/>
        </p:nvSpPr>
        <p:spPr>
          <a:xfrm>
            <a:off x="609600" y="2850000"/>
            <a:ext cx="10972800" cy="1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4000" b="1" dirty="0">
                <a:solidFill>
                  <a:srgbClr val="FBE2CD"/>
                </a:solidFill>
              </a:rPr>
              <a:t>Implementing it in your company, by your own means</a:t>
            </a:r>
          </a:p>
        </p:txBody>
      </p:sp>
      <p:sp>
        <p:nvSpPr>
          <p:cNvPr id="196" name="Texto 196"/>
          <p:cNvSpPr txBox="1"/>
          <p:nvPr/>
        </p:nvSpPr>
        <p:spPr>
          <a:xfrm>
            <a:off x="609600" y="4400000"/>
            <a:ext cx="105000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700" dirty="0">
                <a:solidFill>
                  <a:srgbClr val="F3CFB2"/>
                </a:solidFill>
              </a:rPr>
              <a:t>The framework is designed to be applied without hiring anyone. This is what it takes, and in what order.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199" name="Texto 199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200" name="Texto 200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Before starting: what the company needs</a:t>
            </a:r>
          </a:p>
        </p:txBody>
      </p:sp>
      <p:sp>
        <p:nvSpPr>
          <p:cNvPr id="197" name="Texto 197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An implementation mandate signed by the top executive, with objective, perimeter and deadline (P32).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The board knows the plan and reserves a session around week 12 to approve the direction (C2).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An implementation lead with real dedication and a core team: business, technology, data, risk, compliance, security, people and finance.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Internal audit informed and legal counsel available for regulatory classification.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 register: T01, or a spreadsheet with the same fields.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No moratorium: AI activity continues; only what the diagnosis flags as unacceptable risk is stopped.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04" name="Texto 204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205" name="Texto 205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Lite or Enterprise: proportionality</a:t>
            </a:r>
          </a:p>
        </p:txBody>
      </p:sp>
      <p:sp>
        <p:nvSpPr>
          <p:cNvPr id="201" name="Texto 201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Two different decisions: implementation scope belongs to the company; intensity, to each initiative.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Size does not decide. One Enterprise criterion is enough for an initiative: high risk, decisions about people, direct exposure, acting agents, protected data, critical function, Transform or high investment.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Minimum Lite path: board with a quarterly AI item, monthly executive committee and a one-person part-time AI office.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In Lite, gates are grouped (G0–G2 together, G4–G5 together, six-monthly R6). G3 always stands alone.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No mandatory evidence is skipped in Lite: it is simplified. The inventory is never reduced.</a:t>
            </a:r>
          </a:p>
        </p:txBody>
      </p:sp>
      <p:sp>
        <p:nvSpPr>
          <p:cNvPr id="202" name="Texto 202"/>
          <p:cNvSpPr txBox="1"/>
          <p:nvPr/>
        </p:nvSpPr>
        <p:spPr>
          <a:xfrm>
            <a:off x="609600" y="625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Document 90, section 2.4, and the obligation matrix (document 94).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17" name="Texto 217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218" name="Texto 218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The 90-day plan</a:t>
            </a:r>
          </a:p>
        </p:txBody>
      </p:sp>
      <p:sp>
        <p:nvSpPr>
          <p:cNvPr id="219" name="Texto 219"/>
          <p:cNvSpPr txBox="1"/>
          <p:nvPr/>
        </p:nvSpPr>
        <p:spPr>
          <a:xfrm>
            <a:off x="609600" y="1330000"/>
            <a:ext cx="10972800" cy="4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500" dirty="0">
                <a:solidFill>
                  <a:srgbClr val="564D47"/>
                </a:solidFill>
              </a:rPr>
              <a:t>Three months, three results and one board decision</a:t>
            </a:r>
          </a:p>
        </p:txBody>
      </p:sp>
      <p:sp>
        <p:nvSpPr>
          <p:cNvPr id="206" name="Caja 206"/>
          <p:cNvSpPr/>
          <p:nvPr/>
        </p:nvSpPr>
        <p:spPr>
          <a:xfrm>
            <a:off x="6096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F5499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Month 1 · Diagnosis (C1)</a:t>
            </a:r>
          </a:p>
        </p:txBody>
      </p:sp>
      <p:sp>
        <p:nvSpPr>
          <p:cNvPr id="207" name="Caja 207"/>
          <p:cNvSpPr/>
          <p:nvPr/>
        </p:nvSpPr>
        <p:spPr>
          <a:xfrm>
            <a:off x="6096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08" name="Texto 208"/>
          <p:cNvSpPr txBox="1"/>
          <p:nvPr/>
        </p:nvSpPr>
        <p:spPr>
          <a:xfrm>
            <a:off x="6496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Mandate (P32). Inventory of all AI, including third-party and unauthorised, with a completeness statement. Evidence-based maturity (T15) and transformation index (T14). Milestone 1: verified C1 report (P33).</a:t>
            </a:r>
          </a:p>
        </p:txBody>
      </p:sp>
      <p:sp>
        <p:nvSpPr>
          <p:cNvPr id="209" name="Caja 209"/>
          <p:cNvSpPr/>
          <p:nvPr/>
        </p:nvSpPr>
        <p:spPr>
          <a:xfrm>
            <a:off x="43072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5933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Month 2 · Risks and opportunities</a:t>
            </a:r>
          </a:p>
        </p:txBody>
      </p:sp>
      <p:sp>
        <p:nvSpPr>
          <p:cNvPr id="210" name="Caja 210"/>
          <p:cNvSpPr/>
          <p:nvPr/>
        </p:nvSpPr>
        <p:spPr>
          <a:xfrm>
            <a:off x="43072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1" name="Texto 211"/>
          <p:cNvSpPr txBox="1"/>
          <p:nvPr/>
        </p:nvSpPr>
        <p:spPr>
          <a:xfrm>
            <a:off x="43472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Workshops per sphere: risks of what already exists (P11, P12) and opportunities with estimated value (P06, P07). Draft AI thesis, ambition and risk appetite (P35). Milestone 2: C2 proposal ready for the board.</a:t>
            </a:r>
          </a:p>
        </p:txBody>
      </p:sp>
      <p:sp>
        <p:nvSpPr>
          <p:cNvPr id="212" name="Caja 212"/>
          <p:cNvSpPr/>
          <p:nvPr/>
        </p:nvSpPr>
        <p:spPr>
          <a:xfrm>
            <a:off x="8004800" y="2050000"/>
            <a:ext cx="3577600" cy="800000"/>
          </a:xfrm>
          <a:prstGeom prst="roundRect">
            <a:avLst>
              <a:gd name="adj" fmla="val 6000"/>
            </a:avLst>
          </a:prstGeom>
          <a:solidFill>
            <a:srgbClr val="0D7680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700" b="1" dirty="0">
                <a:solidFill>
                  <a:srgbClr val="FFFFFF"/>
                </a:solidFill>
              </a:rPr>
              <a:t>Month 3 · Governance and portfolio</a:t>
            </a:r>
          </a:p>
        </p:txBody>
      </p:sp>
      <p:sp>
        <p:nvSpPr>
          <p:cNvPr id="213" name="Caja 213"/>
          <p:cNvSpPr/>
          <p:nvPr/>
        </p:nvSpPr>
        <p:spPr>
          <a:xfrm>
            <a:off x="8004800" y="2790000"/>
            <a:ext cx="3577600" cy="2500000"/>
          </a:xfrm>
          <a:prstGeom prst="roundRect">
            <a:avLst>
              <a:gd name="adj" fmla="val 6000"/>
            </a:avLst>
          </a:prstGeom>
          <a:solidFill>
            <a:srgbClr val="F3CFB2"/>
          </a:solidFill>
          <a:ln>
            <a:noFill/>
          </a:ln>
        </p:spPr>
        <p:txBody>
          <a:bodyPr wrap="square" anchor="ctr" lIns="45720" rIns="45720">
            <a:noAutofit/>
          </a:bodyPr>
          <a:lstStyle/>
          <a:p>
            <a:pPr algn="ctr"/>
            <a:r>
              <a:rPr lang="es-ES" sz="1000" b="1" dirty="0">
                <a:solidFill>
                  <a:srgbClr val="2F2B28"/>
                </a:solidFill>
              </a:rPr>
              <a:t/>
            </a:r>
          </a:p>
        </p:txBody>
      </p:sp>
      <p:sp>
        <p:nvSpPr>
          <p:cNvPr id="214" name="Texto 214"/>
          <p:cNvSpPr txBox="1"/>
          <p:nvPr/>
        </p:nvSpPr>
        <p:spPr>
          <a:xfrm>
            <a:off x="8044800" y="2890000"/>
            <a:ext cx="3497600" cy="234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300" dirty="0">
                <a:solidFill>
                  <a:srgbClr val="2F2B28"/>
                </a:solidFill>
              </a:rPr>
              <a:t>Bodies and roles with no incompatibilities (P38, P03), gates and policies, first dashboard with real data (T17) and prioritised portfolio (P36). The board approves C2 and the committee, C3. Milestone 3: business as usual.</a:t>
            </a:r>
          </a:p>
        </p:txBody>
      </p:sp>
      <p:sp>
        <p:nvSpPr>
          <p:cNvPr id="215" name="Texto 215"/>
          <p:cNvSpPr txBox="1"/>
          <p:nvPr/>
        </p:nvSpPr>
        <p:spPr>
          <a:xfrm>
            <a:off x="609600" y="61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0F5499"/>
                </a:solidFill>
              </a:rPr>
              <a:t>From week 13, no new initiative spends budget without going through G0.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22" name="Texto 222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223" name="Texto 223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Three guarantees that are never negotiable, even at small scale</a:t>
            </a:r>
          </a:p>
        </p:txBody>
      </p:sp>
      <p:sp>
        <p:nvSpPr>
          <p:cNvPr id="220" name="Texto 220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Whoever builds neither verifies nor decides on their own work.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Risk sign-off comes from someone independent of the team.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The board approves the direction and the risk appetite: this is not delegated.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One person can hold several roles if they are not incompatible; the T01 register checks it (P03).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What already exists is regularised with approved deadlines, not ignored: inventory first, then risks, then gates.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26" name="Texto 226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227" name="Texto 227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Common mistakes when implementing it yourself</a:t>
            </a:r>
          </a:p>
        </p:txBody>
      </p:sp>
      <p:sp>
        <p:nvSpPr>
          <p:cNvPr id="224" name="Texto 224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Applying Enterprise to everything: the framework becomes heavy and is abandoned. Or applying nothing "because we are small".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Filling in templates after deciding: after-the-fact documentation invalidates the gate.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Adding released hours as savings on the dashboard.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Never stopping anything: a portfolio with no stops has formalities, not gates.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An incomplete inventory: third-party AI and unauthorised use count too.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Leaving the board out until the end: its session is booked on day one.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Marca"/>
          <p:cNvSpPr/>
          <p:nvPr/>
        </p:nvSpPr>
        <p:spPr>
          <a:xfrm>
            <a:off x="609600" y="365760"/>
            <a:ext cx="182880" cy="182880"/>
          </a:xfrm>
          <a:prstGeom prst="rect">
            <a:avLst/>
          </a:prstGeom>
          <a:solidFill>
            <a:srgbClr val="990F3D"/>
          </a:solidFill>
        </p:spPr>
        <p:txBody>
          <a:bodyPr/>
          <a:lstStyle/>
          <a:p/>
        </p:txBody>
      </p:sp>
      <p:sp>
        <p:nvSpPr>
          <p:cNvPr id="230" name="Texto 230"/>
          <p:cNvSpPr txBox="1"/>
          <p:nvPr/>
        </p:nvSpPr>
        <p:spPr>
          <a:xfrm>
            <a:off x="838200" y="300000"/>
            <a:ext cx="10500000" cy="320000"/>
          </a:xfrm>
          <a:prstGeom prst="rect">
            <a:avLst/>
          </a:prstGeom>
          <a:noFill/>
        </p:spPr>
        <p:txBody>
          <a:bodyPr wrap="square" anchor="ctr" lIns="45720" rIns="45720">
            <a:noAutofit/>
          </a:bodyPr>
          <a:lstStyle/>
          <a:p>
            <a:pPr algn="l"/>
            <a:r>
              <a:rPr lang="es-ES" sz="1400" b="1" dirty="0">
                <a:solidFill>
                  <a:srgbClr val="1A1817"/>
                </a:solidFill>
              </a:rPr>
              <a:t>SEVEN-G · COURSE · COMPANY · SELF-CONSULTING</a:t>
            </a:r>
          </a:p>
        </p:txBody>
      </p:sp>
      <p:sp>
        <p:nvSpPr>
          <p:cNvPr id="231" name="Texto 231"/>
          <p:cNvSpPr txBox="1"/>
          <p:nvPr/>
        </p:nvSpPr>
        <p:spPr>
          <a:xfrm>
            <a:off x="609600" y="700000"/>
            <a:ext cx="10972800" cy="65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l"/>
            <a:r>
              <a:rPr lang="es-ES" sz="2700" b="1" dirty="0">
                <a:solidFill>
                  <a:srgbClr val="990F3D"/>
                </a:solidFill>
              </a:rPr>
              <a:t>Where to start tomorrow</a:t>
            </a:r>
          </a:p>
        </p:txBody>
      </p:sp>
      <p:sp>
        <p:nvSpPr>
          <p:cNvPr id="228" name="Texto 228"/>
          <p:cNvSpPr txBox="1"/>
          <p:nvPr/>
        </p:nvSpPr>
        <p:spPr>
          <a:xfrm>
            <a:off x="609600" y="1750000"/>
            <a:ext cx="10972800" cy="44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One afternoon: open the sample register (T01) and its dashboard (T17), and answer the maturity diagnostic (T15) with your real situation.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One week: documents 00, 01 and 90; decide Lite or Enterprise scope and draft the mandate (P32).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Adoption can be modular: just the register, just the gates, just measurement or just the dashboard, and extend later.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If you want support, you can ask any professional; document 91 explains how to avoid depending on them.</a:t>
            </a:r>
          </a:p>
          <a:p>
            <a:pPr marL="285750" indent="-285750">
              <a:spcAft>
                <a:spcPts val="400"/>
              </a:spcAft>
              <a:buClr>
                <a:srgbClr val="990F3D"/>
              </a:buClr>
              <a:buFont typeface="Arial"/>
              <a:buChar char="•"/>
            </a:pPr>
            <a:r>
              <a:rPr lang="es-ES" sz="1800" dirty="0">
                <a:solidFill>
                  <a:srgbClr val="2F2B28"/>
                </a:solidFill>
              </a:rPr>
              <a:t>None of this requires registering or hiring anyone.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E2C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Texto 232"/>
          <p:cNvSpPr txBox="1"/>
          <p:nvPr/>
        </p:nvSpPr>
        <p:spPr>
          <a:xfrm>
            <a:off x="609600" y="2300000"/>
            <a:ext cx="109728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4400" b="1" dirty="0">
                <a:solidFill>
                  <a:srgbClr val="1A1817"/>
                </a:solidFill>
              </a:rPr>
              <a:t>Thank you</a:t>
            </a:r>
          </a:p>
        </p:txBody>
      </p:sp>
      <p:sp>
        <p:nvSpPr>
          <p:cNvPr id="233" name="Texto 233"/>
          <p:cNvSpPr txBox="1"/>
          <p:nvPr/>
        </p:nvSpPr>
        <p:spPr>
          <a:xfrm>
            <a:off x="609600" y="3350000"/>
            <a:ext cx="10972800" cy="9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900" dirty="0">
                <a:solidFill>
                  <a:srgbClr val="2F2B28"/>
                </a:solidFill>
              </a:rPr>
              <a:t>SEVEN-G is free: it is used, downloaded and adapted without registering, and the site will never write to you. If you want to talk to the author, the initiative is yours.</a:t>
            </a:r>
          </a:p>
        </p:txBody>
      </p:sp>
      <p:sp>
        <p:nvSpPr>
          <p:cNvPr id="234" name="Texto 234"/>
          <p:cNvSpPr txBox="1"/>
          <p:nvPr/>
        </p:nvSpPr>
        <p:spPr>
          <a:xfrm>
            <a:off x="609600" y="43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600" dirty="0">
                <a:solidFill>
                  <a:srgbClr val="564D47"/>
                </a:solidFill>
              </a:rPr>
              <a:t>SEVEN-G is a registered trademark of Fernando García Varela · CC BY 4.0 (content) · MIT (code)</a:t>
            </a:r>
          </a:p>
        </p:txBody>
      </p:sp>
      <p:sp>
        <p:nvSpPr>
          <p:cNvPr id="235" name="Texto 235"/>
          <p:cNvSpPr txBox="1"/>
          <p:nvPr/>
        </p:nvSpPr>
        <p:spPr>
          <a:xfrm>
            <a:off x="609600" y="4950000"/>
            <a:ext cx="10972800" cy="500000"/>
          </a:xfrm>
          <a:prstGeom prst="rect">
            <a:avLst/>
          </a:prstGeom>
          <a:noFill/>
        </p:spPr>
        <p:txBody>
          <a:bodyPr wrap="square" anchor="t" lIns="45720" rIns="45720">
            <a:noAutofit/>
          </a:bodyPr>
          <a:lstStyle/>
          <a:p>
            <a:pPr algn="ctr"/>
            <a:r>
              <a:rPr lang="es-ES" sz="1700" dirty="0">
                <a:solidFill>
                  <a:srgbClr val="0F5499"/>
                </a:solidFill>
              </a:rPr>
              <a:t>https://www.linkedin.com/in/fernandogarciavarela/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SEVEN-G">
  <a:themeElements>
    <a:clrScheme name="SEVEN-G">
      <a:dk1>
        <a:srgbClr val="1A1817"/>
      </a:dk1>
      <a:lt1>
        <a:srgbClr val="FBE2CD"/>
      </a:lt1>
      <a:dk2>
        <a:srgbClr val="2F2B28"/>
      </a:dk2>
      <a:lt2>
        <a:srgbClr val="FFFFFF"/>
      </a:lt2>
      <a:accent1>
        <a:srgbClr val="990F3D"/>
      </a:accent1>
      <a:accent2>
        <a:srgbClr val="0F5499"/>
      </a:accent2>
      <a:accent3>
        <a:srgbClr val="0D7680"/>
      </a:accent3>
      <a:accent4>
        <a:srgbClr val="593380"/>
      </a:accent4>
      <a:accent5>
        <a:srgbClr val="A5822A"/>
      </a:accent5>
      <a:accent6>
        <a:srgbClr val="71645B"/>
      </a:accent6>
      <a:hlink>
        <a:srgbClr val="0F5499"/>
      </a:hlink>
      <a:folHlink>
        <a:srgbClr val="593380"/>
      </a:folHlink>
    </a:clrScheme>
    <a:fontScheme name="SEVEN-G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EVEN-G">
      <a:fillStyleLst>
        <a:solidFill>
          <a:schemeClr val="accent1"/>
        </a:solidFill>
        <a:solidFill>
          <a:schemeClr val="accent1"/>
        </a:solidFill>
        <a:solidFill>
          <a:schemeClr val="accent1"/>
        </a:solidFill>
      </a:fillStyleLst>
      <a:lnStyleLst>
        <a:ln>
          <a:solidFill>
            <a:schemeClr val="accent1"/>
          </a:solidFill>
        </a:ln>
        <a:ln>
          <a:solidFill>
            <a:schemeClr val="accent1"/>
          </a:solidFill>
        </a:ln>
        <a:ln>
          <a:solidFill>
            <a:schemeClr val="accent1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1"/>
        </a:solidFill>
        <a:solidFill>
          <a:schemeClr val="lt1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SEVEN-G build</Application>
  <Slides>26</Slides>
  <Company>Fernando García Varela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SEVEN-G course for the company</dc:title>
  <dc:creator>Fernando García Varela</dc:creator>
  <cp:lastModifiedBy>SEVEN-G build</cp:lastModifiedBy>
  <dcterms:created xsi:type="dcterms:W3CDTF">2026-01-01T00:00:00Z</dcterms:created>
  <dcterms:modified xsi:type="dcterms:W3CDTF">2026-01-01T00:00:00Z</dcterms:modified>
</cp:coreProperties>
</file>
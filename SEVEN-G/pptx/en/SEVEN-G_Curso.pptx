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Lst>
  <p:sldSz cx="12192000" cy="6858000" type="screen16x9"/>
  <p:notesSz cx="6858000" cy="9144000"/>
</p:presentation>
</file>

<file path=ppt/_rels/presentation.xml.rels><?xml version="1.0" encoding="UTF-8" standalone="yes"?><Relationships xmlns="http://schemas.openxmlformats.org/package/2006/relationships"><Relationship Id="rIdM1" Type="http://schemas.openxmlformats.org/officeDocument/2006/relationships/slideMaster" Target="slideMasters/slideMaster1.xml"/><Relationship Id="rIdT1" Type="http://schemas.openxmlformats.org/officeDocument/2006/relationships/theme" Target="theme/theme1.xml"/><Relationship Id="rIdS1" Type="http://schemas.openxmlformats.org/officeDocument/2006/relationships/slide" Target="slides/slide1.xml"/>
<Relationship Id="rIdS2" Type="http://schemas.openxmlformats.org/officeDocument/2006/relationships/slide" Target="slides/slide2.xml"/>
<Relationship Id="rIdS3" Type="http://schemas.openxmlformats.org/officeDocument/2006/relationships/slide" Target="slides/slide3.xml"/>
<Relationship Id="rIdS4" Type="http://schemas.openxmlformats.org/officeDocument/2006/relationships/slide" Target="slides/slide4.xml"/>
<Relationship Id="rIdS5" Type="http://schemas.openxmlformats.org/officeDocument/2006/relationships/slide" Target="slides/slide5.xml"/>
<Relationship Id="rIdS6" Type="http://schemas.openxmlformats.org/officeDocument/2006/relationships/slide" Target="slides/slide6.xml"/>
<Relationship Id="rIdS7" Type="http://schemas.openxmlformats.org/officeDocument/2006/relationships/slide" Target="slides/slide7.xml"/>
<Relationship Id="rIdS8" Type="http://schemas.openxmlformats.org/officeDocument/2006/relationships/slide" Target="slides/slide8.xml"/>
<Relationship Id="rIdS9" Type="http://schemas.openxmlformats.org/officeDocument/2006/relationships/slide" Target="slides/slide9.xml"/>
<Relationship Id="rIdS10" Type="http://schemas.openxmlformats.org/officeDocument/2006/relationships/slide" Target="slides/slide10.xml"/>
<Relationship Id="rIdS11" Type="http://schemas.openxmlformats.org/officeDocument/2006/relationships/slide" Target="slides/slide11.xml"/>
<Relationship Id="rIdS12" Type="http://schemas.openxmlformats.org/officeDocument/2006/relationships/slide" Target="slides/slide12.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9" name="Marca"/>
          <p:cNvSpPr/>
          <p:nvPr/>
        </p:nvSpPr>
        <p:spPr>
          <a:xfrm>
            <a:off x="609600" y="609600"/>
            <a:ext cx="182880" cy="182880"/>
          </a:xfrm>
          <a:prstGeom prst="rect">
            <a:avLst/>
          </a:prstGeom>
          <a:solidFill>
            <a:srgbClr val="990F3D"/>
          </a:solidFill>
        </p:spPr>
        <p:txBody>
          <a:bodyPr/>
          <a:lstStyle/>
          <a:p/>
        </p:txBody>
      </p:sp>
      <p:sp>
        <p:nvSpPr>
          <p:cNvPr id="2" name="Texto 2"/>
          <p:cNvSpPr txBox="1"/>
          <p:nvPr/>
        </p:nvSpPr>
        <p:spPr>
          <a:xfrm>
            <a:off x="609600" y="1600200"/>
            <a:ext cx="10972800" cy="1600200"/>
          </a:xfrm>
          <a:prstGeom prst="rect">
            <a:avLst/>
          </a:prstGeom>
          <a:noFill/>
        </p:spPr>
        <p:txBody>
          <a:bodyPr wrap="square" anchor="t">
            <a:normAutofit/>
          </a:bodyPr>
          <a:lstStyle/>
          <a:p>
            <a:pPr algn="l"/>
            <a:r>
              <a:rPr lang="es-ES" sz="5400" b="1" dirty="0">
                <a:solidFill>
                  <a:srgbClr val="1A1817"/>
                </a:solidFill>
              </a:rPr>
              <a:t>SEVEN-G course</a:t>
            </a:r>
          </a:p>
        </p:txBody>
      </p:sp>
      <p:sp>
        <p:nvSpPr>
          <p:cNvPr id="3" name="Texto 3"/>
          <p:cNvSpPr txBox="1"/>
          <p:nvPr/>
        </p:nvSpPr>
        <p:spPr>
          <a:xfrm>
            <a:off x="609600" y="3200400"/>
            <a:ext cx="10972800" cy="900000"/>
          </a:xfrm>
          <a:prstGeom prst="rect">
            <a:avLst/>
          </a:prstGeom>
          <a:noFill/>
        </p:spPr>
        <p:txBody>
          <a:bodyPr wrap="square" anchor="t">
            <a:normAutofit/>
          </a:bodyPr>
          <a:lstStyle/>
          <a:p>
            <a:pPr marL="285750" indent="-285750">
              <a:buFont typeface="Arial"/>
              <a:buChar char="•"/>
            </a:pPr>
            <a:r>
              <a:rPr lang="es-ES" sz="2400" dirty="0">
                <a:solidFill>
                  <a:srgbClr val="2F2B28"/>
                </a:solidFill>
              </a:rPr>
              <a:t>Self-learning course: what it is, how it is used and how to find your way around the site</a:t>
            </a:r>
          </a:p>
        </p:txBody>
      </p:sp>
      <p:sp>
        <p:nvSpPr>
          <p:cNvPr id="4" name="Texto 4"/>
          <p:cNvSpPr txBox="1"/>
          <p:nvPr/>
        </p:nvSpPr>
        <p:spPr>
          <a:xfrm>
            <a:off x="609600" y="6100000"/>
            <a:ext cx="10972800" cy="500000"/>
          </a:xfrm>
          <a:prstGeom prst="rect">
            <a:avLst/>
          </a:prstGeom>
          <a:noFill/>
        </p:spPr>
        <p:txBody>
          <a:bodyPr wrap="square" anchor="t">
            <a:normAutofit/>
          </a:bodyPr>
          <a:lstStyle/>
          <a:p>
            <a:pPr marL="285750" indent="-285750">
              <a:buFont typeface="Arial"/>
              <a:buChar char="•"/>
            </a:pPr>
            <a:r>
              <a:rPr lang="es-ES" sz="1600" dirty="0">
                <a:solidFill>
                  <a:srgbClr val="0F5499"/>
                </a:solidFill>
              </a:rPr>
              <a:t>SEVEN-G · Fernando García Varela · CC BY 4.0 (content) · MIT (code)</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365760"/>
            <a:ext cx="10972800" cy="1000000"/>
          </a:xfrm>
          <a:prstGeom prst="rect">
            <a:avLst/>
          </a:prstGeom>
          <a:noFill/>
        </p:spPr>
        <p:txBody>
          <a:bodyPr wrap="square" anchor="t">
            <a:normAutofit/>
          </a:bodyPr>
          <a:lstStyle/>
          <a:p>
            <a:pPr algn="l"/>
            <a:r>
              <a:rPr lang="es-ES" sz="3200" b="1" dirty="0">
                <a:solidFill>
                  <a:srgbClr val="990F3D"/>
                </a:solidFill>
              </a:rPr>
              <a:t>00 · SEVEN-G course · Course guide</a:t>
            </a:r>
          </a:p>
        </p:txBody>
      </p:sp>
      <p:sp>
        <p:nvSpPr>
          <p:cNvPr id="4" name="Texto 4"/>
          <p:cNvSpPr txBox="1"/>
          <p:nvPr/>
        </p:nvSpPr>
        <p:spPr>
          <a:xfrm>
            <a:off x="609600" y="2450000"/>
            <a:ext cx="10972800" cy="4000000"/>
          </a:xfrm>
          <a:prstGeom prst="rect">
            <a:avLst/>
          </a:prstGeom>
          <a:noFill/>
        </p:spPr>
        <p:txBody>
          <a:bodyPr wrap="square" anchor="t">
            <a:normAutofit/>
          </a:bodyPr>
          <a:lstStyle/>
          <a:p>
            <a:r>
              <a:rPr lang="es-ES" sz="1800" b="1" dirty="0">
                <a:solidFill>
                  <a:srgbClr val="1A1817"/>
                </a:solidFill>
              </a:rPr>
              <a:t>Key ideas</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365760"/>
            <a:ext cx="10972800" cy="1000000"/>
          </a:xfrm>
          <a:prstGeom prst="rect">
            <a:avLst/>
          </a:prstGeom>
          <a:noFill/>
        </p:spPr>
        <p:txBody>
          <a:bodyPr wrap="square" anchor="t">
            <a:normAutofit/>
          </a:bodyPr>
          <a:lstStyle/>
          <a:p>
            <a:pPr algn="l"/>
            <a:r>
              <a:rPr lang="es-ES" sz="3200" b="1" dirty="0">
                <a:solidFill>
                  <a:srgbClr val="990F3D"/>
                </a:solidFill>
              </a:rPr>
              <a:t>01 · Finding your way around the site</a:t>
            </a:r>
          </a:p>
        </p:txBody>
      </p:sp>
      <p:sp>
        <p:nvSpPr>
          <p:cNvPr id="3" name="Texto 3"/>
          <p:cNvSpPr txBox="1"/>
          <p:nvPr/>
        </p:nvSpPr>
        <p:spPr>
          <a:xfrm>
            <a:off x="609600" y="1450000"/>
            <a:ext cx="10972800" cy="900000"/>
          </a:xfrm>
          <a:prstGeom prst="rect">
            <a:avLst/>
          </a:prstGeom>
          <a:noFill/>
        </p:spPr>
        <p:txBody>
          <a:bodyPr wrap="square" anchor="t">
            <a:normAutofit/>
          </a:bodyPr>
          <a:lstStyle/>
          <a:p>
            <a:r>
              <a:rPr lang="es-ES" sz="1800" b="1" dirty="0">
                <a:solidFill>
                  <a:srgbClr val="1A1817"/>
                </a:solidFill>
              </a:rPr>
              <a:t>Objective: </a:t>
            </a:r>
            <a:r>
              <a:rPr lang="es-ES" sz="1800" dirty="0">
                <a:solidFill>
                  <a:srgbClr val="2F2B28"/>
                </a:solidFill>
              </a:rPr>
              <a:t>By the end you will be able to find any document, template or tool, search for a term, download a PDF or a template in Word, change language and recognise the framework's codes.</a:t>
            </a:r>
          </a:p>
        </p:txBody>
      </p:sp>
      <p:sp>
        <p:nvSpPr>
          <p:cNvPr id="4" name="Texto 4"/>
          <p:cNvSpPr txBox="1"/>
          <p:nvPr/>
        </p:nvSpPr>
        <p:spPr>
          <a:xfrm>
            <a:off x="609600" y="2450000"/>
            <a:ext cx="10972800" cy="4000000"/>
          </a:xfrm>
          <a:prstGeom prst="rect">
            <a:avLst/>
          </a:prstGeom>
          <a:noFill/>
        </p:spPr>
        <p:txBody>
          <a:bodyPr wrap="square" anchor="t">
            <a:normAutofit/>
          </a:bodyPr>
          <a:lstStyle/>
          <a:p>
            <a:r>
              <a:rPr lang="es-ES" sz="1800" b="1" dirty="0">
                <a:solidFill>
                  <a:srgbClr val="1A1817"/>
                </a:solidFill>
              </a:rPr>
              <a:t>Key ideas</a:t>
            </a:r>
          </a:p>
          <a:p>
            <a:pPr marL="285750" indent="-285750">
              <a:buFont typeface="Arial"/>
              <a:buChar char="•"/>
            </a:pPr>
            <a:r>
              <a:rPr lang="es-ES" sz="1700" dirty="0">
                <a:solidFill>
                  <a:srgbClr val="2F2B28"/>
                </a:solidFill>
              </a:rPr>
              <a:t>The site is a library, not a book. Nobody reads it from start to finish: you enter through document 00, through the index or through this course, and move from link to link.</a:t>
            </a:r>
          </a:p>
          <a:p>
            <a:pPr marL="285750" indent="-285750">
              <a:buFont typeface="Arial"/>
              <a:buChar char="•"/>
            </a:pPr>
            <a:r>
              <a:rPr lang="es-ES" sz="1700" dirty="0">
                <a:solidFill>
                  <a:srgbClr val="2F2B28"/>
                </a:solidFill>
              </a:rPr>
              <a:t>Everything is linked. When a text cites a document, a template (P) or a tool (T), the citation is a link.</a:t>
            </a:r>
          </a:p>
          <a:p>
            <a:pPr marL="285750" indent="-285750">
              <a:buFont typeface="Arial"/>
              <a:buChar char="•"/>
            </a:pPr>
            <a:r>
              <a:rPr lang="es-ES" sz="1700" dirty="0">
                <a:solidFill>
                  <a:srgbClr val="2F2B28"/>
                </a:solidFill>
              </a:rPr>
              <a:t>Every page has the same aids: toolbar at the top, downloads area under the cover and "The essentials" box after the legal notice.</a:t>
            </a:r>
          </a:p>
          <a:p>
            <a:pPr marL="285750" indent="-285750">
              <a:buFont typeface="Arial"/>
              <a:buChar char="•"/>
            </a:pPr>
            <a:r>
              <a:rPr lang="es-ES" sz="1700" dirty="0">
                <a:solidFill>
                  <a:srgbClr val="2F2B28"/>
                </a:solidFill>
              </a:rPr>
              <a:t>Spanish and English are equivalent: same content, same structure, same file name.</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365760"/>
            <a:ext cx="10972800" cy="1000000"/>
          </a:xfrm>
          <a:prstGeom prst="rect">
            <a:avLst/>
          </a:prstGeom>
          <a:noFill/>
        </p:spPr>
        <p:txBody>
          <a:bodyPr wrap="square" anchor="t">
            <a:normAutofit/>
          </a:bodyPr>
          <a:lstStyle/>
          <a:p>
            <a:pPr algn="l"/>
            <a:r>
              <a:rPr lang="es-ES" sz="3200" b="1" dirty="0">
                <a:solidFill>
                  <a:srgbClr val="990F3D"/>
                </a:solidFill>
              </a:rPr>
              <a:t>02 · What SEVEN-G is and what problem it solves</a:t>
            </a:r>
          </a:p>
        </p:txBody>
      </p:sp>
      <p:sp>
        <p:nvSpPr>
          <p:cNvPr id="3" name="Texto 3"/>
          <p:cNvSpPr txBox="1"/>
          <p:nvPr/>
        </p:nvSpPr>
        <p:spPr>
          <a:xfrm>
            <a:off x="609600" y="1450000"/>
            <a:ext cx="10972800" cy="900000"/>
          </a:xfrm>
          <a:prstGeom prst="rect">
            <a:avLst/>
          </a:prstGeom>
          <a:noFill/>
        </p:spPr>
        <p:txBody>
          <a:bodyPr wrap="square" anchor="t">
            <a:normAutofit/>
          </a:bodyPr>
          <a:lstStyle/>
          <a:p>
            <a:r>
              <a:rPr lang="es-ES" sz="1800" b="1" dirty="0">
                <a:solidFill>
                  <a:srgbClr val="1A1817"/>
                </a:solidFill>
              </a:rPr>
              <a:t>Objective: </a:t>
            </a:r>
            <a:r>
              <a:rPr lang="es-ES" sz="1800" dirty="0">
                <a:solidFill>
                  <a:srgbClr val="2F2B28"/>
                </a:solidFill>
              </a:rPr>
              <a:t>By the end you will be able to explain in two minutes what SEVEN-G is, what problem it solves, what parts it is made of and how it differs from the usual way of adopting AI.</a:t>
            </a:r>
          </a:p>
        </p:txBody>
      </p:sp>
      <p:sp>
        <p:nvSpPr>
          <p:cNvPr id="4" name="Texto 4"/>
          <p:cNvSpPr txBox="1"/>
          <p:nvPr/>
        </p:nvSpPr>
        <p:spPr>
          <a:xfrm>
            <a:off x="609600" y="2450000"/>
            <a:ext cx="10972800" cy="4000000"/>
          </a:xfrm>
          <a:prstGeom prst="rect">
            <a:avLst/>
          </a:prstGeom>
          <a:noFill/>
        </p:spPr>
        <p:txBody>
          <a:bodyPr wrap="square" anchor="t">
            <a:normAutofit/>
          </a:bodyPr>
          <a:lstStyle/>
          <a:p>
            <a:r>
              <a:rPr lang="es-ES" sz="1800" b="1" dirty="0">
                <a:solidFill>
                  <a:srgbClr val="1A1817"/>
                </a:solidFill>
              </a:rPr>
              <a:t>Key ideas</a:t>
            </a:r>
          </a:p>
          <a:p>
            <a:pPr marL="285750" indent="-285750">
              <a:buFont typeface="Arial"/>
              <a:buChar char="•"/>
            </a:pPr>
            <a:r>
              <a:rPr lang="es-ES" sz="1700" dirty="0">
                <a:solidFill>
                  <a:srgbClr val="2F2B28"/>
                </a:solidFill>
              </a:rPr>
              <a:t>The problems of AI in companies are not technological: they are about governance and measurement. Many pilots and few cases in production, value that is declared and not validated, nobody able to stop a project.</a:t>
            </a:r>
          </a:p>
          <a:p>
            <a:pPr marL="285750" indent="-285750">
              <a:buFont typeface="Arial"/>
              <a:buChar char="•"/>
            </a:pPr>
            <a:r>
              <a:rPr lang="es-ES" sz="1700" dirty="0">
                <a:solidFill>
                  <a:srgbClr val="2F2B28"/>
                </a:solidFill>
              </a:rPr>
              <a:t>Two levels. The company decides and oversees in a corporate cycle (C1–C5); each initiative goes through an eight-phase lifecycle with decision gates.</a:t>
            </a:r>
          </a:p>
          <a:p>
            <a:pPr marL="285750" indent="-285750">
              <a:buFont typeface="Arial"/>
              <a:buChar char="•"/>
            </a:pPr>
            <a:r>
              <a:rPr lang="es-ES" sz="1700" dirty="0">
                <a:solidFill>
                  <a:srgbClr val="2F2B28"/>
                </a:solidFill>
              </a:rPr>
              <a:t>Four components: an impact map (spheres and ambition), a governance system, a measurement system and a set of tools.</a:t>
            </a:r>
          </a:p>
          <a:p>
            <a:pPr marL="285750" indent="-285750">
              <a:buFont typeface="Arial"/>
              <a:buChar char="•"/>
            </a:pPr>
            <a:r>
              <a:rPr lang="es-ES" sz="1700" dirty="0">
                <a:solidFill>
                  <a:srgbClr val="2F2B28"/>
                </a:solidFill>
              </a:rPr>
              <a:t>One question: is the company transforming with AI or only becoming more efficient? Both are legitimate; the problem is confusing them.</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365760"/>
            <a:ext cx="10972800" cy="1000000"/>
          </a:xfrm>
          <a:prstGeom prst="rect">
            <a:avLst/>
          </a:prstGeom>
          <a:noFill/>
        </p:spPr>
        <p:txBody>
          <a:bodyPr wrap="square" anchor="t">
            <a:normAutofit/>
          </a:bodyPr>
          <a:lstStyle/>
          <a:p>
            <a:pPr algn="l"/>
            <a:r>
              <a:rPr lang="es-ES" sz="3200" b="1" dirty="0">
                <a:solidFill>
                  <a:srgbClr val="990F3D"/>
                </a:solidFill>
              </a:rPr>
              <a:t>03 · Spheres and ambition levels</a:t>
            </a:r>
          </a:p>
        </p:txBody>
      </p:sp>
      <p:sp>
        <p:nvSpPr>
          <p:cNvPr id="3" name="Texto 3"/>
          <p:cNvSpPr txBox="1"/>
          <p:nvPr/>
        </p:nvSpPr>
        <p:spPr>
          <a:xfrm>
            <a:off x="609600" y="1450000"/>
            <a:ext cx="10972800" cy="900000"/>
          </a:xfrm>
          <a:prstGeom prst="rect">
            <a:avLst/>
          </a:prstGeom>
          <a:noFill/>
        </p:spPr>
        <p:txBody>
          <a:bodyPr wrap="square" anchor="t">
            <a:normAutofit/>
          </a:bodyPr>
          <a:lstStyle/>
          <a:p>
            <a:r>
              <a:rPr lang="es-ES" sz="1800" b="1" dirty="0">
                <a:solidFill>
                  <a:srgbClr val="1A1817"/>
                </a:solidFill>
              </a:rPr>
              <a:t>Objective: </a:t>
            </a:r>
            <a:r>
              <a:rPr lang="es-ES" sz="1800" dirty="0">
                <a:solidFill>
                  <a:srgbClr val="2F2B28"/>
                </a:solidFill>
              </a:rPr>
              <a:t>By the end you will be able to place any AI initiative in a sphere and an ambition level, and you will understand why that classification changes the criteria by which it is judged.</a:t>
            </a:r>
          </a:p>
        </p:txBody>
      </p:sp>
      <p:sp>
        <p:nvSpPr>
          <p:cNvPr id="4" name="Texto 4"/>
          <p:cNvSpPr txBox="1"/>
          <p:nvPr/>
        </p:nvSpPr>
        <p:spPr>
          <a:xfrm>
            <a:off x="609600" y="2450000"/>
            <a:ext cx="10972800" cy="4000000"/>
          </a:xfrm>
          <a:prstGeom prst="rect">
            <a:avLst/>
          </a:prstGeom>
          <a:noFill/>
        </p:spPr>
        <p:txBody>
          <a:bodyPr wrap="square" anchor="t">
            <a:normAutofit/>
          </a:bodyPr>
          <a:lstStyle/>
          <a:p>
            <a:r>
              <a:rPr lang="es-ES" sz="1800" b="1" dirty="0">
                <a:solidFill>
                  <a:srgbClr val="1A1817"/>
                </a:solidFill>
              </a:rPr>
              <a:t>Key ideas</a:t>
            </a:r>
          </a:p>
          <a:p>
            <a:pPr marL="285750" indent="-285750">
              <a:buFont typeface="Arial"/>
              <a:buChar char="•"/>
            </a:pPr>
            <a:r>
              <a:rPr lang="es-ES" sz="1700" dirty="0">
                <a:solidFill>
                  <a:srgbClr val="2F2B28"/>
                </a:solidFill>
              </a:rPr>
              <a:t>Nine spheres. Seven where value is created or enabled (customer, product and service, people, operations, data, knowledge, decision), one of boundaries (regulation, ethics and accountability) and one meta-sphere (AI governance).</a:t>
            </a:r>
          </a:p>
          <a:p>
            <a:pPr marL="285750" indent="-285750">
              <a:buFont typeface="Arial"/>
              <a:buChar char="•"/>
            </a:pPr>
            <a:r>
              <a:rPr lang="es-ES" sz="1700" dirty="0">
                <a:solidFill>
                  <a:srgbClr val="2F2B28"/>
                </a:solidFill>
              </a:rPr>
              <a:t>Three ambition levels: Optimise (doing the same better), Augment (doing more than was possible) and Transform (doing something that was not possible before, or changing the model).</a:t>
            </a:r>
          </a:p>
          <a:p>
            <a:pPr marL="285750" indent="-285750">
              <a:buFont typeface="Arial"/>
              <a:buChar char="•"/>
            </a:pPr>
            <a:r>
              <a:rPr lang="es-ES" sz="1700" dirty="0">
                <a:solidFill>
                  <a:srgbClr val="2F2B28"/>
                </a:solidFill>
              </a:rPr>
              <a:t>Classification has consequences. Transform always implies Enterprise intensity and board approval; in exchange, it is not required to deliver the immediate return of an efficiency project.</a:t>
            </a:r>
          </a:p>
          <a:p>
            <a:pPr marL="285750" indent="-285750">
              <a:buFont typeface="Arial"/>
              <a:buChar char="•"/>
            </a:pPr>
            <a:r>
              <a:rPr lang="es-ES" sz="1700" dirty="0">
                <a:solidFill>
                  <a:srgbClr val="2F2B28"/>
                </a:solidFill>
              </a:rPr>
              <a:t>Classification follows rules, not enthusiasm. Ambition is proposed in phase 1, confirmed in phase 2 and checked against what happens in production.</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365760"/>
            <a:ext cx="10972800" cy="1000000"/>
          </a:xfrm>
          <a:prstGeom prst="rect">
            <a:avLst/>
          </a:prstGeom>
          <a:noFill/>
        </p:spPr>
        <p:txBody>
          <a:bodyPr wrap="square" anchor="t">
            <a:normAutofit/>
          </a:bodyPr>
          <a:lstStyle/>
          <a:p>
            <a:pPr algn="l"/>
            <a:r>
              <a:rPr lang="es-ES" sz="3200" b="1" dirty="0">
                <a:solidFill>
                  <a:srgbClr val="990F3D"/>
                </a:solidFill>
              </a:rPr>
              <a:t>04 · Lifecycle, gates and funnel</a:t>
            </a:r>
          </a:p>
        </p:txBody>
      </p:sp>
      <p:sp>
        <p:nvSpPr>
          <p:cNvPr id="3" name="Texto 3"/>
          <p:cNvSpPr txBox="1"/>
          <p:nvPr/>
        </p:nvSpPr>
        <p:spPr>
          <a:xfrm>
            <a:off x="609600" y="1450000"/>
            <a:ext cx="10972800" cy="900000"/>
          </a:xfrm>
          <a:prstGeom prst="rect">
            <a:avLst/>
          </a:prstGeom>
          <a:noFill/>
        </p:spPr>
        <p:txBody>
          <a:bodyPr wrap="square" anchor="t">
            <a:normAutofit/>
          </a:bodyPr>
          <a:lstStyle/>
          <a:p>
            <a:r>
              <a:rPr lang="es-ES" sz="1800" b="1" dirty="0">
                <a:solidFill>
                  <a:srgbClr val="1A1817"/>
                </a:solidFill>
              </a:rPr>
              <a:t>Objective: </a:t>
            </a:r>
            <a:r>
              <a:rPr lang="es-ES" sz="1800" dirty="0">
                <a:solidFill>
                  <a:srgbClr val="2F2B28"/>
                </a:solidFill>
              </a:rPr>
              <a:t>By the end you will be able to say which phase an initiative is in, what it is asked for to pass its gate, what the competent body can decide and how the portfolio is read in the initiative register.</a:t>
            </a:r>
          </a:p>
        </p:txBody>
      </p:sp>
      <p:sp>
        <p:nvSpPr>
          <p:cNvPr id="4" name="Texto 4"/>
          <p:cNvSpPr txBox="1"/>
          <p:nvPr/>
        </p:nvSpPr>
        <p:spPr>
          <a:xfrm>
            <a:off x="609600" y="2450000"/>
            <a:ext cx="10972800" cy="4000000"/>
          </a:xfrm>
          <a:prstGeom prst="rect">
            <a:avLst/>
          </a:prstGeom>
          <a:noFill/>
        </p:spPr>
        <p:txBody>
          <a:bodyPr wrap="square" anchor="t">
            <a:normAutofit/>
          </a:bodyPr>
          <a:lstStyle/>
          <a:p>
            <a:r>
              <a:rPr lang="es-ES" sz="1800" b="1" dirty="0">
                <a:solidFill>
                  <a:srgbClr val="1A1817"/>
                </a:solidFill>
              </a:rPr>
              <a:t>Key ideas</a:t>
            </a:r>
          </a:p>
          <a:p>
            <a:pPr marL="285750" indent="-285750">
              <a:buFont typeface="Arial"/>
              <a:buChar char="•"/>
            </a:pPr>
            <a:r>
              <a:rPr lang="es-ES" sz="1700" dirty="0">
                <a:solidFill>
                  <a:srgbClr val="2F2B28"/>
                </a:solidFill>
              </a:rPr>
              <a:t>Eight phases and a gate at the end of each. In phase 6 (operation) the gate is a periodic continuity review, R6.</a:t>
            </a:r>
          </a:p>
          <a:p>
            <a:pPr marL="285750" indent="-285750">
              <a:buFont typeface="Arial"/>
              <a:buChar char="•"/>
            </a:pPr>
            <a:r>
              <a:rPr lang="es-ES" sz="1700" dirty="0">
                <a:solidFill>
                  <a:srgbClr val="2F2B28"/>
                </a:solidFill>
              </a:rPr>
              <a:t>Dual validation. A gate checks both the result and the documentation. Without verified evidence there is no decision.</a:t>
            </a:r>
          </a:p>
          <a:p>
            <a:pPr marL="285750" indent="-285750">
              <a:buFont typeface="Arial"/>
              <a:buChar char="•"/>
            </a:pPr>
            <a:r>
              <a:rPr lang="es-ES" sz="1700" dirty="0">
                <a:solidFill>
                  <a:srgbClr val="2F2B28"/>
                </a:solidFill>
              </a:rPr>
              <a:t>Five outcomes: proceed, proceed with conditions, iterate, pivot or stop. At G7: scale, iterate or retire. Stopping is a good outcome when it avoids building something unfeasible; G3 is the main stop gate.</a:t>
            </a:r>
          </a:p>
          <a:p>
            <a:pPr marL="285750" indent="-285750">
              <a:buFont typeface="Arial"/>
              <a:buChar char="•"/>
            </a:pPr>
            <a:r>
              <a:rPr lang="es-ES" sz="1700" dirty="0">
                <a:solidFill>
                  <a:srgbClr val="2F2B28"/>
                </a:solidFill>
              </a:rPr>
              <a:t>The portfolio is a funnel. As in sales, stages, times, requirements and loss reasons are recorded. Unlike sales, the aim is not to convert more, but to decide well.</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365760"/>
            <a:ext cx="10972800" cy="1000000"/>
          </a:xfrm>
          <a:prstGeom prst="rect">
            <a:avLst/>
          </a:prstGeom>
          <a:noFill/>
        </p:spPr>
        <p:txBody>
          <a:bodyPr wrap="square" anchor="t">
            <a:normAutofit/>
          </a:bodyPr>
          <a:lstStyle/>
          <a:p>
            <a:pPr algn="l"/>
            <a:r>
              <a:rPr lang="es-ES" sz="3200" b="1" dirty="0">
                <a:solidFill>
                  <a:srgbClr val="990F3D"/>
                </a:solidFill>
              </a:rPr>
              <a:t>05 · Governance and risk</a:t>
            </a:r>
          </a:p>
        </p:txBody>
      </p:sp>
      <p:sp>
        <p:nvSpPr>
          <p:cNvPr id="3" name="Texto 3"/>
          <p:cNvSpPr txBox="1"/>
          <p:nvPr/>
        </p:nvSpPr>
        <p:spPr>
          <a:xfrm>
            <a:off x="609600" y="1450000"/>
            <a:ext cx="10972800" cy="900000"/>
          </a:xfrm>
          <a:prstGeom prst="rect">
            <a:avLst/>
          </a:prstGeom>
          <a:noFill/>
        </p:spPr>
        <p:txBody>
          <a:bodyPr wrap="square" anchor="t">
            <a:normAutofit/>
          </a:bodyPr>
          <a:lstStyle/>
          <a:p>
            <a:r>
              <a:rPr lang="es-ES" sz="1800" b="1" dirty="0">
                <a:solidFill>
                  <a:srgbClr val="1A1817"/>
                </a:solidFill>
              </a:rPr>
              <a:t>Objective: </a:t>
            </a:r>
            <a:r>
              <a:rPr lang="es-ES" sz="1800" dirty="0">
                <a:solidFill>
                  <a:srgbClr val="2F2B28"/>
                </a:solidFill>
              </a:rPr>
              <a:t>By the end you will be able to explain the framework's segregation of duties, assign the roles of an initiative without incompatibilities and read a risk register: inherent level, residual level and the body that can accept it.</a:t>
            </a:r>
          </a:p>
        </p:txBody>
      </p:sp>
      <p:sp>
        <p:nvSpPr>
          <p:cNvPr id="4" name="Texto 4"/>
          <p:cNvSpPr txBox="1"/>
          <p:nvPr/>
        </p:nvSpPr>
        <p:spPr>
          <a:xfrm>
            <a:off x="609600" y="2450000"/>
            <a:ext cx="10972800" cy="4000000"/>
          </a:xfrm>
          <a:prstGeom prst="rect">
            <a:avLst/>
          </a:prstGeom>
          <a:noFill/>
        </p:spPr>
        <p:txBody>
          <a:bodyPr wrap="square" anchor="t">
            <a:normAutofit/>
          </a:bodyPr>
          <a:lstStyle/>
          <a:p>
            <a:r>
              <a:rPr lang="es-ES" sz="1800" b="1" dirty="0">
                <a:solidFill>
                  <a:srgbClr val="1A1817"/>
                </a:solidFill>
              </a:rPr>
              <a:t>Key ideas</a:t>
            </a:r>
          </a:p>
          <a:p>
            <a:pPr marL="285750" indent="-285750">
              <a:buFont typeface="Arial"/>
              <a:buChar char="•"/>
            </a:pPr>
            <a:r>
              <a:rPr lang="es-ES" sz="1700" dirty="0">
                <a:solidFill>
                  <a:srgbClr val="2F2B28"/>
                </a:solidFill>
              </a:rPr>
              <a:t>Nobody approves themselves. Whoever builds neither verifies nor decides their own work; risk clearance is independent of the team; the board approves the direction and the risk appetite.</a:t>
            </a:r>
          </a:p>
          <a:p>
            <a:pPr marL="285750" indent="-285750">
              <a:buFont typeface="Arial"/>
              <a:buChar char="•"/>
            </a:pPr>
            <a:r>
              <a:rPr lang="es-ES" sz="1700" dirty="0">
                <a:solidFill>
                  <a:srgbClr val="2F2B28"/>
                </a:solidFill>
              </a:rPr>
              <a:t>There is no need to create new bodies. In a medium-sized company, the management committee with a monthly AI item, a one-person AI Office and an independent auditor for Enterprise initiatives are enough.</a:t>
            </a:r>
          </a:p>
          <a:p>
            <a:pPr marL="285750" indent="-285750">
              <a:buFont typeface="Arial"/>
              <a:buChar char="•"/>
            </a:pPr>
            <a:r>
              <a:rPr lang="es-ES" sz="1700" dirty="0">
                <a:solidFill>
                  <a:srgbClr val="2F2B28"/>
                </a:solidFill>
              </a:rPr>
              <a:t>Risk = probability × impact, from 1 to 25, in four levels. It is assessed before controls (inherent) and after them (residual).</a:t>
            </a:r>
          </a:p>
          <a:p>
            <a:pPr marL="285750" indent="-285750">
              <a:buFont typeface="Arial"/>
              <a:buChar char="•"/>
            </a:pPr>
            <a:r>
              <a:rPr lang="es-ES" sz="1700" dirty="0">
                <a:solidFill>
                  <a:srgbClr val="2F2B28"/>
                </a:solidFill>
              </a:rPr>
              <a:t>Each level has its accepting body. A Critical residual risk can only be accepted by the board; without that approval, it blocks G3 and G5.</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365760"/>
            <a:ext cx="10972800" cy="1000000"/>
          </a:xfrm>
          <a:prstGeom prst="rect">
            <a:avLst/>
          </a:prstGeom>
          <a:noFill/>
        </p:spPr>
        <p:txBody>
          <a:bodyPr wrap="square" anchor="t">
            <a:normAutofit/>
          </a:bodyPr>
          <a:lstStyle/>
          <a:p>
            <a:pPr algn="l"/>
            <a:r>
              <a:rPr lang="es-ES" sz="3200" b="1" dirty="0">
                <a:solidFill>
                  <a:srgbClr val="990F3D"/>
                </a:solidFill>
              </a:rPr>
              <a:t>06 · Measuring value</a:t>
            </a:r>
          </a:p>
        </p:txBody>
      </p:sp>
      <p:sp>
        <p:nvSpPr>
          <p:cNvPr id="3" name="Texto 3"/>
          <p:cNvSpPr txBox="1"/>
          <p:nvPr/>
        </p:nvSpPr>
        <p:spPr>
          <a:xfrm>
            <a:off x="609600" y="1450000"/>
            <a:ext cx="10972800" cy="900000"/>
          </a:xfrm>
          <a:prstGeom prst="rect">
            <a:avLst/>
          </a:prstGeom>
          <a:noFill/>
        </p:spPr>
        <p:txBody>
          <a:bodyPr wrap="square" anchor="t">
            <a:normAutofit/>
          </a:bodyPr>
          <a:lstStyle/>
          <a:p>
            <a:r>
              <a:rPr lang="es-ES" sz="1800" b="1" dirty="0">
                <a:solidFill>
                  <a:srgbClr val="1A1817"/>
                </a:solidFill>
              </a:rPr>
              <a:t>Objective: </a:t>
            </a:r>
            <a:r>
              <a:rPr lang="es-ES" sz="1800" dirty="0">
                <a:solidFill>
                  <a:srgbClr val="2F2B28"/>
                </a:solidFill>
              </a:rPr>
              <a:t>By the end you will be able to distinguish validated, declared and estimated value, calculate the annual net value of a case and explain why released capacity is not a saving until it is materialised.</a:t>
            </a:r>
          </a:p>
        </p:txBody>
      </p:sp>
      <p:sp>
        <p:nvSpPr>
          <p:cNvPr id="4" name="Texto 4"/>
          <p:cNvSpPr txBox="1"/>
          <p:nvPr/>
        </p:nvSpPr>
        <p:spPr>
          <a:xfrm>
            <a:off x="609600" y="2450000"/>
            <a:ext cx="10972800" cy="4000000"/>
          </a:xfrm>
          <a:prstGeom prst="rect">
            <a:avLst/>
          </a:prstGeom>
          <a:noFill/>
        </p:spPr>
        <p:txBody>
          <a:bodyPr wrap="square" anchor="t">
            <a:normAutofit/>
          </a:bodyPr>
          <a:lstStyle/>
          <a:p>
            <a:r>
              <a:rPr lang="es-ES" sz="1800" b="1" dirty="0">
                <a:solidFill>
                  <a:srgbClr val="1A1817"/>
                </a:solidFill>
              </a:rPr>
              <a:t>Key ideas</a:t>
            </a:r>
          </a:p>
          <a:p>
            <a:pPr marL="285750" indent="-285750">
              <a:buFont typeface="Arial"/>
              <a:buChar char="•"/>
            </a:pPr>
            <a:r>
              <a:rPr lang="es-ES" sz="1700" dirty="0">
                <a:solidFill>
                  <a:srgbClr val="2F2B28"/>
                </a:solidFill>
              </a:rPr>
              <a:t>Every amount carries a formula and a status. Validated (checked by a third party with real data), declared (stated by the business area) or estimated (forecast). Only validated value reaches the portfolio net value.</a:t>
            </a:r>
          </a:p>
          <a:p>
            <a:pPr marL="285750" indent="-285750">
              <a:buFont typeface="Arial"/>
              <a:buChar char="•"/>
            </a:pPr>
            <a:r>
              <a:rPr lang="es-ES" sz="1700" dirty="0">
                <a:solidFill>
                  <a:srgbClr val="2F2B28"/>
                </a:solidFill>
              </a:rPr>
              <a:t>Annual net value = efficiencies + return − recurring cost. Without the full recurring cost, the figure is worthless.</a:t>
            </a:r>
          </a:p>
          <a:p>
            <a:pPr marL="285750" indent="-285750">
              <a:buFont typeface="Arial"/>
              <a:buChar char="•"/>
            </a:pPr>
            <a:r>
              <a:rPr lang="es-ES" sz="1700" dirty="0">
                <a:solidFill>
                  <a:srgbClr val="2F2B28"/>
                </a:solidFill>
              </a:rPr>
              <a:t>Released hours are not money. They only count if they avoid a budgeted cost; if they are reassigned, what counts is the result of the destination activity.</a:t>
            </a:r>
          </a:p>
          <a:p>
            <a:pPr marL="285750" indent="-285750">
              <a:buFont typeface="Arial"/>
              <a:buChar char="•"/>
            </a:pPr>
            <a:r>
              <a:rPr lang="es-ES" sz="1700" dirty="0">
                <a:solidFill>
                  <a:srgbClr val="2F2B28"/>
                </a:solidFill>
              </a:rPr>
              <a:t>A single economic feasibility criterion: NPV ≥ 0 with the horizon and the rate set by the board in C2. ROI and payback period inform; they do not decide.</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365760"/>
            <a:ext cx="10972800" cy="1000000"/>
          </a:xfrm>
          <a:prstGeom prst="rect">
            <a:avLst/>
          </a:prstGeom>
          <a:noFill/>
        </p:spPr>
        <p:txBody>
          <a:bodyPr wrap="square" anchor="t">
            <a:normAutofit/>
          </a:bodyPr>
          <a:lstStyle/>
          <a:p>
            <a:pPr algn="l"/>
            <a:r>
              <a:rPr lang="es-ES" sz="3200" b="1" dirty="0">
                <a:solidFill>
                  <a:srgbClr val="990F3D"/>
                </a:solidFill>
              </a:rPr>
              <a:t>07 · Transformation or efficiency</a:t>
            </a:r>
          </a:p>
        </p:txBody>
      </p:sp>
      <p:sp>
        <p:nvSpPr>
          <p:cNvPr id="3" name="Texto 3"/>
          <p:cNvSpPr txBox="1"/>
          <p:nvPr/>
        </p:nvSpPr>
        <p:spPr>
          <a:xfrm>
            <a:off x="609600" y="1450000"/>
            <a:ext cx="10972800" cy="900000"/>
          </a:xfrm>
          <a:prstGeom prst="rect">
            <a:avLst/>
          </a:prstGeom>
          <a:noFill/>
        </p:spPr>
        <p:txBody>
          <a:bodyPr wrap="square" anchor="t">
            <a:normAutofit/>
          </a:bodyPr>
          <a:lstStyle/>
          <a:p>
            <a:r>
              <a:rPr lang="es-ES" sz="1800" b="1" dirty="0">
                <a:solidFill>
                  <a:srgbClr val="1A1817"/>
                </a:solidFill>
              </a:rPr>
              <a:t>Objective: </a:t>
            </a:r>
            <a:r>
              <a:rPr lang="es-ES" sz="1800" dirty="0">
                <a:solidFill>
                  <a:srgbClr val="2F2B28"/>
                </a:solidFill>
              </a:rPr>
              <a:t>By the end you will be able to read a company's transformation index, explain its five profiles and recognise a "declared but unevidenced transformation".</a:t>
            </a:r>
          </a:p>
        </p:txBody>
      </p:sp>
      <p:sp>
        <p:nvSpPr>
          <p:cNvPr id="4" name="Texto 4"/>
          <p:cNvSpPr txBox="1"/>
          <p:nvPr/>
        </p:nvSpPr>
        <p:spPr>
          <a:xfrm>
            <a:off x="609600" y="2450000"/>
            <a:ext cx="10972800" cy="4000000"/>
          </a:xfrm>
          <a:prstGeom prst="rect">
            <a:avLst/>
          </a:prstGeom>
          <a:noFill/>
        </p:spPr>
        <p:txBody>
          <a:bodyPr wrap="square" anchor="t">
            <a:normAutofit/>
          </a:bodyPr>
          <a:lstStyle/>
          <a:p>
            <a:r>
              <a:rPr lang="es-ES" sz="1800" b="1" dirty="0">
                <a:solidFill>
                  <a:srgbClr val="1A1817"/>
                </a:solidFill>
              </a:rPr>
              <a:t>Key ideas</a:t>
            </a:r>
          </a:p>
          <a:p>
            <a:pPr marL="285750" indent="-285750">
              <a:buFont typeface="Arial"/>
              <a:buChar char="•"/>
            </a:pPr>
            <a:r>
              <a:rPr lang="es-ES" sz="1700" dirty="0">
                <a:solidFill>
                  <a:srgbClr val="2F2B28"/>
                </a:solidFill>
              </a:rPr>
              <a:t>Efficiency and transformation are both legitimate. The problem is calling a portfolio of automations a transformation, or blocking a transformation with cost-cutting criteria.</a:t>
            </a:r>
          </a:p>
          <a:p>
            <a:pPr marL="285750" indent="-285750">
              <a:buFont typeface="Arial"/>
              <a:buChar char="•"/>
            </a:pPr>
            <a:r>
              <a:rPr lang="es-ES" sz="1700" dirty="0">
                <a:solidFill>
                  <a:srgbClr val="2F2B28"/>
                </a:solidFill>
              </a:rPr>
              <a:t>The index does not give opinions: it looks at evidence. Three base conditions and eight observable signals —where investment goes, what reaches production, what capacity is reassigned, what revenue depends on AI, what the board decides—, scored from 0 to 3.</a:t>
            </a:r>
          </a:p>
          <a:p>
            <a:pPr marL="285750" indent="-285750">
              <a:buFont typeface="Arial"/>
              <a:buChar char="•"/>
            </a:pPr>
            <a:r>
              <a:rPr lang="es-ES" sz="1700" dirty="0">
                <a:solidFill>
                  <a:srgbClr val="2F2B28"/>
                </a:solidFill>
              </a:rPr>
              <a:t>"No data" is not evidence. It scores zero and is shown as no data: the coverage of the index is part of the diagnosis.</a:t>
            </a:r>
          </a:p>
          <a:p>
            <a:pPr marL="285750" indent="-285750">
              <a:buFont typeface="Arial"/>
              <a:buChar char="•"/>
            </a:pPr>
            <a:r>
              <a:rPr lang="es-ES" sz="1700" dirty="0">
                <a:solidFill>
                  <a:srgbClr val="2F2B28"/>
                </a:solidFill>
              </a:rPr>
              <a:t>Five profiles: scattered exploration, tactical efficiency, efficiency at scale, transformation under way and declared but unevidenced transformation.</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365760"/>
            <a:ext cx="10972800" cy="1000000"/>
          </a:xfrm>
          <a:prstGeom prst="rect">
            <a:avLst/>
          </a:prstGeom>
          <a:noFill/>
        </p:spPr>
        <p:txBody>
          <a:bodyPr wrap="square" anchor="t">
            <a:normAutofit/>
          </a:bodyPr>
          <a:lstStyle/>
          <a:p>
            <a:pPr algn="l"/>
            <a:r>
              <a:rPr lang="es-ES" sz="3200" b="1" dirty="0">
                <a:solidFill>
                  <a:srgbClr val="990F3D"/>
                </a:solidFill>
              </a:rPr>
              <a:t>08 · The board</a:t>
            </a:r>
          </a:p>
        </p:txBody>
      </p:sp>
      <p:sp>
        <p:nvSpPr>
          <p:cNvPr id="3" name="Texto 3"/>
          <p:cNvSpPr txBox="1"/>
          <p:nvPr/>
        </p:nvSpPr>
        <p:spPr>
          <a:xfrm>
            <a:off x="609600" y="1450000"/>
            <a:ext cx="10972800" cy="900000"/>
          </a:xfrm>
          <a:prstGeom prst="rect">
            <a:avLst/>
          </a:prstGeom>
          <a:noFill/>
        </p:spPr>
        <p:txBody>
          <a:bodyPr wrap="square" anchor="t">
            <a:normAutofit/>
          </a:bodyPr>
          <a:lstStyle/>
          <a:p>
            <a:r>
              <a:rPr lang="es-ES" sz="1800" b="1" dirty="0">
                <a:solidFill>
                  <a:srgbClr val="1A1817"/>
                </a:solidFill>
              </a:rPr>
              <a:t>Objective: </a:t>
            </a:r>
            <a:r>
              <a:rPr lang="es-ES" sz="1800" dirty="0">
                <a:solidFill>
                  <a:srgbClr val="2F2B28"/>
                </a:solidFill>
              </a:rPr>
              <a:t>By the end you will know which AI decisions belong to the board, how information is presented to it and how what it decides is recorded and followed up.</a:t>
            </a:r>
          </a:p>
        </p:txBody>
      </p:sp>
      <p:sp>
        <p:nvSpPr>
          <p:cNvPr id="4" name="Texto 4"/>
          <p:cNvSpPr txBox="1"/>
          <p:nvPr/>
        </p:nvSpPr>
        <p:spPr>
          <a:xfrm>
            <a:off x="609600" y="2450000"/>
            <a:ext cx="10972800" cy="4000000"/>
          </a:xfrm>
          <a:prstGeom prst="rect">
            <a:avLst/>
          </a:prstGeom>
          <a:noFill/>
        </p:spPr>
        <p:txBody>
          <a:bodyPr wrap="square" anchor="t">
            <a:normAutofit/>
          </a:bodyPr>
          <a:lstStyle/>
          <a:p>
            <a:r>
              <a:rPr lang="es-ES" sz="1800" b="1" dirty="0">
                <a:solidFill>
                  <a:srgbClr val="1A1817"/>
                </a:solidFill>
              </a:rPr>
              <a:t>Key ideas</a:t>
            </a:r>
          </a:p>
          <a:p>
            <a:pPr marL="285750" indent="-285750">
              <a:buFont typeface="Arial"/>
              <a:buChar char="•"/>
            </a:pPr>
            <a:r>
              <a:rPr lang="es-ES" sz="1700" dirty="0">
                <a:solidFill>
                  <a:srgbClr val="2F2B28"/>
                </a:solidFill>
              </a:rPr>
              <a:t>The board does not approve technical projects: it takes business decisions. It approves the AI thesis, the ambition per sphere, the risk appetite and the thresholds (C2); it approves Transform bets; it oversees every quarter.</a:t>
            </a:r>
          </a:p>
          <a:p>
            <a:pPr marL="285750" indent="-285750">
              <a:buFont typeface="Arial"/>
              <a:buChar char="•"/>
            </a:pPr>
            <a:r>
              <a:rPr lang="es-ES" sz="1700" dirty="0">
                <a:solidFill>
                  <a:srgbClr val="2F2B28"/>
                </a:solidFill>
              </a:rPr>
              <a:t>Business language and clear answers: "yes", "yes, with one condition", "not yet, because … is missing" or "no, because…".</a:t>
            </a:r>
          </a:p>
          <a:p>
            <a:pPr marL="285750" indent="-285750">
              <a:buFont typeface="Arial"/>
              <a:buChar char="•"/>
            </a:pPr>
            <a:r>
              <a:rPr lang="es-ES" sz="1700" dirty="0">
                <a:solidFill>
                  <a:srgbClr val="2F2B28"/>
                </a:solidFill>
              </a:rPr>
              <a:t>Few figures, and defensible ones. Always with their status —validated, declared or estimated— and at most three cases in detail per session.</a:t>
            </a:r>
          </a:p>
          <a:p>
            <a:pPr marL="285750" indent="-285750">
              <a:buFont typeface="Arial"/>
              <a:buChar char="•"/>
            </a:pPr>
            <a:r>
              <a:rPr lang="es-ES" sz="1700" dirty="0">
                <a:solidFill>
                  <a:srgbClr val="2F2B28"/>
                </a:solidFill>
              </a:rPr>
              <a:t>What is decided is recorded and followed up. Every decision and every recommendation has an identifier, an owner, a deadline and a status.</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365760"/>
            <a:ext cx="10972800" cy="1000000"/>
          </a:xfrm>
          <a:prstGeom prst="rect">
            <a:avLst/>
          </a:prstGeom>
          <a:noFill/>
        </p:spPr>
        <p:txBody>
          <a:bodyPr wrap="square" anchor="t">
            <a:normAutofit/>
          </a:bodyPr>
          <a:lstStyle/>
          <a:p>
            <a:pPr algn="l"/>
            <a:r>
              <a:rPr lang="es-ES" sz="3200" b="1" dirty="0">
                <a:solidFill>
                  <a:srgbClr val="990F3D"/>
                </a:solidFill>
              </a:rPr>
              <a:t>09 · Implementing in layers</a:t>
            </a:r>
          </a:p>
        </p:txBody>
      </p:sp>
      <p:sp>
        <p:nvSpPr>
          <p:cNvPr id="3" name="Texto 3"/>
          <p:cNvSpPr txBox="1"/>
          <p:nvPr/>
        </p:nvSpPr>
        <p:spPr>
          <a:xfrm>
            <a:off x="609600" y="1450000"/>
            <a:ext cx="10972800" cy="900000"/>
          </a:xfrm>
          <a:prstGeom prst="rect">
            <a:avLst/>
          </a:prstGeom>
          <a:noFill/>
        </p:spPr>
        <p:txBody>
          <a:bodyPr wrap="square" anchor="t">
            <a:normAutofit/>
          </a:bodyPr>
          <a:lstStyle/>
          <a:p>
            <a:r>
              <a:rPr lang="es-ES" sz="1800" b="1" dirty="0">
                <a:solidFill>
                  <a:srgbClr val="1A1817"/>
                </a:solidFill>
              </a:rPr>
              <a:t>Objective: </a:t>
            </a:r>
            <a:r>
              <a:rPr lang="es-ES" sz="1800" dirty="0">
                <a:solidFill>
                  <a:srgbClr val="2F2B28"/>
                </a:solidFill>
              </a:rPr>
              <a:t>By the end you will be able to choose your company's implementation scope, distinguish what is mandatory from what is proportionate and prepare the start of a 90-day plan.</a:t>
            </a:r>
          </a:p>
        </p:txBody>
      </p:sp>
      <p:sp>
        <p:nvSpPr>
          <p:cNvPr id="4" name="Texto 4"/>
          <p:cNvSpPr txBox="1"/>
          <p:nvPr/>
        </p:nvSpPr>
        <p:spPr>
          <a:xfrm>
            <a:off x="609600" y="2450000"/>
            <a:ext cx="10972800" cy="4000000"/>
          </a:xfrm>
          <a:prstGeom prst="rect">
            <a:avLst/>
          </a:prstGeom>
          <a:noFill/>
        </p:spPr>
        <p:txBody>
          <a:bodyPr wrap="square" anchor="t">
            <a:normAutofit/>
          </a:bodyPr>
          <a:lstStyle/>
          <a:p>
            <a:r>
              <a:rPr lang="es-ES" sz="1800" b="1" dirty="0">
                <a:solidFill>
                  <a:srgbClr val="1A1817"/>
                </a:solidFill>
              </a:rPr>
              <a:t>Key ideas</a:t>
            </a:r>
          </a:p>
          <a:p>
            <a:pPr marL="285750" indent="-285750">
              <a:buFont typeface="Arial"/>
              <a:buChar char="•"/>
            </a:pPr>
            <a:r>
              <a:rPr lang="es-ES" sz="1700" dirty="0">
                <a:solidFill>
                  <a:srgbClr val="2F2B28"/>
                </a:solidFill>
              </a:rPr>
              <a:t>Two different proportionality decisions. Intensity (Lite or Enterprise) belongs to each initiative; implementation scope (Lite or Enterprise) belongs to the company. Size decides neither.</a:t>
            </a:r>
          </a:p>
          <a:p>
            <a:pPr marL="285750" indent="-285750">
              <a:buFont typeface="Arial"/>
              <a:buChar char="•"/>
            </a:pPr>
            <a:r>
              <a:rPr lang="es-ES" sz="1700" dirty="0">
                <a:solidFill>
                  <a:srgbClr val="2F2B28"/>
                </a:solidFill>
              </a:rPr>
              <a:t>A single library, three layers. Essential (what every company applies), conditional (what a trigger activates) and complete (guides and reference). There are no reduced versions of the documents.</a:t>
            </a:r>
          </a:p>
          <a:p>
            <a:pPr marL="285750" indent="-285750">
              <a:buFont typeface="Arial"/>
              <a:buChar char="•"/>
            </a:pPr>
            <a:r>
              <a:rPr lang="es-ES" sz="1700" dirty="0">
                <a:solidFill>
                  <a:srgbClr val="2F2B28"/>
                </a:solidFill>
              </a:rPr>
              <a:t>No phase or gate is skipped. In Lite they are grouped —G0 to G2 in one session, G4 and G5 in another— and the evidence is simplified. G3 always goes separately.</a:t>
            </a:r>
          </a:p>
          <a:p>
            <a:pPr marL="285750" indent="-285750">
              <a:buFont typeface="Arial"/>
              <a:buChar char="•"/>
            </a:pPr>
            <a:r>
              <a:rPr lang="es-ES" sz="1700" dirty="0">
                <a:solidFill>
                  <a:srgbClr val="2F2B28"/>
                </a:solidFill>
              </a:rPr>
              <a:t>Ninety days to have a diagnosis, a direction and a first portfolio, with no moratorium: AI activity continues while the framework is implemented.</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 name="Texto 2"/>
          <p:cNvSpPr txBox="1"/>
          <p:nvPr/>
        </p:nvSpPr>
        <p:spPr>
          <a:xfrm>
            <a:off x="609600" y="2400000"/>
            <a:ext cx="10972800" cy="900000"/>
          </a:xfrm>
          <a:prstGeom prst="rect">
            <a:avLst/>
          </a:prstGeom>
          <a:noFill/>
        </p:spPr>
        <p:txBody>
          <a:bodyPr wrap="square" anchor="t">
            <a:normAutofit/>
          </a:bodyPr>
          <a:lstStyle/>
          <a:p>
            <a:pPr algn="ctr"/>
            <a:r>
              <a:rPr lang="es-ES" sz="3200" b="1" dirty="0">
                <a:solidFill>
                  <a:srgbClr val="1A1817"/>
                </a:solidFill>
              </a:rPr>
              <a:t>Thank you</a:t>
            </a:r>
          </a:p>
        </p:txBody>
      </p:sp>
      <p:sp>
        <p:nvSpPr>
          <p:cNvPr id="3" name="Texto 3"/>
          <p:cNvSpPr txBox="1"/>
          <p:nvPr/>
        </p:nvSpPr>
        <p:spPr>
          <a:xfrm>
            <a:off x="609600" y="3400000"/>
            <a:ext cx="10972800" cy="700000"/>
          </a:xfrm>
          <a:prstGeom prst="rect">
            <a:avLst/>
          </a:prstGeom>
          <a:noFill/>
        </p:spPr>
        <p:txBody>
          <a:bodyPr wrap="square" anchor="t">
            <a:normAutofit/>
          </a:bodyPr>
          <a:lstStyle/>
          <a:p>
            <a:pPr algn="ctr"/>
            <a:r>
              <a:rPr lang="es-ES" sz="1800" dirty="0">
                <a:solidFill>
                  <a:srgbClr val="2F2B28"/>
                </a:solidFill>
              </a:rPr>
              <a:t>Self-learning course: what it is, how it is used and how to find your way around the site</a:t>
            </a:r>
          </a:p>
        </p:txBody>
      </p:sp>
      <p:sp>
        <p:nvSpPr>
          <p:cNvPr id="4" name="Texto 4"/>
          <p:cNvSpPr txBox="1"/>
          <p:nvPr/>
        </p:nvSpPr>
        <p:spPr>
          <a:xfrm>
            <a:off x="609600" y="4100000"/>
            <a:ext cx="10972800" cy="700000"/>
          </a:xfrm>
          <a:prstGeom prst="rect">
            <a:avLst/>
          </a:prstGeom>
          <a:noFill/>
        </p:spPr>
        <p:txBody>
          <a:bodyPr wrap="square" anchor="t">
            <a:normAutofit/>
          </a:bodyPr>
          <a:lstStyle/>
          <a:p>
            <a:pPr algn="ctr"/>
            <a:r>
              <a:rPr lang="es-ES" sz="1800" dirty="0">
                <a:solidFill>
                  <a:srgbClr val="0F5499"/>
                </a:solidFill>
              </a:rPr>
              <a:t>https://www.linkedin.com/in/fernandogarciavarela/</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SEVEN-G">
  <a:themeElements>
    <a:clrScheme name="SEVEN-G">
      <a:dk1>
        <a:srgbClr val="1A1817"/>
      </a:dk1>
      <a:lt1>
        <a:srgbClr val="FBE2CD"/>
      </a:lt1>
      <a:dk2>
        <a:srgbClr val="2F2B28"/>
      </a:dk2>
      <a:lt2>
        <a:srgbClr val="FFFFFF"/>
      </a:lt2>
      <a:accent1>
        <a:srgbClr val="990F3D"/>
      </a:accent1>
      <a:accent2>
        <a:srgbClr val="0F5499"/>
      </a:accent2>
      <a:accent3>
        <a:srgbClr val="0D7680"/>
      </a:accent3>
      <a:accent4>
        <a:srgbClr val="593380"/>
      </a:accent4>
      <a:accent5>
        <a:srgbClr val="A5822A"/>
      </a:accent5>
      <a:accent6>
        <a:srgbClr val="71645B"/>
      </a:accent6>
      <a:hlink>
        <a:srgbClr val="0F5499"/>
      </a:hlink>
      <a:folHlink>
        <a:srgbClr val="593380"/>
      </a:folHlink>
    </a:clrScheme>
    <a:fontScheme name="SEVEN-G">
      <a:majorFont>
        <a:latin typeface="Georgia"/>
        <a:ea typeface=""/>
        <a:cs typeface=""/>
      </a:majorFont>
      <a:minorFont>
        <a:latin typeface="Arial"/>
        <a:ea typeface=""/>
        <a:cs typeface=""/>
      </a:minorFont>
    </a:fontScheme>
    <a:fmtScheme name="SEVEN-G">
      <a:fillStyleLst>
        <a:solidFill>
          <a:schemeClr val="accent1"/>
        </a:solidFill>
        <a:solidFill>
          <a:schemeClr val="accent1"/>
        </a:solidFill>
        <a:solidFill>
          <a:schemeClr val="accent1"/>
        </a:solidFill>
      </a:fillStyleLst>
      <a:lnStyleLst>
        <a:ln>
          <a:solidFill>
            <a:schemeClr val="accent1"/>
          </a:solidFill>
        </a:ln>
        <a:ln>
          <a:solidFill>
            <a:schemeClr val="accent1"/>
          </a:solidFill>
        </a:ln>
        <a:ln>
          <a:solidFill>
            <a:schemeClr val="accent1"/>
          </a:solidFill>
        </a:ln>
      </a:lnStyleLst>
      <a:effectStyleLst>
        <a:effectStyle>
          <a:effectLst/>
        </a:effectStyle>
        <a:effectStyle>
          <a:effectLst/>
        </a:effectStyle>
        <a:effectStyle>
          <a:effectLst/>
        </a:effectStyle>
      </a:effectStyleLst>
      <a:bgFillStyleLst>
        <a:solidFill>
          <a:schemeClr val="lt1"/>
        </a:solidFill>
        <a:solidFill>
          <a:schemeClr val="lt1"/>
        </a:solidFill>
        <a:solidFill>
          <a:schemeClr val="lt1"/>
        </a:solidFill>
      </a:bgFillStyleLst>
    </a:fmtScheme>
  </a:themeElements>
</a:theme>
</file>

<file path=docProps/app.xml><?xml version="1.0" encoding="utf-8"?>
<Properties xmlns="http://schemas.openxmlformats.org/officeDocument/2006/extended-properties" xmlns:vt="http://schemas.openxmlformats.org/officeDocument/2006/docPropsVTypes">
  <Application>SEVEN-G build</Application>
  <Slides>12</Slides>
  <Company>Fernando García Varela</Company>
</Properties>
</file>

<file path=docProps/core.xml><?xml version="1.0" encoding="utf-8"?>
<cp:coreProperties xmlns:cp="http://schemas.openxmlformats.org/package/2006/metadata/core-properties" xmlns:dc="http://purl.org/dc/elements/1.1/" xmlns:dcterms="http://purl.org/dc/terms/" xmlns:xsi="http://www.w3.org/2001/XMLSchema-instance">
  <dc:title>SEVEN-G course</dc:title>
  <dc:creator>Fernando García Varela</dc:creator>
  <cp:lastModifiedBy>SEVEN-G build</cp:lastModifiedBy>
  <dcterms:created xsi:type="dcterms:W3CDTF">2026-01-01T00:00:00Z</dcterms:created>
  <dcterms:modified xsi:type="dcterms:W3CDTF">2026-01-01T00:00:00Z</dcterms:modified>
</cp:coreProperties>
</file>
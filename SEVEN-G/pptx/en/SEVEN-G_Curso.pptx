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
<Relationship Id="rIdS2" Type="http://schemas.openxmlformats.org/officeDocument/2006/relationships/slide" Target="slides/slide2.xml"/>
<Relationship Id="rIdS3" Type="http://schemas.openxmlformats.org/officeDocument/2006/relationships/slide" Target="slides/slide3.xml"/>
<Relationship Id="rIdS4" Type="http://schemas.openxmlformats.org/officeDocument/2006/relationships/slide" Target="slides/slide4.xml"/>
<Relationship Id="rIdS5" Type="http://schemas.openxmlformats.org/officeDocument/2006/relationships/slide" Target="slides/slide5.xml"/>
<Relationship Id="rIdS6" Type="http://schemas.openxmlformats.org/officeDocument/2006/relationships/slide" Target="slides/slide6.xml"/>
<Relationship Id="rIdS7" Type="http://schemas.openxmlformats.org/officeDocument/2006/relationships/slide" Target="slides/slide7.xml"/>
<Relationship Id="rIdS8" Type="http://schemas.openxmlformats.org/officeDocument/2006/relationships/slide" Target="slides/slide8.xml"/>
<Relationship Id="rIdS9" Type="http://schemas.openxmlformats.org/officeDocument/2006/relationships/slide" Target="slides/slide9.xml"/>
<Relationship Id="rIdS10" Type="http://schemas.openxmlformats.org/officeDocument/2006/relationships/slide" Target="slides/slide10.xml"/>
<Relationship Id="rIdS11" Type="http://schemas.openxmlformats.org/officeDocument/2006/relationships/slide" Target="slides/slide11.xml"/>
<Relationship Id="rIdS12" Type="http://schemas.openxmlformats.org/officeDocument/2006/relationships/slide" Target="slides/slide12.xml"/>
<Relationship Id="rIdS13" Type="http://schemas.openxmlformats.org/officeDocument/2006/relationships/slide" Target="slides/slide13.xml"/>
<Relationship Id="rIdS14" Type="http://schemas.openxmlformats.org/officeDocument/2006/relationships/slide" Target="slides/slide14.xml"/>
<Relationship Id="rIdS15" Type="http://schemas.openxmlformats.org/officeDocument/2006/relationships/slide" Target="slides/slide15.xml"/>
<Relationship Id="rIdS16" Type="http://schemas.openxmlformats.org/officeDocument/2006/relationships/slide" Target="slides/slide16.xml"/>
<Relationship Id="rIdS17" Type="http://schemas.openxmlformats.org/officeDocument/2006/relationships/slide" Target="slides/slide17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3" name="Texto 3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1500000"/>
            <a:ext cx="10972800" cy="1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3350000"/>
            <a:ext cx="105000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2000" dirty="0">
                <a:solidFill>
                  <a:srgbClr val="2F2B28"/>
                </a:solidFill>
              </a:rPr>
              <a:t>Introductory course: what it is, what it delivers and how a company uses it to implement, govern and measure artificial intelligence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Self-learning course · CC BY 4.0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" name="Texto 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The problem it solves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Many companies have AI pilots that work, but few reach production.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 gets declared ("we freed up 200 hours") but almost nobody checks it.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Nobody has clear authority to stop an initiative that is not working.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asks about AI and gets a list of technical projects, not a business decision.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And the underlying question is almost never answered with evidence: is the company transforming with AI, or just becoming a bit more efficient?</a:t>
            </a:r>
          </a:p>
        </p:txBody>
      </p:sp>
      <p:sp>
        <p:nvSpPr>
          <p:cNvPr id="11" name="Texto 11"/>
          <p:cNvSpPr txBox="1"/>
          <p:nvPr/>
        </p:nvSpPr>
        <p:spPr>
          <a:xfrm>
            <a:off x="609600" y="6300000"/>
            <a:ext cx="109728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These symptoms are not a technology problem: they are a governance and measurement problem.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" name="Texto 13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4" name="Texto 14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What SEVEN-G is</a:t>
            </a:r>
          </a:p>
        </p:txBody>
      </p:sp>
      <p:sp>
        <p:nvSpPr>
          <p:cNvPr id="15" name="Texto 15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an enabling phase 0 and seven value phases, with governance throughout.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complete, free and modifiable method to implement, govern and measure an organisation's AI.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does not replace what the company already has (committees, risk frameworks, a PMO): it orders and connects them with a common language.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is not a technical guide to building models: it governs and measures — what gets approved, what gets measured, who decides and when to stop.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7" name="Texto 17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8" name="Texto 18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What it delivers to the company</a:t>
            </a:r>
          </a:p>
        </p:txBody>
      </p:sp>
      <p:sp>
        <p:nvSpPr>
          <p:cNvPr id="19" name="Texto 19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Organises AI as a portfolio, not a list of projects: every initiative has a phase, a cost, expected value and an owner.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Places decision gates between phases: moving forward needs verified evidence, or the initiative iterates, pivots or stops.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Separates who decides, who builds and who controls, and translates regulation into phases, roles and evidence.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Measures value in money and with a status —validated, declared or estimated— and tells the board whether the company is transforming or just becoming more efficient.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1" name="Texto 21"/>
          <p:cNvSpPr txBox="1"/>
          <p:nvPr/>
        </p:nvSpPr>
        <p:spPr>
          <a:xfrm>
            <a:off x="838200" y="23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HOW IT IS ORGANISED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4200" b="1" dirty="0">
                <a:solidFill>
                  <a:srgbClr val="FBE2CD"/>
                </a:solidFill>
              </a:rPr>
              <a:t>Two levels: the company and each initiative</a:t>
            </a:r>
          </a:p>
        </p:txBody>
      </p:sp>
      <p:sp>
        <p:nvSpPr>
          <p:cNvPr id="23" name="Texto 23"/>
          <p:cNvSpPr txBox="1"/>
          <p:nvPr/>
        </p:nvSpPr>
        <p:spPr>
          <a:xfrm>
            <a:off x="609600" y="4350000"/>
            <a:ext cx="105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F3CFB2"/>
                </a:solidFill>
              </a:rPr>
              <a:t>The company steers and oversees the whole portfolio; each initiative follows its own path, from idea to production or retirement.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" name="Texto 25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Level 1 · The corporate cycle</a:t>
            </a:r>
          </a:p>
        </p:txBody>
      </p:sp>
      <p:sp>
        <p:nvSpPr>
          <p:cNvPr id="27" name="Texto 27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Diagnosis: the company's maturity across seven dimensions (strategy, governance, data, risk, talent...).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Direction: the board approves the AI thesis and risk appetite, and sets the framework budget.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Portfolio: which initiatives get funded and in what order, using the sphere map and ambition levels.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Oversight: the board and the AI committee track the portfolio through the dashboard and the decision log.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Annual review: what worked, what did not, and what changes for the following year.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9" name="Texto 29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Level 2 · An initiative's lifecycle</a:t>
            </a:r>
          </a:p>
        </p:txBody>
      </p:sp>
      <p:sp>
        <p:nvSpPr>
          <p:cNvPr id="31" name="Texto 31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Eight phases (0 to 7), separated by decision gates</a:t>
            </a:r>
          </a:p>
        </p:txBody>
      </p:sp>
      <p:sp>
        <p:nvSpPr>
          <p:cNvPr id="32" name="Caja 32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33" name="Texto 33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4" name="Caja 34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35" name="Texto 35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6" name="Caja 36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37" name="Texto 37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38" name="Caja 38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39" name="Texto 39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0" name="Caja 40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41" name="Texto 41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2" name="Caja 42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43" name="Texto 43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4" name="Caja 44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46" name="Caja 46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47" name="Texto 47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49" name="Texto 49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50" name="Texto 50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52" name="Texto 52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53" name="Texto 53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55" name="Texto 55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56" name="Texto 56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What can happen at each gate</a:t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Five possible outcomes; whoever provides the evidence never decides</a:t>
            </a:r>
          </a:p>
        </p:txBody>
      </p:sp>
      <p:sp>
        <p:nvSpPr>
          <p:cNvPr id="58" name="Caja 58"/>
          <p:cNvSpPr/>
          <p:nvPr/>
        </p:nvSpPr>
        <p:spPr>
          <a:xfrm>
            <a:off x="48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Proceed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Criteria are met: it moves to the next phase.</a:t>
            </a:r>
          </a:p>
        </p:txBody>
      </p:sp>
      <p:sp>
        <p:nvSpPr>
          <p:cNvPr id="59" name="Caja 59"/>
          <p:cNvSpPr/>
          <p:nvPr/>
        </p:nvSpPr>
        <p:spPr>
          <a:xfrm>
            <a:off x="275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With conditions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It proceeds, with a deadline and owner for what is pending.</a:t>
            </a:r>
          </a:p>
        </p:txBody>
      </p:sp>
      <p:sp>
        <p:nvSpPr>
          <p:cNvPr id="60" name="Caja 60"/>
          <p:cNvSpPr/>
          <p:nvPr/>
        </p:nvSpPr>
        <p:spPr>
          <a:xfrm>
            <a:off x="502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Iterate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The phase repeats with an adjustment. Twice at most.</a:t>
            </a:r>
          </a:p>
        </p:txBody>
      </p:sp>
      <p:sp>
        <p:nvSpPr>
          <p:cNvPr id="61" name="Caja 61"/>
          <p:cNvSpPr/>
          <p:nvPr/>
        </p:nvSpPr>
        <p:spPr>
          <a:xfrm>
            <a:off x="729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Pivot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The hypothesis does not hold: a new one is tested, from phase 2.</a:t>
            </a:r>
          </a:p>
        </p:txBody>
      </p:sp>
      <p:sp>
        <p:nvSpPr>
          <p:cNvPr id="62" name="Caja 62"/>
          <p:cNvSpPr/>
          <p:nvPr/>
        </p:nvSpPr>
        <p:spPr>
          <a:xfrm>
            <a:off x="9561000" y="2100000"/>
            <a:ext cx="2150000" cy="33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1900" b="1" dirty="0">
                <a:solidFill>
                  <a:srgbClr val="FFFFFF"/>
                </a:solidFill>
              </a:rPr>
              <a:t>Stop</a:t>
            </a:r>
          </a:p>
          <a:p>
            <a:pPr algn="ctr"/>
            <a:r>
              <a:rPr lang="es-ES" sz="1300" dirty="0">
                <a:solidFill>
                  <a:srgbClr val="FFFFFF"/>
                </a:solidFill>
              </a:rPr>
              <a:t>No value, or the risk is unacceptable. This is a good outcome.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4" name="Texto 64"/>
          <p:cNvSpPr txBox="1"/>
          <p:nvPr/>
        </p:nvSpPr>
        <p:spPr>
          <a:xfrm>
            <a:off x="838200" y="2320000"/>
            <a:ext cx="600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TWO EXAMPLES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4200" b="1" dirty="0">
                <a:solidFill>
                  <a:srgbClr val="FBE2CD"/>
                </a:solidFill>
              </a:rPr>
              <a:t>One initiative that stops, and one that reaches production</a:t>
            </a:r>
          </a:p>
        </p:txBody>
      </p:sp>
      <p:sp>
        <p:nvSpPr>
          <p:cNvPr id="66" name="Texto 66"/>
          <p:cNvSpPr txBox="1"/>
          <p:nvPr/>
        </p:nvSpPr>
        <p:spPr>
          <a:xfrm>
            <a:off x="609600" y="4350000"/>
            <a:ext cx="105000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F3CFB2"/>
                </a:solidFill>
              </a:rPr>
              <a:t>Fictitious, illustrative data: it does not describe any real company (document 92).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8" name="Texto 6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EJEMPLO ILUSTRATIVO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600" b="1" dirty="0">
                <a:solidFill>
                  <a:srgbClr val="990F3D"/>
                </a:solidFill>
              </a:rPr>
              <a:t>Example 1 · When an initiative stops</a:t>
            </a:r>
          </a:p>
        </p:txBody>
      </p:sp>
      <p:sp>
        <p:nvSpPr>
          <p:cNvPr id="70" name="Texto 70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Candidate screening in a recruitment process (HR)</a:t>
            </a:r>
          </a:p>
        </p:txBody>
      </p:sp>
      <p:sp>
        <p:nvSpPr>
          <p:cNvPr id="71" name="Texto 71"/>
          <p:cNvSpPr txBox="1"/>
          <p:nvPr/>
        </p:nvSpPr>
        <p:spPr>
          <a:xfrm>
            <a:off x="609600" y="1950000"/>
            <a:ext cx="10972800" cy="3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0-1: authorised with HR sponsorship; the goal is to cut initial screening time.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2: the value hypothesis is confirmed in the pilot: 40% less screening time.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3 (feasibility and risk): the bias test by segment finds the model penalises older candidates, and fixing it removes the predictive power that justified the project.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The team asks to iterate twice, adjusting variables and thresholds, without resolving the bias.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At G3, with residual risk still high for a high-risk system, the AI committee decides to stop.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Lesson learned (recorded in T01): bias should be assessed before phase 3, not as a last step.</a:t>
            </a:r>
          </a:p>
        </p:txBody>
      </p:sp>
      <p:sp>
        <p:nvSpPr>
          <p:cNvPr id="72" name="Caja 72"/>
          <p:cNvSpPr/>
          <p:nvPr/>
        </p:nvSpPr>
        <p:spPr>
          <a:xfrm>
            <a:off x="609600" y="5550000"/>
            <a:ext cx="10972800" cy="10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200" b="1" dirty="0">
                <a:solidFill>
                  <a:srgbClr val="FFFFFF"/>
                </a:solidFill>
              </a:rPr>
              <a:t>OUTCOME: STOPPED AT G3 · UNACCEPTABLE RISK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4" name="Texto 74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75" name="Texto 75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Initiative 1, on the lifecycle</a:t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reached phase 3 and did not pass gate G3</a:t>
            </a:r>
          </a:p>
        </p:txBody>
      </p:sp>
      <p:sp>
        <p:nvSpPr>
          <p:cNvPr id="77" name="Caja 77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78" name="Texto 78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79" name="Caja 79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1" name="Caja 81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82" name="Texto 82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3" name="Caja 83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5" name="Caja 85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Solution design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7" name="Caja 87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Delivery and validation</a:t>
            </a:r>
          </a:p>
        </p:txBody>
      </p:sp>
      <p:sp>
        <p:nvSpPr>
          <p:cNvPr id="88" name="Texto 88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89" name="Caja 89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Operation and governance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91" name="Caja 91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92" name="Texto 92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94" name="Texto 94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95" name="Texto 95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96" name="Texto 96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98" name="Texto 98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99" name="Texto 99"/>
          <p:cNvSpPr txBox="1"/>
          <p:nvPr/>
        </p:nvSpPr>
        <p:spPr>
          <a:xfrm>
            <a:off x="4826000" y="4120000"/>
            <a:ext cx="1058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b="1" dirty="0">
                <a:solidFill>
                  <a:srgbClr val="990F3D"/>
                </a:solidFill>
              </a:rPr>
              <a:t>STOPPED AT G3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1" name="Texto 101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EJEMPLO ILUSTRATIVO</a:t>
            </a:r>
          </a:p>
        </p:txBody>
      </p:sp>
      <p:sp>
        <p:nvSpPr>
          <p:cNvPr id="102" name="Texto 102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600" b="1" dirty="0">
                <a:solidFill>
                  <a:srgbClr val="990F3D"/>
                </a:solidFill>
              </a:rPr>
              <a:t>Example 2 · When an initiative reaches production</a:t>
            </a:r>
          </a:p>
        </p:txBody>
      </p:sp>
      <p:sp>
        <p:nvSpPr>
          <p:cNvPr id="103" name="Texto 103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First-line IT incident response assistant</a:t>
            </a:r>
          </a:p>
        </p:txBody>
      </p:sp>
      <p:sp>
        <p:nvSpPr>
          <p:cNvPr id="104" name="Texto 104"/>
          <p:cNvSpPr txBox="1"/>
          <p:nvPr/>
        </p:nvSpPr>
        <p:spPr>
          <a:xfrm>
            <a:off x="609600" y="1950000"/>
            <a:ext cx="10972800" cy="3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0-1: authorised with IT sponsorship; the goal is to cut first-response time.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2: the value hypothesis is validated in a controlled pilot: 32% less resolution time for simple incidents.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3: the proof of concept shows no relevant bias by user type or department; risk is classified as medium.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4-5: designed with mandatory human oversight above a severity threshold, built and validated in an extended pilot.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G5: go-live sign-off, with a tested rollback plan.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600" dirty="0">
                <a:solidFill>
                  <a:srgbClr val="2F2B28"/>
                </a:solidFill>
              </a:rPr>
              <a:t>Phase 6-7: fourteen months in use, with a quarterly continuity review (R6); the latest R6 confirms the value.</a:t>
            </a:r>
          </a:p>
        </p:txBody>
      </p:sp>
      <p:sp>
        <p:nvSpPr>
          <p:cNvPr id="105" name="Caja 105"/>
          <p:cNvSpPr/>
          <p:nvPr/>
        </p:nvSpPr>
        <p:spPr>
          <a:xfrm>
            <a:off x="609600" y="5550000"/>
            <a:ext cx="10972800" cy="10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200" b="1" dirty="0">
                <a:solidFill>
                  <a:srgbClr val="FFFFFF"/>
                </a:solidFill>
              </a:rPr>
              <a:t>OUTCOME: IN PRODUCTION · €1.1M OF VALIDATED ANNUAL RETURN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7" name="Texto 107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08" name="Texto 108"/>
          <p:cNvSpPr txBox="1"/>
          <p:nvPr/>
        </p:nvSpPr>
        <p:spPr>
          <a:xfrm>
            <a:off x="609600" y="700000"/>
            <a:ext cx="10972800" cy="7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2800" b="1" dirty="0">
                <a:solidFill>
                  <a:srgbClr val="990F3D"/>
                </a:solidFill>
              </a:rPr>
              <a:t>Initiative 2, on the lifecycle</a:t>
            </a:r>
          </a:p>
        </p:txBody>
      </p:sp>
      <p:sp>
        <p:nvSpPr>
          <p:cNvPr id="109" name="Texto 109"/>
          <p:cNvSpPr txBox="1"/>
          <p:nvPr/>
        </p:nvSpPr>
        <p:spPr>
          <a:xfrm>
            <a:off x="609600" y="13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went through all eight phases and remains in use, with periodic reviews</a:t>
            </a:r>
          </a:p>
        </p:txBody>
      </p:sp>
      <p:sp>
        <p:nvSpPr>
          <p:cNvPr id="110" name="Caja 110"/>
          <p:cNvSpPr/>
          <p:nvPr/>
        </p:nvSpPr>
        <p:spPr>
          <a:xfrm>
            <a:off x="8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19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2" name="Caja 112"/>
          <p:cNvSpPr/>
          <p:nvPr/>
        </p:nvSpPr>
        <p:spPr>
          <a:xfrm>
            <a:off x="21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13" name="Texto 113"/>
          <p:cNvSpPr txBox="1"/>
          <p:nvPr/>
        </p:nvSpPr>
        <p:spPr>
          <a:xfrm>
            <a:off x="33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4" name="Caja 114"/>
          <p:cNvSpPr/>
          <p:nvPr/>
        </p:nvSpPr>
        <p:spPr>
          <a:xfrm>
            <a:off x="34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15" name="Texto 115"/>
          <p:cNvSpPr txBox="1"/>
          <p:nvPr/>
        </p:nvSpPr>
        <p:spPr>
          <a:xfrm>
            <a:off x="466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6" name="Caja 116"/>
          <p:cNvSpPr/>
          <p:nvPr/>
        </p:nvSpPr>
        <p:spPr>
          <a:xfrm>
            <a:off x="482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0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18" name="Caja 118"/>
          <p:cNvSpPr/>
          <p:nvPr/>
        </p:nvSpPr>
        <p:spPr>
          <a:xfrm>
            <a:off x="616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119" name="Texto 119"/>
          <p:cNvSpPr txBox="1"/>
          <p:nvPr/>
        </p:nvSpPr>
        <p:spPr>
          <a:xfrm>
            <a:off x="734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0" name="Caja 120"/>
          <p:cNvSpPr/>
          <p:nvPr/>
        </p:nvSpPr>
        <p:spPr>
          <a:xfrm>
            <a:off x="750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121" name="Texto 121"/>
          <p:cNvSpPr txBox="1"/>
          <p:nvPr/>
        </p:nvSpPr>
        <p:spPr>
          <a:xfrm>
            <a:off x="868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2" name="Caja 122"/>
          <p:cNvSpPr/>
          <p:nvPr/>
        </p:nvSpPr>
        <p:spPr>
          <a:xfrm>
            <a:off x="884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10026000" y="27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800" b="1" dirty="0">
                <a:solidFill>
                  <a:srgbClr val="564D47"/>
                </a:solidFill>
              </a:rPr>
              <a:t>→</a:t>
            </a:r>
          </a:p>
        </p:txBody>
      </p:sp>
      <p:sp>
        <p:nvSpPr>
          <p:cNvPr id="124" name="Caja 124"/>
          <p:cNvSpPr/>
          <p:nvPr/>
        </p:nvSpPr>
        <p:spPr>
          <a:xfrm>
            <a:off x="10186000" y="2200000"/>
            <a:ext cx="120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rm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125" name="Texto 125"/>
          <p:cNvSpPr txBox="1"/>
          <p:nvPr/>
        </p:nvSpPr>
        <p:spPr>
          <a:xfrm>
            <a:off x="17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30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27" name="Texto 127"/>
          <p:cNvSpPr txBox="1"/>
          <p:nvPr/>
        </p:nvSpPr>
        <p:spPr>
          <a:xfrm>
            <a:off x="443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28" name="Texto 128"/>
          <p:cNvSpPr txBox="1"/>
          <p:nvPr/>
        </p:nvSpPr>
        <p:spPr>
          <a:xfrm>
            <a:off x="577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711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845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31" name="Texto 131"/>
          <p:cNvSpPr txBox="1"/>
          <p:nvPr/>
        </p:nvSpPr>
        <p:spPr>
          <a:xfrm>
            <a:off x="9796000" y="3760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1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32" name="Texto 132"/>
          <p:cNvSpPr txBox="1"/>
          <p:nvPr/>
        </p:nvSpPr>
        <p:spPr>
          <a:xfrm>
            <a:off x="3486000" y="4120000"/>
            <a:ext cx="1058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b="1" dirty="0">
                <a:solidFill>
                  <a:srgbClr val="0D7680"/>
                </a:solidFill>
              </a:rPr>
              <a:t>IN USE · QUARTERLY 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4" name="Texto 134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How value is measured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Every amount carries a formula and a status: validated (by finance/control), declared (by the team) or estimated.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Released capacity (hours) does not count as savings until it is materialised: cost goes down, or it is reassigned to another valuable activity.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company's transformation index uses eight evidence signals to tell transformation apart from mere efficiency.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Ten measurement rules in total (document 40); no figure enters the portfolio net without its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8" name="Texto 138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39" name="Texto 139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What the board sees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dashboard generated from the same initiative register: portfolio, value, funnel, risk and compliance.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AI initiative portfolio, read as a sales funnel: how many come in, where they are lost and why.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log of decisions and recommendations (T18), tracking what was agreed.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standing question: is the company transforming with AI, or just becoming a bit more efficient?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42" name="Texto 142"/>
          <p:cNvSpPr txBox="1"/>
          <p:nvPr/>
        </p:nvSpPr>
        <p:spPr>
          <a:xfrm>
            <a:off x="838200" y="320000"/>
            <a:ext cx="10500000" cy="32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</a:t>
            </a:r>
          </a:p>
        </p:txBody>
      </p:sp>
      <p:sp>
        <p:nvSpPr>
          <p:cNvPr id="143" name="Texto 143"/>
          <p:cNvSpPr txBox="1"/>
          <p:nvPr/>
        </p:nvSpPr>
        <p:spPr>
          <a:xfrm>
            <a:off x="609600" y="8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es-ES" sz="3000" b="1" dirty="0">
                <a:solidFill>
                  <a:srgbClr val="990F3D"/>
                </a:solidFill>
              </a:rPr>
              <a:t>How to get started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609600" y="1900000"/>
            <a:ext cx="10972800" cy="4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Document 00: what SEVEN-G is, with its navigable usage map.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sample initiative register (T01) and the board dashboard generated from that same data (T17).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Adoption is modular: you can start with just the register, the decision gates, or value measurement.</a:t>
            </a:r>
          </a:p>
          <a:p>
            <a:pPr marL="285750" indent="-285750">
              <a:buClr>
                <a:srgbClr val="2F2B28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implementation guide (document 90) proposes a 90-day plan.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o 145"/>
          <p:cNvSpPr txBox="1"/>
          <p:nvPr/>
        </p:nvSpPr>
        <p:spPr>
          <a:xfrm>
            <a:off x="609600" y="2500000"/>
            <a:ext cx="109728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Thank you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609600" y="3550000"/>
            <a:ext cx="109728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is free: it is used, downloaded and adapted without registering.</a:t>
            </a:r>
          </a:p>
        </p:txBody>
      </p:sp>
      <p:sp>
        <p:nvSpPr>
          <p:cNvPr id="147" name="Texto 147"/>
          <p:cNvSpPr txBox="1"/>
          <p:nvPr/>
        </p:nvSpPr>
        <p:spPr>
          <a:xfrm>
            <a:off x="609600" y="41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Fernando García Varela · CC BY 4.0 (content) · MIT (code)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609600" y="4750000"/>
            <a:ext cx="109728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SEVEN-G build</Application>
  <Slides>17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SEVEN-G course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
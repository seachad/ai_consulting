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22dc6ba3054085" /><Relationship Type="http://schemas.openxmlformats.org/officeDocument/2006/relationships/extended-properties" Target="/docProps/app.xml" Id="R72b5383a6bb04adf" /><Relationship Type="http://schemas.openxmlformats.org/officeDocument/2006/relationships/officeDocument" Target="/ppt/presentation.xml" Id="R5b5460c6bd4f45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1532d914104de6"/>
  </p:sldMasterIdLst>
  <p:notesMasterIdLst>
    <p:notesMasterId xmlns:r="http://schemas.openxmlformats.org/officeDocument/2006/relationships" r:id="R658428b266b74cfe"/>
  </p:notesMasterIdLst>
  <p:sldIdLst>
    <p:sldId xmlns:r="http://schemas.openxmlformats.org/officeDocument/2006/relationships" id="256" r:id="R11278358e8854aaa"/>
    <p:sldId xmlns:r="http://schemas.openxmlformats.org/officeDocument/2006/relationships" id="257" r:id="R76562b032c564aca"/>
    <p:sldId xmlns:r="http://schemas.openxmlformats.org/officeDocument/2006/relationships" id="258" r:id="Ra5db9ab1cf68490a"/>
    <p:sldId xmlns:r="http://schemas.openxmlformats.org/officeDocument/2006/relationships" id="259" r:id="R85a6aa9228f84340"/>
    <p:sldId xmlns:r="http://schemas.openxmlformats.org/officeDocument/2006/relationships" id="260" r:id="R1dcac8757c364114"/>
    <p:sldId xmlns:r="http://schemas.openxmlformats.org/officeDocument/2006/relationships" id="261" r:id="R05a39df2aae94ba9"/>
    <p:sldId xmlns:r="http://schemas.openxmlformats.org/officeDocument/2006/relationships" id="262" r:id="R9fec57f0350d4b40"/>
    <p:sldId xmlns:r="http://schemas.openxmlformats.org/officeDocument/2006/relationships" id="263" r:id="Ra29b6029e15d4822"/>
    <p:sldId xmlns:r="http://schemas.openxmlformats.org/officeDocument/2006/relationships" id="264" r:id="Rb9b2af213a4c4ba4"/>
    <p:sldId xmlns:r="http://schemas.openxmlformats.org/officeDocument/2006/relationships" id="265" r:id="R4171efcaf18b4875"/>
    <p:sldId xmlns:r="http://schemas.openxmlformats.org/officeDocument/2006/relationships" id="266" r:id="Rc355f5dc0eba4a0f"/>
    <p:sldId xmlns:r="http://schemas.openxmlformats.org/officeDocument/2006/relationships" id="267" r:id="Rbe22650abe4d4978"/>
    <p:sldId xmlns:r="http://schemas.openxmlformats.org/officeDocument/2006/relationships" id="268" r:id="Refca8c463d6244b8"/>
    <p:sldId xmlns:r="http://schemas.openxmlformats.org/officeDocument/2006/relationships" id="269" r:id="R027c043198774646"/>
    <p:sldId xmlns:r="http://schemas.openxmlformats.org/officeDocument/2006/relationships" id="270" r:id="R7dccd884598c4c6e"/>
    <p:sldId xmlns:r="http://schemas.openxmlformats.org/officeDocument/2006/relationships" id="271" r:id="R840fe634c7fe4230"/>
    <p:sldId xmlns:r="http://schemas.openxmlformats.org/officeDocument/2006/relationships" id="272" r:id="R1c714fdef9074a20"/>
    <p:sldId xmlns:r="http://schemas.openxmlformats.org/officeDocument/2006/relationships" id="273" r:id="R212c3618a39b439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d86e67ebc24fb9" /><Relationship Type="http://schemas.openxmlformats.org/officeDocument/2006/relationships/slideMaster" Target="/ppt/slideMasters/slideMaster1.xml" Id="Rb61532d914104de6" /><Relationship Type="http://schemas.openxmlformats.org/officeDocument/2006/relationships/notesMaster" Target="/ppt/notesMasters/notesMaster1.xml" Id="R658428b266b74cfe" /><Relationship Type="http://schemas.openxmlformats.org/officeDocument/2006/relationships/presProps" Target="/ppt/presProps.xml" Id="R0e7d39d6eb3e417b" /><Relationship Type="http://schemas.openxmlformats.org/officeDocument/2006/relationships/tableStyles" Target="/ppt/tableStyles.xml" Id="Rd7d0a2afe24e43e3" /><Relationship Type="http://schemas.openxmlformats.org/officeDocument/2006/relationships/slide" Target="/ppt/slides/slide1.xml" Id="R11278358e8854aaa" /><Relationship Type="http://schemas.openxmlformats.org/officeDocument/2006/relationships/slide" Target="/ppt/slides/slide2.xml" Id="R76562b032c564aca" /><Relationship Type="http://schemas.openxmlformats.org/officeDocument/2006/relationships/slide" Target="/ppt/slides/slide3.xml" Id="Ra5db9ab1cf68490a" /><Relationship Type="http://schemas.openxmlformats.org/officeDocument/2006/relationships/slide" Target="/ppt/slides/slide4.xml" Id="R85a6aa9228f84340" /><Relationship Type="http://schemas.openxmlformats.org/officeDocument/2006/relationships/slide" Target="/ppt/slides/slide5.xml" Id="R1dcac8757c364114" /><Relationship Type="http://schemas.openxmlformats.org/officeDocument/2006/relationships/slide" Target="/ppt/slides/slide6.xml" Id="R05a39df2aae94ba9" /><Relationship Type="http://schemas.openxmlformats.org/officeDocument/2006/relationships/slide" Target="/ppt/slides/slide7.xml" Id="R9fec57f0350d4b40" /><Relationship Type="http://schemas.openxmlformats.org/officeDocument/2006/relationships/slide" Target="/ppt/slides/slide8.xml" Id="Ra29b6029e15d4822" /><Relationship Type="http://schemas.openxmlformats.org/officeDocument/2006/relationships/slide" Target="/ppt/slides/slide9.xml" Id="Rb9b2af213a4c4ba4" /><Relationship Type="http://schemas.openxmlformats.org/officeDocument/2006/relationships/slide" Target="/ppt/slides/slide10.xml" Id="R4171efcaf18b4875" /><Relationship Type="http://schemas.openxmlformats.org/officeDocument/2006/relationships/slide" Target="/ppt/slides/slide11.xml" Id="Rc355f5dc0eba4a0f" /><Relationship Type="http://schemas.openxmlformats.org/officeDocument/2006/relationships/slide" Target="/ppt/slides/slide12.xml" Id="Rbe22650abe4d4978" /><Relationship Type="http://schemas.openxmlformats.org/officeDocument/2006/relationships/slide" Target="/ppt/slides/slide13.xml" Id="Refca8c463d6244b8" /><Relationship Type="http://schemas.openxmlformats.org/officeDocument/2006/relationships/slide" Target="/ppt/slides/slide14.xml" Id="R027c043198774646" /><Relationship Type="http://schemas.openxmlformats.org/officeDocument/2006/relationships/slide" Target="/ppt/slides/slide15.xml" Id="R7dccd884598c4c6e" /><Relationship Type="http://schemas.openxmlformats.org/officeDocument/2006/relationships/slide" Target="/ppt/slides/slide16.xml" Id="R840fe634c7fe4230" /><Relationship Type="http://schemas.openxmlformats.org/officeDocument/2006/relationships/slide" Target="/ppt/slides/slide17.xml" Id="R1c714fdef9074a20" /><Relationship Type="http://schemas.openxmlformats.org/officeDocument/2006/relationships/slide" Target="/ppt/slides/slide18.xml" Id="R212c3618a39b43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c1f4d49dc14d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5ce4d646f848b1" /><Relationship Type="http://schemas.openxmlformats.org/officeDocument/2006/relationships/notesMaster" Target="/ppt/notesMasters/notesMaster1.xml" Id="R3b765f386a3e46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63f23cd40042ab" /><Relationship Type="http://schemas.openxmlformats.org/officeDocument/2006/relationships/notesMaster" Target="/ppt/notesMasters/notesMaster1.xml" Id="Rbd53ea4ce56b4b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9b049756b74703" /><Relationship Type="http://schemas.openxmlformats.org/officeDocument/2006/relationships/notesMaster" Target="/ppt/notesMasters/notesMaster1.xml" Id="R588d43d561684a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d893b215d847d7" /><Relationship Type="http://schemas.openxmlformats.org/officeDocument/2006/relationships/notesMaster" Target="/ppt/notesMasters/notesMaster1.xml" Id="R62d7e2715bdb47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c9fb7b58b8456e" /><Relationship Type="http://schemas.openxmlformats.org/officeDocument/2006/relationships/notesMaster" Target="/ppt/notesMasters/notesMaster1.xml" Id="R5b6916b42f2e46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665b51ad774691" /><Relationship Type="http://schemas.openxmlformats.org/officeDocument/2006/relationships/notesMaster" Target="/ppt/notesMasters/notesMaster1.xml" Id="R106d2f53b8fd45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f837757a4741ec" /><Relationship Type="http://schemas.openxmlformats.org/officeDocument/2006/relationships/notesMaster" Target="/ppt/notesMasters/notesMaster1.xml" Id="R16fcc6832d3449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96169058274036" /><Relationship Type="http://schemas.openxmlformats.org/officeDocument/2006/relationships/notesMaster" Target="/ppt/notesMasters/notesMaster1.xml" Id="R115a2686f91a47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c1fd3627904205" /><Relationship Type="http://schemas.openxmlformats.org/officeDocument/2006/relationships/notesMaster" Target="/ppt/notesMasters/notesMaster1.xml" Id="R2ba3b6a7c8c041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5cf27295774cac" /><Relationship Type="http://schemas.openxmlformats.org/officeDocument/2006/relationships/notesMaster" Target="/ppt/notesMasters/notesMaster1.xml" Id="R6a70fbf570ac43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705676a0f24b0f" /><Relationship Type="http://schemas.openxmlformats.org/officeDocument/2006/relationships/notesMaster" Target="/ppt/notesMasters/notesMaster1.xml" Id="Re184c07a778041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63649562c84ed6" /><Relationship Type="http://schemas.openxmlformats.org/officeDocument/2006/relationships/notesMaster" Target="/ppt/notesMasters/notesMaster1.xml" Id="Rc9b56e817d6d45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c47a24ebf44631" /><Relationship Type="http://schemas.openxmlformats.org/officeDocument/2006/relationships/notesMaster" Target="/ppt/notesMasters/notesMaster1.xml" Id="Ra8b8bb4bca1d4d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75748989c342eb" /><Relationship Type="http://schemas.openxmlformats.org/officeDocument/2006/relationships/notesMaster" Target="/ppt/notesMasters/notesMaster1.xml" Id="Rb9446d9c09ae41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463d2c91c54572" /><Relationship Type="http://schemas.openxmlformats.org/officeDocument/2006/relationships/notesMaster" Target="/ppt/notesMasters/notesMaster1.xml" Id="Rb6a719c32aaa4a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46a14838a143d6" /><Relationship Type="http://schemas.openxmlformats.org/officeDocument/2006/relationships/notesMaster" Target="/ppt/notesMasters/notesMaster1.xml" Id="Reeab988cf8904b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fc2c170f314826" /><Relationship Type="http://schemas.openxmlformats.org/officeDocument/2006/relationships/notesMaster" Target="/ppt/notesMasters/notesMaster1.xml" Id="Rab13e5b9a8a54f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94541e25094845" /><Relationship Type="http://schemas.openxmlformats.org/officeDocument/2006/relationships/notesMaster" Target="/ppt/notesMasters/notesMaster1.xml" Id="R2676e5fa9d5847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SEVEN-G-01.png. Diapositiva de origen: 1.</a:t>
            </a:r>
          </a:p>
          <a:p xmlns:a="http://schemas.openxmlformats.org/drawingml/2006/main">
            <a:r>
              <a:t>Uso sugerido: Cabecera principal</a:t>
            </a:r>
          </a:p>
          <a:p xmlns:a="http://schemas.openxmlformats.org/drawingml/2006/main">
            <a:r>
              <a:t>Texto alternativo: Número siete construido con vigas junto a un escudo y un candado.</a:t>
            </a:r>
          </a:p>
          <a:p xmlns:a="http://schemas.openxmlformats.org/drawingml/2006/main">
            <a:r>
              <a:t>Procedencia: Ilustración nueva inspirada en la slide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SEVEN-G-02-1.png. Diapositiva de origen: 2.</a:t>
            </a:r>
          </a:p>
          <a:p xmlns:a="http://schemas.openxmlformats.org/drawingml/2006/main">
            <a:r>
              <a:t>Uso sugerido: Problema</a:t>
            </a:r>
          </a:p>
          <a:p xmlns:a="http://schemas.openxmlformats.org/drawingml/2006/main">
            <a:r>
              <a:t>Texto alternativo: Líneas entrelazadas que representan la propiedad fragmentada de una iniciativa de IA.</a:t>
            </a:r>
          </a:p>
          <a:p xmlns:a="http://schemas.openxmlformats.org/drawingml/2006/main">
            <a:r>
              <a:t>Procedencia: Extraído visualmente del PDF; conserva las etiquetas presentes en el recorte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SEVEN-G-02-2.png. Diapositiva de origen: 2.</a:t>
            </a:r>
          </a:p>
          <a:p xmlns:a="http://schemas.openxmlformats.org/drawingml/2006/main">
            <a:r>
              <a:t>Uso sugerido: Principios</a:t>
            </a:r>
          </a:p>
          <a:p xmlns:a="http://schemas.openxmlformats.org/drawingml/2006/main">
            <a:r>
              <a:t>Texto alternativo: Cuatro columnas que representan valor, gobernanza, producción y reversibilidad.</a:t>
            </a:r>
          </a:p>
          <a:p xmlns:a="http://schemas.openxmlformats.org/drawingml/2006/main">
            <a:r>
              <a:t>Procedencia: Extraído visualmente del PDF; conserva las etiquetas presentes en el recorte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SEVEN-G-03.png. Diapositiva de origen: 3.</a:t>
            </a:r>
          </a:p>
          <a:p xmlns:a="http://schemas.openxmlformats.org/drawingml/2006/main">
            <a:r>
              <a:t>Uso sugerido: Metodología</a:t>
            </a:r>
          </a:p>
          <a:p xmlns:a="http://schemas.openxmlformats.org/drawingml/2006/main">
            <a:r>
              <a:t>Texto alternativo: Secuencia de las fases 0 a 7, separadas por compuertas de decisión.</a:t>
            </a:r>
          </a:p>
          <a:p xmlns:a="http://schemas.openxmlformats.org/drawingml/2006/main">
            <a:r>
              <a:t>Procedencia: Extraído visualmente del PDF; conserva las etiquetas presentes en el recorte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SEVEN-G-04.png. Diapositiva de origen: 4.</a:t>
            </a:r>
          </a:p>
          <a:p xmlns:a="http://schemas.openxmlformats.org/drawingml/2006/main">
            <a:r>
              <a:t>Uso sugerido: Contexto y restricciones</a:t>
            </a:r>
          </a:p>
          <a:p xmlns:a="http://schemas.openxmlformats.org/drawingml/2006/main">
            <a:r>
              <a:t>Texto alternativo: Panel de la fase 0 con controles obligatorios y un perímetro con una señal de parada.</a:t>
            </a:r>
          </a:p>
          <a:p xmlns:a="http://schemas.openxmlformats.org/drawingml/2006/main">
            <a:r>
              <a:t>Procedencia: Extraído visualmente del PDF; conserva las etiquetas presentes en el recorte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SEVEN-G-05.png. Diapositiva de origen: 5.</a:t>
            </a:r>
          </a:p>
          <a:p xmlns:a="http://schemas.openxmlformats.org/drawingml/2006/main">
            <a:r>
              <a:t>Uso sugerido: Descubrimiento e hipótesis</a:t>
            </a:r>
          </a:p>
          <a:p xmlns:a="http://schemas.openxmlformats.org/drawingml/2006/main">
            <a:r>
              <a:t>Texto alternativo: Embudo técnico que transforma oportunidades en una hipótesis de valor.</a:t>
            </a:r>
          </a:p>
          <a:p xmlns:a="http://schemas.openxmlformats.org/drawingml/2006/main">
            <a:r>
              <a:t>Procedencia: Imagen del PDF regenerada para eliminar las anotaciones tipográficas ajenas al contenido.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SEVEN-G-06.png. Diapositiva de origen: 6.</a:t>
            </a:r>
          </a:p>
          <a:p xmlns:a="http://schemas.openxmlformats.org/drawingml/2006/main">
            <a:r>
              <a:t>Uso sugerido: Viabilidad y riesgo</a:t>
            </a:r>
          </a:p>
          <a:p xmlns:a="http://schemas.openxmlformats.org/drawingml/2006/main">
            <a:r>
              <a:t>Texto alternativo: Compuerta de seguridad con el rótulo STOP GATE y conexiones de entrada.</a:t>
            </a:r>
          </a:p>
          <a:p xmlns:a="http://schemas.openxmlformats.org/drawingml/2006/main">
            <a:r>
              <a:t>Procedencia: Extraído visualmente del PDF; conserva las etiquetas presentes en el recorte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SEVEN-G-07-1.png. Diapositiva de origen: 7.</a:t>
            </a:r>
          </a:p>
          <a:p xmlns:a="http://schemas.openxmlformats.org/drawingml/2006/main">
            <a:r>
              <a:t>Uso sugerido: Diseño</a:t>
            </a:r>
          </a:p>
          <a:p xmlns:a="http://schemas.openxmlformats.org/drawingml/2006/main">
            <a:r>
              <a:t>Texto alternativo: Plano técnico de una estructura cúbica con cotas de arquitectura.</a:t>
            </a:r>
          </a:p>
          <a:p xmlns:a="http://schemas.openxmlformats.org/drawingml/2006/main">
            <a:r>
              <a:t>Procedencia: Extraído visualmente del PDF; conserva las etiquetas presentes en el recorte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SEVEN-G-07-2.png. Diapositiva de origen: 7.</a:t>
            </a:r>
          </a:p>
          <a:p xmlns:a="http://schemas.openxmlformats.org/drawingml/2006/main">
            <a:r>
              <a:t>Uso sugerido: Entrega y validación</a:t>
            </a:r>
          </a:p>
          <a:p xmlns:a="http://schemas.openxmlformats.org/drawingml/2006/main">
            <a:r>
              <a:t>Texto alternativo: Estructura cúbica construida que representa la solución desplegada.</a:t>
            </a:r>
          </a:p>
          <a:p xmlns:a="http://schemas.openxmlformats.org/drawingml/2006/main">
            <a:r>
              <a:t>Procedencia: Extraído visualmente del PDF; conserva las etiquetas presentes en el recorte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SEVEN-G-08.png. Diapositiva de origen: 8.</a:t>
            </a:r>
          </a:p>
          <a:p xmlns:a="http://schemas.openxmlformats.org/drawingml/2006/main">
            <a:r>
              <a:t>Uso sugerido: Operación y evolución</a:t>
            </a:r>
          </a:p>
          <a:p xmlns:a="http://schemas.openxmlformats.org/drawingml/2006/main">
            <a:r>
              <a:t>Texto alternativo: Bucle continuo de AI Ops y evolución con salidas para escalar, iterar o retirar.</a:t>
            </a:r>
          </a:p>
          <a:p xmlns:a="http://schemas.openxmlformats.org/drawingml/2006/main">
            <a:r>
              <a:t>Procedencia: Imagen del PDF regenerada para eliminar las anotaciones tipográficas ajenas al contenido.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SEVEN-G-09.png. Diapositiva de origen: 9.</a:t>
            </a:r>
          </a:p>
          <a:p xmlns:a="http://schemas.openxmlformats.org/drawingml/2006/main">
            <a:r>
              <a:t>Uso sugerido: Compuertas de control</a:t>
            </a:r>
          </a:p>
          <a:p xmlns:a="http://schemas.openxmlformats.org/drawingml/2006/main">
            <a:r>
              <a:t>Texto alternativo: Balanza equilibrada entre un cubo de resultados y una pila de documentos.</a:t>
            </a:r>
          </a:p>
          <a:p xmlns:a="http://schemas.openxmlformats.org/drawingml/2006/main">
            <a:r>
              <a:t>Procedencia: Extraído visualmente del PDF; conserva las etiquetas presentes en el recorte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SEVEN-G-10.png. Diapositiva de origen: 10.</a:t>
            </a:r>
          </a:p>
          <a:p xmlns:a="http://schemas.openxmlformats.org/drawingml/2006/main">
            <a:r>
              <a:t>Uso sugerido: Roles y responsabilidades</a:t>
            </a:r>
          </a:p>
          <a:p xmlns:a="http://schemas.openxmlformats.org/drawingml/2006/main">
            <a:r>
              <a:t>Texto alternativo: Organigrama de sponsor, responsables de ejecución y responsables de control con una barrera de segregación.</a:t>
            </a:r>
          </a:p>
          <a:p xmlns:a="http://schemas.openxmlformats.org/drawingml/2006/main">
            <a:r>
              <a:t>Procedencia: Imagen del PDF regenerada para eliminar las anotaciones tipográficas ajenas al contenido.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SEVEN-G-11-1.png. Diapositiva de origen: 11.</a:t>
            </a:r>
          </a:p>
          <a:p xmlns:a="http://schemas.openxmlformats.org/drawingml/2006/main">
            <a:r>
              <a:t>Uso sugerido: Mapa de riesgos</a:t>
            </a:r>
          </a:p>
          <a:p xmlns:a="http://schemas.openxmlformats.org/drawingml/2006/main">
            <a:r>
              <a:t>Texto alternativo: Radar ilustrativo de siete dimensiones de riesgo, sin valores cuantitativos.</a:t>
            </a:r>
          </a:p>
          <a:p xmlns:a="http://schemas.openxmlformats.org/drawingml/2006/main">
            <a:r>
              <a:t>Procedencia: Extraído visualmente del PDF; conserva las etiquetas presentes en el recorte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SEVEN-G-11-2.png. Diapositiva de origen: 11.</a:t>
            </a:r>
          </a:p>
          <a:p xmlns:a="http://schemas.openxmlformats.org/drawingml/2006/main">
            <a:r>
              <a:t>Uso sugerido: Respuesta a incidencias</a:t>
            </a:r>
          </a:p>
          <a:p xmlns:a="http://schemas.openxmlformats.org/drawingml/2006/main">
            <a:r>
              <a:t>Texto alternativo: Proceso de detección, contención, causa raíz, acción correctiva y reauditoría.</a:t>
            </a:r>
          </a:p>
          <a:p xmlns:a="http://schemas.openxmlformats.org/drawingml/2006/main">
            <a:r>
              <a:t>Procedencia: Extraído visualmente del PDF; conserva las etiquetas presentes en el recorte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SEVEN-G-12.png. Diapositiva de origen: 12.</a:t>
            </a:r>
          </a:p>
          <a:p xmlns:a="http://schemas.openxmlformats.org/drawingml/2006/main">
            <a:r>
              <a:t>Uso sugerido: Mapeo regulatorio</a:t>
            </a:r>
          </a:p>
          <a:p xmlns:a="http://schemas.openxmlformats.org/drawingml/2006/main">
            <a:r>
              <a:t>Texto alternativo: Puente entre controles SEVEN-G y categorías regulatorias del EU AI Act.</a:t>
            </a:r>
          </a:p>
          <a:p xmlns:a="http://schemas.openxmlformats.org/drawingml/2006/main">
            <a:r>
              <a:t>Procedencia: Imagen del PDF regenerada para eliminar las anotaciones tipográficas ajenas al contenido.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SEVEN-G-13.png. Diapositiva de origen: 13.</a:t>
            </a:r>
          </a:p>
          <a:p xmlns:a="http://schemas.openxmlformats.org/drawingml/2006/main">
            <a:r>
              <a:t>Uso sugerido: Madurez</a:t>
            </a:r>
          </a:p>
          <a:p xmlns:a="http://schemas.openxmlformats.org/drawingml/2006/main">
            <a:r>
              <a:t>Texto alternativo: Escalera de madurez del nivel 0, ad hoc, al nivel 5, optimizado.</a:t>
            </a:r>
          </a:p>
          <a:p xmlns:a="http://schemas.openxmlformats.org/drawingml/2006/main">
            <a:r>
              <a:t>Procedencia: Extraído visualmente del PDF; conserva las etiquetas presentes en el recorte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SEVEN-G-14.png. Diapositiva de origen: 14.</a:t>
            </a:r>
          </a:p>
          <a:p xmlns:a="http://schemas.openxmlformats.org/drawingml/2006/main">
            <a:r>
              <a:t>Uso sugerido: Documentación</a:t>
            </a:r>
          </a:p>
          <a:p xmlns:a="http://schemas.openxmlformats.org/drawingml/2006/main">
            <a:r>
              <a:t>Texto alternativo: Colección de doce archivadores técnicos en un soporte.</a:t>
            </a:r>
          </a:p>
          <a:p xmlns:a="http://schemas.openxmlformats.org/drawingml/2006/main">
            <a:r>
              <a:t>Procedencia: Extraído visualmente del PDF; conserva las etiquetas presentes en el recorte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galería SEVEN-G, SEVEN-G-15.png. Diapositiva de origen: 15.</a:t>
            </a:r>
          </a:p>
          <a:p xmlns:a="http://schemas.openxmlformats.org/drawingml/2006/main">
            <a:r>
              <a:t>Uso sugerido: Llamada a la acción</a:t>
            </a:r>
          </a:p>
          <a:p xmlns:a="http://schemas.openxmlformats.org/drawingml/2006/main">
            <a:r>
              <a:t>Texto alternativo: Marca verde de verificación dentro de una casilla.</a:t>
            </a:r>
          </a:p>
          <a:p xmlns:a="http://schemas.openxmlformats.org/drawingml/2006/main">
            <a:r>
              <a:t>Procedencia: Extraído visualmente del PDF; conserva las etiquetas presentes en el recorte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7f05b1bc949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67d4ba389547fe" /><Relationship Type="http://schemas.openxmlformats.org/officeDocument/2006/relationships/slideLayout" Target="/ppt/slideLayouts/slideLayout1.xml" Id="Ra57bf54e3de741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7bf54e3de741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9725496604604" /><Relationship Type="http://schemas.openxmlformats.org/officeDocument/2006/relationships/image" Target="/ppt/media/image.png" Id="Rc9709323f8f844a4" /><Relationship Type="http://schemas.openxmlformats.org/officeDocument/2006/relationships/notesSlide" Target="/ppt/notesSlides/notesSlide1.xml" Id="R86ee241c761642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b565c741a4cba" /><Relationship Type="http://schemas.openxmlformats.org/officeDocument/2006/relationships/image" Target="/ppt/media/image2.png" Id="R55e6403a4acd4264" /><Relationship Type="http://schemas.openxmlformats.org/officeDocument/2006/relationships/notesSlide" Target="/ppt/notesSlides/notesSlide2.xml" Id="R3a8e80c7958844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4837b546b4959" /><Relationship Type="http://schemas.openxmlformats.org/officeDocument/2006/relationships/image" Target="/ppt/media/image3.png" Id="R7d8a51432a2b4b89" /><Relationship Type="http://schemas.openxmlformats.org/officeDocument/2006/relationships/notesSlide" Target="/ppt/notesSlides/notesSlide3.xml" Id="Rc75bc2cbcb584f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734779af9495a" /><Relationship Type="http://schemas.openxmlformats.org/officeDocument/2006/relationships/image" Target="/ppt/media/image4.png" Id="Reaa4764a47664ba0" /><Relationship Type="http://schemas.openxmlformats.org/officeDocument/2006/relationships/notesSlide" Target="/ppt/notesSlides/notesSlide4.xml" Id="R075ba02f2e8240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4c9d55cce4a1a" /><Relationship Type="http://schemas.openxmlformats.org/officeDocument/2006/relationships/image" Target="/ppt/media/image5.png" Id="Rbead047fbc67440f" /><Relationship Type="http://schemas.openxmlformats.org/officeDocument/2006/relationships/notesSlide" Target="/ppt/notesSlides/notesSlide5.xml" Id="R8b05aafcc83440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7e8ef8c054292" /><Relationship Type="http://schemas.openxmlformats.org/officeDocument/2006/relationships/image" Target="/ppt/media/image6.png" Id="R77a9d7b4da7a4726" /><Relationship Type="http://schemas.openxmlformats.org/officeDocument/2006/relationships/notesSlide" Target="/ppt/notesSlides/notesSlide6.xml" Id="R20252b26b6314d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8024394a44ac8" /><Relationship Type="http://schemas.openxmlformats.org/officeDocument/2006/relationships/image" Target="/ppt/media/image7.png" Id="R023aec8f8cb84675" /><Relationship Type="http://schemas.openxmlformats.org/officeDocument/2006/relationships/notesSlide" Target="/ppt/notesSlides/notesSlide7.xml" Id="R2b2808f5ed6a40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14061d308428d" /><Relationship Type="http://schemas.openxmlformats.org/officeDocument/2006/relationships/image" Target="/ppt/media/image8.png" Id="Raa7cee24cbc94cd1" /><Relationship Type="http://schemas.openxmlformats.org/officeDocument/2006/relationships/notesSlide" Target="/ppt/notesSlides/notesSlide8.xml" Id="Re1ef55eb1dab4a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ad229b7e342bf" /><Relationship Type="http://schemas.openxmlformats.org/officeDocument/2006/relationships/image" Target="/ppt/media/image9.png" Id="R1277ae49f3bd424d" /><Relationship Type="http://schemas.openxmlformats.org/officeDocument/2006/relationships/notesSlide" Target="/ppt/notesSlides/notesSlide9.xml" Id="R4867ed48eb844a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4b446b3b6403e" /><Relationship Type="http://schemas.openxmlformats.org/officeDocument/2006/relationships/image" Target="/ppt/media/image10.png" Id="Rbb9b9ac446284f10" /><Relationship Type="http://schemas.openxmlformats.org/officeDocument/2006/relationships/notesSlide" Target="/ppt/notesSlides/notesSlide10.xml" Id="Rfd16140f732045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d763efc574274" /><Relationship Type="http://schemas.openxmlformats.org/officeDocument/2006/relationships/image" Target="/ppt/media/image11.png" Id="R28e5d3abf535433d" /><Relationship Type="http://schemas.openxmlformats.org/officeDocument/2006/relationships/notesSlide" Target="/ppt/notesSlides/notesSlide11.xml" Id="Rfaae1f4de68e47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017d760804f6f" /><Relationship Type="http://schemas.openxmlformats.org/officeDocument/2006/relationships/image" Target="/ppt/media/image12.png" Id="R85caa3a4d07b4cb9" /><Relationship Type="http://schemas.openxmlformats.org/officeDocument/2006/relationships/notesSlide" Target="/ppt/notesSlides/notesSlide12.xml" Id="R987e799e6b7c46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1d79d406442b9" /><Relationship Type="http://schemas.openxmlformats.org/officeDocument/2006/relationships/image" Target="/ppt/media/image13.png" Id="Ra7b7e6b5bc7c4372" /><Relationship Type="http://schemas.openxmlformats.org/officeDocument/2006/relationships/notesSlide" Target="/ppt/notesSlides/notesSlide13.xml" Id="R60635698de1b48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b175db20a4dd2" /><Relationship Type="http://schemas.openxmlformats.org/officeDocument/2006/relationships/image" Target="/ppt/media/image14.png" Id="Rab7d2d47471f4013" /><Relationship Type="http://schemas.openxmlformats.org/officeDocument/2006/relationships/notesSlide" Target="/ppt/notesSlides/notesSlide14.xml" Id="Rd8af28127bae42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f5b75199a4b05" /><Relationship Type="http://schemas.openxmlformats.org/officeDocument/2006/relationships/image" Target="/ppt/media/image15.png" Id="R6f67e1e2577f4626" /><Relationship Type="http://schemas.openxmlformats.org/officeDocument/2006/relationships/notesSlide" Target="/ppt/notesSlides/notesSlide15.xml" Id="R5f14e0602a7546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9aab52d6c48de" /><Relationship Type="http://schemas.openxmlformats.org/officeDocument/2006/relationships/image" Target="/ppt/media/image16.png" Id="R0e5eef8663cf43f6" /><Relationship Type="http://schemas.openxmlformats.org/officeDocument/2006/relationships/notesSlide" Target="/ppt/notesSlides/notesSlide16.xml" Id="R6b8f4efd06a74d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9868869fb468c" /><Relationship Type="http://schemas.openxmlformats.org/officeDocument/2006/relationships/image" Target="/ppt/media/image17.png" Id="R689ec732ca8a4504" /><Relationship Type="http://schemas.openxmlformats.org/officeDocument/2006/relationships/notesSlide" Target="/ppt/notesSlides/notesSlide17.xml" Id="R32c4caf1f19a4b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b1f3ac0a845c7" /><Relationship Type="http://schemas.openxmlformats.org/officeDocument/2006/relationships/image" Target="/ppt/media/image18.png" Id="R4c8135052b9347f7" /><Relationship Type="http://schemas.openxmlformats.org/officeDocument/2006/relationships/notesSlide" Target="/ppt/notesSlides/notesSlide18.xml" Id="Rf60f8dd740114c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FF533-2E66-446E-97E8-8E49C581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Gobernanza de IA orientada al valor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09323f8f844a4"/>
          <a:stretch xmlns:a="http://schemas.openxmlformats.org/drawingml/2006/main"/>
        </p:blipFill>
        <p:spPr>
          <a:xfrm xmlns:a="http://schemas.openxmlformats.org/drawingml/2006/main">
            <a:off x="476250" y="1809750"/>
            <a:ext cx="8286750" cy="5524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1D3CE-A8B9-458E-8A16-762A074D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Convierte la inteligencia artificial en valor empresarial con una gobernanza disciplinada, trazable y auditable.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AB0EB-7EBD-47A8-B6D0-96641907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SEVEN-G organiza las decisiones, los controles y las evidencias a lo largo del ciclo de vida de una iniciativa de IA. El objetivo es conectar la inversión tecnológica con resultados de negocio verificables.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3E6E9-E4EF-42C9-85D2-27B6FF3E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SEVEN-G-01.png   /   Diapositiva de origen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C345E-8EA3-4E8A-A0D0-3FA83BAA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01 / 18</a:t>
            </a:r>
          </a:p>
        </p:txBody>
      </p:sp>
    </p:spTree>
    <p:extLst>
      <p:ext uri="{BB962C8B-B14F-4D97-AF65-F5344CB8AC3E}">
        <p14:creationId xmlns:p14="http://schemas.microsoft.com/office/powerpoint/2010/main" val="10137752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C0D23-5575-4546-8C48-A9C132F3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De la responsabilidad fragmentada a una dirección común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6403a4acd4264"/>
          <a:stretch xmlns:a="http://schemas.openxmlformats.org/drawingml/2006/main"/>
        </p:blipFill>
        <p:spPr>
          <a:xfrm xmlns:a="http://schemas.openxmlformats.org/drawingml/2006/main">
            <a:off x="2771465" y="1809750"/>
            <a:ext cx="3696320" cy="5524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C2751-E80F-4F83-9C7A-3AC60D82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La IA necesita responsables claros y criterios compartidos para avanzar.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E0CED-3EBF-428E-A188-78DE284A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La propiedad fragmentada dificulta conectar decisiones, riesgos y resultados. SEVEN-G propone una estructura de gobernanza que haga explícita la responsabilidad sobre cada iniciativa.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C415D-7C55-4743-B389-7A5B8B75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SEVEN-G-02-1.png   /   Diapositiva de origen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425DE-39EB-4F84-9B91-552955A6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02 / 18</a:t>
            </a:r>
          </a:p>
        </p:txBody>
      </p:sp>
    </p:spTree>
    <p:extLst>
      <p:ext uri="{BB962C8B-B14F-4D97-AF65-F5344CB8AC3E}">
        <p14:creationId xmlns:p14="http://schemas.microsoft.com/office/powerpoint/2010/main" val="1806561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0AEF2-F5EF-44E0-86A0-65ADD8C9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Cuatro principios para generar valor sostenible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a51432a2b4b89"/>
          <a:stretch xmlns:a="http://schemas.openxmlformats.org/drawingml/2006/main"/>
        </p:blipFill>
        <p:spPr>
          <a:xfrm xmlns:a="http://schemas.openxmlformats.org/drawingml/2006/main">
            <a:off x="476250" y="1829011"/>
            <a:ext cx="8286750" cy="548597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4A54E-B161-4457-90C1-2C52EB58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Valor de negocio, gobernanza, evidencia en producción y reversibilidad.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B2321-CE66-48C8-A2F7-82911FF4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La iniciativa debe responder a un objetivo comercial explícito; sus decisiones deben estar gobernadas; su valor debe contrastarse en el uso real; y debe conservar opciones de reversión mientras la evidencia no justifique consolidar la decisión.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F29E3-5B78-4FDF-938F-D8B90950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SEVEN-G-02-2.png   /   Diapositiva de origen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BAF81-28D8-4023-9B07-51C7B2FF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03 / 18</a:t>
            </a:r>
          </a:p>
        </p:txBody>
      </p:sp>
    </p:spTree>
    <p:extLst>
      <p:ext uri="{BB962C8B-B14F-4D97-AF65-F5344CB8AC3E}">
        <p14:creationId xmlns:p14="http://schemas.microsoft.com/office/powerpoint/2010/main" val="818402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F6AF5-1C73-43B7-9AB6-8773B569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Un ciclo de vida con decisiones explícitas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4764a47664ba0"/>
          <a:stretch xmlns:a="http://schemas.openxmlformats.org/drawingml/2006/main"/>
        </p:blipFill>
        <p:spPr>
          <a:xfrm xmlns:a="http://schemas.openxmlformats.org/drawingml/2006/main">
            <a:off x="476250" y="3462503"/>
            <a:ext cx="8286750" cy="221899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2E289-BC8D-4582-A1CE-88C437B7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Una fase inicial de contexto y siete fases para descubrir, validar, operar y evolucionar.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7A0EE-9AAF-40A7-A0F6-2BEC893F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El recorrido comprende contexto y restricciones (0), descubrimiento (1), hipótesis de valor (2), viabilidad y riesgo (3), diseño de solución (4), entrega y validación (5), AI Ops y gobernanza (6), y evolución o retiro (7). Las compuertas permiten validar, iterar, pivotar o detener.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9F963-3E82-44A7-987C-916AAC4B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SEVEN-G-03.png   /   Diapositiva de origen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FE759-18DD-401E-8AAF-050A34FF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04 / 18</a:t>
            </a:r>
          </a:p>
        </p:txBody>
      </p:sp>
    </p:spTree>
    <p:extLst>
      <p:ext uri="{BB962C8B-B14F-4D97-AF65-F5344CB8AC3E}">
        <p14:creationId xmlns:p14="http://schemas.microsoft.com/office/powerpoint/2010/main" val="5850736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18C66-40E2-4C4D-A7AF-8EC3214B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Define los límites antes de invertir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d047fbc67440f"/>
          <a:stretch xmlns:a="http://schemas.openxmlformats.org/drawingml/2006/main"/>
        </p:blipFill>
        <p:spPr>
          <a:xfrm xmlns:a="http://schemas.openxmlformats.org/drawingml/2006/main">
            <a:off x="476250" y="2361799"/>
            <a:ext cx="8286750" cy="442040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69FBC-FFE6-4E8A-8EE1-341E876B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Aclara el propósito, las restricciones y los responsables desde el inicio.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0C029-C328-4E40-A53F-BCDD3526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La fase 0 establece las fronteras regulatorias, éticas y organizativas de la iniciativa. Sus evidencias incluyen el charter, la declaración de contexto y restricciones y el registro de asignación de roles. Dentro del marco SEVEN-G, esta definición precede a la autorización de la iniciativa.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CA35D-7BC6-48BB-92A8-2C6FA66D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SEVEN-G-04.png   /   Diapositiva de origen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633A0-5983-4302-9B4C-4AFA758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05 / 18</a:t>
            </a:r>
          </a:p>
        </p:txBody>
      </p:sp>
    </p:spTree>
    <p:extLst>
      <p:ext uri="{BB962C8B-B14F-4D97-AF65-F5344CB8AC3E}">
        <p14:creationId xmlns:p14="http://schemas.microsoft.com/office/powerpoint/2010/main" val="308772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C9914-9878-4D03-B627-E9C799CD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De la oportunidad a una hipótesis comprobable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9d7b4da7a4726"/>
          <a:stretch xmlns:a="http://schemas.openxmlformats.org/drawingml/2006/main"/>
        </p:blipFill>
        <p:spPr>
          <a:xfrm xmlns:a="http://schemas.openxmlformats.org/drawingml/2006/main">
            <a:off x="476250" y="2340206"/>
            <a:ext cx="8286750" cy="446358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7C240-BFF3-49F4-9701-5A5DFF5D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Prioriza oportunidades de negocio y formula hipótesis de valor medibles.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80D0F-4C5F-4531-BCB3-EB11B8C9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El descubrimiento reúne oportunidades y las somete a un filtro de negocio. La hipótesis de valor concreta qué resultado se espera y cómo se contrastará. Debe poder refutarse: una hipótesis que no puede fallar no permite aprender de la evidencia.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2C858-290C-4BD8-B10B-C9916FD3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SEVEN-G-05.png   /   Diapositiva de origen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C4F10-32FA-46A4-B3E7-CADDE3FF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06 / 18</a:t>
            </a:r>
          </a:p>
        </p:txBody>
      </p:sp>
    </p:spTree>
    <p:extLst>
      <p:ext uri="{BB962C8B-B14F-4D97-AF65-F5344CB8AC3E}">
        <p14:creationId xmlns:p14="http://schemas.microsoft.com/office/powerpoint/2010/main" val="12680122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0B50A-D0A8-4926-9915-9805AE3E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Decide si la iniciativa debe continuar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aec8f8cb84675"/>
          <a:stretch xmlns:a="http://schemas.openxmlformats.org/drawingml/2006/main"/>
        </p:blipFill>
        <p:spPr>
          <a:xfrm xmlns:a="http://schemas.openxmlformats.org/drawingml/2006/main">
            <a:off x="476250" y="2351761"/>
            <a:ext cx="8286750" cy="444047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DE57A-2AF3-4632-A56A-EA6B9B1E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Valida la viabilidad técnica, económica y de riesgo antes del desarrollo mayor.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6CA9B-F9D0-476D-B342-0AC29D13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La fase 3 es la compuerta crítica para proceder o detenerse. Contrasta la factibilidad técnica, la justificación de la inversión y la existencia de riesgos altos no mitigados. La decisión se apoya en una matriz de riesgos, un registro y un plan de mitigación.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72E6E-99DA-41FD-983B-683CF154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SEVEN-G-06.png   /   Diapositiva de origen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AB34C-9573-4274-BA76-A7C7C6F3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07 / 18</a:t>
            </a:r>
          </a:p>
        </p:txBody>
      </p:sp>
    </p:spTree>
    <p:extLst>
      <p:ext uri="{BB962C8B-B14F-4D97-AF65-F5344CB8AC3E}">
        <p14:creationId xmlns:p14="http://schemas.microsoft.com/office/powerpoint/2010/main" val="3063548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C2BEB-E393-4719-AF66-14DBA2A5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Diseña para poder auditar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cee24cbc94cd1"/>
          <a:stretch xmlns:a="http://schemas.openxmlformats.org/drawingml/2006/main"/>
        </p:blipFill>
        <p:spPr>
          <a:xfrm xmlns:a="http://schemas.openxmlformats.org/drawingml/2006/main">
            <a:off x="1973274" y="1809750"/>
            <a:ext cx="5292703" cy="5524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8681A-9A55-4A2E-9A9D-0F0C11F1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Integra trazabilidad, linaje y capacidad de reversión en la arquitectura.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983A6-6DA2-4487-92AD-83D684A2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En la fase 4 se diseña la solución junto con su gobernanza. El linaje de datos y modelos permite reconstruir el recorrido desde el origen hasta la decisión. La capacidad de rollback forma parte del diseño.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CFD46-F288-45C0-B2B4-5CB69CB3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SEVEN-G-07-1.png   /   Diapositiva de origen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5EBD4-5DCD-47A4-BC82-272BC340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08 / 18</a:t>
            </a:r>
          </a:p>
        </p:txBody>
      </p:sp>
    </p:spTree>
    <p:extLst>
      <p:ext uri="{BB962C8B-B14F-4D97-AF65-F5344CB8AC3E}">
        <p14:creationId xmlns:p14="http://schemas.microsoft.com/office/powerpoint/2010/main" val="1253621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31FE4-B65E-4237-9B48-FFE446FB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Valida con evidencia de producción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7ae49f3bd424d"/>
          <a:stretch xmlns:a="http://schemas.openxmlformats.org/drawingml/2006/main"/>
        </p:blipFill>
        <p:spPr>
          <a:xfrm xmlns:a="http://schemas.openxmlformats.org/drawingml/2006/main">
            <a:off x="1528298" y="1809750"/>
            <a:ext cx="6182653" cy="5524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02C4D-152E-45B5-9E4A-19D3124F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Demuestra el funcionamiento de la solución en su entorno real.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1978D-D853-4F25-BFB8-2E287445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La fase 5 conecta la entrega con la validación en producción. Los resultados teóricos se complementan con evidencia de uso real, recogida en el informe de entrega y los resultados de validación.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75EE1-3A96-44E9-B6C8-F7211D8E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SEVEN-G-07-2.png   /   Diapositiva de origen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F16DF-2050-485C-9F4E-F7461639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09 / 18</a:t>
            </a:r>
          </a:p>
        </p:txBody>
      </p:sp>
    </p:spTree>
    <p:extLst>
      <p:ext uri="{BB962C8B-B14F-4D97-AF65-F5344CB8AC3E}">
        <p14:creationId xmlns:p14="http://schemas.microsoft.com/office/powerpoint/2010/main" val="8354427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9F895-7E5D-48D7-9F83-F1309085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Opera, aprende y decide cómo evolucionar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b9ac446284f10"/>
          <a:stretch xmlns:a="http://schemas.openxmlformats.org/drawingml/2006/main"/>
        </p:blipFill>
        <p:spPr>
          <a:xfrm xmlns:a="http://schemas.openxmlformats.org/drawingml/2006/main">
            <a:off x="476250" y="3133112"/>
            <a:ext cx="8286750" cy="287777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AC7E3-33EC-437B-9237-1A7BECF2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Supervisa la estabilidad y el valor para escalar, iterar o retirar.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84616-62B7-4AD6-9B80-0955628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La fase 6 mantiene la operación y vigila el deterioro del modelo. La fase 7 utiliza la evidencia y el seguimiento del valor realizado para decidir el siguiente paso. El ciclo conecta operación, aprendizaje y evolución.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62A34-2D98-4875-A639-68DF6F9B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SEVEN-G-08.png   /   Diapositiva de origen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98988-4D7B-47F1-98B1-3B202203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7489139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9C98F-7982-409F-902E-5A170503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Resultados y evidencias: una validación dual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5d3abf535433d"/>
          <a:stretch xmlns:a="http://schemas.openxmlformats.org/drawingml/2006/main"/>
        </p:blipFill>
        <p:spPr>
          <a:xfrm xmlns:a="http://schemas.openxmlformats.org/drawingml/2006/main">
            <a:off x="476250" y="3550012"/>
            <a:ext cx="8286750" cy="204397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54DC7-AB5D-4AD7-80FA-33C443C3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Una fase se completa cuando alcanza sus objetivos y aporta documentación auditable.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5CA18-C28B-4663-BB12-33C7B22C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El mecanismo stage-gate exige resultados tangibles y artefactos de soporte. El marco excluye las autoaprobaciones: la falta de evidencia impide avanzar y el cumplimiento parcial conduce a iterar, no a una aprobación incondicional.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3A666-1DA8-4D31-99B8-A366B252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SEVEN-G-09.png   /   Diapositiva de origen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13846-07ED-4209-8BB8-820A0FC0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1080821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42FCB-FED9-439E-8B10-DF114009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Separa la ejecución del control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aa3a4d07b4cb9"/>
          <a:stretch xmlns:a="http://schemas.openxmlformats.org/drawingml/2006/main"/>
        </p:blipFill>
        <p:spPr>
          <a:xfrm xmlns:a="http://schemas.openxmlformats.org/drawingml/2006/main">
            <a:off x="476250" y="2390014"/>
            <a:ext cx="8286750" cy="436397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D045E-A1F0-433F-B38E-7BF1285A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Define quién financia, quién construye y quién valida de forma independiente.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65349-99EA-42BA-847B-44B76CE7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El AI Sponsor ejerce la autoridad de financiación. AI Product Owner y AI Technical Owner lideran valor y arquitectura; AI Risk Owner y AI Auditor ejercen funciones de control. La incompatibilidad central del marco es que quien construye no puede auditar su propio trabajo.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3C079-586B-45D4-B7BC-7FED832E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SEVEN-G-10.png   /   Diapositiva de origen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5B5DE-292A-4B1D-A72C-E79E7924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8575656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3C188-3659-43E4-AAAB-BDD08E5F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Observa el riesgo en todas sus dimensiones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7e6b5bc7c4372"/>
          <a:stretch xmlns:a="http://schemas.openxmlformats.org/drawingml/2006/main"/>
        </p:blipFill>
        <p:spPr>
          <a:xfrm xmlns:a="http://schemas.openxmlformats.org/drawingml/2006/main">
            <a:off x="1298348" y="1809750"/>
            <a:ext cx="6642554" cy="5524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7946A-AB9B-4393-9B76-3B7EFFC2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Evalúa de forma continua los riesgos que pueden comprometer el valor de la 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597AC-136E-4A5D-BAA7-B1340239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El mapa de riesgos considera dimensiones estratégicas, técnicas, de datos, económicas, legales, organizativas y reputacionales. El radar es una ilustración conceptual del documento, no una medición de una organización concreta.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B6E3D-D3D1-47C5-B104-F5C54D6E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SEVEN-G-11-1.png   /   Diapositiva de origen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8A48B-D728-43CE-87EF-D55FEC84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15955445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FC367-1530-4D2E-BC11-349E6D89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Cierra el ciclo de corrección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d2d47471f4013"/>
          <a:stretch xmlns:a="http://schemas.openxmlformats.org/drawingml/2006/main"/>
        </p:blipFill>
        <p:spPr>
          <a:xfrm xmlns:a="http://schemas.openxmlformats.org/drawingml/2006/main">
            <a:off x="476250" y="3261172"/>
            <a:ext cx="8286750" cy="262165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84134-060F-499D-8B8F-5963A470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Detecta, contiene, identifica la causa, corrige y vuelve a auditar.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0CFE2-A597-400C-A8E4-4C7B48F7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La gestión de no conformidades conecta la detección con acciones correctivas verificables. La reauditoría comprueba el resultado de la corrección y aporta evidencia para actualizar los controles.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288D2-86AC-42C1-A536-AEF4AEA9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SEVEN-G-11-2.png   /   Diapositiva de origen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8294C-3C39-423A-9312-AA3F77A2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10825489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145E6-4BEC-49FD-8E50-8F18A65D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Conecta la gobernanza con los requisitos aplicables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7e1e2577f4626"/>
          <a:stretch xmlns:a="http://schemas.openxmlformats.org/drawingml/2006/main"/>
        </p:blipFill>
        <p:spPr>
          <a:xfrm xmlns:a="http://schemas.openxmlformats.org/drawingml/2006/main">
            <a:off x="476250" y="2749003"/>
            <a:ext cx="8286750" cy="364599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11BFB-1679-4819-BB93-886B53D8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Organiza controles y evidencias para facilitar el mapeo regulatorio.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E0D3E-0E37-4073-94F0-7C4C1CE3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La presentación describe SEVEN-G como una capa de traducción entre sus controles y marcos como el EU AI Act. El mapeo relaciona riesgos y evidencias con los requisitos que correspondan a cada caso de uso; el diagrama representa ese enfoque metodológico y no acredita por sí mismo el cumplimiento.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F3EF4-98D4-4893-875F-766FE5DE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SEVEN-G-12.png   /   Diapositiva de origen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D98D0-3DB2-461F-A5C2-6605D4BD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13513087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19EDC-9D7E-4A56-A2E0-89C382FE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Mide la madurez con evidencia observable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eef8663cf43f6"/>
          <a:stretch xmlns:a="http://schemas.openxmlformats.org/drawingml/2006/main"/>
        </p:blipFill>
        <p:spPr>
          <a:xfrm xmlns:a="http://schemas.openxmlformats.org/drawingml/2006/main">
            <a:off x="722294" y="1809750"/>
            <a:ext cx="7794663" cy="5524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6C90B-6A0B-4CE8-8DA9-7F3017D6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Avanza desde una gestión ad hoc hacia una gobernanza optimizada.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C6B32-F79A-4D03-A1FF-75D6BA5C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El modelo representa niveles del 0 al 5. La evaluación se apoya en cobertura de gobernanza, eficacia de controles de riesgo, estabilidad en producción y realización de valor auditada. La presentación solo nombra los extremos: ad hoc y optimizado; no se añaden definiciones para los niveles intermedios.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A1BD4-88F0-471A-BA43-5ADBC647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SEVEN-G-13.png   /   Diapositiva de origen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0B9E3-03B6-448E-8499-C1B8BCA6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20705896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70933-330A-4D49-8380-77FF46C2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Haz que las decisiones dejen evidencia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ec732ca8a4504"/>
          <a:stretch xmlns:a="http://schemas.openxmlformats.org/drawingml/2006/main"/>
        </p:blipFill>
        <p:spPr>
          <a:xfrm xmlns:a="http://schemas.openxmlformats.org/drawingml/2006/main">
            <a:off x="1812668" y="1809750"/>
            <a:ext cx="5613914" cy="5524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D42A4-1DE7-433D-ADC0-5F6CBE29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Reúne los artefactos de la iniciativa en el Master Print Pack.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5FD1D-A1B1-4E15-920B-590F9F6E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El pack se presenta como un conjunto de 12 documentos. Entre los destacados están la metodología fundacional, el marco de auditoría, el charter de iniciativa, los criterios de compuerta y auditoría, las checklists de fase y el mapeo regulatorio. La documentación permite reconstruir y auditar lo ocurrido.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03D7F-271E-44C8-9649-0EB75F3A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SEVEN-G-14.png   /   Diapositiva de origen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2FE57-3B02-43CB-AFBA-7EA6642D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2058703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EF08D-18CF-4D16-876F-2B007CE1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Empieza con una iniciativa piloto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135052b9347f7"/>
          <a:stretch xmlns:a="http://schemas.openxmlformats.org/drawingml/2006/main"/>
        </p:blipFill>
        <p:spPr>
          <a:xfrm xmlns:a="http://schemas.openxmlformats.org/drawingml/2006/main">
            <a:off x="1436785" y="1809750"/>
            <a:ext cx="6365679" cy="5524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2068B-D68C-48F3-B465-38D80A2F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5286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2B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48"/>
                </a:solidFill>
                <a:latin typeface="Arial"/>
                <a:ea typeface="Arial"/>
                <a:cs typeface="Arial"/>
              </a:rPr>
              <a:t>Adopta el marco, asigna responsables y recorre el ciclo completo.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95492-C00E-4AFE-B8AB-1FF4679B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5286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A5C6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A5C69"/>
                </a:solidFill>
                <a:latin typeface="Arial"/>
                <a:ea typeface="Arial"/>
                <a:cs typeface="Arial"/>
              </a:rPr>
              <a:t>La propuesta de implantación tiene tres pasos: aprobar el uso del Master Print Pack, designar explícitamente al AI Auditor y al AI Sponsor, y ejecutar una iniciativa piloto a través de las fases 0 a 7. El piloto permite observar cómo funcionan las decisiones, los controles y las evidencias en conjunto.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2D56A-78DC-45A4-B98E-BC944846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SEVEN-G-15.png   /   Diapositiva de origen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F63F9-991E-4320-A96A-9C948D69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8581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9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986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716374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2026-09-21T18:10:30.6490000Z</dcterms:created>
  <dcterms:modified xsi:type="dcterms:W3CDTF">2026-09-21T18:10:30.6490000Z</dcterms:modified>
</coreProperties>
</file>
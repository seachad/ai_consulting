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 id="281" r:id="rIdS26"/>
  </p:sldIdLst>
  <p:sldSz cx="12192000" cy="6858000" type="screen16x9"/>
  <p:notesSz cx="6858000" cy="9144000"/>
</p:presentation>
</file>

<file path=ppt/_rels/presentation.xml.rels><?xml version="1.0" encoding="UTF-8" standalone="yes"?><Relationships xmlns="http://schemas.openxmlformats.org/package/2006/relationships"><Relationship Id="rIdM1" Type="http://schemas.openxmlformats.org/officeDocument/2006/relationships/slideMaster" Target="slideMasters/slideMaster1.xml"/><Relationship Id="rIdT1" Type="http://schemas.openxmlformats.org/officeDocument/2006/relationships/theme" Target="theme/theme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Img_registro" Type="http://schemas.openxmlformats.org/officeDocument/2006/relationships/image" Target="../media/registro.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Img_embudo" Type="http://schemas.openxmlformats.org/officeDocument/2006/relationships/image" Target="../media/embudo.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Img_panel" Type="http://schemas.openxmlformats.org/officeDocument/2006/relationships/image" Target="../media/panel.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 name="Marca"/>
          <p:cNvSpPr/>
          <p:nvPr/>
        </p:nvSpPr>
        <p:spPr>
          <a:xfrm>
            <a:off x="609600" y="365760"/>
            <a:ext cx="182880" cy="182880"/>
          </a:xfrm>
          <a:prstGeom prst="rect">
            <a:avLst/>
          </a:prstGeom>
          <a:solidFill>
            <a:srgbClr val="990F3D"/>
          </a:solidFill>
        </p:spPr>
        <p:txBody>
          <a:bodyPr/>
          <a:lstStyle/>
          <a:p/>
        </p:txBody>
      </p:sp>
      <p:sp>
        <p:nvSpPr>
          <p:cNvPr id="7" name="Texto 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 name="Texto 2"/>
          <p:cNvSpPr txBox="1"/>
          <p:nvPr/>
        </p:nvSpPr>
        <p:spPr>
          <a:xfrm>
            <a:off x="609600" y="1350000"/>
            <a:ext cx="10972800" cy="1100000"/>
          </a:xfrm>
          <a:prstGeom prst="rect">
            <a:avLst/>
          </a:prstGeom>
          <a:noFill/>
        </p:spPr>
        <p:txBody>
          <a:bodyPr wrap="square" anchor="t" lIns="45720" rIns="45720">
            <a:noAutofit/>
          </a:bodyPr>
          <a:lstStyle/>
          <a:p>
            <a:pPr algn="l"/>
            <a:r>
              <a:rPr lang="es-ES" sz="5000" b="1" dirty="0">
                <a:solidFill>
                  <a:srgbClr val="1A1817"/>
                </a:solidFill>
              </a:rPr>
              <a:t>SEVEN-G</a:t>
            </a:r>
          </a:p>
        </p:txBody>
      </p:sp>
      <p:sp>
        <p:nvSpPr>
          <p:cNvPr id="3" name="Caja 3"/>
          <p:cNvSpPr/>
          <p:nvPr/>
        </p:nvSpPr>
        <p:spPr>
          <a:xfrm>
            <a:off x="609600" y="2600000"/>
            <a:ext cx="5200000" cy="560000"/>
          </a:xfrm>
          <a:prstGeom prst="roundRect">
            <a:avLst>
              <a:gd name="adj" fmla="val 6000"/>
            </a:avLst>
          </a:prstGeom>
          <a:solidFill>
            <a:srgbClr val="990F3D"/>
          </a:solidFill>
          <a:ln>
            <a:noFill/>
          </a:ln>
        </p:spPr>
        <p:txBody>
          <a:bodyPr wrap="square" anchor="ctr" lIns="45720" rIns="45720">
            <a:noAutofit/>
          </a:bodyPr>
          <a:lstStyle/>
          <a:p>
            <a:pPr algn="ctr"/>
            <a:r>
              <a:rPr lang="es-ES" sz="1800" b="1" dirty="0">
                <a:solidFill>
                  <a:srgbClr val="FFFFFF"/>
                </a:solidFill>
              </a:rPr>
              <a:t>Consultor · Acompañar a clientes</a:t>
            </a:r>
          </a:p>
        </p:txBody>
      </p:sp>
      <p:sp>
        <p:nvSpPr>
          <p:cNvPr id="4" name="Texto 4"/>
          <p:cNvSpPr txBox="1"/>
          <p:nvPr/>
        </p:nvSpPr>
        <p:spPr>
          <a:xfrm>
            <a:off x="609600" y="3450000"/>
            <a:ext cx="10500000" cy="1500000"/>
          </a:xfrm>
          <a:prstGeom prst="rect">
            <a:avLst/>
          </a:prstGeom>
          <a:noFill/>
        </p:spPr>
        <p:txBody>
          <a:bodyPr wrap="square" anchor="t" lIns="45720" rIns="45720">
            <a:noAutofit/>
          </a:bodyPr>
          <a:lstStyle/>
          <a:p>
            <a:pPr algn="l"/>
            <a:r>
              <a:rPr lang="es-ES" sz="2000" dirty="0">
                <a:solidFill>
                  <a:srgbClr val="2F2B28"/>
                </a:solidFill>
              </a:rPr>
              <a:t>Qué es SEVEN-G, cómo se llena el embudo de iniciativas hasta el panel del consejo y cómo aplicarlo en sus clientes con su propia firma.</a:t>
            </a:r>
          </a:p>
        </p:txBody>
      </p:sp>
      <p:sp>
        <p:nvSpPr>
          <p:cNvPr id="5" name="Texto 5"/>
          <p:cNvSpPr txBox="1"/>
          <p:nvPr/>
        </p:nvSpPr>
        <p:spPr>
          <a:xfrm>
            <a:off x="609600" y="6150000"/>
            <a:ext cx="10972800" cy="450000"/>
          </a:xfrm>
          <a:prstGeom prst="rect">
            <a:avLst/>
          </a:prstGeom>
          <a:noFill/>
        </p:spPr>
        <p:txBody>
          <a:bodyPr wrap="square" anchor="t" lIns="45720" rIns="45720">
            <a:noAutofit/>
          </a:bodyPr>
          <a:lstStyle/>
          <a:p>
            <a:pPr algn="l"/>
            <a:r>
              <a:rPr lang="es-ES" sz="1400" dirty="0">
                <a:solidFill>
                  <a:srgbClr val="0F5499"/>
                </a:solidFill>
              </a:rPr>
              <a:t>Fernando García Varela · Curso de autoaprendizaje · CC BY 4.0 · Ejemplos con datos ficticios</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 name="Marca"/>
          <p:cNvSpPr/>
          <p:nvPr/>
        </p:nvSpPr>
        <p:spPr>
          <a:xfrm>
            <a:off x="609600" y="365760"/>
            <a:ext cx="182880" cy="182880"/>
          </a:xfrm>
          <a:prstGeom prst="rect">
            <a:avLst/>
          </a:prstGeom>
          <a:solidFill>
            <a:srgbClr val="990F3D"/>
          </a:solidFill>
        </p:spPr>
        <p:txBody>
          <a:bodyPr/>
          <a:lstStyle/>
          <a:p/>
        </p:txBody>
      </p:sp>
      <p:sp>
        <p:nvSpPr>
          <p:cNvPr id="11" name="Texto 1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2" name="Texto 1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problema que resuelve</a:t>
            </a:r>
          </a:p>
        </p:txBody>
      </p:sp>
      <p:sp>
        <p:nvSpPr>
          <p:cNvPr id="8" name="Texto 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Muchas compañías tienen pilotos de IA que funcionan, pero pocos llegan a producción.</a:t>
            </a:r>
          </a:p>
          <a:p>
            <a:pPr marL="285750" indent="-285750">
              <a:spcAft>
                <a:spcPts val="400"/>
              </a:spcAft>
              <a:buClr>
                <a:srgbClr val="990F3D"/>
              </a:buClr>
              <a:buFont typeface="Arial"/>
              <a:buChar char="•"/>
            </a:pPr>
            <a:r>
              <a:rPr lang="es-ES" sz="1800" dirty="0">
                <a:solidFill>
                  <a:srgbClr val="2F2B28"/>
                </a:solidFill>
              </a:rPr>
              <a:t>El valor se declara («liberamos 200 horas») y casi nadie lo comprueba.</a:t>
            </a:r>
          </a:p>
          <a:p>
            <a:pPr marL="285750" indent="-285750">
              <a:spcAft>
                <a:spcPts val="400"/>
              </a:spcAft>
              <a:buClr>
                <a:srgbClr val="990F3D"/>
              </a:buClr>
              <a:buFont typeface="Arial"/>
              <a:buChar char="•"/>
            </a:pPr>
            <a:r>
              <a:rPr lang="es-ES" sz="1800" dirty="0">
                <a:solidFill>
                  <a:srgbClr val="2F2B28"/>
                </a:solidFill>
              </a:rPr>
              <a:t>Nadie tiene autoridad clara para parar una iniciativa que no funciona.</a:t>
            </a:r>
          </a:p>
          <a:p>
            <a:pPr marL="285750" indent="-285750">
              <a:spcAft>
                <a:spcPts val="400"/>
              </a:spcAft>
              <a:buClr>
                <a:srgbClr val="990F3D"/>
              </a:buClr>
              <a:buFont typeface="Arial"/>
              <a:buChar char="•"/>
            </a:pPr>
            <a:r>
              <a:rPr lang="es-ES" sz="1800" dirty="0">
                <a:solidFill>
                  <a:srgbClr val="2F2B28"/>
                </a:solidFill>
              </a:rPr>
              <a:t>El consejo pregunta por la IA y recibe una lista de proyectos técnicos, no decisiones de negocio.</a:t>
            </a:r>
          </a:p>
          <a:p>
            <a:pPr marL="285750" indent="-285750">
              <a:spcAft>
                <a:spcPts val="400"/>
              </a:spcAft>
              <a:buClr>
                <a:srgbClr val="990F3D"/>
              </a:buClr>
              <a:buFont typeface="Arial"/>
              <a:buChar char="•"/>
            </a:pPr>
            <a:r>
              <a:rPr lang="es-ES" sz="1800" dirty="0">
                <a:solidFill>
                  <a:srgbClr val="2F2B28"/>
                </a:solidFill>
              </a:rPr>
              <a:t>¿La compañía se está transformando con IA, o solo es un poco más eficiente? Casi nadie puede contestarlo con evidencia.</a:t>
            </a:r>
          </a:p>
        </p:txBody>
      </p:sp>
      <p:sp>
        <p:nvSpPr>
          <p:cNvPr id="9" name="Texto 9"/>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No es un problema de tecnología: es un problema de gobierno y de medición.</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4" name="Marca"/>
          <p:cNvSpPr/>
          <p:nvPr/>
        </p:nvSpPr>
        <p:spPr>
          <a:xfrm>
            <a:off x="609600" y="365760"/>
            <a:ext cx="182880" cy="182880"/>
          </a:xfrm>
          <a:prstGeom prst="rect">
            <a:avLst/>
          </a:prstGeom>
          <a:solidFill>
            <a:srgbClr val="990F3D"/>
          </a:solidFill>
        </p:spPr>
        <p:txBody>
          <a:bodyPr/>
          <a:lstStyle/>
          <a:p/>
        </p:txBody>
      </p:sp>
      <p:sp>
        <p:nvSpPr>
          <p:cNvPr id="15" name="Texto 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6" name="Texto 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es SEVEN-G y qué aporta</a:t>
            </a:r>
          </a:p>
        </p:txBody>
      </p:sp>
      <p:sp>
        <p:nvSpPr>
          <p:cNvPr id="13" name="Texto 13"/>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Seven-phase Enterprise Value &amp; Governance: una fase 0 habilitante y siete fases de valor, con gobierno en todas.</a:t>
            </a:r>
          </a:p>
          <a:p>
            <a:pPr marL="285750" indent="-285750">
              <a:spcAft>
                <a:spcPts val="400"/>
              </a:spcAft>
              <a:buClr>
                <a:srgbClr val="990F3D"/>
              </a:buClr>
              <a:buFont typeface="Arial"/>
              <a:buChar char="•"/>
            </a:pPr>
            <a:r>
              <a:rPr lang="es-ES" sz="1800" dirty="0">
                <a:solidFill>
                  <a:srgbClr val="2F2B28"/>
                </a:solidFill>
              </a:rPr>
              <a:t>Ordena la IA como una cartera: cada iniciativa tiene fase, coste, valor esperado y responsable.</a:t>
            </a:r>
          </a:p>
          <a:p>
            <a:pPr marL="285750" indent="-285750">
              <a:spcAft>
                <a:spcPts val="400"/>
              </a:spcAft>
              <a:buClr>
                <a:srgbClr val="990F3D"/>
              </a:buClr>
              <a:buFont typeface="Arial"/>
              <a:buChar char="•"/>
            </a:pPr>
            <a:r>
              <a:rPr lang="es-ES" sz="1800" dirty="0">
                <a:solidFill>
                  <a:srgbClr val="2F2B28"/>
                </a:solidFill>
              </a:rPr>
              <a:t>Pone puertas de decisión entre las fases: sin evidencia verificada no se avanza.</a:t>
            </a:r>
          </a:p>
          <a:p>
            <a:pPr marL="285750" indent="-285750">
              <a:spcAft>
                <a:spcPts val="400"/>
              </a:spcAft>
              <a:buClr>
                <a:srgbClr val="990F3D"/>
              </a:buClr>
              <a:buFont typeface="Arial"/>
              <a:buChar char="•"/>
            </a:pPr>
            <a:r>
              <a:rPr lang="es-ES" sz="1800" dirty="0">
                <a:solidFill>
                  <a:srgbClr val="2F2B28"/>
                </a:solidFill>
              </a:rPr>
              <a:t>Separa quién decide, quién construye y quién controla, y traduce la regulación a fases, roles y evidencias.</a:t>
            </a:r>
          </a:p>
          <a:p>
            <a:pPr marL="285750" indent="-285750">
              <a:spcAft>
                <a:spcPts val="400"/>
              </a:spcAft>
              <a:buClr>
                <a:srgbClr val="990F3D"/>
              </a:buClr>
              <a:buFont typeface="Arial"/>
              <a:buChar char="•"/>
            </a:pPr>
            <a:r>
              <a:rPr lang="es-ES" sz="1800" dirty="0">
                <a:solidFill>
                  <a:srgbClr val="2F2B28"/>
                </a:solidFill>
              </a:rPr>
              <a:t>Mide el valor en dinero y con estado —validado, declarado o estimado— y se lo enseña al consejo en un panel.</a:t>
            </a:r>
          </a:p>
          <a:p>
            <a:pPr marL="285750" indent="-285750">
              <a:spcAft>
                <a:spcPts val="400"/>
              </a:spcAft>
              <a:buClr>
                <a:srgbClr val="990F3D"/>
              </a:buClr>
              <a:buFont typeface="Arial"/>
              <a:buChar char="•"/>
            </a:pPr>
            <a:r>
              <a:rPr lang="es-ES" sz="1800" dirty="0">
                <a:solidFill>
                  <a:srgbClr val="2F2B28"/>
                </a:solidFill>
              </a:rPr>
              <a:t>Es gratuito y modificable: documentos, plantillas en Word y herramientas, con licencia abierta.</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 name="Marca"/>
          <p:cNvSpPr/>
          <p:nvPr/>
        </p:nvSpPr>
        <p:spPr>
          <a:xfrm>
            <a:off x="609600" y="365760"/>
            <a:ext cx="182880" cy="182880"/>
          </a:xfrm>
          <a:prstGeom prst="rect">
            <a:avLst/>
          </a:prstGeom>
          <a:solidFill>
            <a:srgbClr val="990F3D"/>
          </a:solidFill>
        </p:spPr>
        <p:txBody>
          <a:bodyPr/>
          <a:lstStyle/>
          <a:p/>
        </p:txBody>
      </p:sp>
      <p:sp>
        <p:nvSpPr>
          <p:cNvPr id="19" name="Texto 1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0" name="Texto 2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Dos niveles: la compañía y cada iniciativa</a:t>
            </a:r>
          </a:p>
        </p:txBody>
      </p:sp>
      <p:sp>
        <p:nvSpPr>
          <p:cNvPr id="17" name="Texto 1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C1 · Diagnóstico: inventario, madurez en siete dimensiones e índice de transformación.</a:t>
            </a:r>
          </a:p>
          <a:p>
            <a:pPr marL="285750" indent="-285750">
              <a:spcAft>
                <a:spcPts val="400"/>
              </a:spcAft>
              <a:buClr>
                <a:srgbClr val="990F3D"/>
              </a:buClr>
              <a:buFont typeface="Arial"/>
              <a:buChar char="•"/>
            </a:pPr>
            <a:r>
              <a:rPr lang="es-ES" sz="1800" dirty="0">
                <a:solidFill>
                  <a:srgbClr val="2F2B28"/>
                </a:solidFill>
              </a:rPr>
              <a:t>C2 · Dirección: el consejo aprueba la tesis de IA, la ambición por esfera y el apetito de riesgo.</a:t>
            </a:r>
          </a:p>
          <a:p>
            <a:pPr marL="285750" indent="-285750">
              <a:spcAft>
                <a:spcPts val="400"/>
              </a:spcAft>
              <a:buClr>
                <a:srgbClr val="990F3D"/>
              </a:buClr>
              <a:buFont typeface="Arial"/>
              <a:buChar char="•"/>
            </a:pPr>
            <a:r>
              <a:rPr lang="es-ES" sz="1800" dirty="0">
                <a:solidFill>
                  <a:srgbClr val="2F2B28"/>
                </a:solidFill>
              </a:rPr>
              <a:t>C3 · Cartera: qué iniciativas se financian y en qué orden.</a:t>
            </a:r>
          </a:p>
          <a:p>
            <a:pPr marL="285750" indent="-285750">
              <a:spcAft>
                <a:spcPts val="400"/>
              </a:spcAft>
              <a:buClr>
                <a:srgbClr val="990F3D"/>
              </a:buClr>
              <a:buFont typeface="Arial"/>
              <a:buChar char="•"/>
            </a:pPr>
            <a:r>
              <a:rPr lang="es-ES" sz="1800" dirty="0">
                <a:solidFill>
                  <a:srgbClr val="2F2B28"/>
                </a:solidFill>
              </a:rPr>
              <a:t>C4 · Supervisión: panel del consejo y registro de decisiones y recomendaciones.</a:t>
            </a:r>
          </a:p>
          <a:p>
            <a:pPr marL="285750" indent="-285750">
              <a:spcAft>
                <a:spcPts val="400"/>
              </a:spcAft>
              <a:buClr>
                <a:srgbClr val="990F3D"/>
              </a:buClr>
              <a:buFont typeface="Arial"/>
              <a:buChar char="•"/>
            </a:pPr>
            <a:r>
              <a:rPr lang="es-ES" sz="1800" dirty="0">
                <a:solidFill>
                  <a:srgbClr val="2F2B28"/>
                </a:solidFill>
              </a:rPr>
              <a:t>C5 · Revisión anual: qué funcionó, qué no y qué cambia.</a:t>
            </a:r>
          </a:p>
          <a:p>
            <a:pPr marL="285750" indent="-285750">
              <a:spcAft>
                <a:spcPts val="400"/>
              </a:spcAft>
              <a:buClr>
                <a:srgbClr val="990F3D"/>
              </a:buClr>
              <a:buFont typeface="Arial"/>
              <a:buChar char="•"/>
            </a:pPr>
            <a:r>
              <a:rPr lang="es-ES" sz="1800" dirty="0">
                <a:solidFill>
                  <a:srgbClr val="2F2B28"/>
                </a:solidFill>
              </a:rPr>
              <a:t>Y, dentro de esa cartera, cada iniciativa recorre su propio ciclo de vida de ocho fases.</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42" name="Marca"/>
          <p:cNvSpPr/>
          <p:nvPr/>
        </p:nvSpPr>
        <p:spPr>
          <a:xfrm>
            <a:off x="609600" y="365760"/>
            <a:ext cx="182880" cy="182880"/>
          </a:xfrm>
          <a:prstGeom prst="rect">
            <a:avLst/>
          </a:prstGeom>
          <a:solidFill>
            <a:srgbClr val="990F3D"/>
          </a:solidFill>
        </p:spPr>
        <p:txBody>
          <a:bodyPr/>
          <a:lstStyle/>
          <a:p/>
        </p:txBody>
      </p:sp>
      <p:sp>
        <p:nvSpPr>
          <p:cNvPr id="43" name="Texto 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44" name="Texto 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ciclo de vida de una iniciativa</a:t>
            </a:r>
          </a:p>
        </p:txBody>
      </p:sp>
      <p:sp>
        <p:nvSpPr>
          <p:cNvPr id="45" name="Texto 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Ocho fases con una puerta de decisión al final de cada una; debajo, la etapa del embudo en la que se ve cada fase</a:t>
            </a:r>
          </a:p>
        </p:txBody>
      </p:sp>
      <p:sp>
        <p:nvSpPr>
          <p:cNvPr id="21" name="Caja 21"/>
          <p:cNvSpPr/>
          <p:nvPr/>
        </p:nvSpPr>
        <p:spPr>
          <a:xfrm>
            <a:off x="681000" y="2350000"/>
            <a:ext cx="1240000" cy="1500000"/>
          </a:xfrm>
          <a:prstGeom prst="roundRect">
            <a:avLst>
              <a:gd name="adj" fmla="val 6000"/>
            </a:avLst>
          </a:prstGeom>
          <a:solidFill>
            <a:srgbClr val="564D47"/>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22" name="Texto 2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23" name="Caja 23"/>
          <p:cNvSpPr/>
          <p:nvPr/>
        </p:nvSpPr>
        <p:spPr>
          <a:xfrm>
            <a:off x="205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24" name="Texto 2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25" name="Caja 25"/>
          <p:cNvSpPr/>
          <p:nvPr/>
        </p:nvSpPr>
        <p:spPr>
          <a:xfrm>
            <a:off x="342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26" name="Texto 2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27" name="Caja 27"/>
          <p:cNvSpPr/>
          <p:nvPr/>
        </p:nvSpPr>
        <p:spPr>
          <a:xfrm>
            <a:off x="479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28" name="Texto 2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29" name="Caja 29"/>
          <p:cNvSpPr/>
          <p:nvPr/>
        </p:nvSpPr>
        <p:spPr>
          <a:xfrm>
            <a:off x="616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Diseño de la solución</a:t>
            </a:r>
          </a:p>
        </p:txBody>
      </p:sp>
      <p:sp>
        <p:nvSpPr>
          <p:cNvPr id="30" name="Texto 3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31" name="Caja 31"/>
          <p:cNvSpPr/>
          <p:nvPr/>
        </p:nvSpPr>
        <p:spPr>
          <a:xfrm>
            <a:off x="753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Entrega y validación</a:t>
            </a:r>
          </a:p>
        </p:txBody>
      </p:sp>
      <p:sp>
        <p:nvSpPr>
          <p:cNvPr id="32" name="Texto 3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33" name="Caja 33"/>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Operación y gobierno</a:t>
            </a:r>
          </a:p>
        </p:txBody>
      </p:sp>
      <p:sp>
        <p:nvSpPr>
          <p:cNvPr id="34" name="Texto 3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35" name="Caja 35"/>
          <p:cNvSpPr/>
          <p:nvPr/>
        </p:nvSpPr>
        <p:spPr>
          <a:xfrm>
            <a:off x="1027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F7</a:t>
            </a:r>
          </a:p>
          <a:p>
            <a:pPr algn="ctr"/>
            <a:r>
              <a:rPr lang="es-ES" sz="1050" dirty="0">
                <a:solidFill>
                  <a:srgbClr val="FFFFFF"/>
                </a:solidFill>
              </a:rPr>
              <a:t>Evolución o retirada</a:t>
            </a:r>
          </a:p>
        </p:txBody>
      </p:sp>
      <p:sp>
        <p:nvSpPr>
          <p:cNvPr id="36" name="Texto 3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37" name="Caja 37"/>
          <p:cNvSpPr/>
          <p:nvPr/>
        </p:nvSpPr>
        <p:spPr>
          <a:xfrm>
            <a:off x="681000" y="4330000"/>
            <a:ext cx="2610000" cy="520000"/>
          </a:xfrm>
          <a:prstGeom prst="roundRect">
            <a:avLst>
              <a:gd name="adj" fmla="val 6000"/>
            </a:avLst>
          </a:prstGeom>
          <a:solidFill>
            <a:srgbClr val="593380"/>
          </a:solidFill>
          <a:ln>
            <a:noFill/>
          </a:ln>
        </p:spPr>
        <p:txBody>
          <a:bodyPr wrap="square" anchor="ctr" lIns="45720" rIns="45720">
            <a:noAutofit/>
          </a:bodyPr>
          <a:lstStyle/>
          <a:p>
            <a:pPr algn="ctr"/>
            <a:r>
              <a:rPr lang="es-ES" sz="1300" b="1" dirty="0">
                <a:solidFill>
                  <a:srgbClr val="FFFFFF"/>
                </a:solidFill>
              </a:rPr>
              <a:t>Propuesto</a:t>
            </a:r>
          </a:p>
        </p:txBody>
      </p:sp>
      <p:sp>
        <p:nvSpPr>
          <p:cNvPr id="38" name="Caja 38"/>
          <p:cNvSpPr/>
          <p:nvPr/>
        </p:nvSpPr>
        <p:spPr>
          <a:xfrm>
            <a:off x="3421000" y="4330000"/>
            <a:ext cx="1240000" cy="520000"/>
          </a:xfrm>
          <a:prstGeom prst="roundRect">
            <a:avLst>
              <a:gd name="adj" fmla="val 6000"/>
            </a:avLst>
          </a:prstGeom>
          <a:solidFill>
            <a:srgbClr val="0F5499"/>
          </a:solidFill>
          <a:ln>
            <a:noFill/>
          </a:ln>
        </p:spPr>
        <p:txBody>
          <a:bodyPr wrap="square" anchor="ctr" lIns="45720" rIns="45720">
            <a:noAutofit/>
          </a:bodyPr>
          <a:lstStyle/>
          <a:p>
            <a:pPr algn="ctr"/>
            <a:r>
              <a:rPr lang="es-ES" sz="1300" b="1" dirty="0">
                <a:solidFill>
                  <a:srgbClr val="FFFFFF"/>
                </a:solidFill>
              </a:rPr>
              <a:t>Hipótesis de valor</a:t>
            </a:r>
          </a:p>
        </p:txBody>
      </p:sp>
      <p:sp>
        <p:nvSpPr>
          <p:cNvPr id="39" name="Caja 39"/>
          <p:cNvSpPr/>
          <p:nvPr/>
        </p:nvSpPr>
        <p:spPr>
          <a:xfrm>
            <a:off x="4791000" y="4330000"/>
            <a:ext cx="1240000" cy="520000"/>
          </a:xfrm>
          <a:prstGeom prst="roundRect">
            <a:avLst>
              <a:gd name="adj" fmla="val 6000"/>
            </a:avLst>
          </a:prstGeom>
          <a:solidFill>
            <a:srgbClr val="A5822A"/>
          </a:solidFill>
          <a:ln>
            <a:noFill/>
          </a:ln>
        </p:spPr>
        <p:txBody>
          <a:bodyPr wrap="square" anchor="ctr" lIns="45720" rIns="45720">
            <a:noAutofit/>
          </a:bodyPr>
          <a:lstStyle/>
          <a:p>
            <a:pPr algn="ctr"/>
            <a:r>
              <a:rPr lang="es-ES" sz="1300" b="1" dirty="0">
                <a:solidFill>
                  <a:srgbClr val="FFFFFF"/>
                </a:solidFill>
              </a:rPr>
              <a:t>Prueba de concepto</a:t>
            </a:r>
          </a:p>
        </p:txBody>
      </p:sp>
      <p:sp>
        <p:nvSpPr>
          <p:cNvPr id="40" name="Caja 40"/>
          <p:cNvSpPr/>
          <p:nvPr/>
        </p:nvSpPr>
        <p:spPr>
          <a:xfrm>
            <a:off x="6161000" y="4330000"/>
            <a:ext cx="2610000" cy="520000"/>
          </a:xfrm>
          <a:prstGeom prst="roundRect">
            <a:avLst>
              <a:gd name="adj" fmla="val 6000"/>
            </a:avLst>
          </a:prstGeom>
          <a:solidFill>
            <a:srgbClr val="1A1817"/>
          </a:solidFill>
          <a:ln>
            <a:noFill/>
          </a:ln>
        </p:spPr>
        <p:txBody>
          <a:bodyPr wrap="square" anchor="ctr" lIns="45720" rIns="45720">
            <a:noAutofit/>
          </a:bodyPr>
          <a:lstStyle/>
          <a:p>
            <a:pPr algn="ctr"/>
            <a:r>
              <a:rPr lang="es-ES" sz="1300" b="1" dirty="0">
                <a:solidFill>
                  <a:srgbClr val="FFFFFF"/>
                </a:solidFill>
              </a:rPr>
              <a:t>En desarrollo</a:t>
            </a:r>
          </a:p>
        </p:txBody>
      </p:sp>
      <p:sp>
        <p:nvSpPr>
          <p:cNvPr id="41" name="Caja 41"/>
          <p:cNvSpPr/>
          <p:nvPr/>
        </p:nvSpPr>
        <p:spPr>
          <a:xfrm>
            <a:off x="8901000" y="4330000"/>
            <a:ext cx="2610000" cy="520000"/>
          </a:xfrm>
          <a:prstGeom prst="roundRect">
            <a:avLst>
              <a:gd name="adj" fmla="val 6000"/>
            </a:avLst>
          </a:prstGeom>
          <a:solidFill>
            <a:srgbClr val="2E7D32"/>
          </a:solidFill>
          <a:ln>
            <a:noFill/>
          </a:ln>
        </p:spPr>
        <p:txBody>
          <a:bodyPr wrap="square" anchor="ctr" lIns="45720" rIns="45720">
            <a:noAutofit/>
          </a:bodyPr>
          <a:lstStyle/>
          <a:p>
            <a:pPr algn="ctr"/>
            <a:r>
              <a:rPr lang="es-ES" sz="1300" b="1" dirty="0">
                <a:solidFill>
                  <a:srgbClr val="FFFFFF"/>
                </a:solidFill>
              </a:rPr>
              <a:t>En uso</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2" name="Marca"/>
          <p:cNvSpPr/>
          <p:nvPr/>
        </p:nvSpPr>
        <p:spPr>
          <a:xfrm>
            <a:off x="609600" y="365760"/>
            <a:ext cx="182880" cy="182880"/>
          </a:xfrm>
          <a:prstGeom prst="rect">
            <a:avLst/>
          </a:prstGeom>
          <a:solidFill>
            <a:srgbClr val="990F3D"/>
          </a:solidFill>
        </p:spPr>
        <p:txBody>
          <a:bodyPr/>
          <a:lstStyle/>
          <a:p/>
        </p:txBody>
      </p:sp>
      <p:sp>
        <p:nvSpPr>
          <p:cNvPr id="63" name="Texto 6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64" name="Texto 6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puede pasar en cada puerta</a:t>
            </a:r>
          </a:p>
        </p:txBody>
      </p:sp>
      <p:sp>
        <p:nvSpPr>
          <p:cNvPr id="65" name="Texto 6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Cinco resultados; quien aporta la evidencia nunca es quien verifica ni quien decide</a:t>
            </a:r>
          </a:p>
        </p:txBody>
      </p:sp>
      <p:sp>
        <p:nvSpPr>
          <p:cNvPr id="46" name="Caja 46"/>
          <p:cNvSpPr/>
          <p:nvPr/>
        </p:nvSpPr>
        <p:spPr>
          <a:xfrm>
            <a:off x="60960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Continuar</a:t>
            </a:r>
          </a:p>
        </p:txBody>
      </p:sp>
      <p:sp>
        <p:nvSpPr>
          <p:cNvPr id="47" name="Caja 47"/>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48" name="Texto 48"/>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Se cumplen todos los criterios y las evidencias están verificadas: pasa a la fase siguiente.</a:t>
            </a:r>
          </a:p>
        </p:txBody>
      </p:sp>
      <p:sp>
        <p:nvSpPr>
          <p:cNvPr id="49" name="Caja 49"/>
          <p:cNvSpPr/>
          <p:nvPr/>
        </p:nvSpPr>
        <p:spPr>
          <a:xfrm>
            <a:off x="282816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Con condiciones</a:t>
            </a:r>
          </a:p>
        </p:txBody>
      </p:sp>
      <p:sp>
        <p:nvSpPr>
          <p:cNvPr id="50" name="Caja 50"/>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1" name="Texto 51"/>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Pasa, con plazo y responsable para lo pendiente. Nunca para controles críticos de seguridad, legales o de supervisión humana.</a:t>
            </a:r>
          </a:p>
        </p:txBody>
      </p:sp>
      <p:sp>
        <p:nvSpPr>
          <p:cNvPr id="52" name="Caja 52"/>
          <p:cNvSpPr/>
          <p:nvPr/>
        </p:nvSpPr>
        <p:spPr>
          <a:xfrm>
            <a:off x="504672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Iterar</a:t>
            </a:r>
          </a:p>
        </p:txBody>
      </p:sp>
      <p:sp>
        <p:nvSpPr>
          <p:cNvPr id="53" name="Caja 53"/>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4" name="Texto 54"/>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Se repite la fase con un ajuste concreto y se vuelve a la misma puerta. A la tercera, decide el órgano superior.</a:t>
            </a:r>
          </a:p>
        </p:txBody>
      </p:sp>
      <p:sp>
        <p:nvSpPr>
          <p:cNvPr id="55" name="Caja 55"/>
          <p:cNvSpPr/>
          <p:nvPr/>
        </p:nvSpPr>
        <p:spPr>
          <a:xfrm>
            <a:off x="726528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Pivotar</a:t>
            </a:r>
          </a:p>
        </p:txBody>
      </p:sp>
      <p:sp>
        <p:nvSpPr>
          <p:cNvPr id="56" name="Caja 56"/>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7" name="Texto 57"/>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La hipótesis no se sostiene pero hay otra razonable: vuelve a la fase 2. Solo en G1, G2 y G3.</a:t>
            </a:r>
          </a:p>
        </p:txBody>
      </p:sp>
      <p:sp>
        <p:nvSpPr>
          <p:cNvPr id="58" name="Caja 58"/>
          <p:cNvSpPr/>
          <p:nvPr/>
        </p:nvSpPr>
        <p:spPr>
          <a:xfrm>
            <a:off x="948384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Parar</a:t>
            </a:r>
          </a:p>
        </p:txBody>
      </p:sp>
      <p:sp>
        <p:nvSpPr>
          <p:cNvPr id="59" name="Caja 59"/>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60" name="Texto 60"/>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No hay valor plausible o el riesgo es inaceptable. Se registran el motivo y lo aprendido. Es un buen resultado.</a:t>
            </a:r>
          </a:p>
        </p:txBody>
      </p:sp>
      <p:sp>
        <p:nvSpPr>
          <p:cNvPr id="61" name="Texto 6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En G7 los resultados son Escalar, Iterar o Retirar.</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66" name="Marca"/>
          <p:cNvSpPr/>
          <p:nvPr/>
        </p:nvSpPr>
        <p:spPr>
          <a:xfrm>
            <a:off x="609600" y="2400000"/>
            <a:ext cx="182880" cy="182880"/>
          </a:xfrm>
          <a:prstGeom prst="rect">
            <a:avLst/>
          </a:prstGeom>
          <a:solidFill>
            <a:srgbClr val="990F3D"/>
          </a:solidFill>
        </p:spPr>
        <p:txBody>
          <a:bodyPr/>
          <a:lstStyle/>
          <a:p/>
        </p:txBody>
      </p:sp>
      <p:sp>
        <p:nvSpPr>
          <p:cNvPr id="67" name="Texto 67"/>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DEL DOCUMENTO AL PANEL</a:t>
            </a:r>
          </a:p>
        </p:txBody>
      </p:sp>
      <p:sp>
        <p:nvSpPr>
          <p:cNvPr id="68" name="Texto 68"/>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Cómo se llena el embudo</a:t>
            </a:r>
          </a:p>
        </p:txBody>
      </p:sp>
      <p:sp>
        <p:nvSpPr>
          <p:cNvPr id="69" name="Texto 69"/>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Nadie dibuja el embudo ni el panel: salen solos de lo que se rellena y se decide en cada fase. Este es el recorrido.</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87" name="Marca"/>
          <p:cNvSpPr/>
          <p:nvPr/>
        </p:nvSpPr>
        <p:spPr>
          <a:xfrm>
            <a:off x="609600" y="365760"/>
            <a:ext cx="182880" cy="182880"/>
          </a:xfrm>
          <a:prstGeom prst="rect">
            <a:avLst/>
          </a:prstGeom>
          <a:solidFill>
            <a:srgbClr val="990F3D"/>
          </a:solidFill>
        </p:spPr>
        <p:txBody>
          <a:bodyPr/>
          <a:lstStyle/>
          <a:p/>
        </p:txBody>
      </p:sp>
      <p:sp>
        <p:nvSpPr>
          <p:cNvPr id="88" name="Texto 8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89" name="Texto 8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Fases 0 a 3: de la idea a la prueba de concepto</a:t>
            </a:r>
          </a:p>
        </p:txBody>
      </p:sp>
      <p:sp>
        <p:nvSpPr>
          <p:cNvPr id="90" name="Texto 9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Qué se hace, qué plantillas se rellenan y qué puerta cierra cada fase</a:t>
            </a:r>
          </a:p>
        </p:txBody>
      </p:sp>
      <p:sp>
        <p:nvSpPr>
          <p:cNvPr id="70" name="Caja 70"/>
          <p:cNvSpPr/>
          <p:nvPr/>
        </p:nvSpPr>
        <p:spPr>
          <a:xfrm>
            <a:off x="609600" y="1900000"/>
            <a:ext cx="2645700" cy="700000"/>
          </a:xfrm>
          <a:prstGeom prst="roundRect">
            <a:avLst>
              <a:gd name="adj" fmla="val 6000"/>
            </a:avLst>
          </a:prstGeom>
          <a:solidFill>
            <a:srgbClr val="564D47"/>
          </a:solidFill>
          <a:ln>
            <a:noFill/>
          </a:ln>
        </p:spPr>
        <p:txBody>
          <a:bodyPr wrap="square" anchor="ctr" lIns="45720" rIns="45720">
            <a:noAutofit/>
          </a:bodyPr>
          <a:lstStyle/>
          <a:p>
            <a:pPr algn="ctr"/>
            <a:r>
              <a:rPr lang="es-ES" sz="1700" b="1" dirty="0">
                <a:solidFill>
                  <a:srgbClr val="FFFFFF"/>
                </a:solidFill>
              </a:rPr>
              <a:t>F0</a:t>
            </a:r>
          </a:p>
          <a:p>
            <a:pPr algn="ctr"/>
            <a:r>
              <a:rPr lang="es-ES" sz="1150" dirty="0">
                <a:solidFill>
                  <a:srgbClr val="FFFFFF"/>
                </a:solidFill>
              </a:rPr>
              <a:t>Contexto y restricciones</a:t>
            </a:r>
          </a:p>
        </p:txBody>
      </p:sp>
      <p:sp>
        <p:nvSpPr>
          <p:cNvPr id="71" name="Caja 71"/>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2" name="Texto 72"/>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autoriza la idea: patrocinador, responsable, alcance, restricciones e intensidad (Lite o Enterprise).</a:t>
            </a:r>
          </a:p>
          <a:p>
            <a:pPr algn="l">
              <a:spcAft>
                <a:spcPts val="500"/>
              </a:spcAft>
            </a:pPr>
            <a:r>
              <a:rPr lang="es-ES" sz="1150" b="1" dirty="0">
                <a:solidFill>
                  <a:srgbClr val="1A1817"/>
                </a:solidFill>
              </a:rPr>
              <a:t>Se rellena. </a:t>
            </a:r>
            <a:r>
              <a:rPr lang="es-ES" sz="1150" dirty="0">
                <a:solidFill>
                  <a:srgbClr val="2F2B28"/>
                </a:solidFill>
              </a:rPr>
              <a:t>P01 Carta de la iniciativa · P02 Contexto y restricciones · P03 Roles · P04 Intensidad · P05 Alta en el inventario.</a:t>
            </a:r>
          </a:p>
        </p:txBody>
      </p:sp>
      <p:sp>
        <p:nvSpPr>
          <p:cNvPr id="73" name="Caja 73"/>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G0 → entra en «Propuesto»</a:t>
            </a:r>
          </a:p>
        </p:txBody>
      </p:sp>
      <p:sp>
        <p:nvSpPr>
          <p:cNvPr id="74" name="Caja 74"/>
          <p:cNvSpPr/>
          <p:nvPr/>
        </p:nvSpPr>
        <p:spPr>
          <a:xfrm>
            <a:off x="33853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F1</a:t>
            </a:r>
          </a:p>
          <a:p>
            <a:pPr algn="ctr"/>
            <a:r>
              <a:rPr lang="es-ES" sz="1150" dirty="0">
                <a:solidFill>
                  <a:srgbClr val="FFFFFF"/>
                </a:solidFill>
              </a:rPr>
              <a:t>Descubrimiento</a:t>
            </a:r>
          </a:p>
        </p:txBody>
      </p:sp>
      <p:sp>
        <p:nvSpPr>
          <p:cNvPr id="75" name="Caja 75"/>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6" name="Texto 76"/>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comparan oportunidades, también alternativas sin IA, y se propone esfera y nivel de ambición.</a:t>
            </a:r>
          </a:p>
          <a:p>
            <a:pPr algn="l">
              <a:spcAft>
                <a:spcPts val="500"/>
              </a:spcAft>
            </a:pPr>
            <a:r>
              <a:rPr lang="es-ES" sz="1150" b="1" dirty="0">
                <a:solidFill>
                  <a:srgbClr val="1A1817"/>
                </a:solidFill>
              </a:rPr>
              <a:t>Se rellena. </a:t>
            </a:r>
            <a:r>
              <a:rPr lang="es-ES" sz="1150" dirty="0">
                <a:solidFill>
                  <a:srgbClr val="2F2B28"/>
                </a:solidFill>
              </a:rPr>
              <a:t>P06 Cartera de oportunidades y filtrado · P07 Esfera y ambición · P31 Ficha de caso de uso.</a:t>
            </a:r>
          </a:p>
        </p:txBody>
      </p:sp>
      <p:sp>
        <p:nvSpPr>
          <p:cNvPr id="77" name="Caja 77"/>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G1 → sigue en «Propuesto»</a:t>
            </a:r>
          </a:p>
        </p:txBody>
      </p:sp>
      <p:sp>
        <p:nvSpPr>
          <p:cNvPr id="78" name="Caja 78"/>
          <p:cNvSpPr/>
          <p:nvPr/>
        </p:nvSpPr>
        <p:spPr>
          <a:xfrm>
            <a:off x="61610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F2</a:t>
            </a:r>
          </a:p>
          <a:p>
            <a:pPr algn="ctr"/>
            <a:r>
              <a:rPr lang="es-ES" sz="1150" dirty="0">
                <a:solidFill>
                  <a:srgbClr val="FFFFFF"/>
                </a:solidFill>
              </a:rPr>
              <a:t>Hipótesis de valor</a:t>
            </a:r>
          </a:p>
        </p:txBody>
      </p:sp>
      <p:sp>
        <p:nvSpPr>
          <p:cNvPr id="79" name="Caja 79"/>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0" name="Texto 80"/>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Hipótesis falsable en dinero, con línea base, método de atribución y criterios de parada fijados antes de empezar.</a:t>
            </a:r>
          </a:p>
          <a:p>
            <a:pPr algn="l">
              <a:spcAft>
                <a:spcPts val="500"/>
              </a:spcAft>
            </a:pPr>
            <a:r>
              <a:rPr lang="es-ES" sz="1150" b="1" dirty="0">
                <a:solidFill>
                  <a:srgbClr val="1A1817"/>
                </a:solidFill>
              </a:rPr>
              <a:t>Se rellena. </a:t>
            </a:r>
            <a:r>
              <a:rPr lang="es-ES" sz="1150" dirty="0">
                <a:solidFill>
                  <a:srgbClr val="2F2B28"/>
                </a:solidFill>
              </a:rPr>
              <a:t>P08 Lienzo de hipótesis de valor · P09 Línea base. Apoyo: calculadora T11.</a:t>
            </a:r>
          </a:p>
        </p:txBody>
      </p:sp>
      <p:sp>
        <p:nvSpPr>
          <p:cNvPr id="81" name="Caja 81"/>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G2 → «Hipótesis de valor»</a:t>
            </a:r>
          </a:p>
        </p:txBody>
      </p:sp>
      <p:sp>
        <p:nvSpPr>
          <p:cNvPr id="82" name="Caja 82"/>
          <p:cNvSpPr/>
          <p:nvPr/>
        </p:nvSpPr>
        <p:spPr>
          <a:xfrm>
            <a:off x="89367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F3</a:t>
            </a:r>
          </a:p>
          <a:p>
            <a:pPr algn="ctr"/>
            <a:r>
              <a:rPr lang="es-ES" sz="1150" dirty="0">
                <a:solidFill>
                  <a:srgbClr val="FFFFFF"/>
                </a:solidFill>
              </a:rPr>
              <a:t>Viabilidad y riesgo</a:t>
            </a:r>
          </a:p>
        </p:txBody>
      </p:sp>
      <p:sp>
        <p:nvSpPr>
          <p:cNvPr id="83" name="Caja 83"/>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4" name="Texto 84"/>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Prueba de concepto: viabilidad, clasificación regulatoria, riesgos y proveedores. Es la principal puerta de parada.</a:t>
            </a:r>
          </a:p>
          <a:p>
            <a:pPr algn="l">
              <a:spcAft>
                <a:spcPts val="500"/>
              </a:spcAft>
            </a:pPr>
            <a:r>
              <a:rPr lang="es-ES" sz="1150" b="1" dirty="0">
                <a:solidFill>
                  <a:srgbClr val="1A1817"/>
                </a:solidFill>
              </a:rPr>
              <a:t>Se rellena. </a:t>
            </a:r>
            <a:r>
              <a:rPr lang="es-ES" sz="1150" dirty="0">
                <a:solidFill>
                  <a:srgbClr val="2F2B28"/>
                </a:solidFill>
              </a:rPr>
              <a:t>P10 Viabilidad · P11 Clasificación regulatoria e impacto · P12 Riesgos · P13 Mitigación · P14 Proveedor.</a:t>
            </a:r>
          </a:p>
        </p:txBody>
      </p:sp>
      <p:sp>
        <p:nvSpPr>
          <p:cNvPr id="85" name="Caja 85"/>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G3 → «Prueba de concepto»</a:t>
            </a:r>
          </a:p>
        </p:txBody>
      </p:sp>
      <p:sp>
        <p:nvSpPr>
          <p:cNvPr id="86" name="Texto 8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Cada decisión de puerta se deja en P29 y en el registro T01, con el estado de cada criterio y su evidencia.</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8" name="Marca"/>
          <p:cNvSpPr/>
          <p:nvPr/>
        </p:nvSpPr>
        <p:spPr>
          <a:xfrm>
            <a:off x="609600" y="365760"/>
            <a:ext cx="182880" cy="182880"/>
          </a:xfrm>
          <a:prstGeom prst="rect">
            <a:avLst/>
          </a:prstGeom>
          <a:solidFill>
            <a:srgbClr val="990F3D"/>
          </a:solidFill>
        </p:spPr>
        <p:txBody>
          <a:bodyPr/>
          <a:lstStyle/>
          <a:p/>
        </p:txBody>
      </p:sp>
      <p:sp>
        <p:nvSpPr>
          <p:cNvPr id="109" name="Texto 10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10" name="Texto 11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Fases 4 a 7: del diseño a la producción y la retirada</a:t>
            </a:r>
          </a:p>
        </p:txBody>
      </p:sp>
      <p:sp>
        <p:nvSpPr>
          <p:cNvPr id="111" name="Texto 11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La puesta en producción no cierra el ciclo: abre la operación, con revisiones periódicas</a:t>
            </a:r>
          </a:p>
        </p:txBody>
      </p:sp>
      <p:sp>
        <p:nvSpPr>
          <p:cNvPr id="91" name="Caja 91"/>
          <p:cNvSpPr/>
          <p:nvPr/>
        </p:nvSpPr>
        <p:spPr>
          <a:xfrm>
            <a:off x="6096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F4</a:t>
            </a:r>
          </a:p>
          <a:p>
            <a:pPr algn="ctr"/>
            <a:r>
              <a:rPr lang="es-ES" sz="1150" dirty="0">
                <a:solidFill>
                  <a:srgbClr val="FFFFFF"/>
                </a:solidFill>
              </a:rPr>
              <a:t>Diseño de la solución</a:t>
            </a:r>
          </a:p>
        </p:txBody>
      </p:sp>
      <p:sp>
        <p:nvSpPr>
          <p:cNvPr id="92" name="Caja 92"/>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3" name="Texto 93"/>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Antes de construir: arquitectura, linaje de datos y modelos, supervisión humana, seguridad, reversión y adopción.</a:t>
            </a:r>
          </a:p>
          <a:p>
            <a:pPr algn="l">
              <a:spcAft>
                <a:spcPts val="500"/>
              </a:spcAft>
            </a:pPr>
            <a:r>
              <a:rPr lang="es-ES" sz="1150" b="1" dirty="0">
                <a:solidFill>
                  <a:srgbClr val="1A1817"/>
                </a:solidFill>
              </a:rPr>
              <a:t>Se rellena. </a:t>
            </a:r>
            <a:r>
              <a:rPr lang="es-ES" sz="1150" dirty="0">
                <a:solidFill>
                  <a:srgbClr val="2F2B28"/>
                </a:solidFill>
              </a:rPr>
              <a:t>P15 Arquitectura · P16 Linaje · P17 Supervisión humana · P18 Seguridad · P19 Reversión · P20 Adopción.</a:t>
            </a:r>
          </a:p>
        </p:txBody>
      </p:sp>
      <p:sp>
        <p:nvSpPr>
          <p:cNvPr id="94" name="Caja 94"/>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G4 → «En desarrollo»</a:t>
            </a:r>
          </a:p>
        </p:txBody>
      </p:sp>
      <p:sp>
        <p:nvSpPr>
          <p:cNvPr id="95" name="Caja 95"/>
          <p:cNvSpPr/>
          <p:nvPr/>
        </p:nvSpPr>
        <p:spPr>
          <a:xfrm>
            <a:off x="33853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F5</a:t>
            </a:r>
          </a:p>
          <a:p>
            <a:pPr algn="ctr"/>
            <a:r>
              <a:rPr lang="es-ES" sz="1150" dirty="0">
                <a:solidFill>
                  <a:srgbClr val="FFFFFF"/>
                </a:solidFill>
              </a:rPr>
              <a:t>Entrega y validación</a:t>
            </a:r>
          </a:p>
        </p:txBody>
      </p:sp>
      <p:sp>
        <p:nvSpPr>
          <p:cNvPr id="96" name="Caja 96"/>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7" name="Texto 97"/>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construye, se valida y se pilota; se prueba la reversión y se firma la puesta en producción.</a:t>
            </a:r>
          </a:p>
          <a:p>
            <a:pPr algn="l">
              <a:spcAft>
                <a:spcPts val="500"/>
              </a:spcAft>
            </a:pPr>
            <a:r>
              <a:rPr lang="es-ES" sz="1150" b="1" dirty="0">
                <a:solidFill>
                  <a:srgbClr val="1A1817"/>
                </a:solidFill>
              </a:rPr>
              <a:t>Se rellena. </a:t>
            </a:r>
            <a:r>
              <a:rPr lang="es-ES" sz="1150" dirty="0">
                <a:solidFill>
                  <a:srgbClr val="2F2B28"/>
                </a:solidFill>
              </a:rPr>
              <a:t>P21 Informe de entrega · P22 Validación y piloto · P23 Firma de puesta en producción · P12 actualizado.</a:t>
            </a:r>
          </a:p>
        </p:txBody>
      </p:sp>
      <p:sp>
        <p:nvSpPr>
          <p:cNvPr id="98" name="Caja 98"/>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G5 → pasa a «En uso»</a:t>
            </a:r>
          </a:p>
        </p:txBody>
      </p:sp>
      <p:sp>
        <p:nvSpPr>
          <p:cNvPr id="99" name="Caja 99"/>
          <p:cNvSpPr/>
          <p:nvPr/>
        </p:nvSpPr>
        <p:spPr>
          <a:xfrm>
            <a:off x="61610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F6</a:t>
            </a:r>
          </a:p>
          <a:p>
            <a:pPr algn="ctr"/>
            <a:r>
              <a:rPr lang="es-ES" sz="1150" dirty="0">
                <a:solidFill>
                  <a:srgbClr val="FFFFFF"/>
                </a:solidFill>
              </a:rPr>
              <a:t>Operación y gobierno</a:t>
            </a:r>
          </a:p>
        </p:txBody>
      </p:sp>
      <p:sp>
        <p:nvSpPr>
          <p:cNvPr id="100" name="Caja 100"/>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1" name="Texto 101"/>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Monitorización, incidentes, cambios y seguimiento del valor realizado, con revisión de continuidad periódica.</a:t>
            </a:r>
          </a:p>
          <a:p>
            <a:pPr algn="l">
              <a:spcAft>
                <a:spcPts val="500"/>
              </a:spcAft>
            </a:pPr>
            <a:r>
              <a:rPr lang="es-ES" sz="1150" b="1" dirty="0">
                <a:solidFill>
                  <a:srgbClr val="1A1817"/>
                </a:solidFill>
              </a:rPr>
              <a:t>Se rellena. </a:t>
            </a:r>
            <a:r>
              <a:rPr lang="es-ES" sz="1150" dirty="0">
                <a:solidFill>
                  <a:srgbClr val="2F2B28"/>
                </a:solidFill>
              </a:rPr>
              <a:t>P24 Manual de operación · P25 Monitorización · P26 y P27 Incidentes y cambios · P28 Valor · P65 Paquete R6.</a:t>
            </a:r>
          </a:p>
        </p:txBody>
      </p:sp>
      <p:sp>
        <p:nvSpPr>
          <p:cNvPr id="102" name="Caja 102"/>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R6 → sigue «En uso» o adelanta G7</a:t>
            </a:r>
          </a:p>
        </p:txBody>
      </p:sp>
      <p:sp>
        <p:nvSpPr>
          <p:cNvPr id="103" name="Caja 103"/>
          <p:cNvSpPr/>
          <p:nvPr/>
        </p:nvSpPr>
        <p:spPr>
          <a:xfrm>
            <a:off x="89367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F7</a:t>
            </a:r>
          </a:p>
          <a:p>
            <a:pPr algn="ctr"/>
            <a:r>
              <a:rPr lang="es-ES" sz="1150" dirty="0">
                <a:solidFill>
                  <a:srgbClr val="FFFFFF"/>
                </a:solidFill>
              </a:rPr>
              <a:t>Evolución o retirada</a:t>
            </a:r>
          </a:p>
        </p:txBody>
      </p:sp>
      <p:sp>
        <p:nvSpPr>
          <p:cNvPr id="104" name="Caja 104"/>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5" name="Texto 105"/>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Con el valor realizado delante se decide escalar, iterar o retirar, y se registran las lecciones.</a:t>
            </a:r>
          </a:p>
          <a:p>
            <a:pPr algn="l">
              <a:spcAft>
                <a:spcPts val="500"/>
              </a:spcAft>
            </a:pPr>
            <a:r>
              <a:rPr lang="es-ES" sz="1150" b="1" dirty="0">
                <a:solidFill>
                  <a:srgbClr val="1A1817"/>
                </a:solidFill>
              </a:rPr>
              <a:t>Se rellena. </a:t>
            </a:r>
            <a:r>
              <a:rPr lang="es-ES" sz="1150" dirty="0">
                <a:solidFill>
                  <a:srgbClr val="2F2B28"/>
                </a:solidFill>
              </a:rPr>
              <a:t>P28 Seguimiento del valor · P30 Decisión de escalado o retirada, con plan de retirada si procede.</a:t>
            </a:r>
          </a:p>
        </p:txBody>
      </p:sp>
      <p:sp>
        <p:nvSpPr>
          <p:cNvPr id="106" name="Caja 106"/>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G7 → escala, itera o «Desenganchado»</a:t>
            </a:r>
          </a:p>
        </p:txBody>
      </p:sp>
      <p:sp>
        <p:nvSpPr>
          <p:cNvPr id="107" name="Texto 107"/>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Cada decisión de puerta se deja en P29 y en el registro T01, con el estado de cada criterio y su evidencia.</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14" name="Marca"/>
          <p:cNvSpPr/>
          <p:nvPr/>
        </p:nvSpPr>
        <p:spPr>
          <a:xfrm>
            <a:off x="609600" y="365760"/>
            <a:ext cx="182880" cy="182880"/>
          </a:xfrm>
          <a:prstGeom prst="rect">
            <a:avLst/>
          </a:prstGeom>
          <a:solidFill>
            <a:srgbClr val="990F3D"/>
          </a:solidFill>
        </p:spPr>
        <p:txBody>
          <a:bodyPr/>
          <a:lstStyle/>
          <a:p/>
        </p:txBody>
      </p:sp>
      <p:sp>
        <p:nvSpPr>
          <p:cNvPr id="115" name="Texto 1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16" name="Texto 1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registro de iniciativas (T01): donde todo queda anotado</a:t>
            </a:r>
          </a:p>
        </p:txBody>
      </p:sp>
      <p:sp>
        <p:nvSpPr>
          <p:cNvPr id="117" name="Texto 11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Cada iniciativa se da de alta como una oportunidad en un CRM; aquí, el registro de ejemplo con datos ficticios</a:t>
            </a:r>
          </a:p>
        </p:txBody>
      </p:sp>
      <p:pic>
        <p:nvPicPr>
          <p:cNvPr id="112" name="Imagen 112" descr="Vista de embudo del registro de iniciativas T01"/>
          <p:cNvPicPr>
            <a:picLocks noChangeAspect="1"/>
          </p:cNvPicPr>
          <p:nvPr/>
        </p:nvPicPr>
        <p:blipFill>
          <a:blip r:embed="rIdImg_registro"/>
          <a:stretch>
            <a:fillRect/>
          </a:stretch>
        </p:blipFill>
        <p:spPr>
          <a:xfrm>
            <a:off x="609600" y="1900000"/>
            <a:ext cx="6211111" cy="4300000"/>
          </a:xfrm>
          <a:prstGeom prst="rect">
            <a:avLst/>
          </a:prstGeom>
          <a:ln w="12700">
            <a:solidFill>
              <a:srgbClr val="C9A78D"/>
            </a:solidFill>
          </a:ln>
        </p:spPr>
      </p:pic>
      <p:sp>
        <p:nvSpPr>
          <p:cNvPr id="113" name="Texto 113"/>
          <p:cNvSpPr txBox="1"/>
          <p:nvPr/>
        </p:nvSpPr>
        <p:spPr>
          <a:xfrm>
            <a:off x="7709600" y="1850000"/>
            <a:ext cx="38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Una barra por fase: cuántas iniciativas hay ahora en cada una y cuánto valor esperado llevan.</a:t>
            </a:r>
          </a:p>
          <a:p>
            <a:pPr marL="285750" indent="-285750">
              <a:spcAft>
                <a:spcPts val="400"/>
              </a:spcAft>
              <a:buClr>
                <a:srgbClr val="990F3D"/>
              </a:buClr>
              <a:buFont typeface="Arial"/>
              <a:buChar char="•"/>
            </a:pPr>
            <a:r>
              <a:rPr lang="es-ES" sz="1300" dirty="0">
                <a:solidFill>
                  <a:srgbClr val="2F2B28"/>
                </a:solidFill>
              </a:rPr>
              <a:t>Al decidir una puerta, el registro guarda la fecha, el resultado, quién verificó y quién decidió, y el estado de cada criterio.</a:t>
            </a:r>
          </a:p>
          <a:p>
            <a:pPr marL="285750" indent="-285750">
              <a:spcAft>
                <a:spcPts val="400"/>
              </a:spcAft>
              <a:buClr>
                <a:srgbClr val="990F3D"/>
              </a:buClr>
              <a:buFont typeface="Arial"/>
              <a:buChar char="•"/>
            </a:pPr>
            <a:r>
              <a:rPr lang="es-ES" sz="1300" dirty="0">
                <a:solidFill>
                  <a:srgbClr val="2F2B28"/>
                </a:solidFill>
              </a:rPr>
              <a:t>Con esas fechas calcula solo el tiempo en fase y marca «estancadas» las que superan el plazo de referencia.</a:t>
            </a:r>
          </a:p>
          <a:p>
            <a:pPr marL="285750" indent="-285750">
              <a:spcAft>
                <a:spcPts val="400"/>
              </a:spcAft>
              <a:buClr>
                <a:srgbClr val="990F3D"/>
              </a:buClr>
              <a:buFont typeface="Arial"/>
              <a:buChar char="•"/>
            </a:pPr>
            <a:r>
              <a:rPr lang="es-ES" sz="1300" dirty="0">
                <a:solidFill>
                  <a:srgbClr val="2F2B28"/>
                </a:solidFill>
              </a:rPr>
              <a:t>Las cifras llevan estado: validado, declarado o estimado. Lo que no se sabe queda «sin dato», nunca cero.</a:t>
            </a:r>
          </a:p>
          <a:p>
            <a:pPr marL="285750" indent="-285750">
              <a:spcAft>
                <a:spcPts val="400"/>
              </a:spcAft>
              <a:buClr>
                <a:srgbClr val="990F3D"/>
              </a:buClr>
              <a:buFont typeface="Arial"/>
              <a:buChar char="•"/>
            </a:pPr>
            <a:r>
              <a:rPr lang="es-ES" sz="1300" dirty="0">
                <a:solidFill>
                  <a:srgbClr val="2F2B28"/>
                </a:solidFill>
              </a:rPr>
              <a:t>Alertas: puertas pendientes, condiciones vencidas, riesgos sin responsable.</a:t>
            </a:r>
          </a:p>
          <a:p>
            <a:pPr marL="285750" indent="-285750">
              <a:spcAft>
                <a:spcPts val="400"/>
              </a:spcAft>
              <a:buClr>
                <a:srgbClr val="990F3D"/>
              </a:buClr>
              <a:buFont typeface="Arial"/>
              <a:buChar char="•"/>
            </a:pPr>
            <a:r>
              <a:rPr lang="es-ES" sz="1300" dirty="0">
                <a:solidFill>
                  <a:srgbClr val="2F2B28"/>
                </a:solidFill>
              </a:rPr>
              <a:t>Todo se guarda en un fichero JSON de la propia compañía: sin servidor y sin enviar datos a nadie.</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0" name="Marca"/>
          <p:cNvSpPr/>
          <p:nvPr/>
        </p:nvSpPr>
        <p:spPr>
          <a:xfrm>
            <a:off x="609600" y="365760"/>
            <a:ext cx="182880" cy="182880"/>
          </a:xfrm>
          <a:prstGeom prst="rect">
            <a:avLst/>
          </a:prstGeom>
          <a:solidFill>
            <a:srgbClr val="990F3D"/>
          </a:solidFill>
        </p:spPr>
        <p:txBody>
          <a:bodyPr/>
          <a:lstStyle/>
          <a:p/>
        </p:txBody>
      </p:sp>
      <p:sp>
        <p:nvSpPr>
          <p:cNvPr id="121" name="Texto 12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22" name="Texto 12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embudo de la cartera: cómo se lee</a:t>
            </a:r>
          </a:p>
        </p:txBody>
      </p:sp>
      <p:sp>
        <p:nvSpPr>
          <p:cNvPr id="123" name="Texto 123"/>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La cartera de IA, leída como un embudo comercial. Datos ilustrativos</a:t>
            </a:r>
          </a:p>
        </p:txBody>
      </p:sp>
      <p:pic>
        <p:nvPicPr>
          <p:cNvPr id="118" name="Imagen 118" descr="Embudo de iniciativas de IA con sus etapas, salidas y casos en uso"/>
          <p:cNvPicPr>
            <a:picLocks noChangeAspect="1"/>
          </p:cNvPicPr>
          <p:nvPr/>
        </p:nvPicPr>
        <p:blipFill>
          <a:blip r:embed="rIdImg_embudo"/>
          <a:stretch>
            <a:fillRect/>
          </a:stretch>
        </p:blipFill>
        <p:spPr>
          <a:xfrm>
            <a:off x="609600" y="1900000"/>
            <a:ext cx="7500000" cy="3692308"/>
          </a:xfrm>
          <a:prstGeom prst="rect">
            <a:avLst/>
          </a:prstGeom>
          <a:ln w="12700">
            <a:solidFill>
              <a:srgbClr val="C9A78D"/>
            </a:solidFill>
          </a:ln>
        </p:spPr>
      </p:pic>
      <p:sp>
        <p:nvSpPr>
          <p:cNvPr id="119" name="Texto 119"/>
          <p:cNvSpPr txBox="1"/>
          <p:nvPr/>
        </p:nvSpPr>
        <p:spPr>
          <a:xfrm>
            <a:off x="8309600" y="1850000"/>
            <a:ext cx="32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Dentro del embudo, solo lo que está en curso: 5 propuestas, 4 con hipótesis de valor, 3 en prueba de concepto y 4 en desarrollo.</a:t>
            </a:r>
          </a:p>
          <a:p>
            <a:pPr marL="285750" indent="-285750">
              <a:spcAft>
                <a:spcPts val="400"/>
              </a:spcAft>
              <a:buClr>
                <a:srgbClr val="990F3D"/>
              </a:buClr>
              <a:buFont typeface="Arial"/>
              <a:buChar char="•"/>
            </a:pPr>
            <a:r>
              <a:rPr lang="es-ES" sz="1300" dirty="0">
                <a:solidFill>
                  <a:srgbClr val="2F2B28"/>
                </a:solidFill>
              </a:rPr>
              <a:t>A la izquierda, cuántas alcanzaron cada etapa (40 → 31 → 24 → 17) y cuánto tardan. El triángulo rojo avisa: la prueba de concepto supera su plazo.</a:t>
            </a:r>
          </a:p>
          <a:p>
            <a:pPr marL="285750" indent="-285750">
              <a:spcAft>
                <a:spcPts val="400"/>
              </a:spcAft>
              <a:buClr>
                <a:srgbClr val="990F3D"/>
              </a:buClr>
              <a:buFont typeface="Arial"/>
              <a:buChar char="•"/>
            </a:pPr>
            <a:r>
              <a:rPr lang="es-ES" sz="1300" dirty="0">
                <a:solidFill>
                  <a:srgbClr val="2F2B28"/>
                </a:solidFill>
              </a:rPr>
              <a:t>A la derecha, las que no superaron cada etapa y por qué: sin valor plausible, hipótesis refutada, riesgo inaceptable, coste superior al valor.</a:t>
            </a:r>
          </a:p>
          <a:p>
            <a:pPr marL="285750" indent="-285750">
              <a:spcAft>
                <a:spcPts val="400"/>
              </a:spcAft>
              <a:buClr>
                <a:srgbClr val="990F3D"/>
              </a:buClr>
              <a:buFont typeface="Arial"/>
              <a:buChar char="•"/>
            </a:pPr>
            <a:r>
              <a:rPr lang="es-ES" sz="1300" dirty="0">
                <a:solidFill>
                  <a:srgbClr val="2F2B28"/>
                </a:solidFill>
              </a:rPr>
              <a:t>Debajo, las que ya lo atravesaron: 11 en uso, con su valor y su coste, y 1 desenganchada.</a:t>
            </a:r>
          </a:p>
          <a:p>
            <a:pPr marL="285750" indent="-285750">
              <a:spcAft>
                <a:spcPts val="400"/>
              </a:spcAft>
              <a:buClr>
                <a:srgbClr val="990F3D"/>
              </a:buClr>
              <a:buFont typeface="Arial"/>
              <a:buChar char="•"/>
            </a:pPr>
            <a:r>
              <a:rPr lang="es-ES" sz="1300" dirty="0">
                <a:solidFill>
                  <a:srgbClr val="2F2B28"/>
                </a:solidFill>
              </a:rPr>
              <a:t>No se busca convertir más: parar en G3 una iniciativa inviable es un buen resultado. Un 100 % de conversión indicaría puertas blandas.</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7" name="Marca"/>
          <p:cNvSpPr/>
          <p:nvPr/>
        </p:nvSpPr>
        <p:spPr>
          <a:xfrm>
            <a:off x="609600" y="365760"/>
            <a:ext cx="182880" cy="182880"/>
          </a:xfrm>
          <a:prstGeom prst="rect">
            <a:avLst/>
          </a:prstGeom>
          <a:solidFill>
            <a:srgbClr val="990F3D"/>
          </a:solidFill>
        </p:spPr>
        <p:txBody>
          <a:bodyPr/>
          <a:lstStyle/>
          <a:p/>
        </p:txBody>
      </p:sp>
      <p:sp>
        <p:nvSpPr>
          <p:cNvPr id="128" name="Texto 12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29" name="Texto 12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panel del consejo (T17): cómo se lee</a:t>
            </a:r>
          </a:p>
        </p:txBody>
      </p:sp>
      <p:sp>
        <p:nvSpPr>
          <p:cNvPr id="130" name="Texto 13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Se genera del mismo registro, sin volver a teclear nada. Datos ficticios</a:t>
            </a:r>
          </a:p>
        </p:txBody>
      </p:sp>
      <p:pic>
        <p:nvPicPr>
          <p:cNvPr id="124" name="Imagen 124" descr="Panel del consejo con las tarjetas de cartera y valor"/>
          <p:cNvPicPr>
            <a:picLocks noChangeAspect="1"/>
          </p:cNvPicPr>
          <p:nvPr/>
        </p:nvPicPr>
        <p:blipFill>
          <a:blip r:embed="rIdImg_panel"/>
          <a:stretch>
            <a:fillRect/>
          </a:stretch>
        </p:blipFill>
        <p:spPr>
          <a:xfrm>
            <a:off x="609600" y="1900000"/>
            <a:ext cx="6700000" cy="4243333"/>
          </a:xfrm>
          <a:prstGeom prst="rect">
            <a:avLst/>
          </a:prstGeom>
          <a:ln w="12700">
            <a:solidFill>
              <a:srgbClr val="C9A78D"/>
            </a:solidFill>
          </a:ln>
        </p:spPr>
      </p:pic>
      <p:sp>
        <p:nvSpPr>
          <p:cNvPr id="125" name="Texto 125"/>
          <p:cNvSpPr txBox="1"/>
          <p:nvPr/>
        </p:nvSpPr>
        <p:spPr>
          <a:xfrm>
            <a:off x="7509600" y="1850000"/>
            <a:ext cx="40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15 casos: cuántos hay en uso, en desarrollo, en prueba de concepto, propuestos y fuera.</a:t>
            </a:r>
          </a:p>
          <a:p>
            <a:pPr marL="285750" indent="-285750">
              <a:spcAft>
                <a:spcPts val="400"/>
              </a:spcAft>
              <a:buClr>
                <a:srgbClr val="990F3D"/>
              </a:buClr>
              <a:buFont typeface="Arial"/>
              <a:buChar char="•"/>
            </a:pPr>
            <a:r>
              <a:rPr lang="es-ES" sz="1300" dirty="0">
                <a:solidFill>
                  <a:srgbClr val="2F2B28"/>
                </a:solidFill>
              </a:rPr>
              <a:t>Costes 2,4 M€ al año y retorno total 7,3 M€ (eficiencias más retorno): el neto anual es 4,8 M€.</a:t>
            </a:r>
          </a:p>
          <a:p>
            <a:pPr marL="285750" indent="-285750">
              <a:spcAft>
                <a:spcPts val="400"/>
              </a:spcAft>
              <a:buClr>
                <a:srgbClr val="990F3D"/>
              </a:buClr>
              <a:buFont typeface="Arial"/>
              <a:buChar char="•"/>
            </a:pPr>
            <a:r>
              <a:rPr lang="es-ES" sz="1300" dirty="0">
                <a:solidFill>
                  <a:srgbClr val="2F2B28"/>
                </a:solidFill>
              </a:rPr>
              <a:t>La tarjeta amarilla es la importante: solo el 36 % del valor está validado por control de gestión. El resto es declarado o estimado.</a:t>
            </a:r>
          </a:p>
          <a:p>
            <a:pPr marL="285750" indent="-285750">
              <a:spcAft>
                <a:spcPts val="400"/>
              </a:spcAft>
              <a:buClr>
                <a:srgbClr val="990F3D"/>
              </a:buClr>
              <a:buFont typeface="Arial"/>
              <a:buChar char="•"/>
            </a:pPr>
            <a:r>
              <a:rPr lang="es-ES" sz="1300" dirty="0">
                <a:solidFill>
                  <a:srgbClr val="2F2B28"/>
                </a:solidFill>
              </a:rPr>
              <a:t>La capacidad liberada que no se materializa aparece aparte y no suma.</a:t>
            </a:r>
          </a:p>
          <a:p>
            <a:pPr marL="285750" indent="-285750">
              <a:spcAft>
                <a:spcPts val="400"/>
              </a:spcAft>
              <a:buClr>
                <a:srgbClr val="990F3D"/>
              </a:buClr>
              <a:buFont typeface="Arial"/>
              <a:buChar char="•"/>
            </a:pPr>
            <a:r>
              <a:rPr lang="es-ES" sz="1300" dirty="0">
                <a:solidFill>
                  <a:srgbClr val="2F2B28"/>
                </a:solidFill>
              </a:rPr>
              <a:t>En rojo: solo 3 de 15 casos tienen todos los controles (evaluaciones de impacto, seguridad, manual de uso).</a:t>
            </a:r>
          </a:p>
          <a:p>
            <a:pPr marL="285750" indent="-285750">
              <a:spcAft>
                <a:spcPts val="400"/>
              </a:spcAft>
              <a:buClr>
                <a:srgbClr val="990F3D"/>
              </a:buClr>
              <a:buFont typeface="Arial"/>
              <a:buChar char="•"/>
            </a:pPr>
            <a:r>
              <a:rPr lang="es-ES" sz="1300" dirty="0">
                <a:solidFill>
                  <a:srgbClr val="2F2B28"/>
                </a:solidFill>
              </a:rPr>
              <a:t>Otras páginas: embudo y ciclo de vida, histórico y adopción, riesgo y cumplimiento, inventario.</a:t>
            </a:r>
          </a:p>
        </p:txBody>
      </p:sp>
      <p:sp>
        <p:nvSpPr>
          <p:cNvPr id="126" name="Texto 12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Si una cifra del panel no gusta, no se retoca el panel: se corrige la evidencia en el registro y se vuelve a generar.</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31" name="Marca"/>
          <p:cNvSpPr/>
          <p:nvPr/>
        </p:nvSpPr>
        <p:spPr>
          <a:xfrm>
            <a:off x="609600" y="2400000"/>
            <a:ext cx="182880" cy="182880"/>
          </a:xfrm>
          <a:prstGeom prst="rect">
            <a:avLst/>
          </a:prstGeom>
          <a:solidFill>
            <a:srgbClr val="990F3D"/>
          </a:solidFill>
        </p:spPr>
        <p:txBody>
          <a:bodyPr/>
          <a:lstStyle/>
          <a:p/>
        </p:txBody>
      </p:sp>
      <p:sp>
        <p:nvSpPr>
          <p:cNvPr id="132" name="Texto 132"/>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DOS EJEMPLOS</a:t>
            </a:r>
          </a:p>
        </p:txBody>
      </p:sp>
      <p:sp>
        <p:nvSpPr>
          <p:cNvPr id="133" name="Texto 133"/>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Una iniciativa que se para y otra que llega a producción</a:t>
            </a:r>
          </a:p>
        </p:txBody>
      </p:sp>
      <p:sp>
        <p:nvSpPr>
          <p:cNvPr id="134" name="Texto 134"/>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Datos ficticios, ilustrativos: no describen ninguna compañía real.</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38" name="Marca"/>
          <p:cNvSpPr/>
          <p:nvPr/>
        </p:nvSpPr>
        <p:spPr>
          <a:xfrm>
            <a:off x="609600" y="365760"/>
            <a:ext cx="182880" cy="182880"/>
          </a:xfrm>
          <a:prstGeom prst="rect">
            <a:avLst/>
          </a:prstGeom>
          <a:solidFill>
            <a:srgbClr val="990F3D"/>
          </a:solidFill>
        </p:spPr>
        <p:txBody>
          <a:bodyPr/>
          <a:lstStyle/>
          <a:p/>
        </p:txBody>
      </p:sp>
      <p:sp>
        <p:nvSpPr>
          <p:cNvPr id="139" name="Texto 13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40" name="Texto 14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Ejemplo 1 · Cuando una iniciativa se para</a:t>
            </a:r>
          </a:p>
        </p:txBody>
      </p:sp>
      <p:sp>
        <p:nvSpPr>
          <p:cNvPr id="135" name="Texto 135"/>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Cribado de candidaturas en procesos de selección (RR. HH.)</a:t>
            </a:r>
          </a:p>
        </p:txBody>
      </p:sp>
      <p:sp>
        <p:nvSpPr>
          <p:cNvPr id="136" name="Texto 136"/>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Fases 0 y 1: RR. HH. la patrocina (P01–P05). Al decidir sobre personas, la intensidad es Enterprise (P04). Entra en «Propuesto».</a:t>
            </a:r>
          </a:p>
          <a:p>
            <a:pPr marL="285750" indent="-285750">
              <a:spcAft>
                <a:spcPts val="400"/>
              </a:spcAft>
              <a:buClr>
                <a:srgbClr val="990F3D"/>
              </a:buClr>
              <a:buFont typeface="Arial"/>
              <a:buChar char="•"/>
            </a:pPr>
            <a:r>
              <a:rPr lang="es-ES" sz="1500" dirty="0">
                <a:solidFill>
                  <a:srgbClr val="2F2B28"/>
                </a:solidFill>
              </a:rPr>
              <a:t>Fase 2: la hipótesis (P08) promete un 40 % menos de tiempo de cribado frente a la línea base (P09). El piloto lo confirma: G2, Continuar.</a:t>
            </a:r>
          </a:p>
          <a:p>
            <a:pPr marL="285750" indent="-285750">
              <a:spcAft>
                <a:spcPts val="400"/>
              </a:spcAft>
              <a:buClr>
                <a:srgbClr val="990F3D"/>
              </a:buClr>
              <a:buFont typeface="Arial"/>
              <a:buChar char="•"/>
            </a:pPr>
            <a:r>
              <a:rPr lang="es-ES" sz="1500" dirty="0">
                <a:solidFill>
                  <a:srgbClr val="2F2B28"/>
                </a:solidFill>
              </a:rPr>
              <a:t>Fase 3: la clasificación regulatoria (P11) lo sitúa como sistema de alto riesgo. La prueba de sesgo detecta que penaliza a candidatos de más edad.</a:t>
            </a:r>
          </a:p>
          <a:p>
            <a:pPr marL="285750" indent="-285750">
              <a:spcAft>
                <a:spcPts val="400"/>
              </a:spcAft>
              <a:buClr>
                <a:srgbClr val="990F3D"/>
              </a:buClr>
              <a:buFont typeface="Arial"/>
              <a:buChar char="•"/>
            </a:pPr>
            <a:r>
              <a:rPr lang="es-ES" sz="1500" dirty="0">
                <a:solidFill>
                  <a:srgbClr val="2F2B28"/>
                </a:solidFill>
              </a:rPr>
              <a:t>Se itera dos veces ajustando variables: corregir el sesgo destruye la capacidad predictiva que justificaba el proyecto.</a:t>
            </a:r>
          </a:p>
          <a:p>
            <a:pPr marL="285750" indent="-285750">
              <a:spcAft>
                <a:spcPts val="400"/>
              </a:spcAft>
              <a:buClr>
                <a:srgbClr val="990F3D"/>
              </a:buClr>
              <a:buFont typeface="Arial"/>
              <a:buChar char="•"/>
            </a:pPr>
            <a:r>
              <a:rPr lang="es-ES" sz="1500" dirty="0">
                <a:solidFill>
                  <a:srgbClr val="2F2B28"/>
                </a:solidFill>
              </a:rPr>
              <a:t>G3: riesgo residual alto sin mitigación viable (P12, P13). El comité de IA decide Parar; queda en P29 con su motivo.</a:t>
            </a:r>
          </a:p>
          <a:p>
            <a:pPr marL="285750" indent="-285750">
              <a:spcAft>
                <a:spcPts val="400"/>
              </a:spcAft>
              <a:buClr>
                <a:srgbClr val="990F3D"/>
              </a:buClr>
              <a:buFont typeface="Arial"/>
              <a:buChar char="•"/>
            </a:pPr>
            <a:r>
              <a:rPr lang="es-ES" sz="1500" dirty="0">
                <a:solidFill>
                  <a:srgbClr val="2F2B28"/>
                </a:solidFill>
              </a:rPr>
              <a:t>En el embudo aparece a la derecha de «Prueba de concepto»: Descartado · riesgo inaceptable. Lección: probar el sesgo antes, en la fase 2.</a:t>
            </a:r>
          </a:p>
        </p:txBody>
      </p:sp>
      <p:sp>
        <p:nvSpPr>
          <p:cNvPr id="137" name="Caja 137"/>
          <p:cNvSpPr/>
          <p:nvPr/>
        </p:nvSpPr>
        <p:spPr>
          <a:xfrm>
            <a:off x="609600" y="5600000"/>
            <a:ext cx="10972800" cy="900000"/>
          </a:xfrm>
          <a:prstGeom prst="roundRect">
            <a:avLst>
              <a:gd name="adj" fmla="val 6000"/>
            </a:avLst>
          </a:prstGeom>
          <a:solidFill>
            <a:srgbClr val="990F3D"/>
          </a:solidFill>
          <a:ln>
            <a:noFill/>
          </a:ln>
        </p:spPr>
        <p:txBody>
          <a:bodyPr wrap="square" anchor="ctr" lIns="45720" rIns="45720">
            <a:noAutofit/>
          </a:bodyPr>
          <a:lstStyle/>
          <a:p>
            <a:pPr algn="ctr"/>
            <a:r>
              <a:rPr lang="es-ES" sz="2100" b="1" dirty="0">
                <a:solidFill>
                  <a:srgbClr val="FFFFFF"/>
                </a:solidFill>
              </a:rPr>
              <a:t>PARADA EN G3 · SE EVITÓ CONSTRUIR Y OPERAR UN SISTEMA INVIABLE</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58" name="Marca"/>
          <p:cNvSpPr/>
          <p:nvPr/>
        </p:nvSpPr>
        <p:spPr>
          <a:xfrm>
            <a:off x="609600" y="365760"/>
            <a:ext cx="182880" cy="182880"/>
          </a:xfrm>
          <a:prstGeom prst="rect">
            <a:avLst/>
          </a:prstGeom>
          <a:solidFill>
            <a:srgbClr val="990F3D"/>
          </a:solidFill>
        </p:spPr>
        <p:txBody>
          <a:bodyPr/>
          <a:lstStyle/>
          <a:p/>
        </p:txBody>
      </p:sp>
      <p:sp>
        <p:nvSpPr>
          <p:cNvPr id="159" name="Texto 15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60" name="Texto 16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La iniciativa 1, sobre el ciclo de vida</a:t>
            </a:r>
          </a:p>
        </p:txBody>
      </p:sp>
      <p:sp>
        <p:nvSpPr>
          <p:cNvPr id="161" name="Texto 16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Llegó a la fase 3 y no superó la puerta G3</a:t>
            </a:r>
          </a:p>
        </p:txBody>
      </p:sp>
      <p:sp>
        <p:nvSpPr>
          <p:cNvPr id="141" name="Caja 141"/>
          <p:cNvSpPr/>
          <p:nvPr/>
        </p:nvSpPr>
        <p:spPr>
          <a:xfrm>
            <a:off x="68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142" name="Texto 14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43" name="Caja 143"/>
          <p:cNvSpPr/>
          <p:nvPr/>
        </p:nvSpPr>
        <p:spPr>
          <a:xfrm>
            <a:off x="205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144" name="Texto 14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45" name="Caja 145"/>
          <p:cNvSpPr/>
          <p:nvPr/>
        </p:nvSpPr>
        <p:spPr>
          <a:xfrm>
            <a:off x="342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146" name="Texto 14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47" name="Caja 147"/>
          <p:cNvSpPr/>
          <p:nvPr/>
        </p:nvSpPr>
        <p:spPr>
          <a:xfrm>
            <a:off x="479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148" name="Texto 14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49" name="Caja 149"/>
          <p:cNvSpPr/>
          <p:nvPr/>
        </p:nvSpPr>
        <p:spPr>
          <a:xfrm>
            <a:off x="616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F4</a:t>
            </a:r>
          </a:p>
          <a:p>
            <a:pPr algn="ctr"/>
            <a:r>
              <a:rPr lang="es-ES" sz="1050" dirty="0">
                <a:solidFill>
                  <a:srgbClr val="564D47"/>
                </a:solidFill>
              </a:rPr>
              <a:t>Diseño de la solución</a:t>
            </a:r>
          </a:p>
        </p:txBody>
      </p:sp>
      <p:sp>
        <p:nvSpPr>
          <p:cNvPr id="150" name="Texto 15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51" name="Caja 151"/>
          <p:cNvSpPr/>
          <p:nvPr/>
        </p:nvSpPr>
        <p:spPr>
          <a:xfrm>
            <a:off x="753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F5</a:t>
            </a:r>
          </a:p>
          <a:p>
            <a:pPr algn="ctr"/>
            <a:r>
              <a:rPr lang="es-ES" sz="1050" dirty="0">
                <a:solidFill>
                  <a:srgbClr val="564D47"/>
                </a:solidFill>
              </a:rPr>
              <a:t>Entrega y validación</a:t>
            </a:r>
          </a:p>
        </p:txBody>
      </p:sp>
      <p:sp>
        <p:nvSpPr>
          <p:cNvPr id="152" name="Texto 15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53" name="Caja 153"/>
          <p:cNvSpPr/>
          <p:nvPr/>
        </p:nvSpPr>
        <p:spPr>
          <a:xfrm>
            <a:off x="890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F6</a:t>
            </a:r>
          </a:p>
          <a:p>
            <a:pPr algn="ctr"/>
            <a:r>
              <a:rPr lang="es-ES" sz="1050" dirty="0">
                <a:solidFill>
                  <a:srgbClr val="564D47"/>
                </a:solidFill>
              </a:rPr>
              <a:t>Operación y gobierno</a:t>
            </a:r>
          </a:p>
        </p:txBody>
      </p:sp>
      <p:sp>
        <p:nvSpPr>
          <p:cNvPr id="154" name="Texto 15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55" name="Caja 155"/>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Evolución o retirada</a:t>
            </a:r>
          </a:p>
        </p:txBody>
      </p:sp>
      <p:sp>
        <p:nvSpPr>
          <p:cNvPr id="156" name="Texto 15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57" name="Texto 157"/>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990F3D"/>
                </a:solidFill>
              </a:rPr>
              <a:t>PARADA EN G3 · sale del embudo como «Descartado», con su motivo</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65" name="Marca"/>
          <p:cNvSpPr/>
          <p:nvPr/>
        </p:nvSpPr>
        <p:spPr>
          <a:xfrm>
            <a:off x="609600" y="365760"/>
            <a:ext cx="182880" cy="182880"/>
          </a:xfrm>
          <a:prstGeom prst="rect">
            <a:avLst/>
          </a:prstGeom>
          <a:solidFill>
            <a:srgbClr val="990F3D"/>
          </a:solidFill>
        </p:spPr>
        <p:txBody>
          <a:bodyPr/>
          <a:lstStyle/>
          <a:p/>
        </p:txBody>
      </p:sp>
      <p:sp>
        <p:nvSpPr>
          <p:cNvPr id="166" name="Texto 16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67" name="Texto 16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Ejemplo 2 · Cuando una iniciativa llega a producción</a:t>
            </a:r>
          </a:p>
        </p:txBody>
      </p:sp>
      <p:sp>
        <p:nvSpPr>
          <p:cNvPr id="162" name="Texto 162"/>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Asistente de respuesta a incidencias de TI de primer nivel</a:t>
            </a:r>
          </a:p>
        </p:txBody>
      </p:sp>
      <p:sp>
        <p:nvSpPr>
          <p:cNvPr id="163" name="Texto 163"/>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Fases 0 y 1: TI la patrocina; frente a la alternativa sin IA (más plantilla), se propone la esfera de operaciones con ambición Optimizar (P07).</a:t>
            </a:r>
          </a:p>
          <a:p>
            <a:pPr marL="285750" indent="-285750">
              <a:spcAft>
                <a:spcPts val="400"/>
              </a:spcAft>
              <a:buClr>
                <a:srgbClr val="990F3D"/>
              </a:buClr>
              <a:buFont typeface="Arial"/>
              <a:buChar char="•"/>
            </a:pPr>
            <a:r>
              <a:rPr lang="es-ES" sz="1500" dirty="0">
                <a:solidFill>
                  <a:srgbClr val="2F2B28"/>
                </a:solidFill>
              </a:rPr>
              <a:t>Fase 2: hipótesis de un 30 % menos de tiempo de resolución en incidencias sencillas; el piloto controlado da un 32 %.</a:t>
            </a:r>
          </a:p>
          <a:p>
            <a:pPr marL="285750" indent="-285750">
              <a:spcAft>
                <a:spcPts val="400"/>
              </a:spcAft>
              <a:buClr>
                <a:srgbClr val="990F3D"/>
              </a:buClr>
              <a:buFont typeface="Arial"/>
              <a:buChar char="•"/>
            </a:pPr>
            <a:r>
              <a:rPr lang="es-ES" sz="1500" dirty="0">
                <a:solidFill>
                  <a:srgbClr val="2F2B28"/>
                </a:solidFill>
              </a:rPr>
              <a:t>Fase 3: sin sesgo relevante, riesgo residual medio aceptado por su órgano (P12), proveedor evaluado (P14). G3, Continuar.</a:t>
            </a:r>
          </a:p>
          <a:p>
            <a:pPr marL="285750" indent="-285750">
              <a:spcAft>
                <a:spcPts val="400"/>
              </a:spcAft>
              <a:buClr>
                <a:srgbClr val="990F3D"/>
              </a:buClr>
              <a:buFont typeface="Arial"/>
              <a:buChar char="•"/>
            </a:pPr>
            <a:r>
              <a:rPr lang="es-ES" sz="1500" dirty="0">
                <a:solidFill>
                  <a:srgbClr val="2F2B28"/>
                </a:solidFill>
              </a:rPr>
              <a:t>Fases 4 y 5: supervisión humana obligatoria por encima de cierta gravedad (P17), reversión probada (P19) y firma de puesta en producción (P23).</a:t>
            </a:r>
          </a:p>
          <a:p>
            <a:pPr marL="285750" indent="-285750">
              <a:spcAft>
                <a:spcPts val="400"/>
              </a:spcAft>
              <a:buClr>
                <a:srgbClr val="990F3D"/>
              </a:buClr>
              <a:buFont typeface="Arial"/>
              <a:buChar char="•"/>
            </a:pPr>
            <a:r>
              <a:rPr lang="es-ES" sz="1500" dirty="0">
                <a:solidFill>
                  <a:srgbClr val="2F2B28"/>
                </a:solidFill>
              </a:rPr>
              <a:t>Fase 6: catorce meses en uso. Control de gestión valida 1,1 M€ al año (P28); la capacidad liberada se reasignó a incidencias complejas.</a:t>
            </a:r>
          </a:p>
          <a:p>
            <a:pPr marL="285750" indent="-285750">
              <a:spcAft>
                <a:spcPts val="400"/>
              </a:spcAft>
              <a:buClr>
                <a:srgbClr val="990F3D"/>
              </a:buClr>
              <a:buFont typeface="Arial"/>
              <a:buChar char="•"/>
            </a:pPr>
            <a:r>
              <a:rPr lang="es-ES" sz="1500" dirty="0">
                <a:solidFill>
                  <a:srgbClr val="2F2B28"/>
                </a:solidFill>
              </a:rPr>
              <a:t>En el embudo está en «En uso»; en el panel suma al neto anual porque su valor está validado, no declarado.</a:t>
            </a:r>
          </a:p>
        </p:txBody>
      </p:sp>
      <p:sp>
        <p:nvSpPr>
          <p:cNvPr id="164" name="Caja 164"/>
          <p:cNvSpPr/>
          <p:nvPr/>
        </p:nvSpPr>
        <p:spPr>
          <a:xfrm>
            <a:off x="609600" y="5600000"/>
            <a:ext cx="10972800" cy="900000"/>
          </a:xfrm>
          <a:prstGeom prst="roundRect">
            <a:avLst>
              <a:gd name="adj" fmla="val 6000"/>
            </a:avLst>
          </a:prstGeom>
          <a:solidFill>
            <a:srgbClr val="0D7680"/>
          </a:solidFill>
          <a:ln>
            <a:noFill/>
          </a:ln>
        </p:spPr>
        <p:txBody>
          <a:bodyPr wrap="square" anchor="ctr" lIns="45720" rIns="45720">
            <a:noAutofit/>
          </a:bodyPr>
          <a:lstStyle/>
          <a:p>
            <a:pPr algn="ctr"/>
            <a:r>
              <a:rPr lang="es-ES" sz="2100" b="1" dirty="0">
                <a:solidFill>
                  <a:srgbClr val="FFFFFF"/>
                </a:solidFill>
              </a:rPr>
              <a:t>EN PRODUCCIÓN · 1,1 M€ DE RETORNO ANUAL VALIDADO · R6 TRIMESTRAL</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5" name="Marca"/>
          <p:cNvSpPr/>
          <p:nvPr/>
        </p:nvSpPr>
        <p:spPr>
          <a:xfrm>
            <a:off x="609600" y="365760"/>
            <a:ext cx="182880" cy="182880"/>
          </a:xfrm>
          <a:prstGeom prst="rect">
            <a:avLst/>
          </a:prstGeom>
          <a:solidFill>
            <a:srgbClr val="990F3D"/>
          </a:solidFill>
        </p:spPr>
        <p:txBody>
          <a:bodyPr/>
          <a:lstStyle/>
          <a:p/>
        </p:txBody>
      </p:sp>
      <p:sp>
        <p:nvSpPr>
          <p:cNvPr id="186" name="Texto 18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87" name="Texto 18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La iniciativa 2, sobre el ciclo de vida</a:t>
            </a:r>
          </a:p>
        </p:txBody>
      </p:sp>
      <p:sp>
        <p:nvSpPr>
          <p:cNvPr id="188" name="Texto 188"/>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Recorrió las fases 0 a 6 y sigue en uso; la fase 7 llegará con G7</a:t>
            </a:r>
          </a:p>
        </p:txBody>
      </p:sp>
      <p:sp>
        <p:nvSpPr>
          <p:cNvPr id="168" name="Caja 168"/>
          <p:cNvSpPr/>
          <p:nvPr/>
        </p:nvSpPr>
        <p:spPr>
          <a:xfrm>
            <a:off x="68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169" name="Texto 169"/>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70" name="Caja 170"/>
          <p:cNvSpPr/>
          <p:nvPr/>
        </p:nvSpPr>
        <p:spPr>
          <a:xfrm>
            <a:off x="205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171" name="Texto 171"/>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72" name="Caja 172"/>
          <p:cNvSpPr/>
          <p:nvPr/>
        </p:nvSpPr>
        <p:spPr>
          <a:xfrm>
            <a:off x="342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173" name="Texto 173"/>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74" name="Caja 174"/>
          <p:cNvSpPr/>
          <p:nvPr/>
        </p:nvSpPr>
        <p:spPr>
          <a:xfrm>
            <a:off x="479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175" name="Texto 175"/>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76" name="Caja 176"/>
          <p:cNvSpPr/>
          <p:nvPr/>
        </p:nvSpPr>
        <p:spPr>
          <a:xfrm>
            <a:off x="616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Diseño de la solución</a:t>
            </a:r>
          </a:p>
        </p:txBody>
      </p:sp>
      <p:sp>
        <p:nvSpPr>
          <p:cNvPr id="177" name="Texto 177"/>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78" name="Caja 178"/>
          <p:cNvSpPr/>
          <p:nvPr/>
        </p:nvSpPr>
        <p:spPr>
          <a:xfrm>
            <a:off x="753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Entrega y validación</a:t>
            </a:r>
          </a:p>
        </p:txBody>
      </p:sp>
      <p:sp>
        <p:nvSpPr>
          <p:cNvPr id="179" name="Texto 179"/>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80" name="Caja 180"/>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Operación y gobierno</a:t>
            </a:r>
          </a:p>
        </p:txBody>
      </p:sp>
      <p:sp>
        <p:nvSpPr>
          <p:cNvPr id="181" name="Texto 181"/>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82" name="Caja 182"/>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Evolución o retirada</a:t>
            </a:r>
          </a:p>
        </p:txBody>
      </p:sp>
      <p:sp>
        <p:nvSpPr>
          <p:cNvPr id="183" name="Texto 183"/>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84" name="Texto 184"/>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0D7680"/>
                </a:solidFill>
              </a:rPr>
              <a:t>EN USO · cada R6 confirma que sigue aportando valor bajo control</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0" name="Marca"/>
          <p:cNvSpPr/>
          <p:nvPr/>
        </p:nvSpPr>
        <p:spPr>
          <a:xfrm>
            <a:off x="609600" y="365760"/>
            <a:ext cx="182880" cy="182880"/>
          </a:xfrm>
          <a:prstGeom prst="rect">
            <a:avLst/>
          </a:prstGeom>
          <a:solidFill>
            <a:srgbClr val="990F3D"/>
          </a:solidFill>
        </p:spPr>
        <p:txBody>
          <a:bodyPr/>
          <a:lstStyle/>
          <a:p/>
        </p:txBody>
      </p:sp>
      <p:sp>
        <p:nvSpPr>
          <p:cNvPr id="191" name="Texto 19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192" name="Texto 19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Cómo se mide el valor</a:t>
            </a:r>
          </a:p>
        </p:txBody>
      </p:sp>
      <p:sp>
        <p:nvSpPr>
          <p:cNvPr id="189" name="Texto 189"/>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Todo importe lleva fórmula y estado: validado (control de gestión), declarado (el equipo) o estimado.</a:t>
            </a:r>
          </a:p>
          <a:p>
            <a:pPr marL="285750" indent="-285750">
              <a:spcAft>
                <a:spcPts val="400"/>
              </a:spcAft>
              <a:buClr>
                <a:srgbClr val="990F3D"/>
              </a:buClr>
              <a:buFont typeface="Arial"/>
              <a:buChar char="•"/>
            </a:pPr>
            <a:r>
              <a:rPr lang="es-ES" sz="1800" dirty="0">
                <a:solidFill>
                  <a:srgbClr val="2F2B28"/>
                </a:solidFill>
              </a:rPr>
              <a:t>Las horas liberadas no son ahorro hasta que se materializan: baja un coste o se reasignan a una actividad con valor.</a:t>
            </a:r>
          </a:p>
          <a:p>
            <a:pPr marL="285750" indent="-285750">
              <a:spcAft>
                <a:spcPts val="400"/>
              </a:spcAft>
              <a:buClr>
                <a:srgbClr val="990F3D"/>
              </a:buClr>
              <a:buFont typeface="Arial"/>
              <a:buChar char="•"/>
            </a:pPr>
            <a:r>
              <a:rPr lang="es-ES" sz="1800" dirty="0">
                <a:solidFill>
                  <a:srgbClr val="2F2B28"/>
                </a:solidFill>
              </a:rPr>
              <a:t>El coste es completo: construcción, consumo, operación, supervisión humana y retirada.</a:t>
            </a:r>
          </a:p>
          <a:p>
            <a:pPr marL="285750" indent="-285750">
              <a:spcAft>
                <a:spcPts val="400"/>
              </a:spcAft>
              <a:buClr>
                <a:srgbClr val="990F3D"/>
              </a:buClr>
              <a:buFont typeface="Arial"/>
              <a:buChar char="•"/>
            </a:pPr>
            <a:r>
              <a:rPr lang="es-ES" sz="1800" dirty="0">
                <a:solidFill>
                  <a:srgbClr val="2F2B28"/>
                </a:solidFill>
              </a:rPr>
              <a:t>El índice de transformación usa ocho señales de evidencia para separar transformar de solo eficientar.</a:t>
            </a:r>
          </a:p>
          <a:p>
            <a:pPr marL="285750" indent="-285750">
              <a:spcAft>
                <a:spcPts val="400"/>
              </a:spcAft>
              <a:buClr>
                <a:srgbClr val="990F3D"/>
              </a:buClr>
              <a:buFont typeface="Arial"/>
              <a:buChar char="•"/>
            </a:pPr>
            <a:r>
              <a:rPr lang="es-ES" sz="1800" dirty="0">
                <a:solidFill>
                  <a:srgbClr val="2F2B28"/>
                </a:solidFill>
              </a:rPr>
              <a:t>Diez reglas de medición (documento 40). Ninguna cifra entra en el neto de la cartera sin su estado.</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93" name="Marca"/>
          <p:cNvSpPr/>
          <p:nvPr/>
        </p:nvSpPr>
        <p:spPr>
          <a:xfrm>
            <a:off x="609600" y="2400000"/>
            <a:ext cx="182880" cy="182880"/>
          </a:xfrm>
          <a:prstGeom prst="rect">
            <a:avLst/>
          </a:prstGeom>
          <a:solidFill>
            <a:srgbClr val="990F3D"/>
          </a:solidFill>
        </p:spPr>
        <p:txBody>
          <a:bodyPr/>
          <a:lstStyle/>
          <a:p/>
        </p:txBody>
      </p:sp>
      <p:sp>
        <p:nvSpPr>
          <p:cNvPr id="194" name="Texto 194"/>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PARA EL CONSULTOR</a:t>
            </a:r>
          </a:p>
        </p:txBody>
      </p:sp>
      <p:sp>
        <p:nvSpPr>
          <p:cNvPr id="195" name="Texto 195"/>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Aplicar SEVEN-G en los clientes, con su propia firma</a:t>
            </a:r>
          </a:p>
        </p:txBody>
      </p:sp>
      <p:sp>
        <p:nvSpPr>
          <p:cNvPr id="196" name="Texto 196"/>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La licencia lo permite, también en servicios de pago y sin contratar al autor. A cambio pide fidelidad, independencia y honestidad.</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9" name="Marca"/>
          <p:cNvSpPr/>
          <p:nvPr/>
        </p:nvSpPr>
        <p:spPr>
          <a:xfrm>
            <a:off x="609600" y="365760"/>
            <a:ext cx="182880" cy="182880"/>
          </a:xfrm>
          <a:prstGeom prst="rect">
            <a:avLst/>
          </a:prstGeom>
          <a:solidFill>
            <a:srgbClr val="990F3D"/>
          </a:solidFill>
        </p:spPr>
        <p:txBody>
          <a:bodyPr/>
          <a:lstStyle/>
          <a:p/>
        </p:txBody>
      </p:sp>
      <p:sp>
        <p:nvSpPr>
          <p:cNvPr id="200" name="Texto 20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01" name="Texto 20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le permite la licencia y qué asume usted</a:t>
            </a:r>
          </a:p>
        </p:txBody>
      </p:sp>
      <p:sp>
        <p:nvSpPr>
          <p:cNvPr id="197" name="Texto 19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Puede usar, adaptar y aplicar el marco en servicios remunerados sin pedir permiso: basta reconocer la autoría, indicar los cambios y no sugerir respaldo del autor.</a:t>
            </a:r>
          </a:p>
          <a:p>
            <a:pPr marL="285750" indent="-285750">
              <a:spcAft>
                <a:spcPts val="400"/>
              </a:spcAft>
              <a:buClr>
                <a:srgbClr val="990F3D"/>
              </a:buClr>
              <a:buFont typeface="Arial"/>
              <a:buChar char="•"/>
            </a:pPr>
            <a:r>
              <a:rPr lang="es-ES" sz="1800" dirty="0">
                <a:solidFill>
                  <a:srgbClr val="2F2B28"/>
                </a:solidFill>
              </a:rPr>
              <a:t>Responde de su servicio ante su cliente: SEVEN-G es un marco de referencia, no una garantía de resultado.</a:t>
            </a:r>
          </a:p>
          <a:p>
            <a:pPr marL="285750" indent="-285750">
              <a:spcAft>
                <a:spcPts val="400"/>
              </a:spcAft>
              <a:buClr>
                <a:srgbClr val="990F3D"/>
              </a:buClr>
              <a:buFont typeface="Arial"/>
              <a:buChar char="•"/>
            </a:pPr>
            <a:r>
              <a:rPr lang="es-ES" sz="1800" dirty="0">
                <a:solidFill>
                  <a:srgbClr val="2F2B28"/>
                </a:solidFill>
              </a:rPr>
              <a:t>Declara qué versión aplica y qué ha adaptado, en cada entregable.</a:t>
            </a:r>
          </a:p>
          <a:p>
            <a:pPr marL="285750" indent="-285750">
              <a:spcAft>
                <a:spcPts val="400"/>
              </a:spcAft>
              <a:buClr>
                <a:srgbClr val="990F3D"/>
              </a:buClr>
              <a:buFont typeface="Arial"/>
              <a:buChar char="•"/>
            </a:pPr>
            <a:r>
              <a:rPr lang="es-ES" sz="1800" dirty="0">
                <a:solidFill>
                  <a:srgbClr val="2F2B28"/>
                </a:solidFill>
              </a:rPr>
              <a:t>La información del cliente no se usa en otros clientes ni en ejemplos, ni siquiera anonimizada, sin autorización escrita.</a:t>
            </a:r>
          </a:p>
          <a:p>
            <a:pPr marL="285750" indent="-285750">
              <a:spcAft>
                <a:spcPts val="400"/>
              </a:spcAft>
              <a:buClr>
                <a:srgbClr val="990F3D"/>
              </a:buClr>
              <a:buFont typeface="Arial"/>
              <a:buChar char="•"/>
            </a:pPr>
            <a:r>
              <a:rPr lang="es-ES" sz="1800" dirty="0">
                <a:solidFill>
                  <a:srgbClr val="2F2B28"/>
                </a:solidFill>
              </a:rPr>
              <a:t>La clasificación regulatoria y las cuestiones jurídicas requieren criterio jurídico cualificado; traslade el aviso legal a sus entregables.</a:t>
            </a:r>
          </a:p>
        </p:txBody>
      </p:sp>
      <p:sp>
        <p:nvSpPr>
          <p:cNvPr id="198" name="Texto 198"/>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Documento 91, sección 2, y documento 93.</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04" name="Marca"/>
          <p:cNvSpPr/>
          <p:nvPr/>
        </p:nvSpPr>
        <p:spPr>
          <a:xfrm>
            <a:off x="609600" y="365760"/>
            <a:ext cx="182880" cy="182880"/>
          </a:xfrm>
          <a:prstGeom prst="rect">
            <a:avLst/>
          </a:prstGeom>
          <a:solidFill>
            <a:srgbClr val="990F3D"/>
          </a:solidFill>
        </p:spPr>
        <p:txBody>
          <a:bodyPr/>
          <a:lstStyle/>
          <a:p/>
        </p:txBody>
      </p:sp>
      <p:sp>
        <p:nvSpPr>
          <p:cNvPr id="205" name="Texto 20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06" name="Texto 20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Seis reglas que no puede omitir sin declararlo</a:t>
            </a:r>
          </a:p>
        </p:txBody>
      </p:sp>
      <p:sp>
        <p:nvSpPr>
          <p:cNvPr id="202" name="Texto 202"/>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700" dirty="0">
                <a:solidFill>
                  <a:srgbClr val="2F2B28"/>
                </a:solidFill>
              </a:rPr>
              <a:t>Separación de funciones: quien construye no controla y nadie se aprueba a sí mismo.</a:t>
            </a:r>
          </a:p>
          <a:p>
            <a:pPr marL="285750" indent="-285750">
              <a:spcAft>
                <a:spcPts val="400"/>
              </a:spcAft>
              <a:buClr>
                <a:srgbClr val="990F3D"/>
              </a:buClr>
              <a:buFont typeface="Arial"/>
              <a:buChar char="•"/>
            </a:pPr>
            <a:r>
              <a:rPr lang="es-ES" sz="1700" dirty="0">
                <a:solidFill>
                  <a:srgbClr val="2F2B28"/>
                </a:solidFill>
              </a:rPr>
              <a:t>Validación dual en las puertas y posibilidad real de parar.</a:t>
            </a:r>
          </a:p>
          <a:p>
            <a:pPr marL="285750" indent="-285750">
              <a:spcAft>
                <a:spcPts val="400"/>
              </a:spcAft>
              <a:buClr>
                <a:srgbClr val="990F3D"/>
              </a:buClr>
              <a:buFont typeface="Arial"/>
              <a:buChar char="•"/>
            </a:pPr>
            <a:r>
              <a:rPr lang="es-ES" sz="1700" dirty="0">
                <a:solidFill>
                  <a:srgbClr val="2F2B28"/>
                </a:solidFill>
              </a:rPr>
              <a:t>Las diez reglas de medición: estado de cada importe, y la capacidad liberada no suma hasta materializarse.</a:t>
            </a:r>
          </a:p>
          <a:p>
            <a:pPr marL="285750" indent="-285750">
              <a:spcAft>
                <a:spcPts val="400"/>
              </a:spcAft>
              <a:buClr>
                <a:srgbClr val="990F3D"/>
              </a:buClr>
              <a:buFont typeface="Arial"/>
              <a:buChar char="•"/>
            </a:pPr>
            <a:r>
              <a:rPr lang="es-ES" sz="1700" dirty="0">
                <a:solidFill>
                  <a:srgbClr val="2F2B28"/>
                </a:solidFill>
              </a:rPr>
              <a:t>Clasificación de la ambición con las cinco preguntas.</a:t>
            </a:r>
          </a:p>
          <a:p>
            <a:pPr marL="285750" indent="-285750">
              <a:spcAft>
                <a:spcPts val="400"/>
              </a:spcAft>
              <a:buClr>
                <a:srgbClr val="990F3D"/>
              </a:buClr>
              <a:buFont typeface="Arial"/>
              <a:buChar char="•"/>
            </a:pPr>
            <a:r>
              <a:rPr lang="es-ES" sz="1700" dirty="0">
                <a:solidFill>
                  <a:srgbClr val="2F2B28"/>
                </a:solidFill>
              </a:rPr>
              <a:t>Madurez basada en evidencia observable, no en autoevaluación.</a:t>
            </a:r>
          </a:p>
          <a:p>
            <a:pPr marL="285750" indent="-285750">
              <a:spcAft>
                <a:spcPts val="400"/>
              </a:spcAft>
              <a:buClr>
                <a:srgbClr val="990F3D"/>
              </a:buClr>
              <a:buFont typeface="Arial"/>
              <a:buChar char="•"/>
            </a:pPr>
            <a:r>
              <a:rPr lang="es-ES" sz="1700" dirty="0">
                <a:solidFill>
                  <a:srgbClr val="2F2B28"/>
                </a:solidFill>
              </a:rPr>
              <a:t>Registro de recomendaciones con identificadores persistentes y valoración independiente.</a:t>
            </a:r>
          </a:p>
        </p:txBody>
      </p:sp>
      <p:sp>
        <p:nvSpPr>
          <p:cNvPr id="203" name="Texto 203"/>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Si omite alguna, su servicio puede inspirarse en SEVEN-G, pero no presentarse como aplicación de SEVEN-G.</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3" name="Marca"/>
          <p:cNvSpPr/>
          <p:nvPr/>
        </p:nvSpPr>
        <p:spPr>
          <a:xfrm>
            <a:off x="609600" y="365760"/>
            <a:ext cx="182880" cy="182880"/>
          </a:xfrm>
          <a:prstGeom prst="rect">
            <a:avLst/>
          </a:prstGeom>
          <a:solidFill>
            <a:srgbClr val="990F3D"/>
          </a:solidFill>
        </p:spPr>
        <p:txBody>
          <a:bodyPr/>
          <a:lstStyle/>
          <a:p/>
        </p:txBody>
      </p:sp>
      <p:sp>
        <p:nvSpPr>
          <p:cNvPr id="224" name="Texto 224"/>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25" name="Texto 225"/>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Cinco modelos de acompañamiento</a:t>
            </a:r>
          </a:p>
        </p:txBody>
      </p:sp>
      <p:sp>
        <p:nvSpPr>
          <p:cNvPr id="226" name="Texto 226"/>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Qué se entrega en cada uno; las duraciones son orientativas</a:t>
            </a:r>
          </a:p>
        </p:txBody>
      </p:sp>
      <p:sp>
        <p:nvSpPr>
          <p:cNvPr id="207" name="Caja 207"/>
          <p:cNvSpPr/>
          <p:nvPr/>
        </p:nvSpPr>
        <p:spPr>
          <a:xfrm>
            <a:off x="60960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M1 · Diagnóstico</a:t>
            </a:r>
          </a:p>
        </p:txBody>
      </p:sp>
      <p:sp>
        <p:nvSpPr>
          <p:cNvPr id="208" name="Caja 208"/>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9" name="Texto 209"/>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4 a 6 semanas. Inventario, madurez con evidencia (T15), índice de transformación (T14), valor y coste actuales. Informe C1 (P33).</a:t>
            </a:r>
          </a:p>
        </p:txBody>
      </p:sp>
      <p:sp>
        <p:nvSpPr>
          <p:cNvPr id="210" name="Caja 210"/>
          <p:cNvSpPr/>
          <p:nvPr/>
        </p:nvSpPr>
        <p:spPr>
          <a:xfrm>
            <a:off x="282816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M2 · Implantación</a:t>
            </a:r>
          </a:p>
        </p:txBody>
      </p:sp>
      <p:sp>
        <p:nvSpPr>
          <p:cNvPr id="211" name="Caja 211"/>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2" name="Texto 212"/>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90 días. Tesis y apetito de riesgo, gobierno, cartera, registro T01 y panel con datos reales, y el primer paquete para el consejo.</a:t>
            </a:r>
          </a:p>
        </p:txBody>
      </p:sp>
      <p:sp>
        <p:nvSpPr>
          <p:cNvPr id="213" name="Caja 213"/>
          <p:cNvSpPr/>
          <p:nvPr/>
        </p:nvSpPr>
        <p:spPr>
          <a:xfrm>
            <a:off x="504672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M3 · Auditoría</a:t>
            </a:r>
          </a:p>
        </p:txBody>
      </p:sp>
      <p:sp>
        <p:nvSpPr>
          <p:cNvPr id="214" name="Caja 214"/>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5" name="Texto 215"/>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Opinión independiente: Conforme, Conforme con observaciones o No conforme. Plan, papeles e informe (P58, P59, P60).</a:t>
            </a:r>
          </a:p>
        </p:txBody>
      </p:sp>
      <p:sp>
        <p:nvSpPr>
          <p:cNvPr id="216" name="Caja 216"/>
          <p:cNvSpPr/>
          <p:nvPr/>
        </p:nvSpPr>
        <p:spPr>
          <a:xfrm>
            <a:off x="726528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M4 · Consejo</a:t>
            </a:r>
          </a:p>
        </p:txBody>
      </p:sp>
      <p:sp>
        <p:nvSpPr>
          <p:cNvPr id="217" name="Caja 217"/>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8" name="Texto 218"/>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Mandato anual. Preparar sesiones, revisar el paquete trimestral, recomendaciones registradas y valoraciones independientes.</a:t>
            </a:r>
          </a:p>
        </p:txBody>
      </p:sp>
      <p:sp>
        <p:nvSpPr>
          <p:cNvPr id="219" name="Caja 219"/>
          <p:cNvSpPr/>
          <p:nvPr/>
        </p:nvSpPr>
        <p:spPr>
          <a:xfrm>
            <a:off x="948384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M5 · Continuo</a:t>
            </a:r>
          </a:p>
        </p:txBody>
      </p:sp>
      <p:sp>
        <p:nvSpPr>
          <p:cNvPr id="220" name="Caja 220"/>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21" name="Texto 221"/>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Apoyo a la oficina de IA: registro, métricas del embudo y paquetes, siempre con plan de transferencia y fecha de salida (P71).</a:t>
            </a:r>
          </a:p>
        </p:txBody>
      </p:sp>
      <p:sp>
        <p:nvSpPr>
          <p:cNvPr id="222" name="Texto 222"/>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En todos, la compañía decide; usted prepara, propone, verifica o asesora.</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9" name="Marca"/>
          <p:cNvSpPr/>
          <p:nvPr/>
        </p:nvSpPr>
        <p:spPr>
          <a:xfrm>
            <a:off x="609600" y="365760"/>
            <a:ext cx="182880" cy="182880"/>
          </a:xfrm>
          <a:prstGeom prst="rect">
            <a:avLst/>
          </a:prstGeom>
          <a:solidFill>
            <a:srgbClr val="990F3D"/>
          </a:solidFill>
        </p:spPr>
        <p:txBody>
          <a:bodyPr/>
          <a:lstStyle/>
          <a:p/>
        </p:txBody>
      </p:sp>
      <p:sp>
        <p:nvSpPr>
          <p:cNvPr id="230" name="Texto 23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31" name="Texto 23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Independencia: quien implanta no audita</a:t>
            </a:r>
          </a:p>
        </p:txBody>
      </p:sp>
      <p:sp>
        <p:nvSpPr>
          <p:cNvPr id="227" name="Texto 22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No puede verificar, auditar ni valorar de forma independiente lo que usted, su firma o una entidad vinculada ha diseñado, implantado u operado.</a:t>
            </a:r>
          </a:p>
          <a:p>
            <a:pPr marL="285750" indent="-285750">
              <a:spcAft>
                <a:spcPts val="400"/>
              </a:spcAft>
              <a:buClr>
                <a:srgbClr val="990F3D"/>
              </a:buClr>
              <a:buFont typeface="Arial"/>
              <a:buChar char="•"/>
            </a:pPr>
            <a:r>
              <a:rPr lang="es-ES" sz="1800" dirty="0">
                <a:solidFill>
                  <a:srgbClr val="2F2B28"/>
                </a:solidFill>
              </a:rPr>
              <a:t>Implantación (M2) y auditoría (M3) son incompatibles en el mismo ámbito; tampoco asesorar al consejo (M4) sobre lo que usted opera (M5).</a:t>
            </a:r>
          </a:p>
          <a:p>
            <a:pPr marL="285750" indent="-285750">
              <a:spcAft>
                <a:spcPts val="400"/>
              </a:spcAft>
              <a:buClr>
                <a:srgbClr val="990F3D"/>
              </a:buClr>
              <a:buFont typeface="Arial"/>
              <a:buChar char="•"/>
            </a:pPr>
            <a:r>
              <a:rPr lang="es-ES" sz="1800" dirty="0">
                <a:solidFill>
                  <a:srgbClr val="2F2B28"/>
                </a:solidFill>
              </a:rPr>
              <a:t>Tras un servicio incompatible, deje pasar al menos un ciclo anual completo antes de auditar ese ámbito.</a:t>
            </a:r>
          </a:p>
          <a:p>
            <a:pPr marL="285750" indent="-285750">
              <a:spcAft>
                <a:spcPts val="400"/>
              </a:spcAft>
              <a:buClr>
                <a:srgbClr val="990F3D"/>
              </a:buClr>
              <a:buFont typeface="Arial"/>
              <a:buChar char="•"/>
            </a:pPr>
            <a:r>
              <a:rPr lang="es-ES" sz="1800" dirty="0">
                <a:solidFill>
                  <a:srgbClr val="2F2B28"/>
                </a:solidFill>
              </a:rPr>
              <a:t>Declare por escrito sus relaciones con proveedores de tecnología, herramientas propias y esquema de honorarios (P41).</a:t>
            </a:r>
          </a:p>
          <a:p>
            <a:pPr marL="285750" indent="-285750">
              <a:spcAft>
                <a:spcPts val="400"/>
              </a:spcAft>
              <a:buClr>
                <a:srgbClr val="990F3D"/>
              </a:buClr>
              <a:buFont typeface="Arial"/>
              <a:buChar char="•"/>
            </a:pPr>
            <a:r>
              <a:rPr lang="es-ES" sz="1800" dirty="0">
                <a:solidFill>
                  <a:srgbClr val="2F2B28"/>
                </a:solidFill>
              </a:rPr>
              <a:t>Honorarios ligados al valor: solo sobre valor validado por control de gestión o por una auditoría ajena a usted.</a:t>
            </a:r>
          </a:p>
        </p:txBody>
      </p:sp>
      <p:sp>
        <p:nvSpPr>
          <p:cNvPr id="228" name="Texto 228"/>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Documento 91, sección 5.</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42" name="Marca"/>
          <p:cNvSpPr/>
          <p:nvPr/>
        </p:nvSpPr>
        <p:spPr>
          <a:xfrm>
            <a:off x="609600" y="365760"/>
            <a:ext cx="182880" cy="182880"/>
          </a:xfrm>
          <a:prstGeom prst="rect">
            <a:avLst/>
          </a:prstGeom>
          <a:solidFill>
            <a:srgbClr val="990F3D"/>
          </a:solidFill>
        </p:spPr>
        <p:txBody>
          <a:bodyPr/>
          <a:lstStyle/>
          <a:p/>
        </p:txBody>
      </p:sp>
      <p:sp>
        <p:nvSpPr>
          <p:cNvPr id="243" name="Texto 2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44" name="Texto 2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puede decir y qué no</a:t>
            </a:r>
          </a:p>
        </p:txBody>
      </p:sp>
      <p:sp>
        <p:nvSpPr>
          <p:cNvPr id="245" name="Texto 2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SEVEN-G es una marca registrada de Fernando García Varela; la licencia de contenidos no cede la marca</a:t>
            </a:r>
          </a:p>
        </p:txBody>
      </p:sp>
      <p:sp>
        <p:nvSpPr>
          <p:cNvPr id="232" name="Caja 232"/>
          <p:cNvSpPr/>
          <p:nvPr/>
        </p:nvSpPr>
        <p:spPr>
          <a:xfrm>
            <a:off x="6096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Sí</a:t>
            </a:r>
          </a:p>
        </p:txBody>
      </p:sp>
      <p:sp>
        <p:nvSpPr>
          <p:cNvPr id="233" name="Caja 233"/>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34" name="Texto 234"/>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«Servicio basado en SEVEN-G (versión …), marco de Fernando García Varela, CC BY 4.0.»   «Metodología adaptada de SEVEN-G; cambios: …»   «Utiliza el mapa de esferas y las reglas de medición de SEVEN-G.»</a:t>
            </a:r>
          </a:p>
        </p:txBody>
      </p:sp>
      <p:sp>
        <p:nvSpPr>
          <p:cNvPr id="235" name="Caja 235"/>
          <p:cNvSpPr/>
          <p:nvPr/>
        </p:nvSpPr>
        <p:spPr>
          <a:xfrm>
            <a:off x="4307200" y="2050000"/>
            <a:ext cx="357760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No</a:t>
            </a:r>
          </a:p>
        </p:txBody>
      </p:sp>
      <p:sp>
        <p:nvSpPr>
          <p:cNvPr id="236" name="Caja 236"/>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37" name="Texto 237"/>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«Certificado SEVEN-G», «consultora acreditada», «partner oficial», «avalado por el autor»: no existe certificación ni programa de socios. Tampoco «cumplimiento garantizado por SEVEN-G».</a:t>
            </a:r>
          </a:p>
        </p:txBody>
      </p:sp>
      <p:sp>
        <p:nvSpPr>
          <p:cNvPr id="238" name="Caja 238"/>
          <p:cNvSpPr/>
          <p:nvPr/>
        </p:nvSpPr>
        <p:spPr>
          <a:xfrm>
            <a:off x="8004800" y="2050000"/>
            <a:ext cx="357760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No prometa</a:t>
            </a:r>
          </a:p>
        </p:txBody>
      </p:sp>
      <p:sp>
        <p:nvSpPr>
          <p:cNvPr id="239" name="Caja 239"/>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40" name="Texto 240"/>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Un X % de ahorro antes del diagnóstico, un nivel de madurez en un plazo, «su compañía se transformará», «sin riesgo» o plazos de implantación sin haber diagnosticado.</a:t>
            </a:r>
          </a:p>
        </p:txBody>
      </p:sp>
      <p:sp>
        <p:nvSpPr>
          <p:cNvPr id="241" name="Texto 24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Documento 91, secciones 6 y 8.</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47" name="Marca"/>
          <p:cNvSpPr/>
          <p:nvPr/>
        </p:nvSpPr>
        <p:spPr>
          <a:xfrm>
            <a:off x="609600" y="365760"/>
            <a:ext cx="182880" cy="182880"/>
          </a:xfrm>
          <a:prstGeom prst="rect">
            <a:avLst/>
          </a:prstGeom>
          <a:solidFill>
            <a:srgbClr val="990F3D"/>
          </a:solidFill>
        </p:spPr>
        <p:txBody>
          <a:bodyPr/>
          <a:lstStyle/>
          <a:p/>
        </p:txBody>
      </p:sp>
      <p:sp>
        <p:nvSpPr>
          <p:cNvPr id="248" name="Texto 24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CONSULTOR · ACOMPAÑAR A CLIENTES</a:t>
            </a:r>
          </a:p>
        </p:txBody>
      </p:sp>
      <p:sp>
        <p:nvSpPr>
          <p:cNvPr id="249" name="Texto 24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Sus plantillas y la salida del servicio</a:t>
            </a:r>
          </a:p>
        </p:txBody>
      </p:sp>
      <p:sp>
        <p:nvSpPr>
          <p:cNvPr id="246" name="Texto 246"/>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P70 Propuesta y carta de encargo: alcance, modelo (M1–M5), fuera de alcance, roles de ambas partes e independencia.</a:t>
            </a:r>
          </a:p>
          <a:p>
            <a:pPr marL="285750" indent="-285750">
              <a:spcAft>
                <a:spcPts val="400"/>
              </a:spcAft>
              <a:buClr>
                <a:srgbClr val="990F3D"/>
              </a:buClr>
              <a:buFont typeface="Arial"/>
              <a:buChar char="•"/>
            </a:pPr>
            <a:r>
              <a:rPr lang="es-ES" sz="1800" dirty="0">
                <a:solidFill>
                  <a:srgbClr val="2F2B28"/>
                </a:solidFill>
              </a:rPr>
              <a:t>P41 Declaración de independencia y conflictos de interés, al inicio de todo servicio M3 o M4.</a:t>
            </a:r>
          </a:p>
          <a:p>
            <a:pPr marL="285750" indent="-285750">
              <a:spcAft>
                <a:spcPts val="400"/>
              </a:spcAft>
              <a:buClr>
                <a:srgbClr val="990F3D"/>
              </a:buClr>
              <a:buFont typeface="Arial"/>
              <a:buChar char="•"/>
            </a:pPr>
            <a:r>
              <a:rPr lang="es-ES" sz="1800" dirty="0">
                <a:solidFill>
                  <a:srgbClr val="2F2B28"/>
                </a:solidFill>
              </a:rPr>
              <a:t>Calidad: cada entregable indica versión y adaptaciones, enlaza su evidencia y lo revisa un segundo profesional.</a:t>
            </a:r>
          </a:p>
          <a:p>
            <a:pPr marL="285750" indent="-285750">
              <a:spcAft>
                <a:spcPts val="400"/>
              </a:spcAft>
              <a:buClr>
                <a:srgbClr val="990F3D"/>
              </a:buClr>
              <a:buFont typeface="Arial"/>
              <a:buChar char="•"/>
            </a:pPr>
            <a:r>
              <a:rPr lang="es-ES" sz="1800" dirty="0">
                <a:solidFill>
                  <a:srgbClr val="2F2B28"/>
                </a:solidFill>
              </a:rPr>
              <a:t>P71 Plan de transferencia y nota de salida: registros en formato abierto, evidencias localizadas, pendientes con responsable y riesgos abiertos.</a:t>
            </a:r>
          </a:p>
          <a:p>
            <a:pPr marL="285750" indent="-285750">
              <a:spcAft>
                <a:spcPts val="400"/>
              </a:spcAft>
              <a:buClr>
                <a:srgbClr val="990F3D"/>
              </a:buClr>
              <a:buFont typeface="Arial"/>
              <a:buChar char="•"/>
            </a:pPr>
            <a:r>
              <a:rPr lang="es-ES" sz="1800" dirty="0">
                <a:solidFill>
                  <a:srgbClr val="2F2B28"/>
                </a:solidFill>
              </a:rPr>
              <a:t>La prueba de un buen trabajo: la compañía no le necesita para leer ni para mantener nada de lo entregado.</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50" name="Texto 250"/>
          <p:cNvSpPr txBox="1"/>
          <p:nvPr/>
        </p:nvSpPr>
        <p:spPr>
          <a:xfrm>
            <a:off x="609600" y="2300000"/>
            <a:ext cx="10972800" cy="900000"/>
          </a:xfrm>
          <a:prstGeom prst="rect">
            <a:avLst/>
          </a:prstGeom>
          <a:noFill/>
        </p:spPr>
        <p:txBody>
          <a:bodyPr wrap="square" anchor="t" lIns="45720" rIns="45720">
            <a:noAutofit/>
          </a:bodyPr>
          <a:lstStyle/>
          <a:p>
            <a:pPr algn="ctr"/>
            <a:r>
              <a:rPr lang="es-ES" sz="4400" b="1" dirty="0">
                <a:solidFill>
                  <a:srgbClr val="1A1817"/>
                </a:solidFill>
              </a:rPr>
              <a:t>Gracias</a:t>
            </a:r>
          </a:p>
        </p:txBody>
      </p:sp>
      <p:sp>
        <p:nvSpPr>
          <p:cNvPr id="251" name="Texto 251"/>
          <p:cNvSpPr txBox="1"/>
          <p:nvPr/>
        </p:nvSpPr>
        <p:spPr>
          <a:xfrm>
            <a:off x="609600" y="3350000"/>
            <a:ext cx="10972800" cy="900000"/>
          </a:xfrm>
          <a:prstGeom prst="rect">
            <a:avLst/>
          </a:prstGeom>
          <a:noFill/>
        </p:spPr>
        <p:txBody>
          <a:bodyPr wrap="square" anchor="t" lIns="45720" rIns="45720">
            <a:noAutofit/>
          </a:bodyPr>
          <a:lstStyle/>
          <a:p>
            <a:pPr algn="ctr"/>
            <a:r>
              <a:rPr lang="es-ES" sz="1900" dirty="0">
                <a:solidFill>
                  <a:srgbClr val="2F2B28"/>
                </a:solidFill>
              </a:rPr>
              <a:t>SEVEN-G es gratuito: se usa, se descarga y se adapta sin registrarse, y el sitio nunca le escribirá. Si quiere hablar con el autor, la iniciativa es suya.</a:t>
            </a:r>
          </a:p>
        </p:txBody>
      </p:sp>
      <p:sp>
        <p:nvSpPr>
          <p:cNvPr id="252" name="Texto 252"/>
          <p:cNvSpPr txBox="1"/>
          <p:nvPr/>
        </p:nvSpPr>
        <p:spPr>
          <a:xfrm>
            <a:off x="609600" y="4350000"/>
            <a:ext cx="10972800" cy="500000"/>
          </a:xfrm>
          <a:prstGeom prst="rect">
            <a:avLst/>
          </a:prstGeom>
          <a:noFill/>
        </p:spPr>
        <p:txBody>
          <a:bodyPr wrap="square" anchor="t" lIns="45720" rIns="45720">
            <a:noAutofit/>
          </a:bodyPr>
          <a:lstStyle/>
          <a:p>
            <a:pPr algn="ctr"/>
            <a:r>
              <a:rPr lang="es-ES" sz="1600" dirty="0">
                <a:solidFill>
                  <a:srgbClr val="564D47"/>
                </a:solidFill>
              </a:rPr>
              <a:t>SEVEN-G es una marca registrada de Fernando García Varela · CC BY 4.0 (contenidos) · MIT (código)</a:t>
            </a:r>
          </a:p>
        </p:txBody>
      </p:sp>
      <p:sp>
        <p:nvSpPr>
          <p:cNvPr id="253" name="Texto 253"/>
          <p:cNvSpPr txBox="1"/>
          <p:nvPr/>
        </p:nvSpPr>
        <p:spPr>
          <a:xfrm>
            <a:off x="609600" y="4950000"/>
            <a:ext cx="10972800" cy="500000"/>
          </a:xfrm>
          <a:prstGeom prst="rect">
            <a:avLst/>
          </a:prstGeom>
          <a:noFill/>
        </p:spPr>
        <p:txBody>
          <a:bodyPr wrap="square" anchor="t" lIns="45720" rIns="45720">
            <a:noAutofit/>
          </a:bodyPr>
          <a:lstStyle/>
          <a:p>
            <a:pPr algn="ctr"/>
            <a:r>
              <a:rPr lang="es-ES" sz="1700" dirty="0">
                <a:solidFill>
                  <a:srgbClr val="0F5499"/>
                </a:solidFill>
              </a:rPr>
              <a:t>https://www.linkedin.com/in/fernandogarciavarela/</a:t>
            </a:r>
          </a:p>
        </p:txBody>
      </p:sp>
      <p:sp>
        <p:nvSpPr>
          <p:cNvPr id="254" name="Texto 254"/>
          <p:cNvSpPr txBox="1"/>
          <p:nvPr/>
        </p:nvSpPr>
        <p:spPr>
          <a:xfrm>
            <a:off x="609600" y="5550000"/>
            <a:ext cx="10972800" cy="1000000"/>
          </a:xfrm>
          <a:prstGeom prst="rect">
            <a:avLst/>
          </a:prstGeom>
          <a:noFill/>
        </p:spPr>
        <p:txBody>
          <a:bodyPr wrap="square" anchor="t" lIns="45720" rIns="45720">
            <a:noAutofit/>
          </a:bodyPr>
          <a:lstStyle/>
          <a:p>
            <a:pPr algn="ctr"/>
            <a:r>
              <a:rPr lang="es-ES" sz="1000" dirty="0">
                <a:solidFill>
                  <a:srgbClr val="564D47"/>
                </a:solidFill>
              </a:rPr>
              <a:t>Aviso legal: ayuda metodológica genérica y gratuita, «tal cual» y con fines informativos; no es asesoramiento jurídico ni está revisada jurídicamente para ningún caso. Cada organización la adapta y es responsable de su revisión legal y de su cumplimiento regulatorio; puede no recoger cambios normativos recientes. En la máxima medida permitida por la ley, el autor no asume responsabilidad alguna por los efectos de su aplicación. No otorga certificación de ningún tipo. Detalle en el documento 93.</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SEVEN-G">
  <a:themeElements>
    <a:clrScheme name="SEVEN-G">
      <a:dk1>
        <a:srgbClr val="1A1817"/>
      </a:dk1>
      <a:lt1>
        <a:srgbClr val="FBE2CD"/>
      </a:lt1>
      <a:dk2>
        <a:srgbClr val="2F2B28"/>
      </a:dk2>
      <a:lt2>
        <a:srgbClr val="FFFFFF"/>
      </a:lt2>
      <a:accent1>
        <a:srgbClr val="990F3D"/>
      </a:accent1>
      <a:accent2>
        <a:srgbClr val="0F5499"/>
      </a:accent2>
      <a:accent3>
        <a:srgbClr val="0D7680"/>
      </a:accent3>
      <a:accent4>
        <a:srgbClr val="593380"/>
      </a:accent4>
      <a:accent5>
        <a:srgbClr val="A5822A"/>
      </a:accent5>
      <a:accent6>
        <a:srgbClr val="71645B"/>
      </a:accent6>
      <a:hlink>
        <a:srgbClr val="0F5499"/>
      </a:hlink>
      <a:folHlink>
        <a:srgbClr val="593380"/>
      </a:folHlink>
    </a:clrScheme>
    <a:fontScheme name="SEVEN-G">
      <a:majorFont>
        <a:latin typeface="Georgia"/>
        <a:ea typeface=""/>
        <a:cs typeface=""/>
      </a:majorFont>
      <a:minorFont>
        <a:latin typeface="Arial"/>
        <a:ea typeface=""/>
        <a:cs typeface=""/>
      </a:minorFont>
    </a:fontScheme>
    <a:fmtScheme name="SEVEN-G">
      <a:fillStyleLst>
        <a:solidFill>
          <a:schemeClr val="accent1"/>
        </a:solidFill>
        <a:solidFill>
          <a:schemeClr val="accent1"/>
        </a:solidFill>
        <a:solidFill>
          <a:schemeClr val="accent1"/>
        </a:solidFill>
      </a:fillStyleLst>
      <a:lnStyleLst>
        <a:ln>
          <a:solidFill>
            <a:schemeClr val="accent1"/>
          </a:solidFill>
        </a:ln>
        <a:ln>
          <a:solidFill>
            <a:schemeClr val="accent1"/>
          </a:solidFill>
        </a:ln>
        <a:ln>
          <a:solidFill>
            <a:schemeClr val="accent1"/>
          </a:solidFill>
        </a:ln>
      </a:lnStyleLst>
      <a:effectStyleLst>
        <a:effectStyle>
          <a:effectLst/>
        </a:effectStyle>
        <a:effectStyle>
          <a:effectLst/>
        </a:effectStyle>
        <a:effectStyle>
          <a:effectLst/>
        </a:effectStyle>
      </a:effectStyleLst>
      <a:bgFillStyleLst>
        <a:solidFill>
          <a:schemeClr val="lt1"/>
        </a:solidFill>
        <a:solidFill>
          <a:schemeClr val="lt1"/>
        </a:solidFill>
        <a:solidFill>
          <a:schemeClr val="lt1"/>
        </a:solidFill>
      </a:bgFillStyleLst>
    </a:fmtScheme>
  </a:themeElements>
</a:theme>
</file>

<file path=docProps/app.xml><?xml version="1.0" encoding="utf-8"?>
<Properties xmlns="http://schemas.openxmlformats.org/officeDocument/2006/extended-properties">
  <Application>SEVEN-G build</Application>
  <Slides>26</Slides>
  <Company>Fernando García Varela</Company>
</Properties>
</file>

<file path=docProps/core.xml><?xml version="1.0" encoding="utf-8"?>
<cp:coreProperties xmlns:cp="http://schemas.openxmlformats.org/package/2006/metadata/core-properties" xmlns:dc="http://purl.org/dc/elements/1.1/" xmlns:dcterms="http://purl.org/dc/terms/" xmlns:xsi="http://www.w3.org/2001/XMLSchema-instance">
  <dc:title>Curso de SEVEN-G para el consultor</dc:title>
  <dc:creator>Fernando García Varela</dc:creator>
  <cp:lastModifiedBy>SEVEN-G build</cp:lastModifiedBy>
  <dcterms:created xsi:type="dcterms:W3CDTF">2026-01-01T00:00:00Z</dcterms:created>
  <dcterms:modified xsi:type="dcterms:W3CDTF">2026-01-01T00:00:00Z</dcterms:modified>
</cp:coreProperties>
</file>
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  <p:sldId id="279" r:id="rIdS24"/>
    <p:sldId id="280" r:id="rIdS25"/>
    <p:sldId id="281" r:id="rIdS2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registro" Type="http://schemas.openxmlformats.org/officeDocument/2006/relationships/image" Target="../media/registro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embudo" Type="http://schemas.openxmlformats.org/officeDocument/2006/relationships/image" Target="../media/embudo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panel" Type="http://schemas.openxmlformats.org/officeDocument/2006/relationships/image" Target="../media/panel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" name="Texto 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2" name="Texto 2"/>
          <p:cNvSpPr txBox="1"/>
          <p:nvPr/>
        </p:nvSpPr>
        <p:spPr>
          <a:xfrm>
            <a:off x="609600" y="1350000"/>
            <a:ext cx="10972800" cy="11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3" name="Caja 3"/>
          <p:cNvSpPr/>
          <p:nvPr/>
        </p:nvSpPr>
        <p:spPr>
          <a:xfrm>
            <a:off x="609600" y="2600000"/>
            <a:ext cx="52000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800" b="1" dirty="0">
                <a:solidFill>
                  <a:srgbClr val="FFFFFF"/>
                </a:solidFill>
              </a:rPr>
              <a:t>Consultor · Acompañar a clientes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3450000"/>
            <a:ext cx="10500000" cy="1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000" dirty="0">
                <a:solidFill>
                  <a:srgbClr val="2F2B28"/>
                </a:solidFill>
              </a:rPr>
              <a:t>Qué es SEVEN-G, cómo se llena el embudo de iniciativas hasta el panel del consejo y cómo aplicarlo en sus clientes con su propia firma.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Curso de autoaprendizaje · CC BY 4.0 · Ejemplos con datos ficticios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" name="Texto 1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2" name="Texto 1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problema que resuelve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Muchas compañías tienen pilotos de IA que funcionan, pero pocos llegan a producción.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valor se declara («liberamos 200 horas») y casi nadie lo comprueba.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Nadie tiene autoridad clara para parar una iniciativa que no funciona.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consejo pregunta por la IA y recibe una lista de proyectos técnicos, no decisiones de negocio.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¿La compañía se está transformando con IA, o solo es un poco más eficiente? Casi nadie puede contestarlo con evidencia.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No es un problema de tecnología: es un problema de gobierno y de medición.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" name="Texto 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6" name="Texto 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es SEVEN-G y qué aporta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una fase 0 habilitante y siete fases de valor, con gobierno en todas.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Ordena la IA como una cartera: cada iniciativa tiene fase, coste, valor esperado y responsable.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Pone puertas de decisión entre las fases: sin evidencia verificada no se avanza.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Separa quién decide, quién construye y quién controla, y traduce la regulación a fases, roles y evidencias.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Mide el valor en dinero y con estado —validado, declarado o estimado— y se lo enseña al consejo en un panel.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Es gratuito y modificable: documentos, plantillas en Word y herramientas, con licencia abierta.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" name="Texto 1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20" name="Texto 2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Dos niveles: la compañía y cada iniciativa</a:t>
            </a:r>
          </a:p>
        </p:txBody>
      </p:sp>
      <p:sp>
        <p:nvSpPr>
          <p:cNvPr id="17" name="Texto 1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Diagnóstico: inventario, madurez en siete dimensiones e índice de transformación.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Dirección: el consejo aprueba la tesis de IA, la ambición por esfera y el apetito de riesgo.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Cartera: qué iniciativas se financian y en qué orden.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Supervisión: panel del consejo y registro de decisiones y recomendaciones.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Revisión anual: qué funcionó, qué no y qué cambia.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Y, dentro de esa cartera, cada iniciativa recorre su propio ciclo de vida de ocho fases.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43" name="Texto 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44" name="Texto 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ciclo de vida de una iniciativa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Ocho fases con una puerta de decisión al final de cada una; debajo, la etapa del embudo en la que se ve cada fase</a:t>
            </a:r>
          </a:p>
        </p:txBody>
      </p:sp>
      <p:sp>
        <p:nvSpPr>
          <p:cNvPr id="21" name="Caja 2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23" name="Caja 2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24" name="Texto 2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25" name="Caja 2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27" name="Caja 2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28" name="Texto 2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29" name="Caja 2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31" name="Caja 3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32" name="Texto 3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33" name="Caja 3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34" name="Texto 3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35" name="Caja 3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36" name="Texto 3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37" name="Caja 37"/>
          <p:cNvSpPr/>
          <p:nvPr/>
        </p:nvSpPr>
        <p:spPr>
          <a:xfrm>
            <a:off x="68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Propuesto</a:t>
            </a:r>
          </a:p>
        </p:txBody>
      </p:sp>
      <p:sp>
        <p:nvSpPr>
          <p:cNvPr id="38" name="Caja 38"/>
          <p:cNvSpPr/>
          <p:nvPr/>
        </p:nvSpPr>
        <p:spPr>
          <a:xfrm>
            <a:off x="342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39" name="Caja 39"/>
          <p:cNvSpPr/>
          <p:nvPr/>
        </p:nvSpPr>
        <p:spPr>
          <a:xfrm>
            <a:off x="479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Prueba de concepto</a:t>
            </a:r>
          </a:p>
        </p:txBody>
      </p:sp>
      <p:sp>
        <p:nvSpPr>
          <p:cNvPr id="40" name="Caja 40"/>
          <p:cNvSpPr/>
          <p:nvPr/>
        </p:nvSpPr>
        <p:spPr>
          <a:xfrm>
            <a:off x="616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1A181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En desarrollo</a:t>
            </a:r>
          </a:p>
        </p:txBody>
      </p:sp>
      <p:sp>
        <p:nvSpPr>
          <p:cNvPr id="41" name="Caja 41"/>
          <p:cNvSpPr/>
          <p:nvPr/>
        </p:nvSpPr>
        <p:spPr>
          <a:xfrm>
            <a:off x="890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En uso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3" name="Texto 6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64" name="Texto 6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puede pasar en cada puerta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Cinco resultados; quien aporta la evidencia nunca es quien verifica ni quien decide</a:t>
            </a:r>
          </a:p>
        </p:txBody>
      </p:sp>
      <p:sp>
        <p:nvSpPr>
          <p:cNvPr id="46" name="Caja 46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Continuar</a:t>
            </a:r>
          </a:p>
        </p:txBody>
      </p:sp>
      <p:sp>
        <p:nvSpPr>
          <p:cNvPr id="47" name="Caja 47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Se cumplen todos los criterios y las evidencias están verificadas: pasa a la fase siguiente.</a:t>
            </a:r>
          </a:p>
        </p:txBody>
      </p:sp>
      <p:sp>
        <p:nvSpPr>
          <p:cNvPr id="49" name="Caja 49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Con condiciones</a:t>
            </a:r>
          </a:p>
        </p:txBody>
      </p:sp>
      <p:sp>
        <p:nvSpPr>
          <p:cNvPr id="50" name="Caja 50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Pasa, con plazo y responsable para lo pendiente. Nunca para controles críticos de seguridad, legales o de supervisión humana.</a:t>
            </a:r>
          </a:p>
        </p:txBody>
      </p:sp>
      <p:sp>
        <p:nvSpPr>
          <p:cNvPr id="52" name="Caja 52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Iterar</a:t>
            </a:r>
          </a:p>
        </p:txBody>
      </p:sp>
      <p:sp>
        <p:nvSpPr>
          <p:cNvPr id="53" name="Caja 53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4" name="Texto 54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Se repite la fase con un ajuste concreto y se vuelve a la misma puerta. A la tercera, decide el órgano superior.</a:t>
            </a:r>
          </a:p>
        </p:txBody>
      </p:sp>
      <p:sp>
        <p:nvSpPr>
          <p:cNvPr id="55" name="Caja 55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Pivotar</a:t>
            </a:r>
          </a:p>
        </p:txBody>
      </p:sp>
      <p:sp>
        <p:nvSpPr>
          <p:cNvPr id="56" name="Caja 56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La hipótesis no se sostiene pero hay otra razonable: vuelve a la fase 2. Solo en G1, G2 y G3.</a:t>
            </a:r>
          </a:p>
        </p:txBody>
      </p:sp>
      <p:sp>
        <p:nvSpPr>
          <p:cNvPr id="58" name="Caja 58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Parar</a:t>
            </a:r>
          </a:p>
        </p:txBody>
      </p:sp>
      <p:sp>
        <p:nvSpPr>
          <p:cNvPr id="59" name="Caja 59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60" name="Texto 60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No hay valor plausible o el riesgo es inaceptable. Se registran el motivo y lo aprendido. Es un buen resultado.</a:t>
            </a:r>
          </a:p>
        </p:txBody>
      </p:sp>
      <p:sp>
        <p:nvSpPr>
          <p:cNvPr id="61" name="Texto 6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En G7 los resultados son Escalar, Iterar o Retirar.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7" name="Texto 67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DEL DOCUMENTO AL PANEL</a:t>
            </a:r>
          </a:p>
        </p:txBody>
      </p:sp>
      <p:sp>
        <p:nvSpPr>
          <p:cNvPr id="68" name="Texto 68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Cómo se llena el embudo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Nadie dibuja el embudo ni el panel: salen solos de lo que se rellena y se decide en cada fase. Este es el recorrido.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8" name="Texto 8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89" name="Texto 8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Fases 0 a 3: de la idea a la prueba de concepto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Qué se hace, qué plantillas se rellenan y qué puerta cierra cada fase</a:t>
            </a:r>
          </a:p>
        </p:txBody>
      </p:sp>
      <p:sp>
        <p:nvSpPr>
          <p:cNvPr id="70" name="Caja 70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71" name="Caja 71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2" name="Texto 72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autoriza la idea: patrocinador, responsable, alcance, restricciones e intensidad (Lite o Enterprise).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P01 Carta de la iniciativa · P02 Contexto y restricciones · P03 Roles · P04 Intensidad · P05 Alta en el inventario.</a:t>
            </a:r>
          </a:p>
        </p:txBody>
      </p:sp>
      <p:sp>
        <p:nvSpPr>
          <p:cNvPr id="73" name="Caja 73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G0 → entra en «Propuesto»</a:t>
            </a:r>
          </a:p>
        </p:txBody>
      </p:sp>
      <p:sp>
        <p:nvSpPr>
          <p:cNvPr id="74" name="Caja 74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Descubrimiento</a:t>
            </a:r>
          </a:p>
        </p:txBody>
      </p:sp>
      <p:sp>
        <p:nvSpPr>
          <p:cNvPr id="75" name="Caja 75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comparan oportunidades, también alternativas sin IA, y se propone esfera y nivel de ambición.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P06 Cartera de oportunidades y filtrado · P07 Esfera y ambición · P31 Ficha de caso de uso.</a:t>
            </a:r>
          </a:p>
        </p:txBody>
      </p:sp>
      <p:sp>
        <p:nvSpPr>
          <p:cNvPr id="77" name="Caja 77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G1 → sigue en «Propuesto»</a:t>
            </a:r>
          </a:p>
        </p:txBody>
      </p:sp>
      <p:sp>
        <p:nvSpPr>
          <p:cNvPr id="78" name="Caja 78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79" name="Caja 79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Hipótesis falsable en dinero, con línea base, método de atribución y criterios de parada fijados antes de empezar.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P08 Lienzo de hipótesis de valor · P09 Línea base. Apoyo: calculadora T11.</a:t>
            </a:r>
          </a:p>
        </p:txBody>
      </p:sp>
      <p:sp>
        <p:nvSpPr>
          <p:cNvPr id="81" name="Caja 81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G2 → «Hipótesis de valor»</a:t>
            </a:r>
          </a:p>
        </p:txBody>
      </p:sp>
      <p:sp>
        <p:nvSpPr>
          <p:cNvPr id="82" name="Caja 82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83" name="Caja 83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Prueba de concepto: viabilidad, clasificación regulatoria, riesgos y proveedores. Es la principal puerta de parada.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P10 Viabilidad · P11 Clasificación regulatoria e impacto · P12 Riesgos · P13 Mitigación · P14 Proveedor.</a:t>
            </a:r>
          </a:p>
        </p:txBody>
      </p:sp>
      <p:sp>
        <p:nvSpPr>
          <p:cNvPr id="85" name="Caja 85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G3 → «Prueba de concepto»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Cada decisión de puerta se deja en P29 y en el registro T01, con el estado de cada criterio y su evidencia.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9" name="Texto 10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10" name="Texto 11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Fases 4 a 7: del diseño a la producción y la retirada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La puesta en producción no cierra el ciclo: abre la operación, con revisiones periódicas</a:t>
            </a:r>
          </a:p>
        </p:txBody>
      </p:sp>
      <p:sp>
        <p:nvSpPr>
          <p:cNvPr id="91" name="Caja 91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92" name="Caja 92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Antes de construir: arquitectura, linaje de datos y modelos, supervisión humana, seguridad, reversión y adopción.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P15 Arquitectura · P16 Linaje · P17 Supervisión humana · P18 Seguridad · P19 Reversión · P20 Adopción.</a:t>
            </a:r>
          </a:p>
        </p:txBody>
      </p:sp>
      <p:sp>
        <p:nvSpPr>
          <p:cNvPr id="94" name="Caja 94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G4 → «En desarrollo»</a:t>
            </a:r>
          </a:p>
        </p:txBody>
      </p:sp>
      <p:sp>
        <p:nvSpPr>
          <p:cNvPr id="95" name="Caja 95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96" name="Caja 96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Se construye, se valida y se pilota; se prueba la reversión y se firma la puesta en producción.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P21 Informe de entrega · P22 Validación y piloto · P23 Firma de puesta en producción · P12 actualizado.</a:t>
            </a:r>
          </a:p>
        </p:txBody>
      </p:sp>
      <p:sp>
        <p:nvSpPr>
          <p:cNvPr id="98" name="Caja 98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G5 → pasa a «En uso»</a:t>
            </a:r>
          </a:p>
        </p:txBody>
      </p:sp>
      <p:sp>
        <p:nvSpPr>
          <p:cNvPr id="99" name="Caja 99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100" name="Caja 100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1" name="Texto 101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Monitorización, incidentes, cambios y seguimiento del valor realizado, con revisión de continuidad periódica.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P24 Manual de operación · P25 Monitorización · P26 y P27 Incidentes y cambios · P28 Valor · P65 Paquete R6.</a:t>
            </a:r>
          </a:p>
        </p:txBody>
      </p:sp>
      <p:sp>
        <p:nvSpPr>
          <p:cNvPr id="102" name="Caja 102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R6 → sigue «En uso» o adelanta G7</a:t>
            </a:r>
          </a:p>
        </p:txBody>
      </p:sp>
      <p:sp>
        <p:nvSpPr>
          <p:cNvPr id="103" name="Caja 103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Evolución o retirada</a:t>
            </a:r>
          </a:p>
        </p:txBody>
      </p:sp>
      <p:sp>
        <p:nvSpPr>
          <p:cNvPr id="104" name="Caja 104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Qué se hace. </a:t>
            </a:r>
            <a:r>
              <a:rPr lang="es-ES" sz="1150" dirty="0">
                <a:solidFill>
                  <a:srgbClr val="2F2B28"/>
                </a:solidFill>
              </a:rPr>
              <a:t>Con el valor realizado delante se decide escalar, iterar o retirar, y se registran las lecciones.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Se rellena. </a:t>
            </a:r>
            <a:r>
              <a:rPr lang="es-ES" sz="1150" dirty="0">
                <a:solidFill>
                  <a:srgbClr val="2F2B28"/>
                </a:solidFill>
              </a:rPr>
              <a:t>P28 Seguimiento del valor · P30 Decisión de escalado o retirada, con plan de retirada si procede.</a:t>
            </a:r>
          </a:p>
        </p:txBody>
      </p:sp>
      <p:sp>
        <p:nvSpPr>
          <p:cNvPr id="106" name="Caja 106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G7 → escala, itera o «Desenganchado»</a:t>
            </a:r>
          </a:p>
        </p:txBody>
      </p:sp>
      <p:sp>
        <p:nvSpPr>
          <p:cNvPr id="107" name="Texto 107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Cada decisión de puerta se deja en P29 y en el registro T01, con el estado de cada criterio y su evidencia.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5" name="Texto 1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16" name="Texto 1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registro de iniciativas (T01): donde todo queda anotado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Cada iniciativa se da de alta como una oportunidad en un CRM; aquí, el registro de ejemplo con datos ficticios</a:t>
            </a:r>
          </a:p>
        </p:txBody>
      </p:sp>
      <p:pic>
        <p:nvPicPr>
          <p:cNvPr id="112" name="Imagen 112" descr="Vista de embudo del registro de iniciativas T01"/>
          <p:cNvPicPr>
            <a:picLocks noChangeAspect="1"/>
          </p:cNvPicPr>
          <p:nvPr/>
        </p:nvPicPr>
        <p:blipFill>
          <a:blip r:embed="rIdImg_registro"/>
          <a:stretch>
            <a:fillRect/>
          </a:stretch>
        </p:blipFill>
        <p:spPr>
          <a:xfrm>
            <a:off x="609600" y="1900000"/>
            <a:ext cx="6211111" cy="4300000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3" name="Texto 113"/>
          <p:cNvSpPr txBox="1"/>
          <p:nvPr/>
        </p:nvSpPr>
        <p:spPr>
          <a:xfrm>
            <a:off x="7709600" y="1850000"/>
            <a:ext cx="38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Una barra por fase: cuántas iniciativas hay ahora en cada una y cuánto valor esperado llevan.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 decidir una puerta, el registro guarda la fecha, el resultado, quién verificó y quién decidió, y el estado de cada criterio.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Con esas fechas calcula solo el tiempo en fase y marca «estancadas» las que superan el plazo de referencia.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Las cifras llevan estado: validado, declarado o estimado. Lo que no se sabe queda «sin dato», nunca cero.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Alertas: puertas pendientes, condiciones vencidas, riesgos sin responsable.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Todo se guarda en un fichero JSON de la propia compañía: sin servidor y sin enviar datos a nadie.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1" name="Texto 12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22" name="Texto 12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embudo de la cartera: cómo se lee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La cartera de IA, leída como un embudo comercial. Datos ilustrativos</a:t>
            </a:r>
          </a:p>
        </p:txBody>
      </p:sp>
      <p:pic>
        <p:nvPicPr>
          <p:cNvPr id="118" name="Imagen 118" descr="Embudo de iniciativas de IA con sus etapas, salidas y casos en uso"/>
          <p:cNvPicPr>
            <a:picLocks noChangeAspect="1"/>
          </p:cNvPicPr>
          <p:nvPr/>
        </p:nvPicPr>
        <p:blipFill>
          <a:blip r:embed="rIdImg_embudo"/>
          <a:stretch>
            <a:fillRect/>
          </a:stretch>
        </p:blipFill>
        <p:spPr>
          <a:xfrm>
            <a:off x="609600" y="1900000"/>
            <a:ext cx="7500000" cy="3692308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9" name="Texto 119"/>
          <p:cNvSpPr txBox="1"/>
          <p:nvPr/>
        </p:nvSpPr>
        <p:spPr>
          <a:xfrm>
            <a:off x="8309600" y="1850000"/>
            <a:ext cx="32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Dentro del embudo, solo lo que está en curso: 5 propuestas, 4 con hipótesis de valor, 3 en prueba de concepto y 4 en desarrollo.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 la izquierda, cuántas alcanzaron cada etapa (40 → 31 → 24 → 17) y cuánto tardan. El triángulo rojo avisa: la prueba de concepto supera su plazo.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 la derecha, las que no superaron cada etapa y por qué: sin valor plausible, hipótesis refutada, riesgo inaceptable, coste superior al valor.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Debajo, las que ya lo atravesaron: 11 en uso, con su valor y su coste, y 1 desenganchada.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No se busca convertir más: parar en G3 una iniciativa inviable es un buen resultado. Un 100 % de conversión indicaría puertas blandas.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8" name="Texto 12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El panel del consejo (T17): cómo se lee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Se genera del mismo registro, sin volver a teclear nada. Datos ficticios</a:t>
            </a:r>
          </a:p>
        </p:txBody>
      </p:sp>
      <p:pic>
        <p:nvPicPr>
          <p:cNvPr id="124" name="Imagen 124" descr="Panel del consejo con las tarjetas de cartera y valor"/>
          <p:cNvPicPr>
            <a:picLocks noChangeAspect="1"/>
          </p:cNvPicPr>
          <p:nvPr/>
        </p:nvPicPr>
        <p:blipFill>
          <a:blip r:embed="rIdImg_panel"/>
          <a:stretch>
            <a:fillRect/>
          </a:stretch>
        </p:blipFill>
        <p:spPr>
          <a:xfrm>
            <a:off x="609600" y="1900000"/>
            <a:ext cx="6700000" cy="4243333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25" name="Texto 125"/>
          <p:cNvSpPr txBox="1"/>
          <p:nvPr/>
        </p:nvSpPr>
        <p:spPr>
          <a:xfrm>
            <a:off x="7509600" y="1850000"/>
            <a:ext cx="40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15 casos: cuántos hay en uso, en desarrollo, en prueba de concepto, propuestos y fuera.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Costes 2,4 M€ al año y retorno total 7,3 M€ (eficiencias más retorno): el neto anual es 4,8 M€.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 tarjeta amarilla es la importante: solo el 36 % del valor está validado por control de gestión. El resto es declarado o estimado.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La capacidad liberada que no se materializa aparece aparte y no suma.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En rojo: solo 3 de 15 casos tienen todos los controles (evaluaciones de impacto, seguridad, manual de uso).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Otras páginas: embudo y ciclo de vida, histórico y adopción, riesgo y cumplimiento, inventario.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Si una cifra del panel no gusta, no se retoca el panel: se corrige la evidencia en el registro y se vuelve a generar.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2" name="Texto 132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DOS EJEMPLOS</a:t>
            </a:r>
          </a:p>
        </p:txBody>
      </p:sp>
      <p:sp>
        <p:nvSpPr>
          <p:cNvPr id="133" name="Texto 133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Una iniciativa que se para y otra que llega a producción</a:t>
            </a:r>
          </a:p>
        </p:txBody>
      </p:sp>
      <p:sp>
        <p:nvSpPr>
          <p:cNvPr id="134" name="Texto 134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Datos ficticios, ilustrativos: no describen ninguna compañía real.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9" name="Texto 13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Ejemplo 1 · Cuando una iniciativa se para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Cribado de candidaturas en procesos de selección (RR. HH.)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0 y 1: RR. HH. la patrocina (P01–P05). Al decidir sobre personas, la intensidad es Enterprise (P04). Entra en «Propuesto».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2: la hipótesis (P08) promete un 40 % menos de tiempo de cribado frente a la línea base (P09). El piloto lo confirma: G2, Continuar.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3: la clasificación regulatoria (P11) lo sitúa como sistema de alto riesgo. La prueba de sesgo detecta que penaliza a candidatos de más edad.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Se itera dos veces ajustando variables: corregir el sesgo destruye la capacidad predictiva que justificaba el proyecto.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G3: riesgo residual alto sin mitigación viable (P12, P13). El comité de IA decide Parar; queda en P29 con su motivo.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En el embudo aparece a la derecha de «Prueba de concepto»: Descartado · riesgo inaceptable. Lección: probar el sesgo antes, en la fase 2.</a:t>
            </a:r>
          </a:p>
        </p:txBody>
      </p:sp>
      <p:sp>
        <p:nvSpPr>
          <p:cNvPr id="137" name="Caja 137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PARADA EN G3 · SE EVITÓ CONSTRUIR Y OPERAR UN SISTEMA INVIABLE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9" name="Texto 15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60" name="Texto 16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La iniciativa 1, sobre el ciclo de vida</a:t>
            </a:r>
          </a:p>
        </p:txBody>
      </p:sp>
      <p:sp>
        <p:nvSpPr>
          <p:cNvPr id="161" name="Texto 16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Llegó a la fase 3 y no superó la puerta G3</a:t>
            </a:r>
          </a:p>
        </p:txBody>
      </p:sp>
      <p:sp>
        <p:nvSpPr>
          <p:cNvPr id="141" name="Caja 14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142" name="Texto 14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43" name="Caja 14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45" name="Caja 14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47" name="Caja 14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49" name="Caja 14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Diseño de la solución</a:t>
            </a:r>
          </a:p>
        </p:txBody>
      </p:sp>
      <p:sp>
        <p:nvSpPr>
          <p:cNvPr id="150" name="Texto 15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51" name="Caja 15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Entrega y validación</a:t>
            </a:r>
          </a:p>
        </p:txBody>
      </p:sp>
      <p:sp>
        <p:nvSpPr>
          <p:cNvPr id="152" name="Texto 15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53" name="Caja 15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Operación y gobierno</a:t>
            </a:r>
          </a:p>
        </p:txBody>
      </p:sp>
      <p:sp>
        <p:nvSpPr>
          <p:cNvPr id="154" name="Texto 15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55" name="Caja 15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Evolución o retirada</a:t>
            </a:r>
          </a:p>
        </p:txBody>
      </p:sp>
      <p:sp>
        <p:nvSpPr>
          <p:cNvPr id="156" name="Texto 15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57" name="Texto 157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990F3D"/>
                </a:solidFill>
              </a:rPr>
              <a:t>PARADA EN G3 · sale del embudo como «Descartado», con su motivo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66" name="Texto 16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67" name="Texto 16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Ejemplo 2 · Cuando una iniciativa llega a producción</a:t>
            </a:r>
          </a:p>
        </p:txBody>
      </p:sp>
      <p:sp>
        <p:nvSpPr>
          <p:cNvPr id="162" name="Texto 162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Asistente de respuesta a incidencias de TI de primer nivel</a:t>
            </a:r>
          </a:p>
        </p:txBody>
      </p:sp>
      <p:sp>
        <p:nvSpPr>
          <p:cNvPr id="163" name="Texto 163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0 y 1: TI la patrocina; frente a la alternativa sin IA (más plantilla), se propone la esfera de operaciones con ambición Optimizar (P07).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2: hipótesis de un 30 % menos de tiempo de resolución en incidencias sencillas; el piloto controlado da un 32 %.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3: sin sesgo relevante, riesgo residual medio aceptado por su órgano (P12), proveedor evaluado (P14). G3, Continuar.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Fases 4 y 5: supervisión humana obligatoria por encima de cierta gravedad (P17), reversión probada (P19) y firma de puesta en producción (P23).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Fase 6: catorce meses en uso. Control de gestión valida 1,1 M€ al año (P28); la capacidad liberada se reasignó a incidencias complejas.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En el embudo está en «En uso»; en el panel suma al neto anual porque su valor está validado, no declarado.</a:t>
            </a:r>
          </a:p>
        </p:txBody>
      </p:sp>
      <p:sp>
        <p:nvSpPr>
          <p:cNvPr id="164" name="Caja 164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EN PRODUCCIÓN · 1,1 M€ DE RETORNO ANUAL VALIDADO · R6 TRIMESTRAL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86" name="Texto 18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87" name="Texto 18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La iniciativa 2, sobre el ciclo de vida</a:t>
            </a:r>
          </a:p>
        </p:txBody>
      </p:sp>
      <p:sp>
        <p:nvSpPr>
          <p:cNvPr id="188" name="Texto 188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Recorrió las fases 0 a 6 y sigue en uso; la fase 7 llegará con G7</a:t>
            </a:r>
          </a:p>
        </p:txBody>
      </p:sp>
      <p:sp>
        <p:nvSpPr>
          <p:cNvPr id="168" name="Caja 168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Contexto y restricciones</a:t>
            </a:r>
          </a:p>
        </p:txBody>
      </p:sp>
      <p:sp>
        <p:nvSpPr>
          <p:cNvPr id="169" name="Texto 169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70" name="Caja 170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Descubrimiento de oportunidades</a:t>
            </a:r>
          </a:p>
        </p:txBody>
      </p:sp>
      <p:sp>
        <p:nvSpPr>
          <p:cNvPr id="171" name="Texto 171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72" name="Caja 172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Hipótesis de valor</a:t>
            </a:r>
          </a:p>
        </p:txBody>
      </p:sp>
      <p:sp>
        <p:nvSpPr>
          <p:cNvPr id="173" name="Texto 173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74" name="Caja 174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Viabilidad y riesgo</a:t>
            </a:r>
          </a:p>
        </p:txBody>
      </p:sp>
      <p:sp>
        <p:nvSpPr>
          <p:cNvPr id="175" name="Texto 175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76" name="Caja 176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Diseño de la solución</a:t>
            </a:r>
          </a:p>
        </p:txBody>
      </p:sp>
      <p:sp>
        <p:nvSpPr>
          <p:cNvPr id="177" name="Texto 177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78" name="Caja 178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Entrega y validación</a:t>
            </a:r>
          </a:p>
        </p:txBody>
      </p:sp>
      <p:sp>
        <p:nvSpPr>
          <p:cNvPr id="179" name="Texto 179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80" name="Caja 180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Operación y gobierno</a:t>
            </a:r>
          </a:p>
        </p:txBody>
      </p:sp>
      <p:sp>
        <p:nvSpPr>
          <p:cNvPr id="181" name="Texto 181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82" name="Caja 182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Evolución o retirada</a:t>
            </a:r>
          </a:p>
        </p:txBody>
      </p:sp>
      <p:sp>
        <p:nvSpPr>
          <p:cNvPr id="183" name="Texto 183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84" name="Texto 184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0D7680"/>
                </a:solidFill>
              </a:rPr>
              <a:t>EN USO · cada R6 confirma que sigue aportando valor bajo control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1" name="Texto 19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192" name="Texto 19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Cómo se mide el valor</a:t>
            </a:r>
          </a:p>
        </p:txBody>
      </p:sp>
      <p:sp>
        <p:nvSpPr>
          <p:cNvPr id="189" name="Texto 189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Todo importe lleva fórmula y estado: validado (control de gestión), declarado (el equipo) o estimado.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Las horas liberadas no son ahorro hasta que se materializan: baja un coste o se reasignan a una actividad con valor.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coste es completo: construcción, consumo, operación, supervisión humana y retirada.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El índice de transformación usa ocho señales de evidencia para separar transformar de solo eficientar.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Diez reglas de medición (documento 40). Ninguna cifra entra en el neto de la cartera sin su estado.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4" name="Texto 194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PARA EL CONSULTOR</a:t>
            </a:r>
          </a:p>
        </p:txBody>
      </p:sp>
      <p:sp>
        <p:nvSpPr>
          <p:cNvPr id="195" name="Texto 19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Aplicar SEVEN-G en los clientes, con su propia firma</a:t>
            </a:r>
          </a:p>
        </p:txBody>
      </p:sp>
      <p:sp>
        <p:nvSpPr>
          <p:cNvPr id="196" name="Texto 196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La licencia lo permite, también en servicios de pago y sin contratar al autor. A cambio pide fidelidad, independencia y honestidad.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0" name="Texto 20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201" name="Texto 20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le permite la licencia y qué asume usted</a:t>
            </a:r>
          </a:p>
        </p:txBody>
      </p:sp>
      <p:sp>
        <p:nvSpPr>
          <p:cNvPr id="197" name="Texto 19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Puede usar, adaptar y aplicar el marco en servicios remunerados sin pedir permiso: basta reconocer la autoría, indicar los cambios y no sugerir respaldo del autor.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Responde de su servicio ante su cliente: SEVEN-G es un marco de referencia, no una garantía de resultado.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Declara qué versión aplica y qué ha adaptado, en cada entregable.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 información del cliente no se usa en otros clientes ni en ejemplos, ni siquiera anonimizada, sin autorización escrita.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 clasificación regulatoria y las cuestiones jurídicas requieren criterio jurídico cualificado; traslade el aviso legal a sus entregables.</a:t>
            </a:r>
          </a:p>
        </p:txBody>
      </p:sp>
      <p:sp>
        <p:nvSpPr>
          <p:cNvPr id="198" name="Texto 198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Documento 91, sección 2, y documento 93.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5" name="Texto 20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206" name="Texto 20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Seis reglas que no puede omitir sin declararlo</a:t>
            </a:r>
          </a:p>
        </p:txBody>
      </p:sp>
      <p:sp>
        <p:nvSpPr>
          <p:cNvPr id="202" name="Texto 202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Separación de funciones: quien construye no controla y nadie se aprueba a sí mismo.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Validación dual en las puertas y posibilidad real de parar.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Las diez reglas de medición: estado de cada importe, y la capacidad liberada no suma hasta materializarse.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Clasificación de la ambición con las cinco preguntas.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Madurez basada en evidencia observable, no en autoevaluación.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700" dirty="0">
                <a:solidFill>
                  <a:srgbClr val="2F2B28"/>
                </a:solidFill>
              </a:rPr>
              <a:t>Registro de recomendaciones con identificadores persistentes y valoración independiente.</a:t>
            </a:r>
          </a:p>
        </p:txBody>
      </p:sp>
      <p:sp>
        <p:nvSpPr>
          <p:cNvPr id="203" name="Texto 203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Si omite alguna, su servicio puede inspirarse en SEVEN-G, pero no presentarse como aplicación de SEVEN-G.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4" name="Texto 224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225" name="Texto 225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Cinco modelos de acompañamiento</a:t>
            </a:r>
          </a:p>
        </p:txBody>
      </p:sp>
      <p:sp>
        <p:nvSpPr>
          <p:cNvPr id="226" name="Texto 226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Qué se entrega en cada uno; las duraciones son orientativas</a:t>
            </a:r>
          </a:p>
        </p:txBody>
      </p:sp>
      <p:sp>
        <p:nvSpPr>
          <p:cNvPr id="207" name="Caja 207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M1 · Diagnóstico</a:t>
            </a:r>
          </a:p>
        </p:txBody>
      </p:sp>
      <p:sp>
        <p:nvSpPr>
          <p:cNvPr id="208" name="Caja 208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9" name="Texto 209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4 a 6 semanas. Inventario, madurez con evidencia (T15), índice de transformación (T14), valor y coste actuales. Informe C1 (P33).</a:t>
            </a:r>
          </a:p>
        </p:txBody>
      </p:sp>
      <p:sp>
        <p:nvSpPr>
          <p:cNvPr id="210" name="Caja 210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M2 · Implantación</a:t>
            </a:r>
          </a:p>
        </p:txBody>
      </p:sp>
      <p:sp>
        <p:nvSpPr>
          <p:cNvPr id="211" name="Caja 211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2" name="Texto 212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90 días. Tesis y apetito de riesgo, gobierno, cartera, registro T01 y panel con datos reales, y el primer paquete para el consejo.</a:t>
            </a:r>
          </a:p>
        </p:txBody>
      </p:sp>
      <p:sp>
        <p:nvSpPr>
          <p:cNvPr id="213" name="Caja 213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M3 · Auditoría</a:t>
            </a:r>
          </a:p>
        </p:txBody>
      </p:sp>
      <p:sp>
        <p:nvSpPr>
          <p:cNvPr id="214" name="Caja 214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5" name="Texto 215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Opinión independiente: Conforme, Conforme con observaciones o No conforme. Plan, papeles e informe (P58, P59, P60).</a:t>
            </a:r>
          </a:p>
        </p:txBody>
      </p:sp>
      <p:sp>
        <p:nvSpPr>
          <p:cNvPr id="216" name="Caja 216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M4 · Consejo</a:t>
            </a:r>
          </a:p>
        </p:txBody>
      </p:sp>
      <p:sp>
        <p:nvSpPr>
          <p:cNvPr id="217" name="Caja 217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8" name="Texto 218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Mandato anual. Preparar sesiones, revisar el paquete trimestral, recomendaciones registradas y valoraciones independientes.</a:t>
            </a:r>
          </a:p>
        </p:txBody>
      </p:sp>
      <p:sp>
        <p:nvSpPr>
          <p:cNvPr id="219" name="Caja 219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M5 · Continuo</a:t>
            </a:r>
          </a:p>
        </p:txBody>
      </p:sp>
      <p:sp>
        <p:nvSpPr>
          <p:cNvPr id="220" name="Caja 220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21" name="Texto 221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Apoyo a la oficina de IA: registro, métricas del embudo y paquetes, siempre con plan de transferencia y fecha de salida (P71).</a:t>
            </a:r>
          </a:p>
        </p:txBody>
      </p:sp>
      <p:sp>
        <p:nvSpPr>
          <p:cNvPr id="222" name="Texto 222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En todos, la compañía decide; usted prepara, propone, verifica o asesora.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0" name="Texto 23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231" name="Texto 23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Independencia: quien implanta no audita</a:t>
            </a:r>
          </a:p>
        </p:txBody>
      </p:sp>
      <p:sp>
        <p:nvSpPr>
          <p:cNvPr id="227" name="Texto 22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 puede verificar, auditar ni valorar de forma independiente lo que usted, su firma o una entidad vinculada ha diseñado, implantado u operado.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Implantación (M2) y auditoría (M3) son incompatibles en el mismo ámbito; tampoco asesorar al consejo (M4) sobre lo que usted opera (M5).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Tras un servicio incompatible, deje pasar al menos un ciclo anual completo antes de auditar ese ámbito.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Declare por escrito sus relaciones con proveedores de tecnología, herramientas propias y esquema de honorarios (P41).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Honorarios ligados al valor: solo sobre valor validado por control de gestión o por una auditoría ajena a usted.</a:t>
            </a:r>
          </a:p>
        </p:txBody>
      </p:sp>
      <p:sp>
        <p:nvSpPr>
          <p:cNvPr id="228" name="Texto 228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Documento 91, sección 5.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43" name="Texto 2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244" name="Texto 2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Qué puede decir y qué no</a:t>
            </a:r>
          </a:p>
        </p:txBody>
      </p:sp>
      <p:sp>
        <p:nvSpPr>
          <p:cNvPr id="245" name="Texto 2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SEVEN-G es una marca registrada de Fernando García Varela; la licencia de contenidos no cede la marca</a:t>
            </a:r>
          </a:p>
        </p:txBody>
      </p:sp>
      <p:sp>
        <p:nvSpPr>
          <p:cNvPr id="232" name="Caja 232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Sí</a:t>
            </a:r>
          </a:p>
        </p:txBody>
      </p:sp>
      <p:sp>
        <p:nvSpPr>
          <p:cNvPr id="233" name="Caja 233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34" name="Texto 234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«Servicio basado en SEVEN-G (versión …), marco de Fernando García Varela, CC BY 4.0.»   «Metodología adaptada de SEVEN-G; cambios: …»   «Utiliza el mapa de esferas y las reglas de medición de SEVEN-G.»</a:t>
            </a:r>
          </a:p>
        </p:txBody>
      </p:sp>
      <p:sp>
        <p:nvSpPr>
          <p:cNvPr id="235" name="Caja 235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No</a:t>
            </a:r>
          </a:p>
        </p:txBody>
      </p:sp>
      <p:sp>
        <p:nvSpPr>
          <p:cNvPr id="236" name="Caja 236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37" name="Texto 237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«Certificado SEVEN-G», «consultora acreditada», «partner oficial», «avalado por el autor»: no existe certificación ni programa de socios. Tampoco «cumplimiento garantizado por SEVEN-G».</a:t>
            </a:r>
          </a:p>
        </p:txBody>
      </p:sp>
      <p:sp>
        <p:nvSpPr>
          <p:cNvPr id="238" name="Caja 238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No prometa</a:t>
            </a:r>
          </a:p>
        </p:txBody>
      </p:sp>
      <p:sp>
        <p:nvSpPr>
          <p:cNvPr id="239" name="Caja 239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40" name="Texto 240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Un X % de ahorro antes del diagnóstico, un nivel de madurez en un plazo, «su compañía se transformará», «sin riesgo» o plazos de implantación sin haber diagnosticado.</a:t>
            </a:r>
          </a:p>
        </p:txBody>
      </p:sp>
      <p:sp>
        <p:nvSpPr>
          <p:cNvPr id="241" name="Texto 24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Documento 91, secciones 6 y 8.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48" name="Texto 24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CURSO · CONSULTOR · ACOMPAÑAR A CLIENTES</a:t>
            </a:r>
          </a:p>
        </p:txBody>
      </p:sp>
      <p:sp>
        <p:nvSpPr>
          <p:cNvPr id="249" name="Texto 24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Sus plantillas y la salida del servicio</a:t>
            </a:r>
          </a:p>
        </p:txBody>
      </p:sp>
      <p:sp>
        <p:nvSpPr>
          <p:cNvPr id="246" name="Texto 246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P70 Propuesta y carta de encargo: alcance, modelo (M1–M5), fuera de alcance, roles de ambas partes e independencia.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P41 Declaración de independencia y conflictos de interés, al inicio de todo servicio M3 o M4.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Calidad: cada entregable indica versión y adaptaciones, enlaza su evidencia y lo revisa un segundo profesional.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P71 Plan de transferencia y nota de salida: registros en formato abierto, evidencias localizadas, pendientes con responsable y riesgos abiertos.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La prueba de un buen trabajo: la compañía no le necesita para leer ni para mantener nada de lo entregado.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exto 250"/>
          <p:cNvSpPr txBox="1"/>
          <p:nvPr/>
        </p:nvSpPr>
        <p:spPr>
          <a:xfrm>
            <a:off x="609600" y="230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Gracias</a:t>
            </a:r>
          </a:p>
        </p:txBody>
      </p:sp>
      <p:sp>
        <p:nvSpPr>
          <p:cNvPr id="251" name="Texto 251"/>
          <p:cNvSpPr txBox="1"/>
          <p:nvPr/>
        </p:nvSpPr>
        <p:spPr>
          <a:xfrm>
            <a:off x="609600" y="335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es gratuito: se usa, se descarga y se adapta sin registrarse, y el sitio nunca le escribirá. Si quiere hablar con el autor, la iniciativa es suya.</a:t>
            </a:r>
          </a:p>
        </p:txBody>
      </p:sp>
      <p:sp>
        <p:nvSpPr>
          <p:cNvPr id="252" name="Texto 252"/>
          <p:cNvSpPr txBox="1"/>
          <p:nvPr/>
        </p:nvSpPr>
        <p:spPr>
          <a:xfrm>
            <a:off x="609600" y="43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SEVEN-G es una marca registrada de Fernando García Varela · CC BY 4.0 (contenidos) · MIT (código)</a:t>
            </a:r>
          </a:p>
        </p:txBody>
      </p:sp>
      <p:sp>
        <p:nvSpPr>
          <p:cNvPr id="253" name="Texto 253"/>
          <p:cNvSpPr txBox="1"/>
          <p:nvPr/>
        </p:nvSpPr>
        <p:spPr>
          <a:xfrm>
            <a:off x="609600" y="49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SEVEN-G build</Application>
  <Slides>26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Curso de SEVEN-G para el consultor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
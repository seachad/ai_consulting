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Partner · Integrarlo en su metodología</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Qué es SEVEN-G, cómo se llena el embudo de iniciativas hasta el panel del consejo y cómo integrarlo en su propia metodología o producto.</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Curso de autoaprendizaje · CC BY 4.0 · Ejemplos con datos ficticios</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problema que resuelve</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Muchas compañías tienen pilotos de IA que funcionan, pero pocos llegan a producción.</a:t>
            </a:r>
          </a:p>
          <a:p>
            <a:pPr marL="285750" indent="-285750">
              <a:spcAft>
                <a:spcPts val="400"/>
              </a:spcAft>
              <a:buClr>
                <a:srgbClr val="990F3D"/>
              </a:buClr>
              <a:buFont typeface="Arial"/>
              <a:buChar char="•"/>
            </a:pPr>
            <a:r>
              <a:rPr lang="es-ES" sz="1800" dirty="0">
                <a:solidFill>
                  <a:srgbClr val="2F2B28"/>
                </a:solidFill>
              </a:rPr>
              <a:t>El valor se declara («liberamos 200 horas») y casi nadie lo comprueba.</a:t>
            </a:r>
          </a:p>
          <a:p>
            <a:pPr marL="285750" indent="-285750">
              <a:spcAft>
                <a:spcPts val="400"/>
              </a:spcAft>
              <a:buClr>
                <a:srgbClr val="990F3D"/>
              </a:buClr>
              <a:buFont typeface="Arial"/>
              <a:buChar char="•"/>
            </a:pPr>
            <a:r>
              <a:rPr lang="es-ES" sz="1800" dirty="0">
                <a:solidFill>
                  <a:srgbClr val="2F2B28"/>
                </a:solidFill>
              </a:rPr>
              <a:t>Nadie tiene autoridad clara para parar una iniciativa que no funciona.</a:t>
            </a:r>
          </a:p>
          <a:p>
            <a:pPr marL="285750" indent="-285750">
              <a:spcAft>
                <a:spcPts val="400"/>
              </a:spcAft>
              <a:buClr>
                <a:srgbClr val="990F3D"/>
              </a:buClr>
              <a:buFont typeface="Arial"/>
              <a:buChar char="•"/>
            </a:pPr>
            <a:r>
              <a:rPr lang="es-ES" sz="1800" dirty="0">
                <a:solidFill>
                  <a:srgbClr val="2F2B28"/>
                </a:solidFill>
              </a:rPr>
              <a:t>El consejo pregunta por la IA y recibe una lista de proyectos técnicos, no decisiones de negocio.</a:t>
            </a:r>
          </a:p>
          <a:p>
            <a:pPr marL="285750" indent="-285750">
              <a:spcAft>
                <a:spcPts val="400"/>
              </a:spcAft>
              <a:buClr>
                <a:srgbClr val="990F3D"/>
              </a:buClr>
              <a:buFont typeface="Arial"/>
              <a:buChar char="•"/>
            </a:pPr>
            <a:r>
              <a:rPr lang="es-ES" sz="1800" dirty="0">
                <a:solidFill>
                  <a:srgbClr val="2F2B28"/>
                </a:solidFill>
              </a:rPr>
              <a:t>¿La compañía se está transformando con IA, o solo es un poco más eficiente? Casi nadie puede contestarlo con evidencia.</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No es un problema de tecnología: es un problema de gobierno y de medición.</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es SEVEN-G y qué aporta</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una fase 0 habilitante y siete fases de valor, con gobierno en todas.</a:t>
            </a:r>
          </a:p>
          <a:p>
            <a:pPr marL="285750" indent="-285750">
              <a:spcAft>
                <a:spcPts val="400"/>
              </a:spcAft>
              <a:buClr>
                <a:srgbClr val="990F3D"/>
              </a:buClr>
              <a:buFont typeface="Arial"/>
              <a:buChar char="•"/>
            </a:pPr>
            <a:r>
              <a:rPr lang="es-ES" sz="1800" dirty="0">
                <a:solidFill>
                  <a:srgbClr val="2F2B28"/>
                </a:solidFill>
              </a:rPr>
              <a:t>Ordena la IA como una cartera: cada iniciativa tiene fase, coste, valor esperado y responsable.</a:t>
            </a:r>
          </a:p>
          <a:p>
            <a:pPr marL="285750" indent="-285750">
              <a:spcAft>
                <a:spcPts val="400"/>
              </a:spcAft>
              <a:buClr>
                <a:srgbClr val="990F3D"/>
              </a:buClr>
              <a:buFont typeface="Arial"/>
              <a:buChar char="•"/>
            </a:pPr>
            <a:r>
              <a:rPr lang="es-ES" sz="1800" dirty="0">
                <a:solidFill>
                  <a:srgbClr val="2F2B28"/>
                </a:solidFill>
              </a:rPr>
              <a:t>Pone puertas de decisión entre las fases: sin evidencia verificada no se avanza.</a:t>
            </a:r>
          </a:p>
          <a:p>
            <a:pPr marL="285750" indent="-285750">
              <a:spcAft>
                <a:spcPts val="400"/>
              </a:spcAft>
              <a:buClr>
                <a:srgbClr val="990F3D"/>
              </a:buClr>
              <a:buFont typeface="Arial"/>
              <a:buChar char="•"/>
            </a:pPr>
            <a:r>
              <a:rPr lang="es-ES" sz="1800" dirty="0">
                <a:solidFill>
                  <a:srgbClr val="2F2B28"/>
                </a:solidFill>
              </a:rPr>
              <a:t>Separa quién decide, quién construye y quién controla, y traduce la regulación a fases, roles y evidencias.</a:t>
            </a:r>
          </a:p>
          <a:p>
            <a:pPr marL="285750" indent="-285750">
              <a:spcAft>
                <a:spcPts val="400"/>
              </a:spcAft>
              <a:buClr>
                <a:srgbClr val="990F3D"/>
              </a:buClr>
              <a:buFont typeface="Arial"/>
              <a:buChar char="•"/>
            </a:pPr>
            <a:r>
              <a:rPr lang="es-ES" sz="1800" dirty="0">
                <a:solidFill>
                  <a:srgbClr val="2F2B28"/>
                </a:solidFill>
              </a:rPr>
              <a:t>Mide el valor en dinero y con estado —validado, declarado o estimado— y se lo enseña al consejo en un panel.</a:t>
            </a:r>
          </a:p>
          <a:p>
            <a:pPr marL="285750" indent="-285750">
              <a:spcAft>
                <a:spcPts val="400"/>
              </a:spcAft>
              <a:buClr>
                <a:srgbClr val="990F3D"/>
              </a:buClr>
              <a:buFont typeface="Arial"/>
              <a:buChar char="•"/>
            </a:pPr>
            <a:r>
              <a:rPr lang="es-ES" sz="1800" dirty="0">
                <a:solidFill>
                  <a:srgbClr val="2F2B28"/>
                </a:solidFill>
              </a:rPr>
              <a:t>Es gratuito y modificable: documentos, plantillas en Word y herramientas, con licencia abierta.</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Dos niveles: la compañía y cada iniciativa</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Diagnóstico: inventario, madurez en siete dimensiones e índice de transformación.</a:t>
            </a:r>
          </a:p>
          <a:p>
            <a:pPr marL="285750" indent="-285750">
              <a:spcAft>
                <a:spcPts val="400"/>
              </a:spcAft>
              <a:buClr>
                <a:srgbClr val="990F3D"/>
              </a:buClr>
              <a:buFont typeface="Arial"/>
              <a:buChar char="•"/>
            </a:pPr>
            <a:r>
              <a:rPr lang="es-ES" sz="1800" dirty="0">
                <a:solidFill>
                  <a:srgbClr val="2F2B28"/>
                </a:solidFill>
              </a:rPr>
              <a:t>C2 · Dirección: el consejo aprueba la tesis de IA, la ambición por esfera y el apetito de riesgo.</a:t>
            </a:r>
          </a:p>
          <a:p>
            <a:pPr marL="285750" indent="-285750">
              <a:spcAft>
                <a:spcPts val="400"/>
              </a:spcAft>
              <a:buClr>
                <a:srgbClr val="990F3D"/>
              </a:buClr>
              <a:buFont typeface="Arial"/>
              <a:buChar char="•"/>
            </a:pPr>
            <a:r>
              <a:rPr lang="es-ES" sz="1800" dirty="0">
                <a:solidFill>
                  <a:srgbClr val="2F2B28"/>
                </a:solidFill>
              </a:rPr>
              <a:t>C3 · Cartera: qué iniciativas se financian y en qué orden.</a:t>
            </a:r>
          </a:p>
          <a:p>
            <a:pPr marL="285750" indent="-285750">
              <a:spcAft>
                <a:spcPts val="400"/>
              </a:spcAft>
              <a:buClr>
                <a:srgbClr val="990F3D"/>
              </a:buClr>
              <a:buFont typeface="Arial"/>
              <a:buChar char="•"/>
            </a:pPr>
            <a:r>
              <a:rPr lang="es-ES" sz="1800" dirty="0">
                <a:solidFill>
                  <a:srgbClr val="2F2B28"/>
                </a:solidFill>
              </a:rPr>
              <a:t>C4 · Supervisión: panel del consejo y registro de decisiones y recomendaciones.</a:t>
            </a:r>
          </a:p>
          <a:p>
            <a:pPr marL="285750" indent="-285750">
              <a:spcAft>
                <a:spcPts val="400"/>
              </a:spcAft>
              <a:buClr>
                <a:srgbClr val="990F3D"/>
              </a:buClr>
              <a:buFont typeface="Arial"/>
              <a:buChar char="•"/>
            </a:pPr>
            <a:r>
              <a:rPr lang="es-ES" sz="1800" dirty="0">
                <a:solidFill>
                  <a:srgbClr val="2F2B28"/>
                </a:solidFill>
              </a:rPr>
              <a:t>C5 · Revisión anual: qué funcionó, qué no y qué cambia.</a:t>
            </a:r>
          </a:p>
          <a:p>
            <a:pPr marL="285750" indent="-285750">
              <a:spcAft>
                <a:spcPts val="400"/>
              </a:spcAft>
              <a:buClr>
                <a:srgbClr val="990F3D"/>
              </a:buClr>
              <a:buFont typeface="Arial"/>
              <a:buChar char="•"/>
            </a:pPr>
            <a:r>
              <a:rPr lang="es-ES" sz="1800" dirty="0">
                <a:solidFill>
                  <a:srgbClr val="2F2B28"/>
                </a:solidFill>
              </a:rPr>
              <a:t>Y, dentro de esa cartera, cada iniciativa recorre su propio ciclo de vida de ocho fases.</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ciclo de vida de una iniciativa</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Ocho fases con una puerta de decisión al final de cada una; debajo, la etapa del embudo en la que se ve cada fase</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Evolución o retirada</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Propuesto</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Hipótesis de valor</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Prueba de concepto</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En desarrollo</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En uso</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puede pasar en cada puerta</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Cinco resultados; quien aporta la evidencia nunca es quien verifica ni quien decide</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Continuar</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Se cumplen todos los criterios y las evidencias están verificadas: pasa a la fase siguiente.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Con condiciones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Pasa, con plazo y responsable para lo pendiente. Nunca para controles críticos de seguridad, legales o de supervisión humana.</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Iterar</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Se repite la fase con un ajuste concreto y se vuelve a la misma puerta. A la tercera, decide el órgano superior.</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Pivotar</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La hipótesis no se sostiene pero hay otra razonable: vuelve a la fase 2. Solo en G1, G2 y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Parar</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hay valor plausible o el riesgo es inaceptable. Se registran el motivo y lo aprendido. Es un buen resultado.</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En G7 los resultados son Escalar, Iterar o Retirar.</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DEL DOCUMENTO AL PANEL</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Cómo se llena el embudo</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Nadie dibuja el embudo ni el panel: salen solos de lo que se rellena y se decide en cada fase. Este es el recorrido.</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0 a 3: de la idea a la prueba de concepto</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Qué se hace, qué plantillas se rellenan y qué puerta cierra cada fase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Contexto y restricciones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autoriza la idea: patrocinador, responsable, alcance, restricciones e intensidad (Lite o Enterprise).</a:t>
            </a:r>
          </a:p>
          <a:p>
            <a:pPr algn="l">
              <a:spcAft>
                <a:spcPts val="500"/>
              </a:spcAft>
            </a:pPr>
            <a:r>
              <a:rPr lang="es-ES" sz="1150" b="1" dirty="0">
                <a:solidFill>
                  <a:srgbClr val="1A1817"/>
                </a:solidFill>
              </a:rPr>
              <a:t>Se rellena. </a:t>
            </a:r>
            <a:r>
              <a:rPr lang="es-ES" sz="1150" dirty="0">
                <a:solidFill>
                  <a:srgbClr val="2F2B28"/>
                </a:solidFill>
              </a:rPr>
              <a:t>P01 Carta de la iniciativa · P02 Contexto y restricciones · P03 Roles · P04 Intensidad · P05 Alta en el inventario.</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entra en «Propuesto»</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Descubrimiento</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comparan oportunidades, también alternativas sin IA, y se propone esfera y nivel de ambición.</a:t>
            </a:r>
          </a:p>
          <a:p>
            <a:pPr algn="l">
              <a:spcAft>
                <a:spcPts val="500"/>
              </a:spcAft>
            </a:pPr>
            <a:r>
              <a:rPr lang="es-ES" sz="1150" b="1" dirty="0">
                <a:solidFill>
                  <a:srgbClr val="1A1817"/>
                </a:solidFill>
              </a:rPr>
              <a:t>Se rellena. </a:t>
            </a:r>
            <a:r>
              <a:rPr lang="es-ES" sz="1150" dirty="0">
                <a:solidFill>
                  <a:srgbClr val="2F2B28"/>
                </a:solidFill>
              </a:rPr>
              <a:t>P06 Cartera de oportunidades y filtrado · P07 Esfera y ambición · P31 Ficha de caso de uso.</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sigue en «Propuesto»</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Hipótesis de valor</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Hipótesis falsable en dinero, con línea base, método de atribución y criterios de parada fijados antes de empezar.</a:t>
            </a:r>
          </a:p>
          <a:p>
            <a:pPr algn="l">
              <a:spcAft>
                <a:spcPts val="500"/>
              </a:spcAft>
            </a:pPr>
            <a:r>
              <a:rPr lang="es-ES" sz="1150" b="1" dirty="0">
                <a:solidFill>
                  <a:srgbClr val="1A1817"/>
                </a:solidFill>
              </a:rPr>
              <a:t>Se rellena. </a:t>
            </a:r>
            <a:r>
              <a:rPr lang="es-ES" sz="1150" dirty="0">
                <a:solidFill>
                  <a:srgbClr val="2F2B28"/>
                </a:solidFill>
              </a:rPr>
              <a:t>P08 Lienzo de hipótesis de valor · P09 Línea base. Apoyo: calculadora T11.</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«Hipótesis de valor»</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Viabilidad y riesgo</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Prueba de concepto: viabilidad, clasificación regulatoria, riesgos y proveedores. Es la principal puerta de parada.</a:t>
            </a:r>
          </a:p>
          <a:p>
            <a:pPr algn="l">
              <a:spcAft>
                <a:spcPts val="500"/>
              </a:spcAft>
            </a:pPr>
            <a:r>
              <a:rPr lang="es-ES" sz="1150" b="1" dirty="0">
                <a:solidFill>
                  <a:srgbClr val="1A1817"/>
                </a:solidFill>
              </a:rPr>
              <a:t>Se rellena. </a:t>
            </a:r>
            <a:r>
              <a:rPr lang="es-ES" sz="1150" dirty="0">
                <a:solidFill>
                  <a:srgbClr val="2F2B28"/>
                </a:solidFill>
              </a:rPr>
              <a:t>P10 Viabilidad · P11 Clasificación regulatoria e impacto · P12 Riesgos · P13 Mitigación · P14 Proveedor.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«Prueba de concepto»</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4 a 7: del diseño a la producción y la retirada</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puesta en producción no cierra el ciclo: abre la operación, con revisiones periódicas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Diseño de la solución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Antes de construir: arquitectura, linaje de datos y modelos, supervisión humana, seguridad, reversión y adopción.</a:t>
            </a:r>
          </a:p>
          <a:p>
            <a:pPr algn="l">
              <a:spcAft>
                <a:spcPts val="500"/>
              </a:spcAft>
            </a:pPr>
            <a:r>
              <a:rPr lang="es-ES" sz="1150" b="1" dirty="0">
                <a:solidFill>
                  <a:srgbClr val="1A1817"/>
                </a:solidFill>
              </a:rPr>
              <a:t>Se rellena. </a:t>
            </a:r>
            <a:r>
              <a:rPr lang="es-ES" sz="1150" dirty="0">
                <a:solidFill>
                  <a:srgbClr val="2F2B28"/>
                </a:solidFill>
              </a:rPr>
              <a:t>P15 Arquitectura · P16 Linaje · P17 Supervisión humana · P18 Seguridad · P19 Reversión · P20 Adopción.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«En desarrollo»</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Entrega y validación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construye, se valida y se pilota; se prueba la reversión y se firma la puesta en producción.</a:t>
            </a:r>
          </a:p>
          <a:p>
            <a:pPr algn="l">
              <a:spcAft>
                <a:spcPts val="500"/>
              </a:spcAft>
            </a:pPr>
            <a:r>
              <a:rPr lang="es-ES" sz="1150" b="1" dirty="0">
                <a:solidFill>
                  <a:srgbClr val="1A1817"/>
                </a:solidFill>
              </a:rPr>
              <a:t>Se rellena. </a:t>
            </a:r>
            <a:r>
              <a:rPr lang="es-ES" sz="1150" dirty="0">
                <a:solidFill>
                  <a:srgbClr val="2F2B28"/>
                </a:solidFill>
              </a:rPr>
              <a:t>P21 Informe de entrega · P22 Validación y piloto · P23 Firma de puesta en producción · P12 actualizado.</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pasa a «En uso»</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Operación y gobierno</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Monitorización, incidentes, cambios y seguimiento del valor realizado, con revisión de continuidad periódica.</a:t>
            </a:r>
          </a:p>
          <a:p>
            <a:pPr algn="l">
              <a:spcAft>
                <a:spcPts val="500"/>
              </a:spcAft>
            </a:pPr>
            <a:r>
              <a:rPr lang="es-ES" sz="1150" b="1" dirty="0">
                <a:solidFill>
                  <a:srgbClr val="1A1817"/>
                </a:solidFill>
              </a:rPr>
              <a:t>Se rellena. </a:t>
            </a:r>
            <a:r>
              <a:rPr lang="es-ES" sz="1150" dirty="0">
                <a:solidFill>
                  <a:srgbClr val="2F2B28"/>
                </a:solidFill>
              </a:rPr>
              <a:t>P24 Manual de operación · P25 Monitorización · P26 y P27 Incidentes y cambios · P28 Valor · P65 Paquete R6.</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sigue «En uso» o adelanta G7</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Evolución o retirada</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Con el valor realizado delante se decide escalar, iterar o retirar, y se registran las lecciones.</a:t>
            </a:r>
          </a:p>
          <a:p>
            <a:pPr algn="l">
              <a:spcAft>
                <a:spcPts val="500"/>
              </a:spcAft>
            </a:pPr>
            <a:r>
              <a:rPr lang="es-ES" sz="1150" b="1" dirty="0">
                <a:solidFill>
                  <a:srgbClr val="1A1817"/>
                </a:solidFill>
              </a:rPr>
              <a:t>Se rellena. </a:t>
            </a:r>
            <a:r>
              <a:rPr lang="es-ES" sz="1150" dirty="0">
                <a:solidFill>
                  <a:srgbClr val="2F2B28"/>
                </a:solidFill>
              </a:rPr>
              <a:t>P28 Seguimiento del valor · P30 Decisión de escalado o retirada, con plan de retirada si procede.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escala, itera o «Desenganchado»</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registro de iniciativas (T01): donde todo queda anotado</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Cada iniciativa se da de alta como una oportunidad en un CRM; aquí, el registro de ejemplo con datos ficticios</a:t>
            </a:r>
          </a:p>
        </p:txBody>
      </p:sp>
      <p:pic>
        <p:nvPicPr>
          <p:cNvPr id="112" name="Imagen 112" descr="Vista de embudo del registro de iniciativas T01"/>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Una barra por fase: cuántas iniciativas hay ahora en cada una y cuánto valor esperado llevan.</a:t>
            </a:r>
          </a:p>
          <a:p>
            <a:pPr marL="285750" indent="-285750">
              <a:spcAft>
                <a:spcPts val="400"/>
              </a:spcAft>
              <a:buClr>
                <a:srgbClr val="990F3D"/>
              </a:buClr>
              <a:buFont typeface="Arial"/>
              <a:buChar char="•"/>
            </a:pPr>
            <a:r>
              <a:rPr lang="es-ES" sz="1300" dirty="0">
                <a:solidFill>
                  <a:srgbClr val="2F2B28"/>
                </a:solidFill>
              </a:rPr>
              <a:t>Al decidir una puerta, el registro guarda la fecha, el resultado, quién verificó y quién decidió, y el estado de cada criterio.</a:t>
            </a:r>
          </a:p>
          <a:p>
            <a:pPr marL="285750" indent="-285750">
              <a:spcAft>
                <a:spcPts val="400"/>
              </a:spcAft>
              <a:buClr>
                <a:srgbClr val="990F3D"/>
              </a:buClr>
              <a:buFont typeface="Arial"/>
              <a:buChar char="•"/>
            </a:pPr>
            <a:r>
              <a:rPr lang="es-ES" sz="1300" dirty="0">
                <a:solidFill>
                  <a:srgbClr val="2F2B28"/>
                </a:solidFill>
              </a:rPr>
              <a:t>Con esas fechas calcula solo el tiempo en fase y marca «estancadas» las que superan el plazo de referencia.</a:t>
            </a:r>
          </a:p>
          <a:p>
            <a:pPr marL="285750" indent="-285750">
              <a:spcAft>
                <a:spcPts val="400"/>
              </a:spcAft>
              <a:buClr>
                <a:srgbClr val="990F3D"/>
              </a:buClr>
              <a:buFont typeface="Arial"/>
              <a:buChar char="•"/>
            </a:pPr>
            <a:r>
              <a:rPr lang="es-ES" sz="1300" dirty="0">
                <a:solidFill>
                  <a:srgbClr val="2F2B28"/>
                </a:solidFill>
              </a:rPr>
              <a:t>Las cifras llevan estado: validado, declarado o estimado. Lo que no se sabe queda «sin dato», nunca cero.</a:t>
            </a:r>
          </a:p>
          <a:p>
            <a:pPr marL="285750" indent="-285750">
              <a:spcAft>
                <a:spcPts val="400"/>
              </a:spcAft>
              <a:buClr>
                <a:srgbClr val="990F3D"/>
              </a:buClr>
              <a:buFont typeface="Arial"/>
              <a:buChar char="•"/>
            </a:pPr>
            <a:r>
              <a:rPr lang="es-ES" sz="1300" dirty="0">
                <a:solidFill>
                  <a:srgbClr val="2F2B28"/>
                </a:solidFill>
              </a:rPr>
              <a:t>Alertas: puertas pendientes, condiciones vencidas, riesgos sin responsable.</a:t>
            </a:r>
          </a:p>
          <a:p>
            <a:pPr marL="285750" indent="-285750">
              <a:spcAft>
                <a:spcPts val="400"/>
              </a:spcAft>
              <a:buClr>
                <a:srgbClr val="990F3D"/>
              </a:buClr>
              <a:buFont typeface="Arial"/>
              <a:buChar char="•"/>
            </a:pPr>
            <a:r>
              <a:rPr lang="es-ES" sz="1300" dirty="0">
                <a:solidFill>
                  <a:srgbClr val="2F2B28"/>
                </a:solidFill>
              </a:rPr>
              <a:t>Todo se guarda en un fichero JSON de la propia compañía: sin servidor y sin enviar datos a nadie.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embudo de la cartera: cómo se lee</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cartera de IA, leída como un embudo comercial. Datos ilustrativos</a:t>
            </a:r>
          </a:p>
        </p:txBody>
      </p:sp>
      <p:pic>
        <p:nvPicPr>
          <p:cNvPr id="118" name="Imagen 118" descr="Embudo de iniciativas de IA con sus etapas, salidas y casos en uso"/>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Dentro del embudo, solo lo que está en curso: 5 propuestas, 4 con hipótesis de valor, 3 en prueba de concepto y 4 en desarrollo.</a:t>
            </a:r>
          </a:p>
          <a:p>
            <a:pPr marL="285750" indent="-285750">
              <a:spcAft>
                <a:spcPts val="400"/>
              </a:spcAft>
              <a:buClr>
                <a:srgbClr val="990F3D"/>
              </a:buClr>
              <a:buFont typeface="Arial"/>
              <a:buChar char="•"/>
            </a:pPr>
            <a:r>
              <a:rPr lang="es-ES" sz="1300" dirty="0">
                <a:solidFill>
                  <a:srgbClr val="2F2B28"/>
                </a:solidFill>
              </a:rPr>
              <a:t>A la izquierda, cuántas alcanzaron cada etapa (40 → 31 → 24 → 17) y cuánto tardan. El triángulo rojo avisa: la prueba de concepto supera su plazo.</a:t>
            </a:r>
          </a:p>
          <a:p>
            <a:pPr marL="285750" indent="-285750">
              <a:spcAft>
                <a:spcPts val="400"/>
              </a:spcAft>
              <a:buClr>
                <a:srgbClr val="990F3D"/>
              </a:buClr>
              <a:buFont typeface="Arial"/>
              <a:buChar char="•"/>
            </a:pPr>
            <a:r>
              <a:rPr lang="es-ES" sz="1300" dirty="0">
                <a:solidFill>
                  <a:srgbClr val="2F2B28"/>
                </a:solidFill>
              </a:rPr>
              <a:t>A la derecha, las que no superaron cada etapa y por qué: sin valor plausible, hipótesis refutada, riesgo inaceptable, coste superior al valor.</a:t>
            </a:r>
          </a:p>
          <a:p>
            <a:pPr marL="285750" indent="-285750">
              <a:spcAft>
                <a:spcPts val="400"/>
              </a:spcAft>
              <a:buClr>
                <a:srgbClr val="990F3D"/>
              </a:buClr>
              <a:buFont typeface="Arial"/>
              <a:buChar char="•"/>
            </a:pPr>
            <a:r>
              <a:rPr lang="es-ES" sz="1300" dirty="0">
                <a:solidFill>
                  <a:srgbClr val="2F2B28"/>
                </a:solidFill>
              </a:rPr>
              <a:t>Debajo, las que ya lo atravesaron: 11 en uso, con su valor y su coste, y 1 desenganchada.</a:t>
            </a:r>
          </a:p>
          <a:p>
            <a:pPr marL="285750" indent="-285750">
              <a:spcAft>
                <a:spcPts val="400"/>
              </a:spcAft>
              <a:buClr>
                <a:srgbClr val="990F3D"/>
              </a:buClr>
              <a:buFont typeface="Arial"/>
              <a:buChar char="•"/>
            </a:pPr>
            <a:r>
              <a:rPr lang="es-ES" sz="1300" dirty="0">
                <a:solidFill>
                  <a:srgbClr val="2F2B28"/>
                </a:solidFill>
              </a:rPr>
              <a:t>No se busca convertir más: parar en G3 una iniciativa inviable es un buen resultado. Un 100 % de conversión indicaría puertas blandas.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panel del consejo (T17): cómo se lee</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Se genera del mismo registro, sin volver a teclear nada. Datos ficticios</a:t>
            </a:r>
          </a:p>
        </p:txBody>
      </p:sp>
      <p:pic>
        <p:nvPicPr>
          <p:cNvPr id="124" name="Imagen 124" descr="Panel del consejo con las tarjetas de cartera y valor"/>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casos: cuántos hay en uso, en desarrollo, en prueba de concepto, propuestos y fuera.</a:t>
            </a:r>
          </a:p>
          <a:p>
            <a:pPr marL="285750" indent="-285750">
              <a:spcAft>
                <a:spcPts val="400"/>
              </a:spcAft>
              <a:buClr>
                <a:srgbClr val="990F3D"/>
              </a:buClr>
              <a:buFont typeface="Arial"/>
              <a:buChar char="•"/>
            </a:pPr>
            <a:r>
              <a:rPr lang="es-ES" sz="1300" dirty="0">
                <a:solidFill>
                  <a:srgbClr val="2F2B28"/>
                </a:solidFill>
              </a:rPr>
              <a:t>Costes 2,4 M€ al año y retorno total 7,3 M€ (eficiencias más retorno): el neto anual es 4,8 M€.</a:t>
            </a:r>
          </a:p>
          <a:p>
            <a:pPr marL="285750" indent="-285750">
              <a:spcAft>
                <a:spcPts val="400"/>
              </a:spcAft>
              <a:buClr>
                <a:srgbClr val="990F3D"/>
              </a:buClr>
              <a:buFont typeface="Arial"/>
              <a:buChar char="•"/>
            </a:pPr>
            <a:r>
              <a:rPr lang="es-ES" sz="1300" dirty="0">
                <a:solidFill>
                  <a:srgbClr val="2F2B28"/>
                </a:solidFill>
              </a:rPr>
              <a:t>La tarjeta amarilla es la importante: solo el 36 % del valor está validado por control de gestión. El resto es declarado o estimado.</a:t>
            </a:r>
          </a:p>
          <a:p>
            <a:pPr marL="285750" indent="-285750">
              <a:spcAft>
                <a:spcPts val="400"/>
              </a:spcAft>
              <a:buClr>
                <a:srgbClr val="990F3D"/>
              </a:buClr>
              <a:buFont typeface="Arial"/>
              <a:buChar char="•"/>
            </a:pPr>
            <a:r>
              <a:rPr lang="es-ES" sz="1300" dirty="0">
                <a:solidFill>
                  <a:srgbClr val="2F2B28"/>
                </a:solidFill>
              </a:rPr>
              <a:t>La capacidad liberada que no se materializa aparece aparte y no suma.</a:t>
            </a:r>
          </a:p>
          <a:p>
            <a:pPr marL="285750" indent="-285750">
              <a:spcAft>
                <a:spcPts val="400"/>
              </a:spcAft>
              <a:buClr>
                <a:srgbClr val="990F3D"/>
              </a:buClr>
              <a:buFont typeface="Arial"/>
              <a:buChar char="•"/>
            </a:pPr>
            <a:r>
              <a:rPr lang="es-ES" sz="1300" dirty="0">
                <a:solidFill>
                  <a:srgbClr val="2F2B28"/>
                </a:solidFill>
              </a:rPr>
              <a:t>En rojo: solo 3 de 15 casos tienen todos los controles (evaluaciones de impacto, seguridad, manual de uso).</a:t>
            </a:r>
          </a:p>
          <a:p>
            <a:pPr marL="285750" indent="-285750">
              <a:spcAft>
                <a:spcPts val="400"/>
              </a:spcAft>
              <a:buClr>
                <a:srgbClr val="990F3D"/>
              </a:buClr>
              <a:buFont typeface="Arial"/>
              <a:buChar char="•"/>
            </a:pPr>
            <a:r>
              <a:rPr lang="es-ES" sz="1300" dirty="0">
                <a:solidFill>
                  <a:srgbClr val="2F2B28"/>
                </a:solidFill>
              </a:rPr>
              <a:t>Otras páginas: embudo y ciclo de vida, histórico y adopción, riesgo y cumplimiento, inventario.</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Si una cifra del panel no gusta, no se retoca el panel: se corrige la evidencia en el registro y se vuelve a generar.</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DOS EJEMPLOS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Una iniciativa que se para y otra que llega a producción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Datos ficticios, ilustrativos: no describen ninguna compañía real.</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1 · Cuando una iniciativa se para</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Cribado de candidaturas en procesos de selección (RR. HH.)</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RR. HH. la patrocina (P01–P05). Al decidir sobre personas, la intensidad es Enterprise (P04). Entra en «Propuesto».</a:t>
            </a:r>
          </a:p>
          <a:p>
            <a:pPr marL="285750" indent="-285750">
              <a:spcAft>
                <a:spcPts val="400"/>
              </a:spcAft>
              <a:buClr>
                <a:srgbClr val="990F3D"/>
              </a:buClr>
              <a:buFont typeface="Arial"/>
              <a:buChar char="•"/>
            </a:pPr>
            <a:r>
              <a:rPr lang="es-ES" sz="1500" dirty="0">
                <a:solidFill>
                  <a:srgbClr val="2F2B28"/>
                </a:solidFill>
              </a:rPr>
              <a:t>Fase 2: la hipótesis (P08) promete un 40 % menos de tiempo de cribado frente a la línea base (P09). El piloto lo confirma: G2, Continuar.</a:t>
            </a:r>
          </a:p>
          <a:p>
            <a:pPr marL="285750" indent="-285750">
              <a:spcAft>
                <a:spcPts val="400"/>
              </a:spcAft>
              <a:buClr>
                <a:srgbClr val="990F3D"/>
              </a:buClr>
              <a:buFont typeface="Arial"/>
              <a:buChar char="•"/>
            </a:pPr>
            <a:r>
              <a:rPr lang="es-ES" sz="1500" dirty="0">
                <a:solidFill>
                  <a:srgbClr val="2F2B28"/>
                </a:solidFill>
              </a:rPr>
              <a:t>Fase 3: la clasificación regulatoria (P11) lo sitúa como sistema de alto riesgo. La prueba de sesgo detecta que penaliza a candidatos de más edad.</a:t>
            </a:r>
          </a:p>
          <a:p>
            <a:pPr marL="285750" indent="-285750">
              <a:spcAft>
                <a:spcPts val="400"/>
              </a:spcAft>
              <a:buClr>
                <a:srgbClr val="990F3D"/>
              </a:buClr>
              <a:buFont typeface="Arial"/>
              <a:buChar char="•"/>
            </a:pPr>
            <a:r>
              <a:rPr lang="es-ES" sz="1500" dirty="0">
                <a:solidFill>
                  <a:srgbClr val="2F2B28"/>
                </a:solidFill>
              </a:rPr>
              <a:t>Se itera dos veces ajustando variables: corregir el sesgo destruye la capacidad predictiva que justificaba el proyecto.</a:t>
            </a:r>
          </a:p>
          <a:p>
            <a:pPr marL="285750" indent="-285750">
              <a:spcAft>
                <a:spcPts val="400"/>
              </a:spcAft>
              <a:buClr>
                <a:srgbClr val="990F3D"/>
              </a:buClr>
              <a:buFont typeface="Arial"/>
              <a:buChar char="•"/>
            </a:pPr>
            <a:r>
              <a:rPr lang="es-ES" sz="1500" dirty="0">
                <a:solidFill>
                  <a:srgbClr val="2F2B28"/>
                </a:solidFill>
              </a:rPr>
              <a:t>G3: riesgo residual alto sin mitigación viable (P12, P13). El comité de IA decide Parar; queda en P29 con su motivo.</a:t>
            </a:r>
          </a:p>
          <a:p>
            <a:pPr marL="285750" indent="-285750">
              <a:spcAft>
                <a:spcPts val="400"/>
              </a:spcAft>
              <a:buClr>
                <a:srgbClr val="990F3D"/>
              </a:buClr>
              <a:buFont typeface="Arial"/>
              <a:buChar char="•"/>
            </a:pPr>
            <a:r>
              <a:rPr lang="es-ES" sz="1500" dirty="0">
                <a:solidFill>
                  <a:srgbClr val="2F2B28"/>
                </a:solidFill>
              </a:rPr>
              <a:t>En el embudo aparece a la derecha de «Prueba de concepto»: Descartado · riesgo inaceptable. Lección: probar el sesgo antes, en la fase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PARADA EN G3 · SE EVITÓ CONSTRUIR Y OPERAR UN SISTEMA INVIABLE</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1, sobre el ciclo de vida</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Llegó a la fase 3 y no superó la puerta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Diseño de la solución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Entrega y validación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Operación y gobierno</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PARADA EN G3 · sale del embudo como «Descartado», con su motivo</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2 · Cuando una iniciativa llega a producción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Asistente de respuesta a incidencias de TI de primer nivel</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TI la patrocina; frente a la alternativa sin IA (más plantilla), se propone la esfera de operaciones con ambición Optimizar (P07).</a:t>
            </a:r>
          </a:p>
          <a:p>
            <a:pPr marL="285750" indent="-285750">
              <a:spcAft>
                <a:spcPts val="400"/>
              </a:spcAft>
              <a:buClr>
                <a:srgbClr val="990F3D"/>
              </a:buClr>
              <a:buFont typeface="Arial"/>
              <a:buChar char="•"/>
            </a:pPr>
            <a:r>
              <a:rPr lang="es-ES" sz="1500" dirty="0">
                <a:solidFill>
                  <a:srgbClr val="2F2B28"/>
                </a:solidFill>
              </a:rPr>
              <a:t>Fase 2: hipótesis de un 30 % menos de tiempo de resolución en incidencias sencillas; el piloto controlado da un 32 %.</a:t>
            </a:r>
          </a:p>
          <a:p>
            <a:pPr marL="285750" indent="-285750">
              <a:spcAft>
                <a:spcPts val="400"/>
              </a:spcAft>
              <a:buClr>
                <a:srgbClr val="990F3D"/>
              </a:buClr>
              <a:buFont typeface="Arial"/>
              <a:buChar char="•"/>
            </a:pPr>
            <a:r>
              <a:rPr lang="es-ES" sz="1500" dirty="0">
                <a:solidFill>
                  <a:srgbClr val="2F2B28"/>
                </a:solidFill>
              </a:rPr>
              <a:t>Fase 3: sin sesgo relevante, riesgo residual medio aceptado por su órgano (P12), proveedor evaluado (P14). G3, Continuar.</a:t>
            </a:r>
          </a:p>
          <a:p>
            <a:pPr marL="285750" indent="-285750">
              <a:spcAft>
                <a:spcPts val="400"/>
              </a:spcAft>
              <a:buClr>
                <a:srgbClr val="990F3D"/>
              </a:buClr>
              <a:buFont typeface="Arial"/>
              <a:buChar char="•"/>
            </a:pPr>
            <a:r>
              <a:rPr lang="es-ES" sz="1500" dirty="0">
                <a:solidFill>
                  <a:srgbClr val="2F2B28"/>
                </a:solidFill>
              </a:rPr>
              <a:t>Fases 4 y 5: supervisión humana obligatoria por encima de cierta gravedad (P17), reversión probada (P19) y firma de puesta en producción (P23).</a:t>
            </a:r>
          </a:p>
          <a:p>
            <a:pPr marL="285750" indent="-285750">
              <a:spcAft>
                <a:spcPts val="400"/>
              </a:spcAft>
              <a:buClr>
                <a:srgbClr val="990F3D"/>
              </a:buClr>
              <a:buFont typeface="Arial"/>
              <a:buChar char="•"/>
            </a:pPr>
            <a:r>
              <a:rPr lang="es-ES" sz="1500" dirty="0">
                <a:solidFill>
                  <a:srgbClr val="2F2B28"/>
                </a:solidFill>
              </a:rPr>
              <a:t>Fase 6: catorce meses en uso. Control de gestión valida 1,1 M€ al año (P28); la capacidad liberada se reasignó a incidencias complejas.</a:t>
            </a:r>
          </a:p>
          <a:p>
            <a:pPr marL="285750" indent="-285750">
              <a:spcAft>
                <a:spcPts val="400"/>
              </a:spcAft>
              <a:buClr>
                <a:srgbClr val="990F3D"/>
              </a:buClr>
              <a:buFont typeface="Arial"/>
              <a:buChar char="•"/>
            </a:pPr>
            <a:r>
              <a:rPr lang="es-ES" sz="1500" dirty="0">
                <a:solidFill>
                  <a:srgbClr val="2F2B28"/>
                </a:solidFill>
              </a:rPr>
              <a:t>En el embudo está en «En uso»; en el panel suma al neto anual porque su valor está validado, no declarado.</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EN PRODUCCIÓN · 1,1 M€ DE RETORNO ANUAL VALIDADO · R6 TRIMESTRAL</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2, sobre el ciclo de vida</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Recorrió las fases 0 a 6 y sigue en uso; la fase 7 llegará con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EN USO · cada R6 confirma que sigue aportando valor bajo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Cómo se mide el valor</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Todo importe lleva fórmula y estado: validado (control de gestión), declarado (el equipo) o estimado.</a:t>
            </a:r>
          </a:p>
          <a:p>
            <a:pPr marL="285750" indent="-285750">
              <a:spcAft>
                <a:spcPts val="400"/>
              </a:spcAft>
              <a:buClr>
                <a:srgbClr val="990F3D"/>
              </a:buClr>
              <a:buFont typeface="Arial"/>
              <a:buChar char="•"/>
            </a:pPr>
            <a:r>
              <a:rPr lang="es-ES" sz="1800" dirty="0">
                <a:solidFill>
                  <a:srgbClr val="2F2B28"/>
                </a:solidFill>
              </a:rPr>
              <a:t>Las horas liberadas no son ahorro hasta que se materializan: baja un coste o se reasignan a una actividad con valor.</a:t>
            </a:r>
          </a:p>
          <a:p>
            <a:pPr marL="285750" indent="-285750">
              <a:spcAft>
                <a:spcPts val="400"/>
              </a:spcAft>
              <a:buClr>
                <a:srgbClr val="990F3D"/>
              </a:buClr>
              <a:buFont typeface="Arial"/>
              <a:buChar char="•"/>
            </a:pPr>
            <a:r>
              <a:rPr lang="es-ES" sz="1800" dirty="0">
                <a:solidFill>
                  <a:srgbClr val="2F2B28"/>
                </a:solidFill>
              </a:rPr>
              <a:t>El coste es completo: construcción, consumo, operación, supervisión humana y retirada.</a:t>
            </a:r>
          </a:p>
          <a:p>
            <a:pPr marL="285750" indent="-285750">
              <a:spcAft>
                <a:spcPts val="400"/>
              </a:spcAft>
              <a:buClr>
                <a:srgbClr val="990F3D"/>
              </a:buClr>
              <a:buFont typeface="Arial"/>
              <a:buChar char="•"/>
            </a:pPr>
            <a:r>
              <a:rPr lang="es-ES" sz="1800" dirty="0">
                <a:solidFill>
                  <a:srgbClr val="2F2B28"/>
                </a:solidFill>
              </a:rPr>
              <a:t>El índice de transformación usa ocho señales de evidencia para separar transformar de solo eficientar.</a:t>
            </a:r>
          </a:p>
          <a:p>
            <a:pPr marL="285750" indent="-285750">
              <a:spcAft>
                <a:spcPts val="400"/>
              </a:spcAft>
              <a:buClr>
                <a:srgbClr val="990F3D"/>
              </a:buClr>
              <a:buFont typeface="Arial"/>
              <a:buChar char="•"/>
            </a:pPr>
            <a:r>
              <a:rPr lang="es-ES" sz="1800" dirty="0">
                <a:solidFill>
                  <a:srgbClr val="2F2B28"/>
                </a:solidFill>
              </a:rPr>
              <a:t>Diez reglas de medición (documento 40). Ninguna cifra entra en el neto de la cartera sin su estado.</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PARA EL PARTNER</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Integrar SEVEN-G en su propia metodología o producto</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Aquí, «partner» es la empresa que incorpora el marco a lo suyo bajo su licencia abierta. No existe programa de socios ni la figura de «partner oficial».</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7" name="Marca"/>
          <p:cNvSpPr/>
          <p:nvPr/>
        </p:nvSpPr>
        <p:spPr>
          <a:xfrm>
            <a:off x="609600" y="365760"/>
            <a:ext cx="182880" cy="182880"/>
          </a:xfrm>
          <a:prstGeom prst="rect">
            <a:avLst/>
          </a:prstGeom>
          <a:solidFill>
            <a:srgbClr val="990F3D"/>
          </a:solidFill>
        </p:spPr>
        <p:txBody>
          <a:bodyPr/>
          <a:lstStyle/>
          <a:p/>
        </p:txBody>
      </p:sp>
      <p:sp>
        <p:nvSpPr>
          <p:cNvPr id="208" name="Texto 20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09" name="Texto 20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permite la licencia y qué exige</a:t>
            </a:r>
          </a:p>
        </p:txBody>
      </p:sp>
      <p:sp>
        <p:nvSpPr>
          <p:cNvPr id="210" name="Texto 21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Contenidos: CC BY 4.0. Código de las herramientas: MIT</a:t>
            </a:r>
          </a:p>
        </p:txBody>
      </p:sp>
      <p:sp>
        <p:nvSpPr>
          <p:cNvPr id="197" name="Caja 197"/>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Permite</a:t>
            </a:r>
          </a:p>
        </p:txBody>
      </p:sp>
      <p:sp>
        <p:nvSpPr>
          <p:cNvPr id="198" name="Caja 198"/>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99" name="Texto 199"/>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Copiar, adaptar, traducir, recortar, renombrar, mezclar con su metodología e integrar en productos, también con fines comerciales, sin pedir permiso ni pagar.</a:t>
            </a:r>
          </a:p>
        </p:txBody>
      </p:sp>
      <p:sp>
        <p:nvSpPr>
          <p:cNvPr id="200" name="Caja 200"/>
          <p:cNvSpPr/>
          <p:nvPr/>
        </p:nvSpPr>
        <p:spPr>
          <a:xfrm>
            <a:off x="43072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Exige</a:t>
            </a:r>
          </a:p>
        </p:txBody>
      </p:sp>
      <p:sp>
        <p:nvSpPr>
          <p:cNvPr id="201" name="Caja 201"/>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2" name="Texto 202"/>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Reconocer la autoría (Fernando García Varela), enlazar la licencia, indicar los cambios y conservar el aviso legal. En el código, mantener el aviso de derechos de autor y la licencia MIT.</a:t>
            </a:r>
          </a:p>
        </p:txBody>
      </p:sp>
      <p:sp>
        <p:nvSpPr>
          <p:cNvPr id="203" name="Caja 203"/>
          <p:cNvSpPr/>
          <p:nvPr/>
        </p:nvSpPr>
        <p:spPr>
          <a:xfrm>
            <a:off x="80048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No cede</a:t>
            </a:r>
          </a:p>
        </p:txBody>
      </p:sp>
      <p:sp>
        <p:nvSpPr>
          <p:cNvPr id="204" name="Caja 204"/>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5" name="Texto 205"/>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La marca: SEVEN-G es una marca registrada. Puede nombrarla para decir con exactitud qué ha usado; no para sugerir aval, acreditación o certificación.</a:t>
            </a:r>
          </a:p>
        </p:txBody>
      </p:sp>
      <p:sp>
        <p:nvSpPr>
          <p:cNvPr id="206" name="Texto 206"/>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Las versiones publicadas no se revocan: lo que integre hoy podrá seguir usándolo (documento 93).</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4" name="Marca"/>
          <p:cNvSpPr/>
          <p:nvPr/>
        </p:nvSpPr>
        <p:spPr>
          <a:xfrm>
            <a:off x="609600" y="365760"/>
            <a:ext cx="182880" cy="182880"/>
          </a:xfrm>
          <a:prstGeom prst="rect">
            <a:avLst/>
          </a:prstGeom>
          <a:solidFill>
            <a:srgbClr val="990F3D"/>
          </a:solidFill>
        </p:spPr>
        <p:txBody>
          <a:bodyPr/>
          <a:lstStyle/>
          <a:p/>
        </p:txBody>
      </p:sp>
      <p:sp>
        <p:nvSpPr>
          <p:cNvPr id="225" name="Texto 22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26" name="Texto 22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Adopción modular: cuatro componentes</a:t>
            </a:r>
          </a:p>
        </p:txBody>
      </p:sp>
      <p:sp>
        <p:nvSpPr>
          <p:cNvPr id="227" name="Texto 22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Puede integrar el marco entero o solo las piezas que le faltan a su metodología</a:t>
            </a:r>
          </a:p>
        </p:txBody>
      </p:sp>
      <p:sp>
        <p:nvSpPr>
          <p:cNvPr id="211" name="Caja 211"/>
          <p:cNvSpPr/>
          <p:nvPr/>
        </p:nvSpPr>
        <p:spPr>
          <a:xfrm>
            <a:off x="609600" y="2050000"/>
            <a:ext cx="265320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A · Mapa de impacto</a:t>
            </a:r>
          </a:p>
        </p:txBody>
      </p:sp>
      <p:sp>
        <p:nvSpPr>
          <p:cNvPr id="212" name="Caja 212"/>
          <p:cNvSpPr/>
          <p:nvPr/>
        </p:nvSpPr>
        <p:spPr>
          <a:xfrm>
            <a:off x="6096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3" name="Texto 213"/>
          <p:cNvSpPr txBox="1"/>
          <p:nvPr/>
        </p:nvSpPr>
        <p:spPr>
          <a:xfrm>
            <a:off x="649600" y="2890000"/>
            <a:ext cx="2573200" cy="2340000"/>
          </a:xfrm>
          <a:prstGeom prst="rect">
            <a:avLst/>
          </a:prstGeom>
          <a:noFill/>
        </p:spPr>
        <p:txBody>
          <a:bodyPr wrap="square" anchor="t" lIns="45720" rIns="45720">
            <a:noAutofit/>
          </a:bodyPr>
          <a:lstStyle/>
          <a:p>
            <a:pPr algn="l"/>
            <a:r>
              <a:rPr lang="es-ES" sz="1300" dirty="0">
                <a:solidFill>
                  <a:srgbClr val="2F2B28"/>
                </a:solidFill>
              </a:rPr>
              <a:t>Nueve esferas por tres niveles de ambición (Optimizar, Aumentar, Transformar). Sirve para priorizar y para hablar con el consejo sin tecnología.</a:t>
            </a:r>
          </a:p>
        </p:txBody>
      </p:sp>
      <p:sp>
        <p:nvSpPr>
          <p:cNvPr id="214" name="Caja 214"/>
          <p:cNvSpPr/>
          <p:nvPr/>
        </p:nvSpPr>
        <p:spPr>
          <a:xfrm>
            <a:off x="3382800" y="2050000"/>
            <a:ext cx="26532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B · Gobierno</a:t>
            </a:r>
          </a:p>
        </p:txBody>
      </p:sp>
      <p:sp>
        <p:nvSpPr>
          <p:cNvPr id="215" name="Caja 215"/>
          <p:cNvSpPr/>
          <p:nvPr/>
        </p:nvSpPr>
        <p:spPr>
          <a:xfrm>
            <a:off x="33828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6" name="Texto 216"/>
          <p:cNvSpPr txBox="1"/>
          <p:nvPr/>
        </p:nvSpPr>
        <p:spPr>
          <a:xfrm>
            <a:off x="3422800" y="2890000"/>
            <a:ext cx="2573200" cy="2340000"/>
          </a:xfrm>
          <a:prstGeom prst="rect">
            <a:avLst/>
          </a:prstGeom>
          <a:noFill/>
        </p:spPr>
        <p:txBody>
          <a:bodyPr wrap="square" anchor="t" lIns="45720" rIns="45720">
            <a:noAutofit/>
          </a:bodyPr>
          <a:lstStyle/>
          <a:p>
            <a:pPr algn="l"/>
            <a:r>
              <a:rPr lang="es-ES" sz="1300" dirty="0">
                <a:solidFill>
                  <a:srgbClr val="2F2B28"/>
                </a:solidFill>
              </a:rPr>
              <a:t>Fases, puertas con validación dual, separación de funciones, riesgos, regulación y no conformidades.</a:t>
            </a:r>
          </a:p>
        </p:txBody>
      </p:sp>
      <p:sp>
        <p:nvSpPr>
          <p:cNvPr id="217" name="Caja 217"/>
          <p:cNvSpPr/>
          <p:nvPr/>
        </p:nvSpPr>
        <p:spPr>
          <a:xfrm>
            <a:off x="6156000" y="2050000"/>
            <a:ext cx="26532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C · Medición</a:t>
            </a:r>
          </a:p>
        </p:txBody>
      </p:sp>
      <p:sp>
        <p:nvSpPr>
          <p:cNvPr id="218" name="Caja 218"/>
          <p:cNvSpPr/>
          <p:nvPr/>
        </p:nvSpPr>
        <p:spPr>
          <a:xfrm>
            <a:off x="61560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9" name="Texto 219"/>
          <p:cNvSpPr txBox="1"/>
          <p:nvPr/>
        </p:nvSpPr>
        <p:spPr>
          <a:xfrm>
            <a:off x="6196000" y="2890000"/>
            <a:ext cx="2573200" cy="2340000"/>
          </a:xfrm>
          <a:prstGeom prst="rect">
            <a:avLst/>
          </a:prstGeom>
          <a:noFill/>
        </p:spPr>
        <p:txBody>
          <a:bodyPr wrap="square" anchor="t" lIns="45720" rIns="45720">
            <a:noAutofit/>
          </a:bodyPr>
          <a:lstStyle/>
          <a:p>
            <a:pPr algn="l"/>
            <a:r>
              <a:rPr lang="es-ES" sz="1300" dirty="0">
                <a:solidFill>
                  <a:srgbClr val="2F2B28"/>
                </a:solidFill>
              </a:rPr>
              <a:t>Diez reglas de medición, estados del importe, costes completos e índice de transformación.</a:t>
            </a:r>
          </a:p>
        </p:txBody>
      </p:sp>
      <p:sp>
        <p:nvSpPr>
          <p:cNvPr id="220" name="Caja 220"/>
          <p:cNvSpPr/>
          <p:nvPr/>
        </p:nvSpPr>
        <p:spPr>
          <a:xfrm>
            <a:off x="8929200" y="2050000"/>
            <a:ext cx="265320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D · Herramientas</a:t>
            </a:r>
          </a:p>
        </p:txBody>
      </p:sp>
      <p:sp>
        <p:nvSpPr>
          <p:cNvPr id="221" name="Caja 221"/>
          <p:cNvSpPr/>
          <p:nvPr/>
        </p:nvSpPr>
        <p:spPr>
          <a:xfrm>
            <a:off x="8929200" y="2790000"/>
            <a:ext cx="26532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22" name="Texto 222"/>
          <p:cNvSpPr txBox="1"/>
          <p:nvPr/>
        </p:nvSpPr>
        <p:spPr>
          <a:xfrm>
            <a:off x="8969200" y="2890000"/>
            <a:ext cx="2573200" cy="2340000"/>
          </a:xfrm>
          <a:prstGeom prst="rect">
            <a:avLst/>
          </a:prstGeom>
          <a:noFill/>
        </p:spPr>
        <p:txBody>
          <a:bodyPr wrap="square" anchor="t" lIns="45720" rIns="45720">
            <a:noAutofit/>
          </a:bodyPr>
          <a:lstStyle/>
          <a:p>
            <a:pPr algn="l"/>
            <a:r>
              <a:rPr lang="es-ES" sz="1300" dirty="0">
                <a:solidFill>
                  <a:srgbClr val="2F2B28"/>
                </a:solidFill>
              </a:rPr>
              <a:t>Registro T01, calculadoras, diagnóstico de madurez y panel del consejo: HTML sin servidor, datos en JSON, código MIT.</a:t>
            </a:r>
          </a:p>
        </p:txBody>
      </p:sp>
      <p:sp>
        <p:nvSpPr>
          <p:cNvPr id="223" name="Texto 223"/>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Si lo llama «SEVEN-G», respete sus seis reglas esenciales; si no, diga «adaptado de» e indique qué cambia.</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Cómo encajarlo en su metodología</a:t>
            </a:r>
          </a:p>
        </p:txBody>
      </p:sp>
      <p:sp>
        <p:nvSpPr>
          <p:cNvPr id="228" name="Texto 22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Haga una tabla de correspondencias: sus etapas frente a las fases 0 a 7, sus comités frente a los órganos, sus entregables frente a las plantillas P.</a:t>
            </a:r>
          </a:p>
          <a:p>
            <a:pPr marL="285750" indent="-285750">
              <a:spcAft>
                <a:spcPts val="400"/>
              </a:spcAft>
              <a:buClr>
                <a:srgbClr val="990F3D"/>
              </a:buClr>
              <a:buFont typeface="Arial"/>
              <a:buChar char="•"/>
            </a:pPr>
            <a:r>
              <a:rPr lang="es-ES" sz="1700" dirty="0">
                <a:solidFill>
                  <a:srgbClr val="2F2B28"/>
                </a:solidFill>
              </a:rPr>
              <a:t>Conserve los códigos (G0–G7, P01–P74, T01–T22) o publique su equivalencia: sus clientes podrán contrastar con la fuente.</a:t>
            </a:r>
          </a:p>
          <a:p>
            <a:pPr marL="285750" indent="-285750">
              <a:spcAft>
                <a:spcPts val="400"/>
              </a:spcAft>
              <a:buClr>
                <a:srgbClr val="990F3D"/>
              </a:buClr>
              <a:buFont typeface="Arial"/>
              <a:buChar char="•"/>
            </a:pPr>
            <a:r>
              <a:rPr lang="es-ES" sz="1700" dirty="0">
                <a:solidFill>
                  <a:srgbClr val="2F2B28"/>
                </a:solidFill>
              </a:rPr>
              <a:t>Puede cambiar nombres, umbrales, plazos y pesos. No cambie lo que protege al cliente: separación de funciones, evidencia antes de decidir y estado de cada importe.</a:t>
            </a:r>
          </a:p>
          <a:p>
            <a:pPr marL="285750" indent="-285750">
              <a:spcAft>
                <a:spcPts val="400"/>
              </a:spcAft>
              <a:buClr>
                <a:srgbClr val="990F3D"/>
              </a:buClr>
              <a:buFont typeface="Arial"/>
              <a:buChar char="•"/>
            </a:pPr>
            <a:r>
              <a:rPr lang="es-ES" sz="1700" dirty="0">
                <a:solidFill>
                  <a:srgbClr val="2F2B28"/>
                </a:solidFill>
              </a:rPr>
              <a:t>Indique la versión de partida y sus cambios; cuando el marco evolucione, decida si actualiza y dígalo.</a:t>
            </a:r>
          </a:p>
          <a:p>
            <a:pPr marL="285750" indent="-285750">
              <a:spcAft>
                <a:spcPts val="400"/>
              </a:spcAft>
              <a:buClr>
                <a:srgbClr val="990F3D"/>
              </a:buClr>
              <a:buFont typeface="Arial"/>
              <a:buChar char="•"/>
            </a:pPr>
            <a:r>
              <a:rPr lang="es-ES" sz="1700" dirty="0">
                <a:solidFill>
                  <a:srgbClr val="2F2B28"/>
                </a:solidFill>
              </a:rPr>
              <a:t>En una obra que mezcla marcos debe quedar claro qué procede de SEVEN-G. Sus aportaciones puede licenciarlas como quiera, sin impedir la licencia del original.</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33" name="Marca"/>
          <p:cNvSpPr/>
          <p:nvPr/>
        </p:nvSpPr>
        <p:spPr>
          <a:xfrm>
            <a:off x="609600" y="365760"/>
            <a:ext cx="182880" cy="182880"/>
          </a:xfrm>
          <a:prstGeom prst="rect">
            <a:avLst/>
          </a:prstGeom>
          <a:solidFill>
            <a:srgbClr val="990F3D"/>
          </a:solidFill>
        </p:spPr>
        <p:txBody>
          <a:bodyPr/>
          <a:lstStyle/>
          <a:p/>
        </p:txBody>
      </p:sp>
      <p:sp>
        <p:nvSpPr>
          <p:cNvPr id="234" name="Texto 23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35" name="Texto 23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Integración técnica: datos y herramientas</a:t>
            </a:r>
          </a:p>
        </p:txBody>
      </p:sp>
      <p:sp>
        <p:nvSpPr>
          <p:cNvPr id="232" name="Texto 232"/>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700" dirty="0">
                <a:solidFill>
                  <a:srgbClr val="2F2B28"/>
                </a:solidFill>
              </a:rPr>
              <a:t>Un único modelo de datos para todo: el JSON del registro T01, con su esquema publicado. Se importa, se exporta y se fusiona por código de iniciativa.</a:t>
            </a:r>
          </a:p>
          <a:p>
            <a:pPr marL="285750" indent="-285750">
              <a:spcAft>
                <a:spcPts val="400"/>
              </a:spcAft>
              <a:buClr>
                <a:srgbClr val="990F3D"/>
              </a:buClr>
              <a:buFont typeface="Arial"/>
              <a:buChar char="•"/>
            </a:pPr>
            <a:r>
              <a:rPr lang="es-ES" sz="1700" dirty="0">
                <a:solidFill>
                  <a:srgbClr val="2F2B28"/>
                </a:solidFill>
              </a:rPr>
              <a:t>Puede alimentar ese JSON desde su propia plataforma (gestión de proyectos, GRC, CRM) y generar el panel del consejo con el conector de T17.</a:t>
            </a:r>
          </a:p>
          <a:p>
            <a:pPr marL="285750" indent="-285750">
              <a:spcAft>
                <a:spcPts val="400"/>
              </a:spcAft>
              <a:buClr>
                <a:srgbClr val="990F3D"/>
              </a:buClr>
              <a:buFont typeface="Arial"/>
              <a:buChar char="•"/>
            </a:pPr>
            <a:r>
              <a:rPr lang="es-ES" sz="1700" dirty="0">
                <a:solidFill>
                  <a:srgbClr val="2F2B28"/>
                </a:solidFill>
              </a:rPr>
              <a:t>Las herramientas son HTML sin servidor: se alojan donde quiera, con su marca junto al reconocimiento, y no envían datos a nadie.</a:t>
            </a:r>
          </a:p>
          <a:p>
            <a:pPr marL="285750" indent="-285750">
              <a:spcAft>
                <a:spcPts val="400"/>
              </a:spcAft>
              <a:buClr>
                <a:srgbClr val="990F3D"/>
              </a:buClr>
              <a:buFont typeface="Arial"/>
              <a:buChar char="•"/>
            </a:pPr>
            <a:r>
              <a:rPr lang="es-ES" sz="1700" dirty="0">
                <a:solidFill>
                  <a:srgbClr val="2F2B28"/>
                </a:solidFill>
              </a:rPr>
              <a:t>Las 74 plantillas se generan en Word desde Markdown: puede cambiar estilos y portada y regenerarlas con su imagen.</a:t>
            </a:r>
          </a:p>
          <a:p>
            <a:pPr marL="285750" indent="-285750">
              <a:spcAft>
                <a:spcPts val="400"/>
              </a:spcAft>
              <a:buClr>
                <a:srgbClr val="990F3D"/>
              </a:buClr>
              <a:buFont typeface="Arial"/>
              <a:buChar char="•"/>
            </a:pPr>
            <a:r>
              <a:rPr lang="es-ES" sz="1700" dirty="0">
                <a:solidFill>
                  <a:srgbClr val="2F2B28"/>
                </a:solidFill>
              </a:rPr>
              <a:t>Los esquemas nuevos solo añaden campos opcionales: los ficheros antiguos siguen funcionando.</a:t>
            </a:r>
          </a:p>
          <a:p>
            <a:pPr marL="285750" indent="-285750">
              <a:spcAft>
                <a:spcPts val="400"/>
              </a:spcAft>
              <a:buClr>
                <a:srgbClr val="990F3D"/>
              </a:buClr>
              <a:buFont typeface="Arial"/>
              <a:buChar char="•"/>
            </a:pPr>
            <a:r>
              <a:rPr lang="es-ES" sz="1700" dirty="0">
                <a:solidFill>
                  <a:srgbClr val="2F2B28"/>
                </a:solidFill>
              </a:rPr>
              <a:t>Los datos del cliente son del cliente: déjelos siempre en formato abierto.</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46" name="Marca"/>
          <p:cNvSpPr/>
          <p:nvPr/>
        </p:nvSpPr>
        <p:spPr>
          <a:xfrm>
            <a:off x="609600" y="365760"/>
            <a:ext cx="182880" cy="182880"/>
          </a:xfrm>
          <a:prstGeom prst="rect">
            <a:avLst/>
          </a:prstGeom>
          <a:solidFill>
            <a:srgbClr val="990F3D"/>
          </a:solidFill>
        </p:spPr>
        <p:txBody>
          <a:bodyPr/>
          <a:lstStyle/>
          <a:p/>
        </p:txBody>
      </p:sp>
      <p:sp>
        <p:nvSpPr>
          <p:cNvPr id="247" name="Texto 24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48" name="Texto 248"/>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Cómo nombrarlo ante sus clientes</a:t>
            </a:r>
          </a:p>
        </p:txBody>
      </p:sp>
      <p:sp>
        <p:nvSpPr>
          <p:cNvPr id="249" name="Texto 249"/>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Decir con exactitud qué se ha usado es obligatorio; sugerir aval no está permitido</a:t>
            </a:r>
          </a:p>
        </p:txBody>
      </p:sp>
      <p:sp>
        <p:nvSpPr>
          <p:cNvPr id="236" name="Caja 236"/>
          <p:cNvSpPr/>
          <p:nvPr/>
        </p:nvSpPr>
        <p:spPr>
          <a:xfrm>
            <a:off x="6096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Adecuado</a:t>
            </a:r>
          </a:p>
        </p:txBody>
      </p:sp>
      <p:sp>
        <p:nvSpPr>
          <p:cNvPr id="237" name="Caja 237"/>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38" name="Texto 238"/>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«Basado en SEVEN-G (versión 0.80).»   «Adaptado de SEVEN-G; cambios: …»   «Incluye el registro de iniciativas de SEVEN-G (MIT).»   «Esta adaptación no está respaldada por el autor.»</a:t>
            </a:r>
          </a:p>
        </p:txBody>
      </p:sp>
      <p:sp>
        <p:nvSpPr>
          <p:cNvPr id="239" name="Caja 239"/>
          <p:cNvSpPr/>
          <p:nvPr/>
        </p:nvSpPr>
        <p:spPr>
          <a:xfrm>
            <a:off x="4307200" y="2050000"/>
            <a:ext cx="357760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No adecuado</a:t>
            </a:r>
          </a:p>
        </p:txBody>
      </p:sp>
      <p:sp>
        <p:nvSpPr>
          <p:cNvPr id="240" name="Caja 240"/>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1" name="Texto 241"/>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«Partner oficial», «homologado», «acreditado», «certificación SEVEN-G», o declarar en nombre de SEVEN-G o del autor que un cliente cumple la regulación.</a:t>
            </a:r>
          </a:p>
        </p:txBody>
      </p:sp>
      <p:sp>
        <p:nvSpPr>
          <p:cNvPr id="242" name="Caja 242"/>
          <p:cNvSpPr/>
          <p:nvPr/>
        </p:nvSpPr>
        <p:spPr>
          <a:xfrm>
            <a:off x="80048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Aviso que se conserva</a:t>
            </a:r>
          </a:p>
        </p:txBody>
      </p:sp>
      <p:sp>
        <p:nvSpPr>
          <p:cNvPr id="243" name="Caja 243"/>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44" name="Texto 244"/>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«Basado en SEVEN-G (Fernando García Varela, CC BY 4.0). Contenido orientativo, «tal cual», sin garantías; no es asesoramiento jurídico. El autor no valida ni respalda esta obra.»</a:t>
            </a:r>
          </a:p>
        </p:txBody>
      </p:sp>
      <p:sp>
        <p:nvSpPr>
          <p:cNvPr id="245" name="Texto 245"/>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Documento 93, secciones 6, 7, 8 y 11.9.</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1" name="Marca"/>
          <p:cNvSpPr/>
          <p:nvPr/>
        </p:nvSpPr>
        <p:spPr>
          <a:xfrm>
            <a:off x="609600" y="365760"/>
            <a:ext cx="182880" cy="182880"/>
          </a:xfrm>
          <a:prstGeom prst="rect">
            <a:avLst/>
          </a:prstGeom>
          <a:solidFill>
            <a:srgbClr val="990F3D"/>
          </a:solidFill>
        </p:spPr>
        <p:txBody>
          <a:bodyPr/>
          <a:lstStyle/>
          <a:p/>
        </p:txBody>
      </p:sp>
      <p:sp>
        <p:nvSpPr>
          <p:cNvPr id="252" name="Texto 252"/>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PARTNER · INTEGRARLO EN SU METODOLOGÍA</a:t>
            </a:r>
          </a:p>
        </p:txBody>
      </p:sp>
      <p:sp>
        <p:nvSpPr>
          <p:cNvPr id="253" name="Texto 253"/>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Mantenerse al día y mejorar el marco</a:t>
            </a:r>
          </a:p>
        </p:txBody>
      </p:sp>
      <p:sp>
        <p:nvSpPr>
          <p:cNvPr id="250" name="Texto 250"/>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El sitio publica la versión del marco y el control de versiones de cada documento: revise los cambios antes de actualizar su adaptación.</a:t>
            </a:r>
          </a:p>
          <a:p>
            <a:pPr marL="285750" indent="-285750">
              <a:spcAft>
                <a:spcPts val="400"/>
              </a:spcAft>
              <a:buClr>
                <a:srgbClr val="990F3D"/>
              </a:buClr>
              <a:buFont typeface="Arial"/>
              <a:buChar char="•"/>
            </a:pPr>
            <a:r>
              <a:rPr lang="es-ES" sz="1800" dirty="0">
                <a:solidFill>
                  <a:srgbClr val="2F2B28"/>
                </a:solidFill>
              </a:rPr>
              <a:t>Incidencias y peticiones de mejora: en la página de comunidad, sin cuenta ni correo; se abordan las peticiones con más votos.</a:t>
            </a:r>
          </a:p>
          <a:p>
            <a:pPr marL="285750" indent="-285750">
              <a:spcAft>
                <a:spcPts val="400"/>
              </a:spcAft>
              <a:buClr>
                <a:srgbClr val="990F3D"/>
              </a:buClr>
              <a:buFont typeface="Arial"/>
              <a:buChar char="•"/>
            </a:pPr>
            <a:r>
              <a:rPr lang="es-ES" sz="1800" dirty="0">
                <a:solidFill>
                  <a:srgbClr val="2F2B28"/>
                </a:solidFill>
              </a:rPr>
              <a:t>Una traducción suya es una obra derivada: indique que no es oficial, de qué versión procede y quién la ha hecho.</a:t>
            </a:r>
          </a:p>
          <a:p>
            <a:pPr marL="285750" indent="-285750">
              <a:spcAft>
                <a:spcPts val="400"/>
              </a:spcAft>
              <a:buClr>
                <a:srgbClr val="990F3D"/>
              </a:buClr>
              <a:buFont typeface="Arial"/>
              <a:buChar char="•"/>
            </a:pPr>
            <a:r>
              <a:rPr lang="es-ES" sz="1800" dirty="0">
                <a:solidFill>
                  <a:srgbClr val="2F2B28"/>
                </a:solidFill>
              </a:rPr>
              <a:t>Si quiere algo que la licencia no da —un desarrollo a medida, formación para su equipo, acuerdo sobre el uso de la marca—, hable con el autor. Esa conversación la inicia usted.</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54" name="Texto 254"/>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Gracias</a:t>
            </a:r>
          </a:p>
        </p:txBody>
      </p:sp>
      <p:sp>
        <p:nvSpPr>
          <p:cNvPr id="255" name="Texto 255"/>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es gratuito: se usa, se descarga y se adapta sin registrarse, y el sitio nunca le escribirá. Si quiere hablar con el autor, la iniciativa es suya.</a:t>
            </a:r>
          </a:p>
        </p:txBody>
      </p:sp>
      <p:sp>
        <p:nvSpPr>
          <p:cNvPr id="256" name="Texto 256"/>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es una marca registrada de Fernando García Varela · CC BY 4.0 (contenidos) · MIT (código)</a:t>
            </a:r>
          </a:p>
        </p:txBody>
      </p:sp>
      <p:sp>
        <p:nvSpPr>
          <p:cNvPr id="257" name="Texto 257"/>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58" name="Texto 258"/>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Aviso legal: ayuda metodológica genérica y gratuita, «tal cual» y con fines informativos; no es asesoramiento jurídico ni está revisada jurídicamente para ningún caso. Cada organización la adapta y es responsable de su revisión legal y de su cumplimiento regulatorio; puede no recoger cambios normativos recientes. En la máxima medida permitida por la ley, el autor no asume responsabilidad alguna por los efectos de su aplicación. No otorga certificación de ningún tipo. Detalle en el documento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Curso de SEVEN-G para el partner</dc:title>
  <dc:creator>Fernando García Varela</dc:creator>
  <cp:lastModifiedBy>SEVEN-G build</cp:lastModifiedBy>
  <dcterms:created xsi:type="dcterms:W3CDTF">2026-01-01T00:00:00Z</dcterms:created>
  <dcterms:modified xsi:type="dcterms:W3CDTF">2026-01-01T00:00:00Z</dcterms:modified>
</cp:coreProperties>
</file>
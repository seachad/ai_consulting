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Partner · Integrarlo en su metodología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Qué es SEVEN-G, cómo se llena el embudo de iniciativas hasta el panel del consejo y cómo integrarlo en su propia metodología o producto.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Curso de autoaprendizaje · CC BY 4.0 · Ejemplos con datos ficticios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problema que resuelve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Muchas compañías tienen pilotos de IA que funcionan, pero pocos llegan a producción.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valor se declara («liberamos 200 horas») y casi nadie lo comprueba.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Nadie tiene autoridad clara para parar una iniciativa que no funciona.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pregunta por la IA y recibe una lista de proyectos técnicos, no decisiones de negocio.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¿La compañía se está transformando con IA, o solo es un poco más eficiente? Casi nadie puede contestarlo con evidencia.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No es un problema de tecnología: es un problema de gobierno y de medición.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es SEVEN-G y qué aporta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una fase 0 habilitante y siete fases de valor, con gobierno en todas.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Ordena la IA como una cartera: cada iniciativa tiene fase, coste, valor esperado y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Pone puertas de decisión entre las fases: sin evidencia verificada no se avanza.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 quién decide, quién construye y quién controla, y traduce la regulación a fases, roles y evidencias.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Mide el valor en dinero y con estado —validado, declarado o estimado— y se lo enseña al consejo en un panel.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Es gratuito y modificable: documentos, plantillas en Word y herramientas, con licencia abierta.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Dos niveles: la compañía y cada iniciativa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Diagnóstico: inventario, madurez en siete dimensiones e índice de transformación.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Dirección: el consejo aprueba la tesis de IA, la ambición por esfera y el apetito de riesgo.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Cartera: qué iniciativas se financian y en qué orden.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Supervisión: panel del consejo y registro de decisiones y recomendaciones.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Revisión anual: qué funcionó, qué no y qué cambia.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Y, dentro de esa cartera, cada iniciativa recorre su propio ciclo de vida de ocho fases.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ciclo de vida de una iniciativa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Ocho fases con una puerta de decisión al final de cada una; debajo, la etapa del embudo en la que se ve cada fase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Propuesto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Prueba de concepto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desarrollo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uso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puede pasar en cada puerta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Cinco resultados; quien aporta la evidencia nunca es quien verifica ni quien decide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Continuar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cumplen todos los criterios y las evidencias están verificadas: pasa a la fase siguiente.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 condiciones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Pasa, con plazo y responsable para lo pendiente. Nunca para controles críticos de seguridad, legales o de supervisión humana.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Iterar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repite la fase con un ajuste concreto y se vuelve a la misma puerta. A la tercera, decide el órgano superior.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Pivotar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hipótesis no se sostiene pero hay otra razonable: vuelve a la fase 2. Solo en G1, G2 y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Parar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hay valor plausible o el riesgo es inaceptable. Se registran el motivo y lo aprendido. Es un buen resultado.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En G7 los resultados son Escalar, Iterar o Retirar.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DEL DOCUMENTO AL PANEL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Cómo se llena el embudo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Nadie dibuja el embudo ni el panel: salen solos de lo que se rellena y se decide en cada fase. Este es el recorrido.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0 a 3: de la idea a la prueba de concepto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Qué se hace, qué plantillas se rellenan y qué puerta cierra cada fase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autoriza la idea: patrocinador, responsable, alcance, restricciones e intensidad (Lite o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P01 Carta de la iniciativa · P02 Contexto y restricciones · P03 Roles · P04 Intensidad · P05 Alta en el inventario.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entra en «Propuesto»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Descubrimiento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comparan oportunidades, también alternativas sin IA, y se propone esfera y nivel de ambición.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P06 Cartera de oportunidades y filtrado · P07 Esfera y ambición · P31 Ficha de caso de uso.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sigue en «Propuesto»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Hipótesis falsable en dinero, con línea base, método de atribución y criterios de parada fijados antes de empezar.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P08 Lienzo de hipótesis de valor · P09 Línea base. Apoyo: calculadora T11.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«Hipótesis de valor»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Prueba de concepto: viabilidad, clasificación regulatoria, riesgos y proveedores. Es la principal puerta de parada.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P10 Viabilidad · P11 Clasificación regulatoria e impacto · P12 Riesgos · P13 Mitigación · P14 Proveedor.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«Prueba de concepto»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4 a 7: del diseño a la producción y la retirada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puesta en producción no cierra el ciclo: abre la operación, con revisiones periódicas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Antes de construir: arquitectura, linaje de datos y modelos, supervisión humana, seguridad, reversión y adopción.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P15 Arquitectura · P16 Linaje · P17 Supervisión humana · P18 Seguridad · P19 Reversión · P20 Adopción.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«En desarrollo»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construye, se valida y se pilota; se prueba la reversión y se firma la puesta en producción.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P21 Informe de entrega · P22 Validación y piloto · P23 Firma de puesta en producción · P12 actualizado.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pasa a «En uso»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Monitorización, incidentes, cambios y seguimiento del valor realizado, con revisión de continuidad periódica.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P24 Manual de operación · P25 Monitorización · P26 y P27 Incidentes y cambios · P28 Valor · P65 Paquete R6.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sigue «En uso» o adelanta G7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Con el valor realizado delante se decide escalar, iterar o retirar, y se registran las lecciones.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P28 Seguimiento del valor · P30 Decisión de escalado o retirada, con plan de retirada si procede.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escala, itera o «Desenganchado»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registro de iniciativas (T01): donde todo queda anotado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Cada iniciativa se da de alta como una oportunidad en un CRM; aquí, el registro de ejemplo con datos ficticios</a:t>
            </a:r>
          </a:p>
        </p:txBody>
      </p:sp>
      <p:pic>
        <p:nvPicPr>
          <p:cNvPr id="112" name="Imagen 112" descr="Vista de embudo del registro de iniciativas T01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Una barra por fase: cuántas iniciativas hay ahora en cada una y cuánto valor esperado llevan.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 decidir una puerta, el registro guarda la fecha, el resultado, quién verificó y quién decidió, y el estado de cada criterio.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Con esas fechas calcula solo el tiempo en fase y marca «estancadas» las que superan el plazo de referencia.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Las cifras llevan estado: validado, declarado o estimado. Lo que no se sabe queda «sin dato», nunca cero.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Alertas: puertas pendientes, condiciones vencidas, riesgos sin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Todo se guarda en un fichero JSON de la propia compañía: sin servidor y sin enviar datos a nadie.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embudo de la cartera: cómo se lee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cartera de IA, leída como un embudo comercial. Datos ilustrativos</a:t>
            </a:r>
          </a:p>
        </p:txBody>
      </p:sp>
      <p:pic>
        <p:nvPicPr>
          <p:cNvPr id="118" name="Imagen 118" descr="Embudo de iniciativas de IA con sus etapas, salidas y casos en uso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Dentro del embudo, solo lo que está en curso: 5 propuestas, 4 con hipótesis de valor, 3 en prueba de concepto y 4 en desarrollo.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izquierda, cuántas alcanzaron cada etapa (40 → 31 → 24 → 17) y cuánto tardan. El triángulo rojo avisa: la prueba de concepto supera su plazo.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derecha, las que no superaron cada etapa y por qué: sin valor plausible, hipótesis refutada, riesgo inaceptable, coste superior al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Debajo, las que ya lo atravesaron: 11 en uso, con su valor y su coste, y 1 desenganchada.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No se busca convertir más: parar en G3 una iniciativa inviable es un buen resultado. Un 100 % de conversión indicaría puertas blandas.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panel del consejo (T17): cómo se lee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 genera del mismo registro, sin volver a teclear nada. Datos ficticios</a:t>
            </a:r>
          </a:p>
        </p:txBody>
      </p:sp>
      <p:pic>
        <p:nvPicPr>
          <p:cNvPr id="124" name="Imagen 124" descr="Panel del consejo con las tarjetas de cartera y valor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casos: cuántos hay en uso, en desarrollo, en prueba de concepto, propuestos y fuera.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Costes 2,4 M€ al año y retorno total 7,3 M€ (eficiencias más retorno): el neto anual es 4,8 M€.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tarjeta amarilla es la importante: solo el 36 % del valor está validado por control de gestión. El resto es declarado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capacidad liberada que no se materializa aparece aparte y no suma.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En rojo: solo 3 de 15 casos tienen todos los controles (evaluaciones de impacto, seguridad, manual de uso).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Otras páginas: embudo y ciclo de vida, histórico y adopción, riesgo y cumplimiento, inventario.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Si una cifra del panel no gusta, no se retoca el panel: se corrige la evidencia en el registro y se vuelve a generar.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DOS EJEMPLOS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Una iniciativa que se para y otra que llega a producción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Datos ficticios, ilustrativos: no describen ninguna compañía real.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1 · Cuando una iniciativa se para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Cribado de candidaturas en procesos de selección (RR. HH.)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RR. HH. la patrocina (P01–P05). Al decidir sobre personas, la intensidad es Enterprise (P04). Entra en «Propuesto».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la hipótesis (P08) promete un 40 % menos de tiempo de cribado frente a la línea base (P09). El piloto lo confirma: G2,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la clasificación regulatoria (P11) lo sitúa como sistema de alto riesgo. La prueba de sesgo detecta que penaliza a candidatos de más edad.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Se itera dos veces ajustando variables: corregir el sesgo destruye la capacidad predictiva que justificaba el proyecto.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riesgo residual alto sin mitigación viable (P12, P13). El comité de IA decide Parar; queda en P29 con su motivo.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aparece a la derecha de «Prueba de concepto»: Descartado · riesgo inaceptable. Lección: probar el sesgo antes, en la fase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PARADA EN G3 · SE EVITÓ CONSTRUIR Y OPERAR UN SISTEMA INVIABLE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1, sobre el ciclo de vida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Llegó a la fase 3 y no superó la puerta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Diseño de la solución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Entrega y validación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Operación y gobierno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PARADA EN G3 · sale del embudo como «Descartado», con su motivo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2 · Cuando una iniciativa llega a producción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Asistente de respuesta a incidencias de TI de primer nivel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TI la patrocina; frente a la alternativa sin IA (más plantilla), se propone la esfera de operaciones con ambición Optimizar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hipótesis de un 30 % menos de tiempo de resolución en incidencias sencillas; el piloto controlado da un 32 %.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sin sesgo relevante, riesgo residual medio aceptado por su órgano (P12), proveedor evaluado (P14). G3,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4 y 5: supervisión humana obligatoria por encima de cierta gravedad (P17), reversión probada (P19) y firma de puesta en producción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6: catorce meses en uso. Control de gestión valida 1,1 M€ al año (P28); la capacidad liberada se reasignó a incidencias complejas.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está en «En uso»; en el panel suma al neto anual porque su valor está validado, no declarado.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EN PRODUCCIÓN · 1,1 M€ DE RETORNO ANUAL VALIDADO · R6 TRIMESTRAL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2, sobre el ciclo de vida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Recorrió las fases 0 a 6 y sigue en uso; la fase 7 llegará con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EN USO · cada R6 confirma que sigue aportando valor bajo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se mide el valor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Todo importe lleva fórmula y estado: validado (control de gestión), declarado (el equipo)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Las horas liberadas no son ahorro hasta que se materializan: baja un coste o se reasignan a una actividad con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coste es completo: construcción, consumo, operación, supervisión humana y retirada.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índice de transformación usa ocho señales de evidencia para separar transformar de solo eficientar.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Diez reglas de medición (documento 40). Ninguna cifra entra en el neto de la cartera sin su estado.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PARA EL PARTNER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Integrar SEVEN-G en su propia metodología o producto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Aquí, «partner» es la empresa que incorpora el marco a lo suyo bajo su licencia abierta. No existe programa de socios ni la figura de «partner oficial».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8" name="Texto 20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permite la licencia y qué exige</a:t>
            </a:r>
          </a:p>
        </p:txBody>
      </p:sp>
      <p:sp>
        <p:nvSpPr>
          <p:cNvPr id="210" name="Texto 21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Contenidos: CC BY 4.0. Código de las herramientas: MIT</a:t>
            </a:r>
          </a:p>
        </p:txBody>
      </p:sp>
      <p:sp>
        <p:nvSpPr>
          <p:cNvPr id="197" name="Caja 197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Permite</a:t>
            </a:r>
          </a:p>
        </p:txBody>
      </p:sp>
      <p:sp>
        <p:nvSpPr>
          <p:cNvPr id="198" name="Caja 198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99" name="Texto 199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Copiar, adaptar, traducir, recortar, renombrar, mezclar con su metodología e integrar en productos, también con fines comerciales, sin pedir permiso ni pagar.</a:t>
            </a:r>
          </a:p>
        </p:txBody>
      </p:sp>
      <p:sp>
        <p:nvSpPr>
          <p:cNvPr id="200" name="Caja 200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Exige</a:t>
            </a:r>
          </a:p>
        </p:txBody>
      </p:sp>
      <p:sp>
        <p:nvSpPr>
          <p:cNvPr id="201" name="Caja 201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Reconocer la autoría (Fernando García Varela), enlazar la licencia, indicar los cambios y conservar el aviso legal. En el código, mantener el aviso de derechos de autor y la licencia MIT.</a:t>
            </a:r>
          </a:p>
        </p:txBody>
      </p:sp>
      <p:sp>
        <p:nvSpPr>
          <p:cNvPr id="203" name="Caja 203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 cede</a:t>
            </a:r>
          </a:p>
        </p:txBody>
      </p:sp>
      <p:sp>
        <p:nvSpPr>
          <p:cNvPr id="204" name="Caja 204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marca: SEVEN-G es una marca registrada. Puede nombrarla para decir con exactitud qué ha usado; no para sugerir aval, acreditación o certificación.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Las versiones publicadas no se revocan: lo que integre hoy podrá seguir usándolo (documento 93).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5" name="Texto 22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Adopción modular: cuatro componentes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Puede integrar el marco entero o solo las piezas que le faltan a su metodología</a:t>
            </a:r>
          </a:p>
        </p:txBody>
      </p:sp>
      <p:sp>
        <p:nvSpPr>
          <p:cNvPr id="211" name="Caja 211"/>
          <p:cNvSpPr/>
          <p:nvPr/>
        </p:nvSpPr>
        <p:spPr>
          <a:xfrm>
            <a:off x="6096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 · Mapa de impacto</a:t>
            </a:r>
          </a:p>
        </p:txBody>
      </p:sp>
      <p:sp>
        <p:nvSpPr>
          <p:cNvPr id="212" name="Caja 212"/>
          <p:cNvSpPr/>
          <p:nvPr/>
        </p:nvSpPr>
        <p:spPr>
          <a:xfrm>
            <a:off x="6096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3" name="Texto 213"/>
          <p:cNvSpPr txBox="1"/>
          <p:nvPr/>
        </p:nvSpPr>
        <p:spPr>
          <a:xfrm>
            <a:off x="6496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Nueve esferas por tres niveles de ambición (Optimizar, Aumentar, Transformar). Sirve para priorizar y para hablar con el consejo sin tecnología.</a:t>
            </a:r>
          </a:p>
        </p:txBody>
      </p:sp>
      <p:sp>
        <p:nvSpPr>
          <p:cNvPr id="214" name="Caja 214"/>
          <p:cNvSpPr/>
          <p:nvPr/>
        </p:nvSpPr>
        <p:spPr>
          <a:xfrm>
            <a:off x="33828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B · Gobierno</a:t>
            </a:r>
          </a:p>
        </p:txBody>
      </p:sp>
      <p:sp>
        <p:nvSpPr>
          <p:cNvPr id="215" name="Caja 215"/>
          <p:cNvSpPr/>
          <p:nvPr/>
        </p:nvSpPr>
        <p:spPr>
          <a:xfrm>
            <a:off x="33828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6" name="Texto 216"/>
          <p:cNvSpPr txBox="1"/>
          <p:nvPr/>
        </p:nvSpPr>
        <p:spPr>
          <a:xfrm>
            <a:off x="34228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Fases, puertas con validación dual, separación de funciones, riesgos, regulación y no conformidades.</a:t>
            </a:r>
          </a:p>
        </p:txBody>
      </p:sp>
      <p:sp>
        <p:nvSpPr>
          <p:cNvPr id="217" name="Caja 217"/>
          <p:cNvSpPr/>
          <p:nvPr/>
        </p:nvSpPr>
        <p:spPr>
          <a:xfrm>
            <a:off x="61560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 · Medición</a:t>
            </a:r>
          </a:p>
        </p:txBody>
      </p:sp>
      <p:sp>
        <p:nvSpPr>
          <p:cNvPr id="218" name="Caja 218"/>
          <p:cNvSpPr/>
          <p:nvPr/>
        </p:nvSpPr>
        <p:spPr>
          <a:xfrm>
            <a:off x="61560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1960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Diez reglas de medición, estados del importe, costes completos e índice de transformación.</a:t>
            </a:r>
          </a:p>
        </p:txBody>
      </p:sp>
      <p:sp>
        <p:nvSpPr>
          <p:cNvPr id="220" name="Caja 220"/>
          <p:cNvSpPr/>
          <p:nvPr/>
        </p:nvSpPr>
        <p:spPr>
          <a:xfrm>
            <a:off x="8929200" y="2050000"/>
            <a:ext cx="26532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D · Herramientas</a:t>
            </a:r>
          </a:p>
        </p:txBody>
      </p:sp>
      <p:sp>
        <p:nvSpPr>
          <p:cNvPr id="221" name="Caja 221"/>
          <p:cNvSpPr/>
          <p:nvPr/>
        </p:nvSpPr>
        <p:spPr>
          <a:xfrm>
            <a:off x="8929200" y="2790000"/>
            <a:ext cx="26532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8969200" y="2890000"/>
            <a:ext cx="25732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Registro T01, calculadoras, diagnóstico de madurez y panel del consejo: HTML sin servidor, datos en JSON, código MIT.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Si lo llama «SEVEN-G», respete sus seis reglas esenciales; si no, diga «adaptado de» e indique qué cambia.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encajarlo en su metodología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Haga una tabla de correspondencias: sus etapas frente a las fases 0 a 7, sus comités frente a los órganos, sus entregables frente a las plantillas 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Conserve los códigos (G0–G7, P01–P71, T01–T22) o publique su equivalencia: sus clientes podrán contrastar con la fuente.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Puede cambiar nombres, umbrales, plazos y pesos. No cambie lo que protege al cliente: separación de funciones, evidencia antes de decidir y estado de cada importe.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Indique la versión de partida y sus cambios; cuando el marco evolucione, decida si actualiza y dígalo.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En una obra que mezcla marcos debe quedar claro qué procede de SEVEN-G. Sus aportaciones puede licenciarlas como quiera, sin impedir la licencia del original.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4" name="Texto 23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Integración técnica: datos y herramientas</a:t>
            </a:r>
          </a:p>
        </p:txBody>
      </p:sp>
      <p:sp>
        <p:nvSpPr>
          <p:cNvPr id="232" name="Texto 23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Un único modelo de datos para todo: el JSON del registro T01, con su esquema publicado. Se importa, se exporta y se fusiona por código de iniciativa.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Puede alimentar ese JSON desde su propia plataforma (gestión de proyectos, GRC, CRM) y generar el panel del consejo con el conector de T17.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Las herramientas son HTML sin servidor: se alojan donde quiera, con su marca junto al reconocimiento, y no envían datos a nadie.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Las 71 plantillas se generan en Word desde Markdown: puede cambiar estilos y portada y regenerarlas con su imagen.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Los esquemas nuevos solo añaden campos opcionales: los ficheros antiguos siguen funcionando.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Los datos del cliente son del cliente: déjelos siempre en formato abierto.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7" name="Texto 24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48" name="Texto 24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nombrarlo ante sus clientes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Decir con exactitud qué se ha usado es obligatorio; sugerir aval no está permitido</a:t>
            </a:r>
          </a:p>
        </p:txBody>
      </p:sp>
      <p:sp>
        <p:nvSpPr>
          <p:cNvPr id="236" name="Caja 23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Adecuado</a:t>
            </a:r>
          </a:p>
        </p:txBody>
      </p:sp>
      <p:sp>
        <p:nvSpPr>
          <p:cNvPr id="237" name="Caja 23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8" name="Texto 23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«Basado en SEVEN-G (versión 0.80).»   «Adaptado de SEVEN-G; cambios: …»   «Incluye el registro de iniciativas de SEVEN-G (MIT).»   «Esta adaptación no está respaldada por el autor.»</a:t>
            </a:r>
          </a:p>
        </p:txBody>
      </p:sp>
      <p:sp>
        <p:nvSpPr>
          <p:cNvPr id="239" name="Caja 23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 adecuado</a:t>
            </a:r>
          </a:p>
        </p:txBody>
      </p:sp>
      <p:sp>
        <p:nvSpPr>
          <p:cNvPr id="240" name="Caja 24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«Partner oficial», «homologado», «acreditado», «certificación SEVEN-G», o declarar en nombre de SEVEN-G o del autor que un cliente cumple la regulación.</a:t>
            </a:r>
          </a:p>
        </p:txBody>
      </p:sp>
      <p:sp>
        <p:nvSpPr>
          <p:cNvPr id="242" name="Caja 24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Aviso que se conserva</a:t>
            </a:r>
          </a:p>
        </p:txBody>
      </p:sp>
      <p:sp>
        <p:nvSpPr>
          <p:cNvPr id="243" name="Caja 24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«Basado en SEVEN-G (Fernando García Varela, CC BY 4.0). Contenido orientativo, «tal cual», sin garantías; no es asesoramiento jurídico. El autor no valida ni respalda esta obra.»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93, secciones 6, 7, 8 y 11.9.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52" name="Texto 25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PARTNER · INTEGRARLO EN SU METODOLOGÍA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Mantenerse al día y mejorar el marco</a:t>
            </a:r>
          </a:p>
        </p:txBody>
      </p:sp>
      <p:sp>
        <p:nvSpPr>
          <p:cNvPr id="250" name="Texto 25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sitio publica la versión del marco y el control de versiones de cada documento: revise los cambios antes de actualizar su adaptación.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Incidencias y peticiones de mejora: en la página de comunidad, sin cuenta ni correo; se abordan las peticiones con más votos.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Una traducción suya es una obra derivada: indique que no es oficial, de qué versión procede y quién la ha hecho.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Si quiere algo que la licencia no da —un desarrollo a medida, formación para su equipo, acuerdo sobre el uso de la marca—, hable con el autor. Esa conversación la inicia usted.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o 254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Gracias</a:t>
            </a:r>
          </a:p>
        </p:txBody>
      </p:sp>
      <p:sp>
        <p:nvSpPr>
          <p:cNvPr id="255" name="Texto 255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es gratuito: se usa, se descarga y se adapta sin registrarse, y el sitio nunca le escribirá. Si quiere hablar con el autor, la iniciativa es suya.</a:t>
            </a:r>
          </a:p>
        </p:txBody>
      </p:sp>
      <p:sp>
        <p:nvSpPr>
          <p:cNvPr id="256" name="Texto 256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es una marca registrada de Fernando García Varela · CC BY 4.0 (contenidos) · MIT (código)</a:t>
            </a:r>
          </a:p>
        </p:txBody>
      </p:sp>
      <p:sp>
        <p:nvSpPr>
          <p:cNvPr id="257" name="Texto 257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Curso de SEVEN-G para el partner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
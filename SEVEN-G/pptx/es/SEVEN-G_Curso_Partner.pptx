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Lst>
  <p:sldSz cx="12192000" cy="6858000" type="screen16x9"/>
  <p:notesSz cx="6858000" cy="9144000"/>
</p:presentation>
</file>

<file path=ppt/_rels/presentation.xml.rels><?xml version="1.0" encoding="UTF-8" standalone="yes"?><Relationships xmlns="http://schemas.openxmlformats.org/package/2006/relationships"><Relationship Id="rIdM1" Type="http://schemas.openxmlformats.org/officeDocument/2006/relationships/slideMaster" Target="slideMasters/slideMaster1.xml"/><Relationship Id="rIdT1" Type="http://schemas.openxmlformats.org/officeDocument/2006/relationships/theme" Target="theme/theme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Img_registro" Type="http://schemas.openxmlformats.org/officeDocument/2006/relationships/image" Target="../media/registro.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Img_embudo" Type="http://schemas.openxmlformats.org/officeDocument/2006/relationships/image" Target="../media/embudo.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Img_panel" Type="http://schemas.openxmlformats.org/officeDocument/2006/relationships/image" Target="../media/panel.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Img_impacto" Type="http://schemas.openxmlformats.org/officeDocument/2006/relationships/image" Target="../media/impacto.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 name="Marca"/>
          <p:cNvSpPr/>
          <p:nvPr/>
        </p:nvSpPr>
        <p:spPr>
          <a:xfrm>
            <a:off x="609600" y="365760"/>
            <a:ext cx="182880" cy="182880"/>
          </a:xfrm>
          <a:prstGeom prst="rect">
            <a:avLst/>
          </a:prstGeom>
          <a:solidFill>
            <a:srgbClr val="990F3D"/>
          </a:solidFill>
        </p:spPr>
        <p:txBody>
          <a:bodyPr/>
          <a:lstStyle/>
          <a:p/>
        </p:txBody>
      </p:sp>
      <p:sp>
        <p:nvSpPr>
          <p:cNvPr id="7" name="Texto 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2" name="Texto 2"/>
          <p:cNvSpPr txBox="1"/>
          <p:nvPr/>
        </p:nvSpPr>
        <p:spPr>
          <a:xfrm>
            <a:off x="609600" y="1350000"/>
            <a:ext cx="10972800" cy="1100000"/>
          </a:xfrm>
          <a:prstGeom prst="rect">
            <a:avLst/>
          </a:prstGeom>
          <a:noFill/>
        </p:spPr>
        <p:txBody>
          <a:bodyPr wrap="square" anchor="t" lIns="45720" rIns="45720">
            <a:noAutofit/>
          </a:bodyPr>
          <a:lstStyle/>
          <a:p>
            <a:pPr algn="l"/>
            <a:r>
              <a:rPr lang="es-ES" sz="5000" b="1" dirty="0">
                <a:solidFill>
                  <a:srgbClr val="1A1817"/>
                </a:solidFill>
              </a:rPr>
              <a:t>SEVEN-G</a:t>
            </a:r>
          </a:p>
        </p:txBody>
      </p:sp>
      <p:sp>
        <p:nvSpPr>
          <p:cNvPr id="3" name="Caja 3"/>
          <p:cNvSpPr/>
          <p:nvPr/>
        </p:nvSpPr>
        <p:spPr>
          <a:xfrm>
            <a:off x="609600" y="2600000"/>
            <a:ext cx="5200000" cy="560000"/>
          </a:xfrm>
          <a:prstGeom prst="roundRect">
            <a:avLst>
              <a:gd name="adj" fmla="val 6000"/>
            </a:avLst>
          </a:prstGeom>
          <a:solidFill>
            <a:srgbClr val="990F3D"/>
          </a:solidFill>
          <a:ln>
            <a:noFill/>
          </a:ln>
        </p:spPr>
        <p:txBody>
          <a:bodyPr wrap="square" anchor="ctr" lIns="45720" rIns="45720">
            <a:noAutofit/>
          </a:bodyPr>
          <a:lstStyle/>
          <a:p>
            <a:pPr algn="ctr"/>
            <a:r>
              <a:rPr lang="es-ES" sz="1800" b="1" dirty="0">
                <a:solidFill>
                  <a:srgbClr val="FFFFFF"/>
                </a:solidFill>
              </a:rPr>
              <a:t>Partner · Integrarlo en su metodología</a:t>
            </a:r>
          </a:p>
        </p:txBody>
      </p:sp>
      <p:sp>
        <p:nvSpPr>
          <p:cNvPr id="4" name="Texto 4"/>
          <p:cNvSpPr txBox="1"/>
          <p:nvPr/>
        </p:nvSpPr>
        <p:spPr>
          <a:xfrm>
            <a:off x="609600" y="3450000"/>
            <a:ext cx="10500000" cy="1500000"/>
          </a:xfrm>
          <a:prstGeom prst="rect">
            <a:avLst/>
          </a:prstGeom>
          <a:noFill/>
        </p:spPr>
        <p:txBody>
          <a:bodyPr wrap="square" anchor="t" lIns="45720" rIns="45720">
            <a:noAutofit/>
          </a:bodyPr>
          <a:lstStyle/>
          <a:p>
            <a:pPr algn="l"/>
            <a:r>
              <a:rPr lang="es-ES" sz="2000" dirty="0">
                <a:solidFill>
                  <a:srgbClr val="2F2B28"/>
                </a:solidFill>
              </a:rPr>
              <a:t>Qué es SEVEN-G, cómo se llena el embudo de iniciativas hasta el panel del consejo y cómo integrarlo en su propia metodología o producto.</a:t>
            </a:r>
          </a:p>
        </p:txBody>
      </p:sp>
      <p:sp>
        <p:nvSpPr>
          <p:cNvPr id="5" name="Texto 5"/>
          <p:cNvSpPr txBox="1"/>
          <p:nvPr/>
        </p:nvSpPr>
        <p:spPr>
          <a:xfrm>
            <a:off x="609600" y="6150000"/>
            <a:ext cx="10972800" cy="450000"/>
          </a:xfrm>
          <a:prstGeom prst="rect">
            <a:avLst/>
          </a:prstGeom>
          <a:noFill/>
        </p:spPr>
        <p:txBody>
          <a:bodyPr wrap="square" anchor="t" lIns="45720" rIns="45720">
            <a:noAutofit/>
          </a:bodyPr>
          <a:lstStyle/>
          <a:p>
            <a:pPr algn="l"/>
            <a:r>
              <a:rPr lang="es-ES" sz="1400" dirty="0">
                <a:solidFill>
                  <a:srgbClr val="0F5499"/>
                </a:solidFill>
              </a:rPr>
              <a:t>Fernando García Varela · Curso de autoaprendizaje · CC BY 4.0 · Ejemplos con datos ficticios</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 name="Marca"/>
          <p:cNvSpPr/>
          <p:nvPr/>
        </p:nvSpPr>
        <p:spPr>
          <a:xfrm>
            <a:off x="609600" y="365760"/>
            <a:ext cx="182880" cy="182880"/>
          </a:xfrm>
          <a:prstGeom prst="rect">
            <a:avLst/>
          </a:prstGeom>
          <a:solidFill>
            <a:srgbClr val="990F3D"/>
          </a:solidFill>
        </p:spPr>
        <p:txBody>
          <a:bodyPr/>
          <a:lstStyle/>
          <a:p/>
        </p:txBody>
      </p:sp>
      <p:sp>
        <p:nvSpPr>
          <p:cNvPr id="11" name="Texto 1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2" name="Texto 1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problema que resuelve</a:t>
            </a:r>
          </a:p>
        </p:txBody>
      </p:sp>
      <p:sp>
        <p:nvSpPr>
          <p:cNvPr id="8" name="Texto 8"/>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Muchas compañías tienen pilotos de IA que funcionan, pero pocos llegan a producción.</a:t>
            </a:r>
          </a:p>
          <a:p>
            <a:pPr marL="285750" indent="-285750">
              <a:spcAft>
                <a:spcPts val="400"/>
              </a:spcAft>
              <a:buClr>
                <a:srgbClr val="990F3D"/>
              </a:buClr>
              <a:buFont typeface="Arial"/>
              <a:buChar char="•"/>
            </a:pPr>
            <a:r>
              <a:rPr lang="es-ES" sz="1800" dirty="0">
                <a:solidFill>
                  <a:srgbClr val="2F2B28"/>
                </a:solidFill>
              </a:rPr>
              <a:t>El valor se declara («liberamos 200 horas») y casi nadie lo comprueba.</a:t>
            </a:r>
          </a:p>
          <a:p>
            <a:pPr marL="285750" indent="-285750">
              <a:spcAft>
                <a:spcPts val="400"/>
              </a:spcAft>
              <a:buClr>
                <a:srgbClr val="990F3D"/>
              </a:buClr>
              <a:buFont typeface="Arial"/>
              <a:buChar char="•"/>
            </a:pPr>
            <a:r>
              <a:rPr lang="es-ES" sz="1800" dirty="0">
                <a:solidFill>
                  <a:srgbClr val="2F2B28"/>
                </a:solidFill>
              </a:rPr>
              <a:t>Nadie tiene autoridad clara para parar una iniciativa que no funciona.</a:t>
            </a:r>
          </a:p>
          <a:p>
            <a:pPr marL="285750" indent="-285750">
              <a:spcAft>
                <a:spcPts val="400"/>
              </a:spcAft>
              <a:buClr>
                <a:srgbClr val="990F3D"/>
              </a:buClr>
              <a:buFont typeface="Arial"/>
              <a:buChar char="•"/>
            </a:pPr>
            <a:r>
              <a:rPr lang="es-ES" sz="1800" dirty="0">
                <a:solidFill>
                  <a:srgbClr val="2F2B28"/>
                </a:solidFill>
              </a:rPr>
              <a:t>El consejo pregunta por la IA y recibe una lista de proyectos técnicos, no decisiones de negocio.</a:t>
            </a:r>
          </a:p>
          <a:p>
            <a:pPr marL="285750" indent="-285750">
              <a:spcAft>
                <a:spcPts val="400"/>
              </a:spcAft>
              <a:buClr>
                <a:srgbClr val="990F3D"/>
              </a:buClr>
              <a:buFont typeface="Arial"/>
              <a:buChar char="•"/>
            </a:pPr>
            <a:r>
              <a:rPr lang="es-ES" sz="1800" dirty="0">
                <a:solidFill>
                  <a:srgbClr val="2F2B28"/>
                </a:solidFill>
              </a:rPr>
              <a:t>¿La compañía se está transformando con IA, o solo es un poco más eficiente? Casi nadie puede contestarlo con evidencia.</a:t>
            </a:r>
          </a:p>
        </p:txBody>
      </p:sp>
      <p:sp>
        <p:nvSpPr>
          <p:cNvPr id="9" name="Texto 9"/>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No es un problema de tecnología: es un problema de gobierno y de medición.</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 name="Marca"/>
          <p:cNvSpPr/>
          <p:nvPr/>
        </p:nvSpPr>
        <p:spPr>
          <a:xfrm>
            <a:off x="609600" y="365760"/>
            <a:ext cx="182880" cy="182880"/>
          </a:xfrm>
          <a:prstGeom prst="rect">
            <a:avLst/>
          </a:prstGeom>
          <a:solidFill>
            <a:srgbClr val="990F3D"/>
          </a:solidFill>
        </p:spPr>
        <p:txBody>
          <a:bodyPr/>
          <a:lstStyle/>
          <a:p/>
        </p:txBody>
      </p:sp>
      <p:sp>
        <p:nvSpPr>
          <p:cNvPr id="15" name="Texto 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6" name="Texto 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Qué es SEVEN-G y qué aporta</a:t>
            </a:r>
          </a:p>
        </p:txBody>
      </p:sp>
      <p:sp>
        <p:nvSpPr>
          <p:cNvPr id="13" name="Texto 13"/>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Seven-phase Enterprise Value &amp; Governance: una fase 0 habilitante y siete fases de valor, con gobierno en todas.</a:t>
            </a:r>
          </a:p>
          <a:p>
            <a:pPr marL="285750" indent="-285750">
              <a:spcAft>
                <a:spcPts val="400"/>
              </a:spcAft>
              <a:buClr>
                <a:srgbClr val="990F3D"/>
              </a:buClr>
              <a:buFont typeface="Arial"/>
              <a:buChar char="•"/>
            </a:pPr>
            <a:r>
              <a:rPr lang="es-ES" sz="1800" dirty="0">
                <a:solidFill>
                  <a:srgbClr val="2F2B28"/>
                </a:solidFill>
              </a:rPr>
              <a:t>Ordena la IA como una cartera: cada iniciativa tiene fase, coste, valor esperado y responsable.</a:t>
            </a:r>
          </a:p>
          <a:p>
            <a:pPr marL="285750" indent="-285750">
              <a:spcAft>
                <a:spcPts val="400"/>
              </a:spcAft>
              <a:buClr>
                <a:srgbClr val="990F3D"/>
              </a:buClr>
              <a:buFont typeface="Arial"/>
              <a:buChar char="•"/>
            </a:pPr>
            <a:r>
              <a:rPr lang="es-ES" sz="1800" dirty="0">
                <a:solidFill>
                  <a:srgbClr val="2F2B28"/>
                </a:solidFill>
              </a:rPr>
              <a:t>Pone puertas de decisión entre las fases: sin evidencia verificada no se avanza.</a:t>
            </a:r>
          </a:p>
          <a:p>
            <a:pPr marL="285750" indent="-285750">
              <a:spcAft>
                <a:spcPts val="400"/>
              </a:spcAft>
              <a:buClr>
                <a:srgbClr val="990F3D"/>
              </a:buClr>
              <a:buFont typeface="Arial"/>
              <a:buChar char="•"/>
            </a:pPr>
            <a:r>
              <a:rPr lang="es-ES" sz="1800" dirty="0">
                <a:solidFill>
                  <a:srgbClr val="2F2B28"/>
                </a:solidFill>
              </a:rPr>
              <a:t>Separa quién decide, quién construye y quién controla, y traduce la regulación a fases, roles y evidencias.</a:t>
            </a:r>
          </a:p>
          <a:p>
            <a:pPr marL="285750" indent="-285750">
              <a:spcAft>
                <a:spcPts val="400"/>
              </a:spcAft>
              <a:buClr>
                <a:srgbClr val="990F3D"/>
              </a:buClr>
              <a:buFont typeface="Arial"/>
              <a:buChar char="•"/>
            </a:pPr>
            <a:r>
              <a:rPr lang="es-ES" sz="1800" dirty="0">
                <a:solidFill>
                  <a:srgbClr val="2F2B28"/>
                </a:solidFill>
              </a:rPr>
              <a:t>Mide el valor en dinero y con estado —validado, declarado o estimado— y se lo enseña al consejo en un panel.</a:t>
            </a:r>
          </a:p>
          <a:p>
            <a:pPr marL="285750" indent="-285750">
              <a:spcAft>
                <a:spcPts val="400"/>
              </a:spcAft>
              <a:buClr>
                <a:srgbClr val="990F3D"/>
              </a:buClr>
              <a:buFont typeface="Arial"/>
              <a:buChar char="•"/>
            </a:pPr>
            <a:r>
              <a:rPr lang="es-ES" sz="1800" dirty="0">
                <a:solidFill>
                  <a:srgbClr val="2F2B28"/>
                </a:solidFill>
              </a:rPr>
              <a:t>Es gratuito y modificable: documentos, plantillas en Word y herramientas, con licencia abierta.</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8" name="Marca"/>
          <p:cNvSpPr/>
          <p:nvPr/>
        </p:nvSpPr>
        <p:spPr>
          <a:xfrm>
            <a:off x="609600" y="365760"/>
            <a:ext cx="182880" cy="182880"/>
          </a:xfrm>
          <a:prstGeom prst="rect">
            <a:avLst/>
          </a:prstGeom>
          <a:solidFill>
            <a:srgbClr val="990F3D"/>
          </a:solidFill>
        </p:spPr>
        <p:txBody>
          <a:bodyPr/>
          <a:lstStyle/>
          <a:p/>
        </p:txBody>
      </p:sp>
      <p:sp>
        <p:nvSpPr>
          <p:cNvPr id="19" name="Texto 1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20" name="Texto 2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Dos niveles: la compañía y cada iniciativa</a:t>
            </a:r>
          </a:p>
        </p:txBody>
      </p:sp>
      <p:sp>
        <p:nvSpPr>
          <p:cNvPr id="17" name="Texto 17"/>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C1 · Diagnóstico: inventario, madurez en siete dimensiones e índice de transformación.</a:t>
            </a:r>
          </a:p>
          <a:p>
            <a:pPr marL="285750" indent="-285750">
              <a:spcAft>
                <a:spcPts val="400"/>
              </a:spcAft>
              <a:buClr>
                <a:srgbClr val="990F3D"/>
              </a:buClr>
              <a:buFont typeface="Arial"/>
              <a:buChar char="•"/>
            </a:pPr>
            <a:r>
              <a:rPr lang="es-ES" sz="1800" dirty="0">
                <a:solidFill>
                  <a:srgbClr val="2F2B28"/>
                </a:solidFill>
              </a:rPr>
              <a:t>C2 · Dirección: el consejo aprueba la tesis de IA, la ambición por esfera y el apetito de riesgo.</a:t>
            </a:r>
          </a:p>
          <a:p>
            <a:pPr marL="285750" indent="-285750">
              <a:spcAft>
                <a:spcPts val="400"/>
              </a:spcAft>
              <a:buClr>
                <a:srgbClr val="990F3D"/>
              </a:buClr>
              <a:buFont typeface="Arial"/>
              <a:buChar char="•"/>
            </a:pPr>
            <a:r>
              <a:rPr lang="es-ES" sz="1800" dirty="0">
                <a:solidFill>
                  <a:srgbClr val="2F2B28"/>
                </a:solidFill>
              </a:rPr>
              <a:t>C3 · Cartera: qué iniciativas se financian y en qué orden.</a:t>
            </a:r>
          </a:p>
          <a:p>
            <a:pPr marL="285750" indent="-285750">
              <a:spcAft>
                <a:spcPts val="400"/>
              </a:spcAft>
              <a:buClr>
                <a:srgbClr val="990F3D"/>
              </a:buClr>
              <a:buFont typeface="Arial"/>
              <a:buChar char="•"/>
            </a:pPr>
            <a:r>
              <a:rPr lang="es-ES" sz="1800" dirty="0">
                <a:solidFill>
                  <a:srgbClr val="2F2B28"/>
                </a:solidFill>
              </a:rPr>
              <a:t>C4 · Supervisión: panel del consejo y registro de decisiones y recomendaciones.</a:t>
            </a:r>
          </a:p>
          <a:p>
            <a:pPr marL="285750" indent="-285750">
              <a:spcAft>
                <a:spcPts val="400"/>
              </a:spcAft>
              <a:buClr>
                <a:srgbClr val="990F3D"/>
              </a:buClr>
              <a:buFont typeface="Arial"/>
              <a:buChar char="•"/>
            </a:pPr>
            <a:r>
              <a:rPr lang="es-ES" sz="1800" dirty="0">
                <a:solidFill>
                  <a:srgbClr val="2F2B28"/>
                </a:solidFill>
              </a:rPr>
              <a:t>C5 · Revisión anual: qué funcionó, qué no y qué cambia.</a:t>
            </a:r>
          </a:p>
          <a:p>
            <a:pPr marL="285750" indent="-285750">
              <a:spcAft>
                <a:spcPts val="400"/>
              </a:spcAft>
              <a:buClr>
                <a:srgbClr val="990F3D"/>
              </a:buClr>
              <a:buFont typeface="Arial"/>
              <a:buChar char="•"/>
            </a:pPr>
            <a:r>
              <a:rPr lang="es-ES" sz="1800" dirty="0">
                <a:solidFill>
                  <a:srgbClr val="2F2B28"/>
                </a:solidFill>
              </a:rPr>
              <a:t>Y, dentro de esa cartera, cada iniciativa recorre su propio ciclo de vida de ocho fases.</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42" name="Marca"/>
          <p:cNvSpPr/>
          <p:nvPr/>
        </p:nvSpPr>
        <p:spPr>
          <a:xfrm>
            <a:off x="609600" y="365760"/>
            <a:ext cx="182880" cy="182880"/>
          </a:xfrm>
          <a:prstGeom prst="rect">
            <a:avLst/>
          </a:prstGeom>
          <a:solidFill>
            <a:srgbClr val="990F3D"/>
          </a:solidFill>
        </p:spPr>
        <p:txBody>
          <a:bodyPr/>
          <a:lstStyle/>
          <a:p/>
        </p:txBody>
      </p:sp>
      <p:sp>
        <p:nvSpPr>
          <p:cNvPr id="43" name="Texto 4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44" name="Texto 4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ciclo de vida de una iniciativa</a:t>
            </a:r>
          </a:p>
        </p:txBody>
      </p:sp>
      <p:sp>
        <p:nvSpPr>
          <p:cNvPr id="45" name="Texto 4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Ocho fases con una puerta de decisión al final de cada una; debajo, la etapa del embudo en la que se ve cada fase</a:t>
            </a:r>
          </a:p>
        </p:txBody>
      </p:sp>
      <p:sp>
        <p:nvSpPr>
          <p:cNvPr id="21" name="Caja 21"/>
          <p:cNvSpPr/>
          <p:nvPr/>
        </p:nvSpPr>
        <p:spPr>
          <a:xfrm>
            <a:off x="681000" y="2350000"/>
            <a:ext cx="1240000" cy="1500000"/>
          </a:xfrm>
          <a:prstGeom prst="roundRect">
            <a:avLst>
              <a:gd name="adj" fmla="val 6000"/>
            </a:avLst>
          </a:prstGeom>
          <a:solidFill>
            <a:srgbClr val="564D47"/>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Contexto y restricciones</a:t>
            </a:r>
          </a:p>
        </p:txBody>
      </p:sp>
      <p:sp>
        <p:nvSpPr>
          <p:cNvPr id="22" name="Texto 22"/>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23" name="Caja 23"/>
          <p:cNvSpPr/>
          <p:nvPr/>
        </p:nvSpPr>
        <p:spPr>
          <a:xfrm>
            <a:off x="205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Descubrimiento de oportunidades</a:t>
            </a:r>
          </a:p>
        </p:txBody>
      </p:sp>
      <p:sp>
        <p:nvSpPr>
          <p:cNvPr id="24" name="Texto 24"/>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25" name="Caja 25"/>
          <p:cNvSpPr/>
          <p:nvPr/>
        </p:nvSpPr>
        <p:spPr>
          <a:xfrm>
            <a:off x="342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Hipótesis de valor</a:t>
            </a:r>
          </a:p>
        </p:txBody>
      </p:sp>
      <p:sp>
        <p:nvSpPr>
          <p:cNvPr id="26" name="Texto 26"/>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27" name="Caja 27"/>
          <p:cNvSpPr/>
          <p:nvPr/>
        </p:nvSpPr>
        <p:spPr>
          <a:xfrm>
            <a:off x="479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Viabilidad y riesgo</a:t>
            </a:r>
          </a:p>
        </p:txBody>
      </p:sp>
      <p:sp>
        <p:nvSpPr>
          <p:cNvPr id="28" name="Texto 28"/>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29" name="Caja 29"/>
          <p:cNvSpPr/>
          <p:nvPr/>
        </p:nvSpPr>
        <p:spPr>
          <a:xfrm>
            <a:off x="616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Diseño de la solución</a:t>
            </a:r>
          </a:p>
        </p:txBody>
      </p:sp>
      <p:sp>
        <p:nvSpPr>
          <p:cNvPr id="30" name="Texto 30"/>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31" name="Caja 31"/>
          <p:cNvSpPr/>
          <p:nvPr/>
        </p:nvSpPr>
        <p:spPr>
          <a:xfrm>
            <a:off x="753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Entrega y validación</a:t>
            </a:r>
          </a:p>
        </p:txBody>
      </p:sp>
      <p:sp>
        <p:nvSpPr>
          <p:cNvPr id="32" name="Texto 32"/>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33" name="Caja 33"/>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Operación y gobierno</a:t>
            </a:r>
          </a:p>
        </p:txBody>
      </p:sp>
      <p:sp>
        <p:nvSpPr>
          <p:cNvPr id="34" name="Texto 34"/>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35" name="Caja 35"/>
          <p:cNvSpPr/>
          <p:nvPr/>
        </p:nvSpPr>
        <p:spPr>
          <a:xfrm>
            <a:off x="1027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F7</a:t>
            </a:r>
          </a:p>
          <a:p>
            <a:pPr algn="ctr"/>
            <a:r>
              <a:rPr lang="es-ES" sz="1050" dirty="0">
                <a:solidFill>
                  <a:srgbClr val="FFFFFF"/>
                </a:solidFill>
              </a:rPr>
              <a:t>Evolución o retirada</a:t>
            </a:r>
          </a:p>
        </p:txBody>
      </p:sp>
      <p:sp>
        <p:nvSpPr>
          <p:cNvPr id="36" name="Texto 36"/>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37" name="Caja 37"/>
          <p:cNvSpPr/>
          <p:nvPr/>
        </p:nvSpPr>
        <p:spPr>
          <a:xfrm>
            <a:off x="681000" y="4330000"/>
            <a:ext cx="2610000" cy="520000"/>
          </a:xfrm>
          <a:prstGeom prst="roundRect">
            <a:avLst>
              <a:gd name="adj" fmla="val 6000"/>
            </a:avLst>
          </a:prstGeom>
          <a:solidFill>
            <a:srgbClr val="593380"/>
          </a:solidFill>
          <a:ln>
            <a:noFill/>
          </a:ln>
        </p:spPr>
        <p:txBody>
          <a:bodyPr wrap="square" anchor="ctr" lIns="45720" rIns="45720">
            <a:noAutofit/>
          </a:bodyPr>
          <a:lstStyle/>
          <a:p>
            <a:pPr algn="ctr"/>
            <a:r>
              <a:rPr lang="es-ES" sz="1300" b="1" dirty="0">
                <a:solidFill>
                  <a:srgbClr val="FFFFFF"/>
                </a:solidFill>
              </a:rPr>
              <a:t>Propuesto</a:t>
            </a:r>
          </a:p>
        </p:txBody>
      </p:sp>
      <p:sp>
        <p:nvSpPr>
          <p:cNvPr id="38" name="Caja 38"/>
          <p:cNvSpPr/>
          <p:nvPr/>
        </p:nvSpPr>
        <p:spPr>
          <a:xfrm>
            <a:off x="3421000" y="4330000"/>
            <a:ext cx="1240000" cy="520000"/>
          </a:xfrm>
          <a:prstGeom prst="roundRect">
            <a:avLst>
              <a:gd name="adj" fmla="val 6000"/>
            </a:avLst>
          </a:prstGeom>
          <a:solidFill>
            <a:srgbClr val="0F5499"/>
          </a:solidFill>
          <a:ln>
            <a:noFill/>
          </a:ln>
        </p:spPr>
        <p:txBody>
          <a:bodyPr wrap="square" anchor="ctr" lIns="45720" rIns="45720">
            <a:noAutofit/>
          </a:bodyPr>
          <a:lstStyle/>
          <a:p>
            <a:pPr algn="ctr"/>
            <a:r>
              <a:rPr lang="es-ES" sz="1300" b="1" dirty="0">
                <a:solidFill>
                  <a:srgbClr val="FFFFFF"/>
                </a:solidFill>
              </a:rPr>
              <a:t>Hipótesis de valor</a:t>
            </a:r>
          </a:p>
        </p:txBody>
      </p:sp>
      <p:sp>
        <p:nvSpPr>
          <p:cNvPr id="39" name="Caja 39"/>
          <p:cNvSpPr/>
          <p:nvPr/>
        </p:nvSpPr>
        <p:spPr>
          <a:xfrm>
            <a:off x="4791000" y="4330000"/>
            <a:ext cx="1240000" cy="520000"/>
          </a:xfrm>
          <a:prstGeom prst="roundRect">
            <a:avLst>
              <a:gd name="adj" fmla="val 6000"/>
            </a:avLst>
          </a:prstGeom>
          <a:solidFill>
            <a:srgbClr val="A5822A"/>
          </a:solidFill>
          <a:ln>
            <a:noFill/>
          </a:ln>
        </p:spPr>
        <p:txBody>
          <a:bodyPr wrap="square" anchor="ctr" lIns="45720" rIns="45720">
            <a:noAutofit/>
          </a:bodyPr>
          <a:lstStyle/>
          <a:p>
            <a:pPr algn="ctr"/>
            <a:r>
              <a:rPr lang="es-ES" sz="1300" b="1" dirty="0">
                <a:solidFill>
                  <a:srgbClr val="FFFFFF"/>
                </a:solidFill>
              </a:rPr>
              <a:t>Prueba de concepto</a:t>
            </a:r>
          </a:p>
        </p:txBody>
      </p:sp>
      <p:sp>
        <p:nvSpPr>
          <p:cNvPr id="40" name="Caja 40"/>
          <p:cNvSpPr/>
          <p:nvPr/>
        </p:nvSpPr>
        <p:spPr>
          <a:xfrm>
            <a:off x="6161000" y="4330000"/>
            <a:ext cx="2610000" cy="520000"/>
          </a:xfrm>
          <a:prstGeom prst="roundRect">
            <a:avLst>
              <a:gd name="adj" fmla="val 6000"/>
            </a:avLst>
          </a:prstGeom>
          <a:solidFill>
            <a:srgbClr val="1A1817"/>
          </a:solidFill>
          <a:ln>
            <a:noFill/>
          </a:ln>
        </p:spPr>
        <p:txBody>
          <a:bodyPr wrap="square" anchor="ctr" lIns="45720" rIns="45720">
            <a:noAutofit/>
          </a:bodyPr>
          <a:lstStyle/>
          <a:p>
            <a:pPr algn="ctr"/>
            <a:r>
              <a:rPr lang="es-ES" sz="1300" b="1" dirty="0">
                <a:solidFill>
                  <a:srgbClr val="FFFFFF"/>
                </a:solidFill>
              </a:rPr>
              <a:t>En desarrollo</a:t>
            </a:r>
          </a:p>
        </p:txBody>
      </p:sp>
      <p:sp>
        <p:nvSpPr>
          <p:cNvPr id="41" name="Caja 41"/>
          <p:cNvSpPr/>
          <p:nvPr/>
        </p:nvSpPr>
        <p:spPr>
          <a:xfrm>
            <a:off x="8901000" y="4330000"/>
            <a:ext cx="2610000" cy="520000"/>
          </a:xfrm>
          <a:prstGeom prst="roundRect">
            <a:avLst>
              <a:gd name="adj" fmla="val 6000"/>
            </a:avLst>
          </a:prstGeom>
          <a:solidFill>
            <a:srgbClr val="2E7D32"/>
          </a:solidFill>
          <a:ln>
            <a:noFill/>
          </a:ln>
        </p:spPr>
        <p:txBody>
          <a:bodyPr wrap="square" anchor="ctr" lIns="45720" rIns="45720">
            <a:noAutofit/>
          </a:bodyPr>
          <a:lstStyle/>
          <a:p>
            <a:pPr algn="ctr"/>
            <a:r>
              <a:rPr lang="es-ES" sz="1300" b="1" dirty="0">
                <a:solidFill>
                  <a:srgbClr val="FFFFFF"/>
                </a:solidFill>
              </a:rPr>
              <a:t>En uso</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2" name="Marca"/>
          <p:cNvSpPr/>
          <p:nvPr/>
        </p:nvSpPr>
        <p:spPr>
          <a:xfrm>
            <a:off x="609600" y="365760"/>
            <a:ext cx="182880" cy="182880"/>
          </a:xfrm>
          <a:prstGeom prst="rect">
            <a:avLst/>
          </a:prstGeom>
          <a:solidFill>
            <a:srgbClr val="990F3D"/>
          </a:solidFill>
        </p:spPr>
        <p:txBody>
          <a:bodyPr/>
          <a:lstStyle/>
          <a:p/>
        </p:txBody>
      </p:sp>
      <p:sp>
        <p:nvSpPr>
          <p:cNvPr id="63" name="Texto 6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64" name="Texto 6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Qué puede pasar en cada puerta</a:t>
            </a:r>
          </a:p>
        </p:txBody>
      </p:sp>
      <p:sp>
        <p:nvSpPr>
          <p:cNvPr id="65" name="Texto 6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Cinco resultados; quien aporta la evidencia nunca es quien verifica ni quien decide</a:t>
            </a:r>
          </a:p>
        </p:txBody>
      </p:sp>
      <p:sp>
        <p:nvSpPr>
          <p:cNvPr id="46" name="Caja 46"/>
          <p:cNvSpPr/>
          <p:nvPr/>
        </p:nvSpPr>
        <p:spPr>
          <a:xfrm>
            <a:off x="609600" y="2050000"/>
            <a:ext cx="209856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Continuar</a:t>
            </a:r>
          </a:p>
        </p:txBody>
      </p:sp>
      <p:sp>
        <p:nvSpPr>
          <p:cNvPr id="47" name="Caja 47"/>
          <p:cNvSpPr/>
          <p:nvPr/>
        </p:nvSpPr>
        <p:spPr>
          <a:xfrm>
            <a:off x="60960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48" name="Texto 48"/>
          <p:cNvSpPr txBox="1"/>
          <p:nvPr/>
        </p:nvSpPr>
        <p:spPr>
          <a:xfrm>
            <a:off x="649600" y="2890000"/>
            <a:ext cx="2018560" cy="2340000"/>
          </a:xfrm>
          <a:prstGeom prst="rect">
            <a:avLst/>
          </a:prstGeom>
          <a:noFill/>
        </p:spPr>
        <p:txBody>
          <a:bodyPr wrap="square" anchor="t" lIns="45720" rIns="45720">
            <a:noAutofit/>
          </a:bodyPr>
          <a:lstStyle/>
          <a:p>
            <a:pPr algn="l"/>
            <a:r>
              <a:rPr lang="es-ES" sz="1300" dirty="0">
                <a:solidFill>
                  <a:srgbClr val="2F2B28"/>
                </a:solidFill>
              </a:rPr>
              <a:t>Se cumplen todos los criterios y las evidencias están verificadas: pasa a la fase siguiente.</a:t>
            </a:r>
          </a:p>
        </p:txBody>
      </p:sp>
      <p:sp>
        <p:nvSpPr>
          <p:cNvPr id="49" name="Caja 49"/>
          <p:cNvSpPr/>
          <p:nvPr/>
        </p:nvSpPr>
        <p:spPr>
          <a:xfrm>
            <a:off x="2828160" y="2050000"/>
            <a:ext cx="209856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Con condiciones</a:t>
            </a:r>
          </a:p>
        </p:txBody>
      </p:sp>
      <p:sp>
        <p:nvSpPr>
          <p:cNvPr id="50" name="Caja 50"/>
          <p:cNvSpPr/>
          <p:nvPr/>
        </p:nvSpPr>
        <p:spPr>
          <a:xfrm>
            <a:off x="282816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1" name="Texto 51"/>
          <p:cNvSpPr txBox="1"/>
          <p:nvPr/>
        </p:nvSpPr>
        <p:spPr>
          <a:xfrm>
            <a:off x="2868160" y="2890000"/>
            <a:ext cx="2018560" cy="2340000"/>
          </a:xfrm>
          <a:prstGeom prst="rect">
            <a:avLst/>
          </a:prstGeom>
          <a:noFill/>
        </p:spPr>
        <p:txBody>
          <a:bodyPr wrap="square" anchor="t" lIns="45720" rIns="45720">
            <a:noAutofit/>
          </a:bodyPr>
          <a:lstStyle/>
          <a:p>
            <a:pPr algn="l"/>
            <a:r>
              <a:rPr lang="es-ES" sz="1300" dirty="0">
                <a:solidFill>
                  <a:srgbClr val="2F2B28"/>
                </a:solidFill>
              </a:rPr>
              <a:t>Pasa, con plazo y responsable para lo pendiente. Nunca para controles críticos de seguridad, legales o de supervisión humana.</a:t>
            </a:r>
          </a:p>
        </p:txBody>
      </p:sp>
      <p:sp>
        <p:nvSpPr>
          <p:cNvPr id="52" name="Caja 52"/>
          <p:cNvSpPr/>
          <p:nvPr/>
        </p:nvSpPr>
        <p:spPr>
          <a:xfrm>
            <a:off x="5046720" y="2050000"/>
            <a:ext cx="209856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Iterar</a:t>
            </a:r>
          </a:p>
        </p:txBody>
      </p:sp>
      <p:sp>
        <p:nvSpPr>
          <p:cNvPr id="53" name="Caja 53"/>
          <p:cNvSpPr/>
          <p:nvPr/>
        </p:nvSpPr>
        <p:spPr>
          <a:xfrm>
            <a:off x="504672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4" name="Texto 54"/>
          <p:cNvSpPr txBox="1"/>
          <p:nvPr/>
        </p:nvSpPr>
        <p:spPr>
          <a:xfrm>
            <a:off x="5086720" y="2890000"/>
            <a:ext cx="2018560" cy="2340000"/>
          </a:xfrm>
          <a:prstGeom prst="rect">
            <a:avLst/>
          </a:prstGeom>
          <a:noFill/>
        </p:spPr>
        <p:txBody>
          <a:bodyPr wrap="square" anchor="t" lIns="45720" rIns="45720">
            <a:noAutofit/>
          </a:bodyPr>
          <a:lstStyle/>
          <a:p>
            <a:pPr algn="l"/>
            <a:r>
              <a:rPr lang="es-ES" sz="1300" dirty="0">
                <a:solidFill>
                  <a:srgbClr val="2F2B28"/>
                </a:solidFill>
              </a:rPr>
              <a:t>Se repite la fase con un ajuste concreto y se vuelve a la misma puerta. A la tercera, decide el órgano superior.</a:t>
            </a:r>
          </a:p>
        </p:txBody>
      </p:sp>
      <p:sp>
        <p:nvSpPr>
          <p:cNvPr id="55" name="Caja 55"/>
          <p:cNvSpPr/>
          <p:nvPr/>
        </p:nvSpPr>
        <p:spPr>
          <a:xfrm>
            <a:off x="7265280" y="2050000"/>
            <a:ext cx="209856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Pivotar</a:t>
            </a:r>
          </a:p>
        </p:txBody>
      </p:sp>
      <p:sp>
        <p:nvSpPr>
          <p:cNvPr id="56" name="Caja 56"/>
          <p:cNvSpPr/>
          <p:nvPr/>
        </p:nvSpPr>
        <p:spPr>
          <a:xfrm>
            <a:off x="726528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7" name="Texto 57"/>
          <p:cNvSpPr txBox="1"/>
          <p:nvPr/>
        </p:nvSpPr>
        <p:spPr>
          <a:xfrm>
            <a:off x="7305280" y="2890000"/>
            <a:ext cx="2018560" cy="2340000"/>
          </a:xfrm>
          <a:prstGeom prst="rect">
            <a:avLst/>
          </a:prstGeom>
          <a:noFill/>
        </p:spPr>
        <p:txBody>
          <a:bodyPr wrap="square" anchor="t" lIns="45720" rIns="45720">
            <a:noAutofit/>
          </a:bodyPr>
          <a:lstStyle/>
          <a:p>
            <a:pPr algn="l"/>
            <a:r>
              <a:rPr lang="es-ES" sz="1300" dirty="0">
                <a:solidFill>
                  <a:srgbClr val="2F2B28"/>
                </a:solidFill>
              </a:rPr>
              <a:t>La hipótesis no se sostiene pero hay otra razonable: vuelve a la fase 2. Solo en G1, G2 y G3.</a:t>
            </a:r>
          </a:p>
        </p:txBody>
      </p:sp>
      <p:sp>
        <p:nvSpPr>
          <p:cNvPr id="58" name="Caja 58"/>
          <p:cNvSpPr/>
          <p:nvPr/>
        </p:nvSpPr>
        <p:spPr>
          <a:xfrm>
            <a:off x="9483840" y="2050000"/>
            <a:ext cx="209856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Parar</a:t>
            </a:r>
          </a:p>
        </p:txBody>
      </p:sp>
      <p:sp>
        <p:nvSpPr>
          <p:cNvPr id="59" name="Caja 59"/>
          <p:cNvSpPr/>
          <p:nvPr/>
        </p:nvSpPr>
        <p:spPr>
          <a:xfrm>
            <a:off x="948384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60" name="Texto 60"/>
          <p:cNvSpPr txBox="1"/>
          <p:nvPr/>
        </p:nvSpPr>
        <p:spPr>
          <a:xfrm>
            <a:off x="9523840" y="2890000"/>
            <a:ext cx="2018560" cy="2340000"/>
          </a:xfrm>
          <a:prstGeom prst="rect">
            <a:avLst/>
          </a:prstGeom>
          <a:noFill/>
        </p:spPr>
        <p:txBody>
          <a:bodyPr wrap="square" anchor="t" lIns="45720" rIns="45720">
            <a:noAutofit/>
          </a:bodyPr>
          <a:lstStyle/>
          <a:p>
            <a:pPr algn="l"/>
            <a:r>
              <a:rPr lang="es-ES" sz="1300" dirty="0">
                <a:solidFill>
                  <a:srgbClr val="2F2B28"/>
                </a:solidFill>
              </a:rPr>
              <a:t>No hay valor plausible o el riesgo es inaceptable. Se registran el motivo y lo aprendido. Es un buen resultado.</a:t>
            </a:r>
          </a:p>
        </p:txBody>
      </p:sp>
      <p:sp>
        <p:nvSpPr>
          <p:cNvPr id="61" name="Texto 61"/>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En G7 los resultados son Escalar, Iterar o Retirar.</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66" name="Marca"/>
          <p:cNvSpPr/>
          <p:nvPr/>
        </p:nvSpPr>
        <p:spPr>
          <a:xfrm>
            <a:off x="609600" y="2400000"/>
            <a:ext cx="182880" cy="182880"/>
          </a:xfrm>
          <a:prstGeom prst="rect">
            <a:avLst/>
          </a:prstGeom>
          <a:solidFill>
            <a:srgbClr val="990F3D"/>
          </a:solidFill>
        </p:spPr>
        <p:txBody>
          <a:bodyPr/>
          <a:lstStyle/>
          <a:p/>
        </p:txBody>
      </p:sp>
      <p:sp>
        <p:nvSpPr>
          <p:cNvPr id="67" name="Texto 67"/>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DEL DOCUMENTO AL PANEL</a:t>
            </a:r>
          </a:p>
        </p:txBody>
      </p:sp>
      <p:sp>
        <p:nvSpPr>
          <p:cNvPr id="68" name="Texto 68"/>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Cómo se llena el embudo</a:t>
            </a:r>
          </a:p>
        </p:txBody>
      </p:sp>
      <p:sp>
        <p:nvSpPr>
          <p:cNvPr id="69" name="Texto 69"/>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Nadie dibuja el embudo ni el panel: salen solos de lo que se rellena y se decide en cada fase. Este es el recorrido.</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87" name="Marca"/>
          <p:cNvSpPr/>
          <p:nvPr/>
        </p:nvSpPr>
        <p:spPr>
          <a:xfrm>
            <a:off x="609600" y="365760"/>
            <a:ext cx="182880" cy="182880"/>
          </a:xfrm>
          <a:prstGeom prst="rect">
            <a:avLst/>
          </a:prstGeom>
          <a:solidFill>
            <a:srgbClr val="990F3D"/>
          </a:solidFill>
        </p:spPr>
        <p:txBody>
          <a:bodyPr/>
          <a:lstStyle/>
          <a:p/>
        </p:txBody>
      </p:sp>
      <p:sp>
        <p:nvSpPr>
          <p:cNvPr id="88" name="Texto 8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89" name="Texto 8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Fases 0 a 3: de la idea a la prueba de concepto</a:t>
            </a:r>
          </a:p>
        </p:txBody>
      </p:sp>
      <p:sp>
        <p:nvSpPr>
          <p:cNvPr id="90" name="Texto 9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Qué se hace, qué plantillas se rellenan y qué puerta cierra cada fase</a:t>
            </a:r>
          </a:p>
        </p:txBody>
      </p:sp>
      <p:sp>
        <p:nvSpPr>
          <p:cNvPr id="70" name="Caja 70"/>
          <p:cNvSpPr/>
          <p:nvPr/>
        </p:nvSpPr>
        <p:spPr>
          <a:xfrm>
            <a:off x="609600" y="1900000"/>
            <a:ext cx="2645700" cy="700000"/>
          </a:xfrm>
          <a:prstGeom prst="roundRect">
            <a:avLst>
              <a:gd name="adj" fmla="val 6000"/>
            </a:avLst>
          </a:prstGeom>
          <a:solidFill>
            <a:srgbClr val="564D47"/>
          </a:solidFill>
          <a:ln>
            <a:noFill/>
          </a:ln>
        </p:spPr>
        <p:txBody>
          <a:bodyPr wrap="square" anchor="ctr" lIns="45720" rIns="45720">
            <a:noAutofit/>
          </a:bodyPr>
          <a:lstStyle/>
          <a:p>
            <a:pPr algn="ctr"/>
            <a:r>
              <a:rPr lang="es-ES" sz="1700" b="1" dirty="0">
                <a:solidFill>
                  <a:srgbClr val="FFFFFF"/>
                </a:solidFill>
              </a:rPr>
              <a:t>F0</a:t>
            </a:r>
          </a:p>
          <a:p>
            <a:pPr algn="ctr"/>
            <a:r>
              <a:rPr lang="es-ES" sz="1150" dirty="0">
                <a:solidFill>
                  <a:srgbClr val="FFFFFF"/>
                </a:solidFill>
              </a:rPr>
              <a:t>Contexto y restricciones</a:t>
            </a:r>
          </a:p>
        </p:txBody>
      </p:sp>
      <p:sp>
        <p:nvSpPr>
          <p:cNvPr id="71" name="Caja 71"/>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2" name="Texto 72"/>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Se autoriza la idea: patrocinador, responsable, alcance, restricciones e intensidad (Lite o Enterprise).</a:t>
            </a:r>
          </a:p>
          <a:p>
            <a:pPr algn="l">
              <a:spcAft>
                <a:spcPts val="500"/>
              </a:spcAft>
            </a:pPr>
            <a:r>
              <a:rPr lang="es-ES" sz="1150" b="1" dirty="0">
                <a:solidFill>
                  <a:srgbClr val="1A1817"/>
                </a:solidFill>
              </a:rPr>
              <a:t>Se rellena. </a:t>
            </a:r>
            <a:r>
              <a:rPr lang="es-ES" sz="1150" dirty="0">
                <a:solidFill>
                  <a:srgbClr val="2F2B28"/>
                </a:solidFill>
              </a:rPr>
              <a:t>P01 Carta de la iniciativa · P02 Contexto y restricciones · P03 Roles · P04 Intensidad · P05 Alta en el inventario.</a:t>
            </a:r>
          </a:p>
        </p:txBody>
      </p:sp>
      <p:sp>
        <p:nvSpPr>
          <p:cNvPr id="73" name="Caja 73"/>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G0 → entra en «Propuesto»</a:t>
            </a:r>
          </a:p>
        </p:txBody>
      </p:sp>
      <p:sp>
        <p:nvSpPr>
          <p:cNvPr id="74" name="Caja 74"/>
          <p:cNvSpPr/>
          <p:nvPr/>
        </p:nvSpPr>
        <p:spPr>
          <a:xfrm>
            <a:off x="33853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F1</a:t>
            </a:r>
          </a:p>
          <a:p>
            <a:pPr algn="ctr"/>
            <a:r>
              <a:rPr lang="es-ES" sz="1150" dirty="0">
                <a:solidFill>
                  <a:srgbClr val="FFFFFF"/>
                </a:solidFill>
              </a:rPr>
              <a:t>Descubrimiento</a:t>
            </a:r>
          </a:p>
        </p:txBody>
      </p:sp>
      <p:sp>
        <p:nvSpPr>
          <p:cNvPr id="75" name="Caja 75"/>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6" name="Texto 76"/>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Se comparan oportunidades, también alternativas sin IA, y se propone esfera y nivel de ambición.</a:t>
            </a:r>
          </a:p>
          <a:p>
            <a:pPr algn="l">
              <a:spcAft>
                <a:spcPts val="500"/>
              </a:spcAft>
            </a:pPr>
            <a:r>
              <a:rPr lang="es-ES" sz="1150" b="1" dirty="0">
                <a:solidFill>
                  <a:srgbClr val="1A1817"/>
                </a:solidFill>
              </a:rPr>
              <a:t>Se rellena. </a:t>
            </a:r>
            <a:r>
              <a:rPr lang="es-ES" sz="1150" dirty="0">
                <a:solidFill>
                  <a:srgbClr val="2F2B28"/>
                </a:solidFill>
              </a:rPr>
              <a:t>P06 Cartera de oportunidades y filtrado · P07 Esfera y ambición · P31 Ficha de caso de uso.</a:t>
            </a:r>
          </a:p>
        </p:txBody>
      </p:sp>
      <p:sp>
        <p:nvSpPr>
          <p:cNvPr id="77" name="Caja 77"/>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G1 → sigue en «Propuesto»</a:t>
            </a:r>
          </a:p>
        </p:txBody>
      </p:sp>
      <p:sp>
        <p:nvSpPr>
          <p:cNvPr id="78" name="Caja 78"/>
          <p:cNvSpPr/>
          <p:nvPr/>
        </p:nvSpPr>
        <p:spPr>
          <a:xfrm>
            <a:off x="61610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F2</a:t>
            </a:r>
          </a:p>
          <a:p>
            <a:pPr algn="ctr"/>
            <a:r>
              <a:rPr lang="es-ES" sz="1150" dirty="0">
                <a:solidFill>
                  <a:srgbClr val="FFFFFF"/>
                </a:solidFill>
              </a:rPr>
              <a:t>Hipótesis de valor</a:t>
            </a:r>
          </a:p>
        </p:txBody>
      </p:sp>
      <p:sp>
        <p:nvSpPr>
          <p:cNvPr id="79" name="Caja 79"/>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0" name="Texto 80"/>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Hipótesis falsable en dinero, con línea base, método de atribución y criterios de parada fijados antes de empezar.</a:t>
            </a:r>
          </a:p>
          <a:p>
            <a:pPr algn="l">
              <a:spcAft>
                <a:spcPts val="500"/>
              </a:spcAft>
            </a:pPr>
            <a:r>
              <a:rPr lang="es-ES" sz="1150" b="1" dirty="0">
                <a:solidFill>
                  <a:srgbClr val="1A1817"/>
                </a:solidFill>
              </a:rPr>
              <a:t>Se rellena. </a:t>
            </a:r>
            <a:r>
              <a:rPr lang="es-ES" sz="1150" dirty="0">
                <a:solidFill>
                  <a:srgbClr val="2F2B28"/>
                </a:solidFill>
              </a:rPr>
              <a:t>P08 Lienzo de hipótesis de valor · P09 Línea base. Apoyo: calculadora T11.</a:t>
            </a:r>
          </a:p>
        </p:txBody>
      </p:sp>
      <p:sp>
        <p:nvSpPr>
          <p:cNvPr id="81" name="Caja 81"/>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G2 → «Hipótesis de valor»</a:t>
            </a:r>
          </a:p>
        </p:txBody>
      </p:sp>
      <p:sp>
        <p:nvSpPr>
          <p:cNvPr id="82" name="Caja 82"/>
          <p:cNvSpPr/>
          <p:nvPr/>
        </p:nvSpPr>
        <p:spPr>
          <a:xfrm>
            <a:off x="89367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F3</a:t>
            </a:r>
          </a:p>
          <a:p>
            <a:pPr algn="ctr"/>
            <a:r>
              <a:rPr lang="es-ES" sz="1150" dirty="0">
                <a:solidFill>
                  <a:srgbClr val="FFFFFF"/>
                </a:solidFill>
              </a:rPr>
              <a:t>Viabilidad y riesgo</a:t>
            </a:r>
          </a:p>
        </p:txBody>
      </p:sp>
      <p:sp>
        <p:nvSpPr>
          <p:cNvPr id="83" name="Caja 83"/>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4" name="Texto 84"/>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Prueba de concepto: viabilidad, clasificación regulatoria, riesgos y proveedores. Es la principal puerta de parada.</a:t>
            </a:r>
          </a:p>
          <a:p>
            <a:pPr algn="l">
              <a:spcAft>
                <a:spcPts val="500"/>
              </a:spcAft>
            </a:pPr>
            <a:r>
              <a:rPr lang="es-ES" sz="1150" b="1" dirty="0">
                <a:solidFill>
                  <a:srgbClr val="1A1817"/>
                </a:solidFill>
              </a:rPr>
              <a:t>Se rellena. </a:t>
            </a:r>
            <a:r>
              <a:rPr lang="es-ES" sz="1150" dirty="0">
                <a:solidFill>
                  <a:srgbClr val="2F2B28"/>
                </a:solidFill>
              </a:rPr>
              <a:t>P10 Viabilidad · P11 Clasificación regulatoria e impacto · P12 Riesgos · P13 Mitigación · P14 Proveedor.</a:t>
            </a:r>
          </a:p>
        </p:txBody>
      </p:sp>
      <p:sp>
        <p:nvSpPr>
          <p:cNvPr id="85" name="Caja 85"/>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G3 → «Prueba de concepto»</a:t>
            </a:r>
          </a:p>
        </p:txBody>
      </p:sp>
      <p:sp>
        <p:nvSpPr>
          <p:cNvPr id="86" name="Texto 8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Cada decisión de puerta se deja en P29 y en el registro T01, con el estado de cada criterio y su evidencia.</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8" name="Marca"/>
          <p:cNvSpPr/>
          <p:nvPr/>
        </p:nvSpPr>
        <p:spPr>
          <a:xfrm>
            <a:off x="609600" y="365760"/>
            <a:ext cx="182880" cy="182880"/>
          </a:xfrm>
          <a:prstGeom prst="rect">
            <a:avLst/>
          </a:prstGeom>
          <a:solidFill>
            <a:srgbClr val="990F3D"/>
          </a:solidFill>
        </p:spPr>
        <p:txBody>
          <a:bodyPr/>
          <a:lstStyle/>
          <a:p/>
        </p:txBody>
      </p:sp>
      <p:sp>
        <p:nvSpPr>
          <p:cNvPr id="109" name="Texto 10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10" name="Texto 11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Fases 4 a 7: del diseño a la producción y la retirada</a:t>
            </a:r>
          </a:p>
        </p:txBody>
      </p:sp>
      <p:sp>
        <p:nvSpPr>
          <p:cNvPr id="111" name="Texto 111"/>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La puesta en producción no cierra el ciclo: abre la operación, con revisiones periódicas</a:t>
            </a:r>
          </a:p>
        </p:txBody>
      </p:sp>
      <p:sp>
        <p:nvSpPr>
          <p:cNvPr id="91" name="Caja 91"/>
          <p:cNvSpPr/>
          <p:nvPr/>
        </p:nvSpPr>
        <p:spPr>
          <a:xfrm>
            <a:off x="6096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F4</a:t>
            </a:r>
          </a:p>
          <a:p>
            <a:pPr algn="ctr"/>
            <a:r>
              <a:rPr lang="es-ES" sz="1150" dirty="0">
                <a:solidFill>
                  <a:srgbClr val="FFFFFF"/>
                </a:solidFill>
              </a:rPr>
              <a:t>Diseño de la solución</a:t>
            </a:r>
          </a:p>
        </p:txBody>
      </p:sp>
      <p:sp>
        <p:nvSpPr>
          <p:cNvPr id="92" name="Caja 92"/>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3" name="Texto 93"/>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Antes de construir: arquitectura, linaje de datos y modelos, supervisión humana, seguridad, reversión y adopción.</a:t>
            </a:r>
          </a:p>
          <a:p>
            <a:pPr algn="l">
              <a:spcAft>
                <a:spcPts val="500"/>
              </a:spcAft>
            </a:pPr>
            <a:r>
              <a:rPr lang="es-ES" sz="1150" b="1" dirty="0">
                <a:solidFill>
                  <a:srgbClr val="1A1817"/>
                </a:solidFill>
              </a:rPr>
              <a:t>Se rellena. </a:t>
            </a:r>
            <a:r>
              <a:rPr lang="es-ES" sz="1150" dirty="0">
                <a:solidFill>
                  <a:srgbClr val="2F2B28"/>
                </a:solidFill>
              </a:rPr>
              <a:t>P15 Arquitectura · P16 Linaje · P17 Supervisión humana · P18 Seguridad · P19 Reversión · P20 Adopción.</a:t>
            </a:r>
          </a:p>
        </p:txBody>
      </p:sp>
      <p:sp>
        <p:nvSpPr>
          <p:cNvPr id="94" name="Caja 94"/>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G4 → «En desarrollo»</a:t>
            </a:r>
          </a:p>
        </p:txBody>
      </p:sp>
      <p:sp>
        <p:nvSpPr>
          <p:cNvPr id="95" name="Caja 95"/>
          <p:cNvSpPr/>
          <p:nvPr/>
        </p:nvSpPr>
        <p:spPr>
          <a:xfrm>
            <a:off x="33853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F5</a:t>
            </a:r>
          </a:p>
          <a:p>
            <a:pPr algn="ctr"/>
            <a:r>
              <a:rPr lang="es-ES" sz="1150" dirty="0">
                <a:solidFill>
                  <a:srgbClr val="FFFFFF"/>
                </a:solidFill>
              </a:rPr>
              <a:t>Entrega y validación</a:t>
            </a:r>
          </a:p>
        </p:txBody>
      </p:sp>
      <p:sp>
        <p:nvSpPr>
          <p:cNvPr id="96" name="Caja 96"/>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7" name="Texto 97"/>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Se construye, se valida y se pilota; se prueba la reversión y se firma la puesta en producción.</a:t>
            </a:r>
          </a:p>
          <a:p>
            <a:pPr algn="l">
              <a:spcAft>
                <a:spcPts val="500"/>
              </a:spcAft>
            </a:pPr>
            <a:r>
              <a:rPr lang="es-ES" sz="1150" b="1" dirty="0">
                <a:solidFill>
                  <a:srgbClr val="1A1817"/>
                </a:solidFill>
              </a:rPr>
              <a:t>Se rellena. </a:t>
            </a:r>
            <a:r>
              <a:rPr lang="es-ES" sz="1150" dirty="0">
                <a:solidFill>
                  <a:srgbClr val="2F2B28"/>
                </a:solidFill>
              </a:rPr>
              <a:t>P21 Informe de entrega · P22 Validación y piloto · P23 Firma de puesta en producción · P12 actualizado.</a:t>
            </a:r>
          </a:p>
        </p:txBody>
      </p:sp>
      <p:sp>
        <p:nvSpPr>
          <p:cNvPr id="98" name="Caja 98"/>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G5 → pasa a «En uso»</a:t>
            </a:r>
          </a:p>
        </p:txBody>
      </p:sp>
      <p:sp>
        <p:nvSpPr>
          <p:cNvPr id="99" name="Caja 99"/>
          <p:cNvSpPr/>
          <p:nvPr/>
        </p:nvSpPr>
        <p:spPr>
          <a:xfrm>
            <a:off x="61610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F6</a:t>
            </a:r>
          </a:p>
          <a:p>
            <a:pPr algn="ctr"/>
            <a:r>
              <a:rPr lang="es-ES" sz="1150" dirty="0">
                <a:solidFill>
                  <a:srgbClr val="FFFFFF"/>
                </a:solidFill>
              </a:rPr>
              <a:t>Operación y gobierno</a:t>
            </a:r>
          </a:p>
        </p:txBody>
      </p:sp>
      <p:sp>
        <p:nvSpPr>
          <p:cNvPr id="100" name="Caja 100"/>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1" name="Texto 101"/>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Monitorización, incidentes, cambios y seguimiento del valor realizado, con revisión de continuidad periódica.</a:t>
            </a:r>
          </a:p>
          <a:p>
            <a:pPr algn="l">
              <a:spcAft>
                <a:spcPts val="500"/>
              </a:spcAft>
            </a:pPr>
            <a:r>
              <a:rPr lang="es-ES" sz="1150" b="1" dirty="0">
                <a:solidFill>
                  <a:srgbClr val="1A1817"/>
                </a:solidFill>
              </a:rPr>
              <a:t>Se rellena. </a:t>
            </a:r>
            <a:r>
              <a:rPr lang="es-ES" sz="1150" dirty="0">
                <a:solidFill>
                  <a:srgbClr val="2F2B28"/>
                </a:solidFill>
              </a:rPr>
              <a:t>P24 Manual de operación · P25 Monitorización · P26 y P27 Incidentes y cambios · P28 Valor · P65 Paquete R6.</a:t>
            </a:r>
          </a:p>
        </p:txBody>
      </p:sp>
      <p:sp>
        <p:nvSpPr>
          <p:cNvPr id="102" name="Caja 102"/>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R6 → sigue «En uso» o adelanta G7</a:t>
            </a:r>
          </a:p>
        </p:txBody>
      </p:sp>
      <p:sp>
        <p:nvSpPr>
          <p:cNvPr id="103" name="Caja 103"/>
          <p:cNvSpPr/>
          <p:nvPr/>
        </p:nvSpPr>
        <p:spPr>
          <a:xfrm>
            <a:off x="89367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F7</a:t>
            </a:r>
          </a:p>
          <a:p>
            <a:pPr algn="ctr"/>
            <a:r>
              <a:rPr lang="es-ES" sz="1150" dirty="0">
                <a:solidFill>
                  <a:srgbClr val="FFFFFF"/>
                </a:solidFill>
              </a:rPr>
              <a:t>Evolución o retirada</a:t>
            </a:r>
          </a:p>
        </p:txBody>
      </p:sp>
      <p:sp>
        <p:nvSpPr>
          <p:cNvPr id="104" name="Caja 104"/>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5" name="Texto 105"/>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Con el valor realizado delante se decide escalar, iterar o retirar, y se registran las lecciones.</a:t>
            </a:r>
          </a:p>
          <a:p>
            <a:pPr algn="l">
              <a:spcAft>
                <a:spcPts val="500"/>
              </a:spcAft>
            </a:pPr>
            <a:r>
              <a:rPr lang="es-ES" sz="1150" b="1" dirty="0">
                <a:solidFill>
                  <a:srgbClr val="1A1817"/>
                </a:solidFill>
              </a:rPr>
              <a:t>Se rellena. </a:t>
            </a:r>
            <a:r>
              <a:rPr lang="es-ES" sz="1150" dirty="0">
                <a:solidFill>
                  <a:srgbClr val="2F2B28"/>
                </a:solidFill>
              </a:rPr>
              <a:t>P28 Seguimiento del valor · P30 Decisión de escalado o retirada, con plan de retirada si procede.</a:t>
            </a:r>
          </a:p>
        </p:txBody>
      </p:sp>
      <p:sp>
        <p:nvSpPr>
          <p:cNvPr id="106" name="Caja 106"/>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G7 → escala, itera o «Desenganchado»</a:t>
            </a:r>
          </a:p>
        </p:txBody>
      </p:sp>
      <p:sp>
        <p:nvSpPr>
          <p:cNvPr id="107" name="Texto 107"/>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Cada decisión de puerta se deja en P29 y en el registro T01, con el estado de cada criterio y su evidencia.</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14" name="Marca"/>
          <p:cNvSpPr/>
          <p:nvPr/>
        </p:nvSpPr>
        <p:spPr>
          <a:xfrm>
            <a:off x="609600" y="365760"/>
            <a:ext cx="182880" cy="182880"/>
          </a:xfrm>
          <a:prstGeom prst="rect">
            <a:avLst/>
          </a:prstGeom>
          <a:solidFill>
            <a:srgbClr val="990F3D"/>
          </a:solidFill>
        </p:spPr>
        <p:txBody>
          <a:bodyPr/>
          <a:lstStyle/>
          <a:p/>
        </p:txBody>
      </p:sp>
      <p:sp>
        <p:nvSpPr>
          <p:cNvPr id="115" name="Texto 1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16" name="Texto 1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registro de iniciativas (T01): donde todo queda anotado</a:t>
            </a:r>
          </a:p>
        </p:txBody>
      </p:sp>
      <p:sp>
        <p:nvSpPr>
          <p:cNvPr id="117" name="Texto 11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Cada iniciativa se da de alta como una oportunidad en un CRM; aquí, el registro de ejemplo con datos ficticios</a:t>
            </a:r>
          </a:p>
        </p:txBody>
      </p:sp>
      <p:pic>
        <p:nvPicPr>
          <p:cNvPr id="112" name="Imagen 112" descr="Vista de embudo del registro de iniciativas T01"/>
          <p:cNvPicPr>
            <a:picLocks noChangeAspect="1"/>
          </p:cNvPicPr>
          <p:nvPr/>
        </p:nvPicPr>
        <p:blipFill>
          <a:blip r:embed="rIdImg_registro"/>
          <a:stretch>
            <a:fillRect/>
          </a:stretch>
        </p:blipFill>
        <p:spPr>
          <a:xfrm>
            <a:off x="609600" y="1900000"/>
            <a:ext cx="6211111" cy="4300000"/>
          </a:xfrm>
          <a:prstGeom prst="rect">
            <a:avLst/>
          </a:prstGeom>
          <a:ln w="12700">
            <a:solidFill>
              <a:srgbClr val="C9A78D"/>
            </a:solidFill>
          </a:ln>
        </p:spPr>
      </p:pic>
      <p:sp>
        <p:nvSpPr>
          <p:cNvPr id="113" name="Texto 113"/>
          <p:cNvSpPr txBox="1"/>
          <p:nvPr/>
        </p:nvSpPr>
        <p:spPr>
          <a:xfrm>
            <a:off x="7709600" y="1850000"/>
            <a:ext cx="38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Una barra por fase: cuántas iniciativas hay ahora en cada una y cuánto valor esperado llevan.</a:t>
            </a:r>
          </a:p>
          <a:p>
            <a:pPr marL="285750" indent="-285750">
              <a:spcAft>
                <a:spcPts val="400"/>
              </a:spcAft>
              <a:buClr>
                <a:srgbClr val="990F3D"/>
              </a:buClr>
              <a:buFont typeface="Arial"/>
              <a:buChar char="•"/>
            </a:pPr>
            <a:r>
              <a:rPr lang="es-ES" sz="1300" dirty="0">
                <a:solidFill>
                  <a:srgbClr val="2F2B28"/>
                </a:solidFill>
              </a:rPr>
              <a:t>Al decidir una puerta, el registro guarda la fecha, el resultado, quién verificó y quién decidió, y el estado de cada criterio.</a:t>
            </a:r>
          </a:p>
          <a:p>
            <a:pPr marL="285750" indent="-285750">
              <a:spcAft>
                <a:spcPts val="400"/>
              </a:spcAft>
              <a:buClr>
                <a:srgbClr val="990F3D"/>
              </a:buClr>
              <a:buFont typeface="Arial"/>
              <a:buChar char="•"/>
            </a:pPr>
            <a:r>
              <a:rPr lang="es-ES" sz="1300" dirty="0">
                <a:solidFill>
                  <a:srgbClr val="2F2B28"/>
                </a:solidFill>
              </a:rPr>
              <a:t>Con esas fechas calcula solo el tiempo en fase y marca «estancadas» las que superan el plazo de referencia.</a:t>
            </a:r>
          </a:p>
          <a:p>
            <a:pPr marL="285750" indent="-285750">
              <a:spcAft>
                <a:spcPts val="400"/>
              </a:spcAft>
              <a:buClr>
                <a:srgbClr val="990F3D"/>
              </a:buClr>
              <a:buFont typeface="Arial"/>
              <a:buChar char="•"/>
            </a:pPr>
            <a:r>
              <a:rPr lang="es-ES" sz="1300" dirty="0">
                <a:solidFill>
                  <a:srgbClr val="2F2B28"/>
                </a:solidFill>
              </a:rPr>
              <a:t>Las cifras llevan estado: validado, declarado o estimado. Lo que no se sabe queda «sin dato», nunca cero.</a:t>
            </a:r>
          </a:p>
          <a:p>
            <a:pPr marL="285750" indent="-285750">
              <a:spcAft>
                <a:spcPts val="400"/>
              </a:spcAft>
              <a:buClr>
                <a:srgbClr val="990F3D"/>
              </a:buClr>
              <a:buFont typeface="Arial"/>
              <a:buChar char="•"/>
            </a:pPr>
            <a:r>
              <a:rPr lang="es-ES" sz="1300" dirty="0">
                <a:solidFill>
                  <a:srgbClr val="2F2B28"/>
                </a:solidFill>
              </a:rPr>
              <a:t>Alertas: puertas pendientes, condiciones vencidas, riesgos sin responsable.</a:t>
            </a:r>
          </a:p>
          <a:p>
            <a:pPr marL="285750" indent="-285750">
              <a:spcAft>
                <a:spcPts val="400"/>
              </a:spcAft>
              <a:buClr>
                <a:srgbClr val="990F3D"/>
              </a:buClr>
              <a:buFont typeface="Arial"/>
              <a:buChar char="•"/>
            </a:pPr>
            <a:r>
              <a:rPr lang="es-ES" sz="1300" dirty="0">
                <a:solidFill>
                  <a:srgbClr val="2F2B28"/>
                </a:solidFill>
              </a:rPr>
              <a:t>Todo se guarda en un fichero JSON de la propia compañía: sin servidor y sin enviar datos a nadie.</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0" name="Marca"/>
          <p:cNvSpPr/>
          <p:nvPr/>
        </p:nvSpPr>
        <p:spPr>
          <a:xfrm>
            <a:off x="609600" y="365760"/>
            <a:ext cx="182880" cy="182880"/>
          </a:xfrm>
          <a:prstGeom prst="rect">
            <a:avLst/>
          </a:prstGeom>
          <a:solidFill>
            <a:srgbClr val="990F3D"/>
          </a:solidFill>
        </p:spPr>
        <p:txBody>
          <a:bodyPr/>
          <a:lstStyle/>
          <a:p/>
        </p:txBody>
      </p:sp>
      <p:sp>
        <p:nvSpPr>
          <p:cNvPr id="121" name="Texto 12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22" name="Texto 12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embudo de la cartera: cómo se lee</a:t>
            </a:r>
          </a:p>
        </p:txBody>
      </p:sp>
      <p:sp>
        <p:nvSpPr>
          <p:cNvPr id="123" name="Texto 123"/>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La cartera de IA, leída como un embudo comercial. Datos ilustrativos</a:t>
            </a:r>
          </a:p>
        </p:txBody>
      </p:sp>
      <p:pic>
        <p:nvPicPr>
          <p:cNvPr id="118" name="Imagen 118" descr="Embudo de iniciativas de IA con sus etapas, salidas y casos en uso"/>
          <p:cNvPicPr>
            <a:picLocks noChangeAspect="1"/>
          </p:cNvPicPr>
          <p:nvPr/>
        </p:nvPicPr>
        <p:blipFill>
          <a:blip r:embed="rIdImg_embudo"/>
          <a:stretch>
            <a:fillRect/>
          </a:stretch>
        </p:blipFill>
        <p:spPr>
          <a:xfrm>
            <a:off x="609600" y="1900000"/>
            <a:ext cx="7500000" cy="3692308"/>
          </a:xfrm>
          <a:prstGeom prst="rect">
            <a:avLst/>
          </a:prstGeom>
          <a:ln w="12700">
            <a:solidFill>
              <a:srgbClr val="C9A78D"/>
            </a:solidFill>
          </a:ln>
        </p:spPr>
      </p:pic>
      <p:sp>
        <p:nvSpPr>
          <p:cNvPr id="119" name="Texto 119"/>
          <p:cNvSpPr txBox="1"/>
          <p:nvPr/>
        </p:nvSpPr>
        <p:spPr>
          <a:xfrm>
            <a:off x="8309600" y="1850000"/>
            <a:ext cx="32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Dentro del embudo, solo lo que está en curso: 5 propuestas, 4 con hipótesis de valor, 3 en prueba de concepto y 4 en desarrollo.</a:t>
            </a:r>
          </a:p>
          <a:p>
            <a:pPr marL="285750" indent="-285750">
              <a:spcAft>
                <a:spcPts val="400"/>
              </a:spcAft>
              <a:buClr>
                <a:srgbClr val="990F3D"/>
              </a:buClr>
              <a:buFont typeface="Arial"/>
              <a:buChar char="•"/>
            </a:pPr>
            <a:r>
              <a:rPr lang="es-ES" sz="1300" dirty="0">
                <a:solidFill>
                  <a:srgbClr val="2F2B28"/>
                </a:solidFill>
              </a:rPr>
              <a:t>A la izquierda, cuántas alcanzaron cada etapa (40 → 31 → 24 → 17) y cuánto tardan. El triángulo rojo avisa: la prueba de concepto supera su plazo.</a:t>
            </a:r>
          </a:p>
          <a:p>
            <a:pPr marL="285750" indent="-285750">
              <a:spcAft>
                <a:spcPts val="400"/>
              </a:spcAft>
              <a:buClr>
                <a:srgbClr val="990F3D"/>
              </a:buClr>
              <a:buFont typeface="Arial"/>
              <a:buChar char="•"/>
            </a:pPr>
            <a:r>
              <a:rPr lang="es-ES" sz="1300" dirty="0">
                <a:solidFill>
                  <a:srgbClr val="2F2B28"/>
                </a:solidFill>
              </a:rPr>
              <a:t>A la derecha, las que no superaron cada etapa y por qué: sin valor plausible, hipótesis refutada, riesgo inaceptable, coste superior al valor.</a:t>
            </a:r>
          </a:p>
          <a:p>
            <a:pPr marL="285750" indent="-285750">
              <a:spcAft>
                <a:spcPts val="400"/>
              </a:spcAft>
              <a:buClr>
                <a:srgbClr val="990F3D"/>
              </a:buClr>
              <a:buFont typeface="Arial"/>
              <a:buChar char="•"/>
            </a:pPr>
            <a:r>
              <a:rPr lang="es-ES" sz="1300" dirty="0">
                <a:solidFill>
                  <a:srgbClr val="2F2B28"/>
                </a:solidFill>
              </a:rPr>
              <a:t>Debajo, las que ya lo atravesaron: 11 en uso, con su valor y su coste, y 1 desenganchada.</a:t>
            </a:r>
          </a:p>
          <a:p>
            <a:pPr marL="285750" indent="-285750">
              <a:spcAft>
                <a:spcPts val="400"/>
              </a:spcAft>
              <a:buClr>
                <a:srgbClr val="990F3D"/>
              </a:buClr>
              <a:buFont typeface="Arial"/>
              <a:buChar char="•"/>
            </a:pPr>
            <a:r>
              <a:rPr lang="es-ES" sz="1300" dirty="0">
                <a:solidFill>
                  <a:srgbClr val="2F2B28"/>
                </a:solidFill>
              </a:rPr>
              <a:t>No se busca convertir más: parar en G3 una iniciativa inviable es un buen resultado. Un 100 % de conversión indicaría puertas blandas.</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7" name="Marca"/>
          <p:cNvSpPr/>
          <p:nvPr/>
        </p:nvSpPr>
        <p:spPr>
          <a:xfrm>
            <a:off x="609600" y="365760"/>
            <a:ext cx="182880" cy="182880"/>
          </a:xfrm>
          <a:prstGeom prst="rect">
            <a:avLst/>
          </a:prstGeom>
          <a:solidFill>
            <a:srgbClr val="990F3D"/>
          </a:solidFill>
        </p:spPr>
        <p:txBody>
          <a:bodyPr/>
          <a:lstStyle/>
          <a:p/>
        </p:txBody>
      </p:sp>
      <p:sp>
        <p:nvSpPr>
          <p:cNvPr id="128" name="Texto 12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29" name="Texto 12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panel del consejo (T17): cómo se lee</a:t>
            </a:r>
          </a:p>
        </p:txBody>
      </p:sp>
      <p:sp>
        <p:nvSpPr>
          <p:cNvPr id="130" name="Texto 13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Se genera del mismo registro, sin volver a teclear nada. Datos ficticios</a:t>
            </a:r>
          </a:p>
        </p:txBody>
      </p:sp>
      <p:pic>
        <p:nvPicPr>
          <p:cNvPr id="124" name="Imagen 124" descr="Panel del consejo: tarjetas de cartera y valor y la lectura «Qué frena el escalado»"/>
          <p:cNvPicPr>
            <a:picLocks noChangeAspect="1"/>
          </p:cNvPicPr>
          <p:nvPr/>
        </p:nvPicPr>
        <p:blipFill>
          <a:blip r:embed="rIdImg_panel"/>
          <a:stretch>
            <a:fillRect/>
          </a:stretch>
        </p:blipFill>
        <p:spPr>
          <a:xfrm>
            <a:off x="609600" y="1900000"/>
            <a:ext cx="6700000" cy="4243333"/>
          </a:xfrm>
          <a:prstGeom prst="rect">
            <a:avLst/>
          </a:prstGeom>
          <a:ln w="12700">
            <a:solidFill>
              <a:srgbClr val="C9A78D"/>
            </a:solidFill>
          </a:ln>
        </p:spPr>
      </p:pic>
      <p:sp>
        <p:nvSpPr>
          <p:cNvPr id="125" name="Texto 125"/>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Arriba, las cifras: 15 casos, costes 2,4 M€ al año, retorno total 7,3 M€ y neto anual 4,8 M€. Cada cifra se pulsa y abre sus casos.</a:t>
            </a:r>
          </a:p>
          <a:p>
            <a:pPr marL="285750" indent="-285750">
              <a:spcAft>
                <a:spcPts val="400"/>
              </a:spcAft>
              <a:buClr>
                <a:srgbClr val="990F3D"/>
              </a:buClr>
              <a:buFont typeface="Arial"/>
              <a:buChar char="•"/>
            </a:pPr>
            <a:r>
              <a:rPr lang="es-ES" sz="1300" dirty="0">
                <a:solidFill>
                  <a:srgbClr val="2F2B28"/>
                </a:solidFill>
              </a:rPr>
              <a:t>La tarjeta amarilla es la importante: solo el 36 % del valor está validado por control de gestión. En rojo: solo 3 de 15 casos tienen todos los controles.</a:t>
            </a:r>
          </a:p>
          <a:p>
            <a:pPr marL="285750" indent="-285750">
              <a:spcAft>
                <a:spcPts val="400"/>
              </a:spcAft>
              <a:buClr>
                <a:srgbClr val="990F3D"/>
              </a:buClr>
              <a:buFont typeface="Arial"/>
              <a:buChar char="•"/>
            </a:pPr>
            <a:r>
              <a:rPr lang="es-ES" sz="1300" dirty="0">
                <a:solidFill>
                  <a:srgbClr val="2F2B28"/>
                </a:solidFill>
              </a:rPr>
              <a:t>Debajo, «Qué frena el escalado»: los tres frenos por los que empezar, con qué bloquean, qué hacer, quién y el valor en juego (documento 60 §10.4).</a:t>
            </a:r>
          </a:p>
          <a:p>
            <a:pPr marL="285750" indent="-285750">
              <a:spcAft>
                <a:spcPts val="400"/>
              </a:spcAft>
              <a:buClr>
                <a:srgbClr val="990F3D"/>
              </a:buClr>
              <a:buFont typeface="Arial"/>
              <a:buChar char="•"/>
            </a:pPr>
            <a:r>
              <a:rPr lang="es-ES" sz="1300" dirty="0">
                <a:solidFill>
                  <a:srgbClr val="2F2B28"/>
                </a:solidFill>
              </a:rPr>
              <a:t>En el ejemplo: primero riesgo y cumplimiento (bloquea G5), después el valor sin validar (bloquea G7 · Escalar) y los casos que no avanzan.</a:t>
            </a:r>
          </a:p>
          <a:p>
            <a:pPr marL="285750" indent="-285750">
              <a:spcAft>
                <a:spcPts val="400"/>
              </a:spcAft>
              <a:buClr>
                <a:srgbClr val="990F3D"/>
              </a:buClr>
              <a:buFont typeface="Arial"/>
              <a:buChar char="•"/>
            </a:pPr>
            <a:r>
              <a:rPr lang="es-ES" sz="1300" dirty="0">
                <a:solidFill>
                  <a:srgbClr val="2F2B28"/>
                </a:solidFill>
              </a:rPr>
              <a:t>El valor en juego ordena, no promete: es declarado, no validado.</a:t>
            </a:r>
          </a:p>
        </p:txBody>
      </p:sp>
      <p:sp>
        <p:nvSpPr>
          <p:cNvPr id="126" name="Texto 12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Si una cifra del panel no gusta, no se retoca el panel: se corrige la evidencia en el registro y se vuelve a generar.</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34" name="Marca"/>
          <p:cNvSpPr/>
          <p:nvPr/>
        </p:nvSpPr>
        <p:spPr>
          <a:xfrm>
            <a:off x="609600" y="365760"/>
            <a:ext cx="182880" cy="182880"/>
          </a:xfrm>
          <a:prstGeom prst="rect">
            <a:avLst/>
          </a:prstGeom>
          <a:solidFill>
            <a:srgbClr val="990F3D"/>
          </a:solidFill>
        </p:spPr>
        <p:txBody>
          <a:bodyPr/>
          <a:lstStyle/>
          <a:p/>
        </p:txBody>
      </p:sp>
      <p:sp>
        <p:nvSpPr>
          <p:cNvPr id="135" name="Texto 13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36" name="Texto 13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Dónde está el impacto: esferas × ambición</a:t>
            </a:r>
          </a:p>
        </p:txBody>
      </p:sp>
      <p:sp>
        <p:nvSpPr>
          <p:cNvPr id="137" name="Texto 13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El mapa de calor de la cartera (T16) en el mismo panel. Datos ficticios</a:t>
            </a:r>
          </a:p>
        </p:txBody>
      </p:sp>
      <p:pic>
        <p:nvPicPr>
          <p:cNvPr id="131" name="Imagen 131" descr="Mapa de calor de esferas por nivel de ambición con casos, inversión, neto y brechas"/>
          <p:cNvPicPr>
            <a:picLocks noChangeAspect="1"/>
          </p:cNvPicPr>
          <p:nvPr/>
        </p:nvPicPr>
        <p:blipFill>
          <a:blip r:embed="rIdImg_impacto"/>
          <a:stretch>
            <a:fillRect/>
          </a:stretch>
        </p:blipFill>
        <p:spPr>
          <a:xfrm>
            <a:off x="609600" y="1900000"/>
            <a:ext cx="6700000" cy="4243333"/>
          </a:xfrm>
          <a:prstGeom prst="rect">
            <a:avLst/>
          </a:prstGeom>
          <a:ln w="12700">
            <a:solidFill>
              <a:srgbClr val="C9A78D"/>
            </a:solidFill>
          </a:ln>
        </p:spPr>
      </p:pic>
      <p:sp>
        <p:nvSpPr>
          <p:cNvPr id="132" name="Texto 132"/>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Filas: las áreas donde la IA crea valor (cliente, producto, personas, operaciones, datos, conocimiento, decisión). Columnas: optimizar, aumentar, transformar.</a:t>
            </a:r>
          </a:p>
          <a:p>
            <a:pPr marL="285750" indent="-285750">
              <a:spcAft>
                <a:spcPts val="400"/>
              </a:spcAft>
              <a:buClr>
                <a:srgbClr val="990F3D"/>
              </a:buClr>
              <a:buFont typeface="Arial"/>
              <a:buChar char="•"/>
            </a:pPr>
            <a:r>
              <a:rPr lang="es-ES" sz="1300" dirty="0">
                <a:solidFill>
                  <a:srgbClr val="2F2B28"/>
                </a:solidFill>
              </a:rPr>
              <a:t>Cada celda: casos, inversión y coste, neto anual y valor validado; el color dice dónde se concentra el gasto.</a:t>
            </a:r>
          </a:p>
          <a:p>
            <a:pPr marL="285750" indent="-285750">
              <a:spcAft>
                <a:spcPts val="400"/>
              </a:spcAft>
              <a:buClr>
                <a:srgbClr val="990F3D"/>
              </a:buClr>
              <a:buFont typeface="Arial"/>
              <a:buChar char="•"/>
            </a:pPr>
            <a:r>
              <a:rPr lang="es-ES" sz="1300" dirty="0">
                <a:solidFill>
                  <a:srgbClr val="2F2B28"/>
                </a:solidFill>
              </a:rPr>
              <a:t>«Brecha»: la ambición que aprobó la dirección en C2 para esa esfera no tiene ningún caso que haya superado G2.</a:t>
            </a:r>
          </a:p>
          <a:p>
            <a:pPr marL="285750" indent="-285750">
              <a:spcAft>
                <a:spcPts val="400"/>
              </a:spcAft>
              <a:buClr>
                <a:srgbClr val="990F3D"/>
              </a:buClr>
              <a:buFont typeface="Arial"/>
              <a:buChar char="•"/>
            </a:pPr>
            <a:r>
              <a:rPr lang="es-ES" sz="1300" dirty="0">
                <a:solidFill>
                  <a:srgbClr val="2F2B28"/>
                </a:solidFill>
              </a:rPr>
              <a:t>En el ejemplo: el 40 % del gasto está en Cliente, Datos no tiene actividad y cinco esferas tienen brecha.</a:t>
            </a:r>
          </a:p>
          <a:p>
            <a:pPr marL="285750" indent="-285750">
              <a:spcAft>
                <a:spcPts val="400"/>
              </a:spcAft>
              <a:buClr>
                <a:srgbClr val="990F3D"/>
              </a:buClr>
              <a:buFont typeface="Arial"/>
              <a:buChar char="•"/>
            </a:pPr>
            <a:r>
              <a:rPr lang="es-ES" sz="1300" dirty="0">
                <a:solidFill>
                  <a:srgbClr val="2F2B28"/>
                </a:solidFill>
              </a:rPr>
              <a:t>La ambición objetivo sale de la tesis aprobada en el registro, no se escribe en el panel.</a:t>
            </a:r>
          </a:p>
        </p:txBody>
      </p:sp>
      <p:sp>
        <p:nvSpPr>
          <p:cNvPr id="133" name="Texto 133"/>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La pregunta que responde: ¿dónde tiene la IA más impacto en la compañía y dónde no estamos jugando? (documento 10 §8)</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138" name="Marca"/>
          <p:cNvSpPr/>
          <p:nvPr/>
        </p:nvSpPr>
        <p:spPr>
          <a:xfrm>
            <a:off x="609600" y="2400000"/>
            <a:ext cx="182880" cy="182880"/>
          </a:xfrm>
          <a:prstGeom prst="rect">
            <a:avLst/>
          </a:prstGeom>
          <a:solidFill>
            <a:srgbClr val="990F3D"/>
          </a:solidFill>
        </p:spPr>
        <p:txBody>
          <a:bodyPr/>
          <a:lstStyle/>
          <a:p/>
        </p:txBody>
      </p:sp>
      <p:sp>
        <p:nvSpPr>
          <p:cNvPr id="139" name="Texto 139"/>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DOS EJEMPLOS</a:t>
            </a:r>
          </a:p>
        </p:txBody>
      </p:sp>
      <p:sp>
        <p:nvSpPr>
          <p:cNvPr id="140" name="Texto 140"/>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Una iniciativa que se para y otra que llega a producción</a:t>
            </a:r>
          </a:p>
        </p:txBody>
      </p:sp>
      <p:sp>
        <p:nvSpPr>
          <p:cNvPr id="141" name="Texto 141"/>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Datos ficticios, ilustrativos: no describen ninguna compañía real.</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5" name="Marca"/>
          <p:cNvSpPr/>
          <p:nvPr/>
        </p:nvSpPr>
        <p:spPr>
          <a:xfrm>
            <a:off x="609600" y="365760"/>
            <a:ext cx="182880" cy="182880"/>
          </a:xfrm>
          <a:prstGeom prst="rect">
            <a:avLst/>
          </a:prstGeom>
          <a:solidFill>
            <a:srgbClr val="990F3D"/>
          </a:solidFill>
        </p:spPr>
        <p:txBody>
          <a:bodyPr/>
          <a:lstStyle/>
          <a:p/>
        </p:txBody>
      </p:sp>
      <p:sp>
        <p:nvSpPr>
          <p:cNvPr id="146" name="Texto 14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47" name="Texto 14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Ejemplo 1 · Cuando una iniciativa se para</a:t>
            </a:r>
          </a:p>
        </p:txBody>
      </p:sp>
      <p:sp>
        <p:nvSpPr>
          <p:cNvPr id="142" name="Texto 142"/>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Cribado de candidaturas en procesos de selección (RR. HH.)</a:t>
            </a:r>
          </a:p>
        </p:txBody>
      </p:sp>
      <p:sp>
        <p:nvSpPr>
          <p:cNvPr id="143" name="Texto 143"/>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Fases 0 y 1: RR. HH. la patrocina (P01–P05). Al decidir sobre personas, la intensidad es Enterprise (P04). Entra en «Propuesto».</a:t>
            </a:r>
          </a:p>
          <a:p>
            <a:pPr marL="285750" indent="-285750">
              <a:spcAft>
                <a:spcPts val="400"/>
              </a:spcAft>
              <a:buClr>
                <a:srgbClr val="990F3D"/>
              </a:buClr>
              <a:buFont typeface="Arial"/>
              <a:buChar char="•"/>
            </a:pPr>
            <a:r>
              <a:rPr lang="es-ES" sz="1500" dirty="0">
                <a:solidFill>
                  <a:srgbClr val="2F2B28"/>
                </a:solidFill>
              </a:rPr>
              <a:t>Fase 2: la hipótesis (P08) promete un 40 % menos de tiempo de cribado frente a la línea base (P09). El piloto lo confirma: G2, Continuar.</a:t>
            </a:r>
          </a:p>
          <a:p>
            <a:pPr marL="285750" indent="-285750">
              <a:spcAft>
                <a:spcPts val="400"/>
              </a:spcAft>
              <a:buClr>
                <a:srgbClr val="990F3D"/>
              </a:buClr>
              <a:buFont typeface="Arial"/>
              <a:buChar char="•"/>
            </a:pPr>
            <a:r>
              <a:rPr lang="es-ES" sz="1500" dirty="0">
                <a:solidFill>
                  <a:srgbClr val="2F2B28"/>
                </a:solidFill>
              </a:rPr>
              <a:t>Fase 3: la clasificación regulatoria (P11) lo sitúa como sistema de alto riesgo. La prueba de sesgo detecta que penaliza a candidatos de más edad.</a:t>
            </a:r>
          </a:p>
          <a:p>
            <a:pPr marL="285750" indent="-285750">
              <a:spcAft>
                <a:spcPts val="400"/>
              </a:spcAft>
              <a:buClr>
                <a:srgbClr val="990F3D"/>
              </a:buClr>
              <a:buFont typeface="Arial"/>
              <a:buChar char="•"/>
            </a:pPr>
            <a:r>
              <a:rPr lang="es-ES" sz="1500" dirty="0">
                <a:solidFill>
                  <a:srgbClr val="2F2B28"/>
                </a:solidFill>
              </a:rPr>
              <a:t>Se itera dos veces ajustando variables: corregir el sesgo destruye la capacidad predictiva que justificaba el proyecto.</a:t>
            </a:r>
          </a:p>
          <a:p>
            <a:pPr marL="285750" indent="-285750">
              <a:spcAft>
                <a:spcPts val="400"/>
              </a:spcAft>
              <a:buClr>
                <a:srgbClr val="990F3D"/>
              </a:buClr>
              <a:buFont typeface="Arial"/>
              <a:buChar char="•"/>
            </a:pPr>
            <a:r>
              <a:rPr lang="es-ES" sz="1500" dirty="0">
                <a:solidFill>
                  <a:srgbClr val="2F2B28"/>
                </a:solidFill>
              </a:rPr>
              <a:t>G3: riesgo residual alto sin mitigación viable (P12, P13). El comité de IA decide Parar; queda en P29 con su motivo.</a:t>
            </a:r>
          </a:p>
          <a:p>
            <a:pPr marL="285750" indent="-285750">
              <a:spcAft>
                <a:spcPts val="400"/>
              </a:spcAft>
              <a:buClr>
                <a:srgbClr val="990F3D"/>
              </a:buClr>
              <a:buFont typeface="Arial"/>
              <a:buChar char="•"/>
            </a:pPr>
            <a:r>
              <a:rPr lang="es-ES" sz="1500" dirty="0">
                <a:solidFill>
                  <a:srgbClr val="2F2B28"/>
                </a:solidFill>
              </a:rPr>
              <a:t>En el embudo aparece a la derecha de «Prueba de concepto»: Descartado · riesgo inaceptable. Lección: probar el sesgo antes, en la fase 2.</a:t>
            </a:r>
          </a:p>
        </p:txBody>
      </p:sp>
      <p:sp>
        <p:nvSpPr>
          <p:cNvPr id="144" name="Caja 144"/>
          <p:cNvSpPr/>
          <p:nvPr/>
        </p:nvSpPr>
        <p:spPr>
          <a:xfrm>
            <a:off x="609600" y="5600000"/>
            <a:ext cx="10972800" cy="900000"/>
          </a:xfrm>
          <a:prstGeom prst="roundRect">
            <a:avLst>
              <a:gd name="adj" fmla="val 6000"/>
            </a:avLst>
          </a:prstGeom>
          <a:solidFill>
            <a:srgbClr val="990F3D"/>
          </a:solidFill>
          <a:ln>
            <a:noFill/>
          </a:ln>
        </p:spPr>
        <p:txBody>
          <a:bodyPr wrap="square" anchor="ctr" lIns="45720" rIns="45720">
            <a:noAutofit/>
          </a:bodyPr>
          <a:lstStyle/>
          <a:p>
            <a:pPr algn="ctr"/>
            <a:r>
              <a:rPr lang="es-ES" sz="2100" b="1" dirty="0">
                <a:solidFill>
                  <a:srgbClr val="FFFFFF"/>
                </a:solidFill>
              </a:rPr>
              <a:t>PARADA EN G3 · SE EVITÓ CONSTRUIR Y OPERAR UN SISTEMA INVIABLE</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65" name="Marca"/>
          <p:cNvSpPr/>
          <p:nvPr/>
        </p:nvSpPr>
        <p:spPr>
          <a:xfrm>
            <a:off x="609600" y="365760"/>
            <a:ext cx="182880" cy="182880"/>
          </a:xfrm>
          <a:prstGeom prst="rect">
            <a:avLst/>
          </a:prstGeom>
          <a:solidFill>
            <a:srgbClr val="990F3D"/>
          </a:solidFill>
        </p:spPr>
        <p:txBody>
          <a:bodyPr/>
          <a:lstStyle/>
          <a:p/>
        </p:txBody>
      </p:sp>
      <p:sp>
        <p:nvSpPr>
          <p:cNvPr id="166" name="Texto 16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67" name="Texto 16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La iniciativa 1, sobre el ciclo de vida</a:t>
            </a:r>
          </a:p>
        </p:txBody>
      </p:sp>
      <p:sp>
        <p:nvSpPr>
          <p:cNvPr id="168" name="Texto 168"/>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Llegó a la fase 3 y no superó la puerta G3</a:t>
            </a:r>
          </a:p>
        </p:txBody>
      </p:sp>
      <p:sp>
        <p:nvSpPr>
          <p:cNvPr id="148" name="Caja 148"/>
          <p:cNvSpPr/>
          <p:nvPr/>
        </p:nvSpPr>
        <p:spPr>
          <a:xfrm>
            <a:off x="68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Contexto y restricciones</a:t>
            </a:r>
          </a:p>
        </p:txBody>
      </p:sp>
      <p:sp>
        <p:nvSpPr>
          <p:cNvPr id="149" name="Texto 149"/>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50" name="Caja 150"/>
          <p:cNvSpPr/>
          <p:nvPr/>
        </p:nvSpPr>
        <p:spPr>
          <a:xfrm>
            <a:off x="205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Descubrimiento de oportunidades</a:t>
            </a:r>
          </a:p>
        </p:txBody>
      </p:sp>
      <p:sp>
        <p:nvSpPr>
          <p:cNvPr id="151" name="Texto 151"/>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52" name="Caja 152"/>
          <p:cNvSpPr/>
          <p:nvPr/>
        </p:nvSpPr>
        <p:spPr>
          <a:xfrm>
            <a:off x="342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Hipótesis de valor</a:t>
            </a:r>
          </a:p>
        </p:txBody>
      </p:sp>
      <p:sp>
        <p:nvSpPr>
          <p:cNvPr id="153" name="Texto 153"/>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54" name="Caja 154"/>
          <p:cNvSpPr/>
          <p:nvPr/>
        </p:nvSpPr>
        <p:spPr>
          <a:xfrm>
            <a:off x="479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Viabilidad y riesgo</a:t>
            </a:r>
          </a:p>
        </p:txBody>
      </p:sp>
      <p:sp>
        <p:nvSpPr>
          <p:cNvPr id="155" name="Texto 155"/>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56" name="Caja 156"/>
          <p:cNvSpPr/>
          <p:nvPr/>
        </p:nvSpPr>
        <p:spPr>
          <a:xfrm>
            <a:off x="616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F4</a:t>
            </a:r>
          </a:p>
          <a:p>
            <a:pPr algn="ctr"/>
            <a:r>
              <a:rPr lang="es-ES" sz="1050" dirty="0">
                <a:solidFill>
                  <a:srgbClr val="564D47"/>
                </a:solidFill>
              </a:rPr>
              <a:t>Diseño de la solución</a:t>
            </a:r>
          </a:p>
        </p:txBody>
      </p:sp>
      <p:sp>
        <p:nvSpPr>
          <p:cNvPr id="157" name="Texto 157"/>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58" name="Caja 158"/>
          <p:cNvSpPr/>
          <p:nvPr/>
        </p:nvSpPr>
        <p:spPr>
          <a:xfrm>
            <a:off x="753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F5</a:t>
            </a:r>
          </a:p>
          <a:p>
            <a:pPr algn="ctr"/>
            <a:r>
              <a:rPr lang="es-ES" sz="1050" dirty="0">
                <a:solidFill>
                  <a:srgbClr val="564D47"/>
                </a:solidFill>
              </a:rPr>
              <a:t>Entrega y validación</a:t>
            </a:r>
          </a:p>
        </p:txBody>
      </p:sp>
      <p:sp>
        <p:nvSpPr>
          <p:cNvPr id="159" name="Texto 159"/>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60" name="Caja 160"/>
          <p:cNvSpPr/>
          <p:nvPr/>
        </p:nvSpPr>
        <p:spPr>
          <a:xfrm>
            <a:off x="890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F6</a:t>
            </a:r>
          </a:p>
          <a:p>
            <a:pPr algn="ctr"/>
            <a:r>
              <a:rPr lang="es-ES" sz="1050" dirty="0">
                <a:solidFill>
                  <a:srgbClr val="564D47"/>
                </a:solidFill>
              </a:rPr>
              <a:t>Operación y gobierno</a:t>
            </a:r>
          </a:p>
        </p:txBody>
      </p:sp>
      <p:sp>
        <p:nvSpPr>
          <p:cNvPr id="161" name="Texto 161"/>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62" name="Caja 162"/>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Evolución o retirada</a:t>
            </a:r>
          </a:p>
        </p:txBody>
      </p:sp>
      <p:sp>
        <p:nvSpPr>
          <p:cNvPr id="163" name="Texto 163"/>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64" name="Texto 164"/>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990F3D"/>
                </a:solidFill>
              </a:rPr>
              <a:t>PARADA EN G3 · sale del embudo como «Descartado», con su motivo</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72" name="Marca"/>
          <p:cNvSpPr/>
          <p:nvPr/>
        </p:nvSpPr>
        <p:spPr>
          <a:xfrm>
            <a:off x="609600" y="365760"/>
            <a:ext cx="182880" cy="182880"/>
          </a:xfrm>
          <a:prstGeom prst="rect">
            <a:avLst/>
          </a:prstGeom>
          <a:solidFill>
            <a:srgbClr val="990F3D"/>
          </a:solidFill>
        </p:spPr>
        <p:txBody>
          <a:bodyPr/>
          <a:lstStyle/>
          <a:p/>
        </p:txBody>
      </p:sp>
      <p:sp>
        <p:nvSpPr>
          <p:cNvPr id="173" name="Texto 17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74" name="Texto 17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Ejemplo 2 · Cuando una iniciativa llega a producción</a:t>
            </a:r>
          </a:p>
        </p:txBody>
      </p:sp>
      <p:sp>
        <p:nvSpPr>
          <p:cNvPr id="169" name="Texto 169"/>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Asistente de respuesta a incidencias de TI de primer nivel</a:t>
            </a:r>
          </a:p>
        </p:txBody>
      </p:sp>
      <p:sp>
        <p:nvSpPr>
          <p:cNvPr id="170" name="Texto 170"/>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Fases 0 y 1: TI la patrocina; frente a la alternativa sin IA (más plantilla), se propone la esfera de operaciones con ambición Optimizar (P07).</a:t>
            </a:r>
          </a:p>
          <a:p>
            <a:pPr marL="285750" indent="-285750">
              <a:spcAft>
                <a:spcPts val="400"/>
              </a:spcAft>
              <a:buClr>
                <a:srgbClr val="990F3D"/>
              </a:buClr>
              <a:buFont typeface="Arial"/>
              <a:buChar char="•"/>
            </a:pPr>
            <a:r>
              <a:rPr lang="es-ES" sz="1500" dirty="0">
                <a:solidFill>
                  <a:srgbClr val="2F2B28"/>
                </a:solidFill>
              </a:rPr>
              <a:t>Fase 2: hipótesis de un 30 % menos de tiempo de resolución en incidencias sencillas; el piloto controlado da un 32 %.</a:t>
            </a:r>
          </a:p>
          <a:p>
            <a:pPr marL="285750" indent="-285750">
              <a:spcAft>
                <a:spcPts val="400"/>
              </a:spcAft>
              <a:buClr>
                <a:srgbClr val="990F3D"/>
              </a:buClr>
              <a:buFont typeface="Arial"/>
              <a:buChar char="•"/>
            </a:pPr>
            <a:r>
              <a:rPr lang="es-ES" sz="1500" dirty="0">
                <a:solidFill>
                  <a:srgbClr val="2F2B28"/>
                </a:solidFill>
              </a:rPr>
              <a:t>Fase 3: sin sesgo relevante, riesgo residual medio aceptado por su órgano (P12), proveedor evaluado (P14). G3, Continuar.</a:t>
            </a:r>
          </a:p>
          <a:p>
            <a:pPr marL="285750" indent="-285750">
              <a:spcAft>
                <a:spcPts val="400"/>
              </a:spcAft>
              <a:buClr>
                <a:srgbClr val="990F3D"/>
              </a:buClr>
              <a:buFont typeface="Arial"/>
              <a:buChar char="•"/>
            </a:pPr>
            <a:r>
              <a:rPr lang="es-ES" sz="1500" dirty="0">
                <a:solidFill>
                  <a:srgbClr val="2F2B28"/>
                </a:solidFill>
              </a:rPr>
              <a:t>Fases 4 y 5: supervisión humana obligatoria por encima de cierta gravedad (P17), reversión probada (P19) y firma de puesta en producción (P23).</a:t>
            </a:r>
          </a:p>
          <a:p>
            <a:pPr marL="285750" indent="-285750">
              <a:spcAft>
                <a:spcPts val="400"/>
              </a:spcAft>
              <a:buClr>
                <a:srgbClr val="990F3D"/>
              </a:buClr>
              <a:buFont typeface="Arial"/>
              <a:buChar char="•"/>
            </a:pPr>
            <a:r>
              <a:rPr lang="es-ES" sz="1500" dirty="0">
                <a:solidFill>
                  <a:srgbClr val="2F2B28"/>
                </a:solidFill>
              </a:rPr>
              <a:t>Fase 6: catorce meses en uso. Control de gestión valida 1,1 M€ al año (P28); la capacidad liberada se reasignó a incidencias complejas.</a:t>
            </a:r>
          </a:p>
          <a:p>
            <a:pPr marL="285750" indent="-285750">
              <a:spcAft>
                <a:spcPts val="400"/>
              </a:spcAft>
              <a:buClr>
                <a:srgbClr val="990F3D"/>
              </a:buClr>
              <a:buFont typeface="Arial"/>
              <a:buChar char="•"/>
            </a:pPr>
            <a:r>
              <a:rPr lang="es-ES" sz="1500" dirty="0">
                <a:solidFill>
                  <a:srgbClr val="2F2B28"/>
                </a:solidFill>
              </a:rPr>
              <a:t>En el embudo está en «En uso»; en el panel suma al neto anual porque su valor está validado, no declarado.</a:t>
            </a:r>
          </a:p>
        </p:txBody>
      </p:sp>
      <p:sp>
        <p:nvSpPr>
          <p:cNvPr id="171" name="Caja 171"/>
          <p:cNvSpPr/>
          <p:nvPr/>
        </p:nvSpPr>
        <p:spPr>
          <a:xfrm>
            <a:off x="609600" y="5600000"/>
            <a:ext cx="10972800" cy="900000"/>
          </a:xfrm>
          <a:prstGeom prst="roundRect">
            <a:avLst>
              <a:gd name="adj" fmla="val 6000"/>
            </a:avLst>
          </a:prstGeom>
          <a:solidFill>
            <a:srgbClr val="0D7680"/>
          </a:solidFill>
          <a:ln>
            <a:noFill/>
          </a:ln>
        </p:spPr>
        <p:txBody>
          <a:bodyPr wrap="square" anchor="ctr" lIns="45720" rIns="45720">
            <a:noAutofit/>
          </a:bodyPr>
          <a:lstStyle/>
          <a:p>
            <a:pPr algn="ctr"/>
            <a:r>
              <a:rPr lang="es-ES" sz="2100" b="1" dirty="0">
                <a:solidFill>
                  <a:srgbClr val="FFFFFF"/>
                </a:solidFill>
              </a:rPr>
              <a:t>EN PRODUCCIÓN · 1,1 M€ DE RETORNO ANUAL VALIDADO · R6 TRIMESTRAL</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2" name="Marca"/>
          <p:cNvSpPr/>
          <p:nvPr/>
        </p:nvSpPr>
        <p:spPr>
          <a:xfrm>
            <a:off x="609600" y="365760"/>
            <a:ext cx="182880" cy="182880"/>
          </a:xfrm>
          <a:prstGeom prst="rect">
            <a:avLst/>
          </a:prstGeom>
          <a:solidFill>
            <a:srgbClr val="990F3D"/>
          </a:solidFill>
        </p:spPr>
        <p:txBody>
          <a:bodyPr/>
          <a:lstStyle/>
          <a:p/>
        </p:txBody>
      </p:sp>
      <p:sp>
        <p:nvSpPr>
          <p:cNvPr id="193" name="Texto 19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94" name="Texto 19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La iniciativa 2, sobre el ciclo de vida</a:t>
            </a:r>
          </a:p>
        </p:txBody>
      </p:sp>
      <p:sp>
        <p:nvSpPr>
          <p:cNvPr id="195" name="Texto 19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Recorrió las fases 0 a 6 y sigue en uso; la fase 7 llegará con G7</a:t>
            </a:r>
          </a:p>
        </p:txBody>
      </p:sp>
      <p:sp>
        <p:nvSpPr>
          <p:cNvPr id="175" name="Caja 175"/>
          <p:cNvSpPr/>
          <p:nvPr/>
        </p:nvSpPr>
        <p:spPr>
          <a:xfrm>
            <a:off x="68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Contexto y restricciones</a:t>
            </a:r>
          </a:p>
        </p:txBody>
      </p:sp>
      <p:sp>
        <p:nvSpPr>
          <p:cNvPr id="176" name="Texto 176"/>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77" name="Caja 177"/>
          <p:cNvSpPr/>
          <p:nvPr/>
        </p:nvSpPr>
        <p:spPr>
          <a:xfrm>
            <a:off x="205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Descubrimiento de oportunidades</a:t>
            </a:r>
          </a:p>
        </p:txBody>
      </p:sp>
      <p:sp>
        <p:nvSpPr>
          <p:cNvPr id="178" name="Texto 178"/>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79" name="Caja 179"/>
          <p:cNvSpPr/>
          <p:nvPr/>
        </p:nvSpPr>
        <p:spPr>
          <a:xfrm>
            <a:off x="342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Hipótesis de valor</a:t>
            </a:r>
          </a:p>
        </p:txBody>
      </p:sp>
      <p:sp>
        <p:nvSpPr>
          <p:cNvPr id="180" name="Texto 180"/>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81" name="Caja 181"/>
          <p:cNvSpPr/>
          <p:nvPr/>
        </p:nvSpPr>
        <p:spPr>
          <a:xfrm>
            <a:off x="479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Viabilidad y riesgo</a:t>
            </a:r>
          </a:p>
        </p:txBody>
      </p:sp>
      <p:sp>
        <p:nvSpPr>
          <p:cNvPr id="182" name="Texto 182"/>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83" name="Caja 183"/>
          <p:cNvSpPr/>
          <p:nvPr/>
        </p:nvSpPr>
        <p:spPr>
          <a:xfrm>
            <a:off x="616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Diseño de la solución</a:t>
            </a:r>
          </a:p>
        </p:txBody>
      </p:sp>
      <p:sp>
        <p:nvSpPr>
          <p:cNvPr id="184" name="Texto 184"/>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85" name="Caja 185"/>
          <p:cNvSpPr/>
          <p:nvPr/>
        </p:nvSpPr>
        <p:spPr>
          <a:xfrm>
            <a:off x="753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Entrega y validación</a:t>
            </a:r>
          </a:p>
        </p:txBody>
      </p:sp>
      <p:sp>
        <p:nvSpPr>
          <p:cNvPr id="186" name="Texto 186"/>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87" name="Caja 187"/>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Operación y gobierno</a:t>
            </a:r>
          </a:p>
        </p:txBody>
      </p:sp>
      <p:sp>
        <p:nvSpPr>
          <p:cNvPr id="188" name="Texto 188"/>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89" name="Caja 189"/>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Evolución o retirada</a:t>
            </a:r>
          </a:p>
        </p:txBody>
      </p:sp>
      <p:sp>
        <p:nvSpPr>
          <p:cNvPr id="190" name="Texto 190"/>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91" name="Texto 191"/>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0D7680"/>
                </a:solidFill>
              </a:rPr>
              <a:t>EN USO · cada R6 confirma que sigue aportando valor bajo control</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7" name="Marca"/>
          <p:cNvSpPr/>
          <p:nvPr/>
        </p:nvSpPr>
        <p:spPr>
          <a:xfrm>
            <a:off x="609600" y="365760"/>
            <a:ext cx="182880" cy="182880"/>
          </a:xfrm>
          <a:prstGeom prst="rect">
            <a:avLst/>
          </a:prstGeom>
          <a:solidFill>
            <a:srgbClr val="990F3D"/>
          </a:solidFill>
        </p:spPr>
        <p:txBody>
          <a:bodyPr/>
          <a:lstStyle/>
          <a:p/>
        </p:txBody>
      </p:sp>
      <p:sp>
        <p:nvSpPr>
          <p:cNvPr id="198" name="Texto 19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199" name="Texto 19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Cómo se mide el valor</a:t>
            </a:r>
          </a:p>
        </p:txBody>
      </p:sp>
      <p:sp>
        <p:nvSpPr>
          <p:cNvPr id="196" name="Texto 196"/>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Todo importe lleva fórmula y estado: validado (control de gestión), declarado (el equipo) o estimado.</a:t>
            </a:r>
          </a:p>
          <a:p>
            <a:pPr marL="285750" indent="-285750">
              <a:spcAft>
                <a:spcPts val="400"/>
              </a:spcAft>
              <a:buClr>
                <a:srgbClr val="990F3D"/>
              </a:buClr>
              <a:buFont typeface="Arial"/>
              <a:buChar char="•"/>
            </a:pPr>
            <a:r>
              <a:rPr lang="es-ES" sz="1800" dirty="0">
                <a:solidFill>
                  <a:srgbClr val="2F2B28"/>
                </a:solidFill>
              </a:rPr>
              <a:t>Las horas liberadas no son ahorro hasta que se materializan: baja un coste o se reasignan a una actividad con valor.</a:t>
            </a:r>
          </a:p>
          <a:p>
            <a:pPr marL="285750" indent="-285750">
              <a:spcAft>
                <a:spcPts val="400"/>
              </a:spcAft>
              <a:buClr>
                <a:srgbClr val="990F3D"/>
              </a:buClr>
              <a:buFont typeface="Arial"/>
              <a:buChar char="•"/>
            </a:pPr>
            <a:r>
              <a:rPr lang="es-ES" sz="1800" dirty="0">
                <a:solidFill>
                  <a:srgbClr val="2F2B28"/>
                </a:solidFill>
              </a:rPr>
              <a:t>El coste es completo: construcción, consumo, operación, supervisión humana y retirada.</a:t>
            </a:r>
          </a:p>
          <a:p>
            <a:pPr marL="285750" indent="-285750">
              <a:spcAft>
                <a:spcPts val="400"/>
              </a:spcAft>
              <a:buClr>
                <a:srgbClr val="990F3D"/>
              </a:buClr>
              <a:buFont typeface="Arial"/>
              <a:buChar char="•"/>
            </a:pPr>
            <a:r>
              <a:rPr lang="es-ES" sz="1800" dirty="0">
                <a:solidFill>
                  <a:srgbClr val="2F2B28"/>
                </a:solidFill>
              </a:rPr>
              <a:t>El índice de transformación usa ocho señales de evidencia para separar transformar de solo eficientar.</a:t>
            </a:r>
          </a:p>
          <a:p>
            <a:pPr marL="285750" indent="-285750">
              <a:spcAft>
                <a:spcPts val="400"/>
              </a:spcAft>
              <a:buClr>
                <a:srgbClr val="990F3D"/>
              </a:buClr>
              <a:buFont typeface="Arial"/>
              <a:buChar char="•"/>
            </a:pPr>
            <a:r>
              <a:rPr lang="es-ES" sz="1800" dirty="0">
                <a:solidFill>
                  <a:srgbClr val="2F2B28"/>
                </a:solidFill>
              </a:rPr>
              <a:t>Diez reglas de medición (documento 40). Ninguna cifra entra en el neto de la cartera sin su estado.</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200" name="Marca"/>
          <p:cNvSpPr/>
          <p:nvPr/>
        </p:nvSpPr>
        <p:spPr>
          <a:xfrm>
            <a:off x="609600" y="2400000"/>
            <a:ext cx="182880" cy="182880"/>
          </a:xfrm>
          <a:prstGeom prst="rect">
            <a:avLst/>
          </a:prstGeom>
          <a:solidFill>
            <a:srgbClr val="990F3D"/>
          </a:solidFill>
        </p:spPr>
        <p:txBody>
          <a:bodyPr/>
          <a:lstStyle/>
          <a:p/>
        </p:txBody>
      </p:sp>
      <p:sp>
        <p:nvSpPr>
          <p:cNvPr id="201" name="Texto 201"/>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PARA EL PARTNER</a:t>
            </a:r>
          </a:p>
        </p:txBody>
      </p:sp>
      <p:sp>
        <p:nvSpPr>
          <p:cNvPr id="202" name="Texto 202"/>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Integrar SEVEN-G en su propia metodología o producto</a:t>
            </a:r>
          </a:p>
        </p:txBody>
      </p:sp>
      <p:sp>
        <p:nvSpPr>
          <p:cNvPr id="203" name="Texto 203"/>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Aquí, «partner» es la empresa que incorpora el marco a lo suyo bajo su licencia abierta. No existe programa de socios ni la figura de «partner oficial».</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14" name="Marca"/>
          <p:cNvSpPr/>
          <p:nvPr/>
        </p:nvSpPr>
        <p:spPr>
          <a:xfrm>
            <a:off x="609600" y="365760"/>
            <a:ext cx="182880" cy="182880"/>
          </a:xfrm>
          <a:prstGeom prst="rect">
            <a:avLst/>
          </a:prstGeom>
          <a:solidFill>
            <a:srgbClr val="990F3D"/>
          </a:solidFill>
        </p:spPr>
        <p:txBody>
          <a:bodyPr/>
          <a:lstStyle/>
          <a:p/>
        </p:txBody>
      </p:sp>
      <p:sp>
        <p:nvSpPr>
          <p:cNvPr id="215" name="Texto 2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216" name="Texto 2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Qué permite la licencia y qué exige</a:t>
            </a:r>
          </a:p>
        </p:txBody>
      </p:sp>
      <p:sp>
        <p:nvSpPr>
          <p:cNvPr id="217" name="Texto 21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Contenidos: CC BY 4.0. Código de las herramientas: MIT</a:t>
            </a:r>
          </a:p>
        </p:txBody>
      </p:sp>
      <p:sp>
        <p:nvSpPr>
          <p:cNvPr id="204" name="Caja 204"/>
          <p:cNvSpPr/>
          <p:nvPr/>
        </p:nvSpPr>
        <p:spPr>
          <a:xfrm>
            <a:off x="609600" y="2050000"/>
            <a:ext cx="357760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Permite</a:t>
            </a:r>
          </a:p>
        </p:txBody>
      </p:sp>
      <p:sp>
        <p:nvSpPr>
          <p:cNvPr id="205" name="Caja 205"/>
          <p:cNvSpPr/>
          <p:nvPr/>
        </p:nvSpPr>
        <p:spPr>
          <a:xfrm>
            <a:off x="6096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06" name="Texto 206"/>
          <p:cNvSpPr txBox="1"/>
          <p:nvPr/>
        </p:nvSpPr>
        <p:spPr>
          <a:xfrm>
            <a:off x="649600" y="2890000"/>
            <a:ext cx="3497600" cy="2340000"/>
          </a:xfrm>
          <a:prstGeom prst="rect">
            <a:avLst/>
          </a:prstGeom>
          <a:noFill/>
        </p:spPr>
        <p:txBody>
          <a:bodyPr wrap="square" anchor="t" lIns="45720" rIns="45720">
            <a:noAutofit/>
          </a:bodyPr>
          <a:lstStyle/>
          <a:p>
            <a:pPr algn="l"/>
            <a:r>
              <a:rPr lang="es-ES" sz="1300" dirty="0">
                <a:solidFill>
                  <a:srgbClr val="2F2B28"/>
                </a:solidFill>
              </a:rPr>
              <a:t>Copiar, adaptar, traducir, recortar, renombrar, mezclar con su metodología e integrar en productos, también con fines comerciales, sin pedir permiso ni pagar.</a:t>
            </a:r>
          </a:p>
        </p:txBody>
      </p:sp>
      <p:sp>
        <p:nvSpPr>
          <p:cNvPr id="207" name="Caja 207"/>
          <p:cNvSpPr/>
          <p:nvPr/>
        </p:nvSpPr>
        <p:spPr>
          <a:xfrm>
            <a:off x="4307200" y="2050000"/>
            <a:ext cx="357760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Exige</a:t>
            </a:r>
          </a:p>
        </p:txBody>
      </p:sp>
      <p:sp>
        <p:nvSpPr>
          <p:cNvPr id="208" name="Caja 208"/>
          <p:cNvSpPr/>
          <p:nvPr/>
        </p:nvSpPr>
        <p:spPr>
          <a:xfrm>
            <a:off x="43072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09" name="Texto 209"/>
          <p:cNvSpPr txBox="1"/>
          <p:nvPr/>
        </p:nvSpPr>
        <p:spPr>
          <a:xfrm>
            <a:off x="4347200" y="2890000"/>
            <a:ext cx="3497600" cy="2340000"/>
          </a:xfrm>
          <a:prstGeom prst="rect">
            <a:avLst/>
          </a:prstGeom>
          <a:noFill/>
        </p:spPr>
        <p:txBody>
          <a:bodyPr wrap="square" anchor="t" lIns="45720" rIns="45720">
            <a:noAutofit/>
          </a:bodyPr>
          <a:lstStyle/>
          <a:p>
            <a:pPr algn="l"/>
            <a:r>
              <a:rPr lang="es-ES" sz="1300" dirty="0">
                <a:solidFill>
                  <a:srgbClr val="2F2B28"/>
                </a:solidFill>
              </a:rPr>
              <a:t>Reconocer la autoría (Fernando García Varela), enlazar la licencia, indicar los cambios y conservar el aviso legal. En el código, mantener el aviso de derechos de autor y la licencia MIT.</a:t>
            </a:r>
          </a:p>
        </p:txBody>
      </p:sp>
      <p:sp>
        <p:nvSpPr>
          <p:cNvPr id="210" name="Caja 210"/>
          <p:cNvSpPr/>
          <p:nvPr/>
        </p:nvSpPr>
        <p:spPr>
          <a:xfrm>
            <a:off x="8004800" y="2050000"/>
            <a:ext cx="357760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No cede</a:t>
            </a:r>
          </a:p>
        </p:txBody>
      </p:sp>
      <p:sp>
        <p:nvSpPr>
          <p:cNvPr id="211" name="Caja 211"/>
          <p:cNvSpPr/>
          <p:nvPr/>
        </p:nvSpPr>
        <p:spPr>
          <a:xfrm>
            <a:off x="80048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12" name="Texto 212"/>
          <p:cNvSpPr txBox="1"/>
          <p:nvPr/>
        </p:nvSpPr>
        <p:spPr>
          <a:xfrm>
            <a:off x="8044800" y="2890000"/>
            <a:ext cx="3497600" cy="2340000"/>
          </a:xfrm>
          <a:prstGeom prst="rect">
            <a:avLst/>
          </a:prstGeom>
          <a:noFill/>
        </p:spPr>
        <p:txBody>
          <a:bodyPr wrap="square" anchor="t" lIns="45720" rIns="45720">
            <a:noAutofit/>
          </a:bodyPr>
          <a:lstStyle/>
          <a:p>
            <a:pPr algn="l"/>
            <a:r>
              <a:rPr lang="es-ES" sz="1300" dirty="0">
                <a:solidFill>
                  <a:srgbClr val="2F2B28"/>
                </a:solidFill>
              </a:rPr>
              <a:t>La marca: SEVEN-G es una marca registrada. Puede nombrarla para decir con exactitud qué ha usado; no para sugerir aval, acreditación o certificación.</a:t>
            </a:r>
          </a:p>
        </p:txBody>
      </p:sp>
      <p:sp>
        <p:nvSpPr>
          <p:cNvPr id="213" name="Texto 213"/>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Las versiones publicadas no se revocan: lo que integre hoy podrá seguir usándolo (documento 93).</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1" name="Marca"/>
          <p:cNvSpPr/>
          <p:nvPr/>
        </p:nvSpPr>
        <p:spPr>
          <a:xfrm>
            <a:off x="609600" y="365760"/>
            <a:ext cx="182880" cy="182880"/>
          </a:xfrm>
          <a:prstGeom prst="rect">
            <a:avLst/>
          </a:prstGeom>
          <a:solidFill>
            <a:srgbClr val="990F3D"/>
          </a:solidFill>
        </p:spPr>
        <p:txBody>
          <a:bodyPr/>
          <a:lstStyle/>
          <a:p/>
        </p:txBody>
      </p:sp>
      <p:sp>
        <p:nvSpPr>
          <p:cNvPr id="232" name="Texto 232"/>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233" name="Texto 233"/>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Adopción modular: cuatro componentes</a:t>
            </a:r>
          </a:p>
        </p:txBody>
      </p:sp>
      <p:sp>
        <p:nvSpPr>
          <p:cNvPr id="234" name="Texto 234"/>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Puede integrar el marco entero o solo las piezas que le faltan a su metodología</a:t>
            </a:r>
          </a:p>
        </p:txBody>
      </p:sp>
      <p:sp>
        <p:nvSpPr>
          <p:cNvPr id="218" name="Caja 218"/>
          <p:cNvSpPr/>
          <p:nvPr/>
        </p:nvSpPr>
        <p:spPr>
          <a:xfrm>
            <a:off x="609600" y="2050000"/>
            <a:ext cx="265320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A · Mapa de impacto</a:t>
            </a:r>
          </a:p>
        </p:txBody>
      </p:sp>
      <p:sp>
        <p:nvSpPr>
          <p:cNvPr id="219" name="Caja 219"/>
          <p:cNvSpPr/>
          <p:nvPr/>
        </p:nvSpPr>
        <p:spPr>
          <a:xfrm>
            <a:off x="609600" y="2790000"/>
            <a:ext cx="26532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0" name="Texto 220"/>
          <p:cNvSpPr txBox="1"/>
          <p:nvPr/>
        </p:nvSpPr>
        <p:spPr>
          <a:xfrm>
            <a:off x="649600" y="2890000"/>
            <a:ext cx="2573200" cy="2340000"/>
          </a:xfrm>
          <a:prstGeom prst="rect">
            <a:avLst/>
          </a:prstGeom>
          <a:noFill/>
        </p:spPr>
        <p:txBody>
          <a:bodyPr wrap="square" anchor="t" lIns="45720" rIns="45720">
            <a:noAutofit/>
          </a:bodyPr>
          <a:lstStyle/>
          <a:p>
            <a:pPr algn="l"/>
            <a:r>
              <a:rPr lang="es-ES" sz="1300" dirty="0">
                <a:solidFill>
                  <a:srgbClr val="2F2B28"/>
                </a:solidFill>
              </a:rPr>
              <a:t>Nueve esferas por tres niveles de ambición (Optimizar, Aumentar, Transformar). Sirve para priorizar y para hablar con el consejo sin tecnología.</a:t>
            </a:r>
          </a:p>
        </p:txBody>
      </p:sp>
      <p:sp>
        <p:nvSpPr>
          <p:cNvPr id="221" name="Caja 221"/>
          <p:cNvSpPr/>
          <p:nvPr/>
        </p:nvSpPr>
        <p:spPr>
          <a:xfrm>
            <a:off x="3382800" y="2050000"/>
            <a:ext cx="265320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B · Gobierno</a:t>
            </a:r>
          </a:p>
        </p:txBody>
      </p:sp>
      <p:sp>
        <p:nvSpPr>
          <p:cNvPr id="222" name="Caja 222"/>
          <p:cNvSpPr/>
          <p:nvPr/>
        </p:nvSpPr>
        <p:spPr>
          <a:xfrm>
            <a:off x="3382800" y="2790000"/>
            <a:ext cx="26532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3" name="Texto 223"/>
          <p:cNvSpPr txBox="1"/>
          <p:nvPr/>
        </p:nvSpPr>
        <p:spPr>
          <a:xfrm>
            <a:off x="3422800" y="2890000"/>
            <a:ext cx="2573200" cy="2340000"/>
          </a:xfrm>
          <a:prstGeom prst="rect">
            <a:avLst/>
          </a:prstGeom>
          <a:noFill/>
        </p:spPr>
        <p:txBody>
          <a:bodyPr wrap="square" anchor="t" lIns="45720" rIns="45720">
            <a:noAutofit/>
          </a:bodyPr>
          <a:lstStyle/>
          <a:p>
            <a:pPr algn="l"/>
            <a:r>
              <a:rPr lang="es-ES" sz="1300" dirty="0">
                <a:solidFill>
                  <a:srgbClr val="2F2B28"/>
                </a:solidFill>
              </a:rPr>
              <a:t>Fases, puertas con validación dual, separación de funciones, riesgos, regulación y no conformidades.</a:t>
            </a:r>
          </a:p>
        </p:txBody>
      </p:sp>
      <p:sp>
        <p:nvSpPr>
          <p:cNvPr id="224" name="Caja 224"/>
          <p:cNvSpPr/>
          <p:nvPr/>
        </p:nvSpPr>
        <p:spPr>
          <a:xfrm>
            <a:off x="6156000" y="2050000"/>
            <a:ext cx="265320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C · Medición</a:t>
            </a:r>
          </a:p>
        </p:txBody>
      </p:sp>
      <p:sp>
        <p:nvSpPr>
          <p:cNvPr id="225" name="Caja 225"/>
          <p:cNvSpPr/>
          <p:nvPr/>
        </p:nvSpPr>
        <p:spPr>
          <a:xfrm>
            <a:off x="6156000" y="2790000"/>
            <a:ext cx="26532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6" name="Texto 226"/>
          <p:cNvSpPr txBox="1"/>
          <p:nvPr/>
        </p:nvSpPr>
        <p:spPr>
          <a:xfrm>
            <a:off x="6196000" y="2890000"/>
            <a:ext cx="2573200" cy="2340000"/>
          </a:xfrm>
          <a:prstGeom prst="rect">
            <a:avLst/>
          </a:prstGeom>
          <a:noFill/>
        </p:spPr>
        <p:txBody>
          <a:bodyPr wrap="square" anchor="t" lIns="45720" rIns="45720">
            <a:noAutofit/>
          </a:bodyPr>
          <a:lstStyle/>
          <a:p>
            <a:pPr algn="l"/>
            <a:r>
              <a:rPr lang="es-ES" sz="1300" dirty="0">
                <a:solidFill>
                  <a:srgbClr val="2F2B28"/>
                </a:solidFill>
              </a:rPr>
              <a:t>Diez reglas de medición, estados del importe, costes completos e índice de transformación.</a:t>
            </a:r>
          </a:p>
        </p:txBody>
      </p:sp>
      <p:sp>
        <p:nvSpPr>
          <p:cNvPr id="227" name="Caja 227"/>
          <p:cNvSpPr/>
          <p:nvPr/>
        </p:nvSpPr>
        <p:spPr>
          <a:xfrm>
            <a:off x="8929200" y="2050000"/>
            <a:ext cx="265320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D · Herramientas</a:t>
            </a:r>
          </a:p>
        </p:txBody>
      </p:sp>
      <p:sp>
        <p:nvSpPr>
          <p:cNvPr id="228" name="Caja 228"/>
          <p:cNvSpPr/>
          <p:nvPr/>
        </p:nvSpPr>
        <p:spPr>
          <a:xfrm>
            <a:off x="8929200" y="2790000"/>
            <a:ext cx="26532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9" name="Texto 229"/>
          <p:cNvSpPr txBox="1"/>
          <p:nvPr/>
        </p:nvSpPr>
        <p:spPr>
          <a:xfrm>
            <a:off x="8969200" y="2890000"/>
            <a:ext cx="2573200" cy="2340000"/>
          </a:xfrm>
          <a:prstGeom prst="rect">
            <a:avLst/>
          </a:prstGeom>
          <a:noFill/>
        </p:spPr>
        <p:txBody>
          <a:bodyPr wrap="square" anchor="t" lIns="45720" rIns="45720">
            <a:noAutofit/>
          </a:bodyPr>
          <a:lstStyle/>
          <a:p>
            <a:pPr algn="l"/>
            <a:r>
              <a:rPr lang="es-ES" sz="1300" dirty="0">
                <a:solidFill>
                  <a:srgbClr val="2F2B28"/>
                </a:solidFill>
              </a:rPr>
              <a:t>Registro T01, calculadoras, diagnóstico de madurez y panel del consejo: HTML sin servidor, datos en JSON, código MIT.</a:t>
            </a:r>
          </a:p>
        </p:txBody>
      </p:sp>
      <p:sp>
        <p:nvSpPr>
          <p:cNvPr id="230" name="Texto 230"/>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Si lo llama «SEVEN-G», respete sus seis reglas esenciales; si no, diga «adaptado de» e indique qué cambia.</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6" name="Marca"/>
          <p:cNvSpPr/>
          <p:nvPr/>
        </p:nvSpPr>
        <p:spPr>
          <a:xfrm>
            <a:off x="609600" y="365760"/>
            <a:ext cx="182880" cy="182880"/>
          </a:xfrm>
          <a:prstGeom prst="rect">
            <a:avLst/>
          </a:prstGeom>
          <a:solidFill>
            <a:srgbClr val="990F3D"/>
          </a:solidFill>
        </p:spPr>
        <p:txBody>
          <a:bodyPr/>
          <a:lstStyle/>
          <a:p/>
        </p:txBody>
      </p:sp>
      <p:sp>
        <p:nvSpPr>
          <p:cNvPr id="237" name="Texto 23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238" name="Texto 238"/>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Cómo encajarlo en su metodología</a:t>
            </a:r>
          </a:p>
        </p:txBody>
      </p:sp>
      <p:sp>
        <p:nvSpPr>
          <p:cNvPr id="235" name="Texto 235"/>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700" dirty="0">
                <a:solidFill>
                  <a:srgbClr val="2F2B28"/>
                </a:solidFill>
              </a:rPr>
              <a:t>Haga una tabla de correspondencias: sus etapas frente a las fases 0 a 7, sus comités frente a los órganos, sus entregables frente a las plantillas P.</a:t>
            </a:r>
          </a:p>
          <a:p>
            <a:pPr marL="285750" indent="-285750">
              <a:spcAft>
                <a:spcPts val="400"/>
              </a:spcAft>
              <a:buClr>
                <a:srgbClr val="990F3D"/>
              </a:buClr>
              <a:buFont typeface="Arial"/>
              <a:buChar char="•"/>
            </a:pPr>
            <a:r>
              <a:rPr lang="es-ES" sz="1700" dirty="0">
                <a:solidFill>
                  <a:srgbClr val="2F2B28"/>
                </a:solidFill>
              </a:rPr>
              <a:t>Conserve los códigos (G0–G7, P01–P74, T01–T22) o publique su equivalencia: sus clientes podrán contrastar con la fuente.</a:t>
            </a:r>
          </a:p>
          <a:p>
            <a:pPr marL="285750" indent="-285750">
              <a:spcAft>
                <a:spcPts val="400"/>
              </a:spcAft>
              <a:buClr>
                <a:srgbClr val="990F3D"/>
              </a:buClr>
              <a:buFont typeface="Arial"/>
              <a:buChar char="•"/>
            </a:pPr>
            <a:r>
              <a:rPr lang="es-ES" sz="1700" dirty="0">
                <a:solidFill>
                  <a:srgbClr val="2F2B28"/>
                </a:solidFill>
              </a:rPr>
              <a:t>Puede cambiar nombres, umbrales, plazos y pesos. No cambie lo que protege al cliente: separación de funciones, evidencia antes de decidir y estado de cada importe.</a:t>
            </a:r>
          </a:p>
          <a:p>
            <a:pPr marL="285750" indent="-285750">
              <a:spcAft>
                <a:spcPts val="400"/>
              </a:spcAft>
              <a:buClr>
                <a:srgbClr val="990F3D"/>
              </a:buClr>
              <a:buFont typeface="Arial"/>
              <a:buChar char="•"/>
            </a:pPr>
            <a:r>
              <a:rPr lang="es-ES" sz="1700" dirty="0">
                <a:solidFill>
                  <a:srgbClr val="2F2B28"/>
                </a:solidFill>
              </a:rPr>
              <a:t>Indique la versión de partida y sus cambios; cuando el marco evolucione, decida si actualiza y dígalo.</a:t>
            </a:r>
          </a:p>
          <a:p>
            <a:pPr marL="285750" indent="-285750">
              <a:spcAft>
                <a:spcPts val="400"/>
              </a:spcAft>
              <a:buClr>
                <a:srgbClr val="990F3D"/>
              </a:buClr>
              <a:buFont typeface="Arial"/>
              <a:buChar char="•"/>
            </a:pPr>
            <a:r>
              <a:rPr lang="es-ES" sz="1700" dirty="0">
                <a:solidFill>
                  <a:srgbClr val="2F2B28"/>
                </a:solidFill>
              </a:rPr>
              <a:t>En una obra que mezcla marcos debe quedar claro qué procede de SEVEN-G. Sus aportaciones puede licenciarlas como quiera, sin impedir la licencia del original.</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40" name="Marca"/>
          <p:cNvSpPr/>
          <p:nvPr/>
        </p:nvSpPr>
        <p:spPr>
          <a:xfrm>
            <a:off x="609600" y="365760"/>
            <a:ext cx="182880" cy="182880"/>
          </a:xfrm>
          <a:prstGeom prst="rect">
            <a:avLst/>
          </a:prstGeom>
          <a:solidFill>
            <a:srgbClr val="990F3D"/>
          </a:solidFill>
        </p:spPr>
        <p:txBody>
          <a:bodyPr/>
          <a:lstStyle/>
          <a:p/>
        </p:txBody>
      </p:sp>
      <p:sp>
        <p:nvSpPr>
          <p:cNvPr id="241" name="Texto 24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242" name="Texto 24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Integración técnica: datos y herramientas</a:t>
            </a:r>
          </a:p>
        </p:txBody>
      </p:sp>
      <p:sp>
        <p:nvSpPr>
          <p:cNvPr id="239" name="Texto 239"/>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700" dirty="0">
                <a:solidFill>
                  <a:srgbClr val="2F2B28"/>
                </a:solidFill>
              </a:rPr>
              <a:t>Un único modelo de datos para todo: el JSON del registro T01, con su esquema publicado. Se importa, se exporta y se fusiona por código de iniciativa.</a:t>
            </a:r>
          </a:p>
          <a:p>
            <a:pPr marL="285750" indent="-285750">
              <a:spcAft>
                <a:spcPts val="400"/>
              </a:spcAft>
              <a:buClr>
                <a:srgbClr val="990F3D"/>
              </a:buClr>
              <a:buFont typeface="Arial"/>
              <a:buChar char="•"/>
            </a:pPr>
            <a:r>
              <a:rPr lang="es-ES" sz="1700" dirty="0">
                <a:solidFill>
                  <a:srgbClr val="2F2B28"/>
                </a:solidFill>
              </a:rPr>
              <a:t>Puede alimentar ese JSON desde su propia plataforma (gestión de proyectos, GRC, CRM) y generar el panel del consejo con el conector de T17.</a:t>
            </a:r>
          </a:p>
          <a:p>
            <a:pPr marL="285750" indent="-285750">
              <a:spcAft>
                <a:spcPts val="400"/>
              </a:spcAft>
              <a:buClr>
                <a:srgbClr val="990F3D"/>
              </a:buClr>
              <a:buFont typeface="Arial"/>
              <a:buChar char="•"/>
            </a:pPr>
            <a:r>
              <a:rPr lang="es-ES" sz="1700" dirty="0">
                <a:solidFill>
                  <a:srgbClr val="2F2B28"/>
                </a:solidFill>
              </a:rPr>
              <a:t>Las herramientas son HTML sin servidor: se alojan donde quiera, con su marca junto al reconocimiento, y no envían datos a nadie.</a:t>
            </a:r>
          </a:p>
          <a:p>
            <a:pPr marL="285750" indent="-285750">
              <a:spcAft>
                <a:spcPts val="400"/>
              </a:spcAft>
              <a:buClr>
                <a:srgbClr val="990F3D"/>
              </a:buClr>
              <a:buFont typeface="Arial"/>
              <a:buChar char="•"/>
            </a:pPr>
            <a:r>
              <a:rPr lang="es-ES" sz="1700" dirty="0">
                <a:solidFill>
                  <a:srgbClr val="2F2B28"/>
                </a:solidFill>
              </a:rPr>
              <a:t>Las 74 plantillas se generan en Word desde Markdown: puede cambiar estilos y portada y regenerarlas con su imagen.</a:t>
            </a:r>
          </a:p>
          <a:p>
            <a:pPr marL="285750" indent="-285750">
              <a:spcAft>
                <a:spcPts val="400"/>
              </a:spcAft>
              <a:buClr>
                <a:srgbClr val="990F3D"/>
              </a:buClr>
              <a:buFont typeface="Arial"/>
              <a:buChar char="•"/>
            </a:pPr>
            <a:r>
              <a:rPr lang="es-ES" sz="1700" dirty="0">
                <a:solidFill>
                  <a:srgbClr val="2F2B28"/>
                </a:solidFill>
              </a:rPr>
              <a:t>Los esquemas nuevos solo añaden campos opcionales: los ficheros antiguos siguen funcionando.</a:t>
            </a:r>
          </a:p>
          <a:p>
            <a:pPr marL="285750" indent="-285750">
              <a:spcAft>
                <a:spcPts val="400"/>
              </a:spcAft>
              <a:buClr>
                <a:srgbClr val="990F3D"/>
              </a:buClr>
              <a:buFont typeface="Arial"/>
              <a:buChar char="•"/>
            </a:pPr>
            <a:r>
              <a:rPr lang="es-ES" sz="1700" dirty="0">
                <a:solidFill>
                  <a:srgbClr val="2F2B28"/>
                </a:solidFill>
              </a:rPr>
              <a:t>Los datos del cliente son del cliente: déjelos siempre en formato abierto.</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53" name="Marca"/>
          <p:cNvSpPr/>
          <p:nvPr/>
        </p:nvSpPr>
        <p:spPr>
          <a:xfrm>
            <a:off x="609600" y="365760"/>
            <a:ext cx="182880" cy="182880"/>
          </a:xfrm>
          <a:prstGeom prst="rect">
            <a:avLst/>
          </a:prstGeom>
          <a:solidFill>
            <a:srgbClr val="990F3D"/>
          </a:solidFill>
        </p:spPr>
        <p:txBody>
          <a:bodyPr/>
          <a:lstStyle/>
          <a:p/>
        </p:txBody>
      </p:sp>
      <p:sp>
        <p:nvSpPr>
          <p:cNvPr id="254" name="Texto 254"/>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255" name="Texto 255"/>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Cómo nombrarlo ante sus clientes</a:t>
            </a:r>
          </a:p>
        </p:txBody>
      </p:sp>
      <p:sp>
        <p:nvSpPr>
          <p:cNvPr id="256" name="Texto 256"/>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Decir con exactitud qué se ha usado es obligatorio; sugerir aval no está permitido</a:t>
            </a:r>
          </a:p>
        </p:txBody>
      </p:sp>
      <p:sp>
        <p:nvSpPr>
          <p:cNvPr id="243" name="Caja 243"/>
          <p:cNvSpPr/>
          <p:nvPr/>
        </p:nvSpPr>
        <p:spPr>
          <a:xfrm>
            <a:off x="609600" y="2050000"/>
            <a:ext cx="357760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Adecuado</a:t>
            </a:r>
          </a:p>
        </p:txBody>
      </p:sp>
      <p:sp>
        <p:nvSpPr>
          <p:cNvPr id="244" name="Caja 244"/>
          <p:cNvSpPr/>
          <p:nvPr/>
        </p:nvSpPr>
        <p:spPr>
          <a:xfrm>
            <a:off x="6096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45" name="Texto 245"/>
          <p:cNvSpPr txBox="1"/>
          <p:nvPr/>
        </p:nvSpPr>
        <p:spPr>
          <a:xfrm>
            <a:off x="649600" y="2890000"/>
            <a:ext cx="3497600" cy="2340000"/>
          </a:xfrm>
          <a:prstGeom prst="rect">
            <a:avLst/>
          </a:prstGeom>
          <a:noFill/>
        </p:spPr>
        <p:txBody>
          <a:bodyPr wrap="square" anchor="t" lIns="45720" rIns="45720">
            <a:noAutofit/>
          </a:bodyPr>
          <a:lstStyle/>
          <a:p>
            <a:pPr algn="l"/>
            <a:r>
              <a:rPr lang="es-ES" sz="1300" dirty="0">
                <a:solidFill>
                  <a:srgbClr val="2F2B28"/>
                </a:solidFill>
              </a:rPr>
              <a:t>«Basado en SEVEN-G (versión 0.80).»   «Adaptado de SEVEN-G; cambios: …»   «Incluye el registro de iniciativas de SEVEN-G (MIT).»   «Esta adaptación no está respaldada por el autor.»</a:t>
            </a:r>
          </a:p>
        </p:txBody>
      </p:sp>
      <p:sp>
        <p:nvSpPr>
          <p:cNvPr id="246" name="Caja 246"/>
          <p:cNvSpPr/>
          <p:nvPr/>
        </p:nvSpPr>
        <p:spPr>
          <a:xfrm>
            <a:off x="4307200" y="2050000"/>
            <a:ext cx="357760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No adecuado</a:t>
            </a:r>
          </a:p>
        </p:txBody>
      </p:sp>
      <p:sp>
        <p:nvSpPr>
          <p:cNvPr id="247" name="Caja 247"/>
          <p:cNvSpPr/>
          <p:nvPr/>
        </p:nvSpPr>
        <p:spPr>
          <a:xfrm>
            <a:off x="43072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48" name="Texto 248"/>
          <p:cNvSpPr txBox="1"/>
          <p:nvPr/>
        </p:nvSpPr>
        <p:spPr>
          <a:xfrm>
            <a:off x="4347200" y="2890000"/>
            <a:ext cx="3497600" cy="2340000"/>
          </a:xfrm>
          <a:prstGeom prst="rect">
            <a:avLst/>
          </a:prstGeom>
          <a:noFill/>
        </p:spPr>
        <p:txBody>
          <a:bodyPr wrap="square" anchor="t" lIns="45720" rIns="45720">
            <a:noAutofit/>
          </a:bodyPr>
          <a:lstStyle/>
          <a:p>
            <a:pPr algn="l"/>
            <a:r>
              <a:rPr lang="es-ES" sz="1300" dirty="0">
                <a:solidFill>
                  <a:srgbClr val="2F2B28"/>
                </a:solidFill>
              </a:rPr>
              <a:t>«Partner oficial», «homologado», «acreditado», «certificación SEVEN-G», o declarar en nombre de SEVEN-G o del autor que un cliente cumple la regulación.</a:t>
            </a:r>
          </a:p>
        </p:txBody>
      </p:sp>
      <p:sp>
        <p:nvSpPr>
          <p:cNvPr id="249" name="Caja 249"/>
          <p:cNvSpPr/>
          <p:nvPr/>
        </p:nvSpPr>
        <p:spPr>
          <a:xfrm>
            <a:off x="8004800" y="2050000"/>
            <a:ext cx="357760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Aviso que se conserva</a:t>
            </a:r>
          </a:p>
        </p:txBody>
      </p:sp>
      <p:sp>
        <p:nvSpPr>
          <p:cNvPr id="250" name="Caja 250"/>
          <p:cNvSpPr/>
          <p:nvPr/>
        </p:nvSpPr>
        <p:spPr>
          <a:xfrm>
            <a:off x="80048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51" name="Texto 251"/>
          <p:cNvSpPr txBox="1"/>
          <p:nvPr/>
        </p:nvSpPr>
        <p:spPr>
          <a:xfrm>
            <a:off x="8044800" y="2890000"/>
            <a:ext cx="3497600" cy="2340000"/>
          </a:xfrm>
          <a:prstGeom prst="rect">
            <a:avLst/>
          </a:prstGeom>
          <a:noFill/>
        </p:spPr>
        <p:txBody>
          <a:bodyPr wrap="square" anchor="t" lIns="45720" rIns="45720">
            <a:noAutofit/>
          </a:bodyPr>
          <a:lstStyle/>
          <a:p>
            <a:pPr algn="l"/>
            <a:r>
              <a:rPr lang="es-ES" sz="1300" dirty="0">
                <a:solidFill>
                  <a:srgbClr val="2F2B28"/>
                </a:solidFill>
              </a:rPr>
              <a:t>«Basado en SEVEN-G (Fernando García Varela, CC BY 4.0). Contenido orientativo, «tal cual», sin garantías; no es asesoramiento jurídico. El autor no valida ni respalda esta obra.»</a:t>
            </a:r>
          </a:p>
        </p:txBody>
      </p:sp>
      <p:sp>
        <p:nvSpPr>
          <p:cNvPr id="252" name="Texto 252"/>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Documento 93, secciones 6, 7, 8 y 11.9.</a:t>
            </a: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58" name="Marca"/>
          <p:cNvSpPr/>
          <p:nvPr/>
        </p:nvSpPr>
        <p:spPr>
          <a:xfrm>
            <a:off x="609600" y="365760"/>
            <a:ext cx="182880" cy="182880"/>
          </a:xfrm>
          <a:prstGeom prst="rect">
            <a:avLst/>
          </a:prstGeom>
          <a:solidFill>
            <a:srgbClr val="990F3D"/>
          </a:solidFill>
        </p:spPr>
        <p:txBody>
          <a:bodyPr/>
          <a:lstStyle/>
          <a:p/>
        </p:txBody>
      </p:sp>
      <p:sp>
        <p:nvSpPr>
          <p:cNvPr id="259" name="Texto 25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PARTNER · INTEGRARLO EN SU METODOLOGÍA</a:t>
            </a:r>
          </a:p>
        </p:txBody>
      </p:sp>
      <p:sp>
        <p:nvSpPr>
          <p:cNvPr id="260" name="Texto 26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Mantenerse al día y mejorar el marco</a:t>
            </a:r>
          </a:p>
        </p:txBody>
      </p:sp>
      <p:sp>
        <p:nvSpPr>
          <p:cNvPr id="257" name="Texto 257"/>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El sitio publica la versión del marco y el control de versiones de cada documento: revise los cambios antes de actualizar su adaptación.</a:t>
            </a:r>
          </a:p>
          <a:p>
            <a:pPr marL="285750" indent="-285750">
              <a:spcAft>
                <a:spcPts val="400"/>
              </a:spcAft>
              <a:buClr>
                <a:srgbClr val="990F3D"/>
              </a:buClr>
              <a:buFont typeface="Arial"/>
              <a:buChar char="•"/>
            </a:pPr>
            <a:r>
              <a:rPr lang="es-ES" sz="1800" dirty="0">
                <a:solidFill>
                  <a:srgbClr val="2F2B28"/>
                </a:solidFill>
              </a:rPr>
              <a:t>Incidencias y peticiones de mejora: en la página de comunidad, sin cuenta ni correo; se abordan las peticiones con más votos.</a:t>
            </a:r>
          </a:p>
          <a:p>
            <a:pPr marL="285750" indent="-285750">
              <a:spcAft>
                <a:spcPts val="400"/>
              </a:spcAft>
              <a:buClr>
                <a:srgbClr val="990F3D"/>
              </a:buClr>
              <a:buFont typeface="Arial"/>
              <a:buChar char="•"/>
            </a:pPr>
            <a:r>
              <a:rPr lang="es-ES" sz="1800" dirty="0">
                <a:solidFill>
                  <a:srgbClr val="2F2B28"/>
                </a:solidFill>
              </a:rPr>
              <a:t>Una traducción suya es una obra derivada: indique que no es oficial, de qué versión procede y quién la ha hecho.</a:t>
            </a:r>
          </a:p>
          <a:p>
            <a:pPr marL="285750" indent="-285750">
              <a:spcAft>
                <a:spcPts val="400"/>
              </a:spcAft>
              <a:buClr>
                <a:srgbClr val="990F3D"/>
              </a:buClr>
              <a:buFont typeface="Arial"/>
              <a:buChar char="•"/>
            </a:pPr>
            <a:r>
              <a:rPr lang="es-ES" sz="1800" dirty="0">
                <a:solidFill>
                  <a:srgbClr val="2F2B28"/>
                </a:solidFill>
              </a:rPr>
              <a:t>Si quiere algo que la licencia no da —un desarrollo a medida, formación para su equipo, acuerdo sobre el uso de la marca—, hable con el autor. Esa conversación la inicia usted.</a:t>
            </a:r>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61" name="Texto 261"/>
          <p:cNvSpPr txBox="1"/>
          <p:nvPr/>
        </p:nvSpPr>
        <p:spPr>
          <a:xfrm>
            <a:off x="609600" y="2300000"/>
            <a:ext cx="10972800" cy="900000"/>
          </a:xfrm>
          <a:prstGeom prst="rect">
            <a:avLst/>
          </a:prstGeom>
          <a:noFill/>
        </p:spPr>
        <p:txBody>
          <a:bodyPr wrap="square" anchor="t" lIns="45720" rIns="45720">
            <a:noAutofit/>
          </a:bodyPr>
          <a:lstStyle/>
          <a:p>
            <a:pPr algn="ctr"/>
            <a:r>
              <a:rPr lang="es-ES" sz="4400" b="1" dirty="0">
                <a:solidFill>
                  <a:srgbClr val="1A1817"/>
                </a:solidFill>
              </a:rPr>
              <a:t>Gracias</a:t>
            </a:r>
          </a:p>
        </p:txBody>
      </p:sp>
      <p:sp>
        <p:nvSpPr>
          <p:cNvPr id="262" name="Texto 262"/>
          <p:cNvSpPr txBox="1"/>
          <p:nvPr/>
        </p:nvSpPr>
        <p:spPr>
          <a:xfrm>
            <a:off x="609600" y="3350000"/>
            <a:ext cx="10972800" cy="900000"/>
          </a:xfrm>
          <a:prstGeom prst="rect">
            <a:avLst/>
          </a:prstGeom>
          <a:noFill/>
        </p:spPr>
        <p:txBody>
          <a:bodyPr wrap="square" anchor="t" lIns="45720" rIns="45720">
            <a:noAutofit/>
          </a:bodyPr>
          <a:lstStyle/>
          <a:p>
            <a:pPr algn="ctr"/>
            <a:r>
              <a:rPr lang="es-ES" sz="1900" dirty="0">
                <a:solidFill>
                  <a:srgbClr val="2F2B28"/>
                </a:solidFill>
              </a:rPr>
              <a:t>SEVEN-G es gratuito: se usa, se descarga y se adapta sin registrarse, y el sitio nunca le escribirá. Si quiere hablar con el autor, la iniciativa es suya.</a:t>
            </a:r>
          </a:p>
        </p:txBody>
      </p:sp>
      <p:sp>
        <p:nvSpPr>
          <p:cNvPr id="263" name="Texto 263"/>
          <p:cNvSpPr txBox="1"/>
          <p:nvPr/>
        </p:nvSpPr>
        <p:spPr>
          <a:xfrm>
            <a:off x="609600" y="4350000"/>
            <a:ext cx="10972800" cy="500000"/>
          </a:xfrm>
          <a:prstGeom prst="rect">
            <a:avLst/>
          </a:prstGeom>
          <a:noFill/>
        </p:spPr>
        <p:txBody>
          <a:bodyPr wrap="square" anchor="t" lIns="45720" rIns="45720">
            <a:noAutofit/>
          </a:bodyPr>
          <a:lstStyle/>
          <a:p>
            <a:pPr algn="ctr"/>
            <a:r>
              <a:rPr lang="es-ES" sz="1600" dirty="0">
                <a:solidFill>
                  <a:srgbClr val="564D47"/>
                </a:solidFill>
              </a:rPr>
              <a:t>SEVEN-G es una marca registrada de Fernando García Varela · CC BY 4.0 (contenidos) · MIT (código)</a:t>
            </a:r>
          </a:p>
        </p:txBody>
      </p:sp>
      <p:sp>
        <p:nvSpPr>
          <p:cNvPr id="264" name="Texto 264"/>
          <p:cNvSpPr txBox="1"/>
          <p:nvPr/>
        </p:nvSpPr>
        <p:spPr>
          <a:xfrm>
            <a:off x="609600" y="4950000"/>
            <a:ext cx="10972800" cy="500000"/>
          </a:xfrm>
          <a:prstGeom prst="rect">
            <a:avLst/>
          </a:prstGeom>
          <a:noFill/>
        </p:spPr>
        <p:txBody>
          <a:bodyPr wrap="square" anchor="t" lIns="45720" rIns="45720">
            <a:noAutofit/>
          </a:bodyPr>
          <a:lstStyle/>
          <a:p>
            <a:pPr algn="ctr"/>
            <a:r>
              <a:rPr lang="es-ES" sz="1700" dirty="0">
                <a:solidFill>
                  <a:srgbClr val="0F5499"/>
                </a:solidFill>
              </a:rPr>
              <a:t>https://www.linkedin.com/in/fernandogarciavarela/</a:t>
            </a:r>
          </a:p>
        </p:txBody>
      </p:sp>
      <p:sp>
        <p:nvSpPr>
          <p:cNvPr id="265" name="Texto 265"/>
          <p:cNvSpPr txBox="1"/>
          <p:nvPr/>
        </p:nvSpPr>
        <p:spPr>
          <a:xfrm>
            <a:off x="609600" y="5550000"/>
            <a:ext cx="10972800" cy="1000000"/>
          </a:xfrm>
          <a:prstGeom prst="rect">
            <a:avLst/>
          </a:prstGeom>
          <a:noFill/>
        </p:spPr>
        <p:txBody>
          <a:bodyPr wrap="square" anchor="t" lIns="45720" rIns="45720">
            <a:noAutofit/>
          </a:bodyPr>
          <a:lstStyle/>
          <a:p>
            <a:pPr algn="ctr"/>
            <a:r>
              <a:rPr lang="es-ES" sz="1000" dirty="0">
                <a:solidFill>
                  <a:srgbClr val="564D47"/>
                </a:solidFill>
              </a:rPr>
              <a:t>Aviso legal: ayuda metodológica genérica y gratuita, «tal cual» y con fines informativos; no es asesoramiento jurídico ni está revisada jurídicamente para ningún caso. Cada organización la adapta y es responsable de su revisión legal y de su cumplimiento regulatorio; puede no recoger cambios normativos recientes. En la máxima medida permitida por la ley, el autor no asume responsabilidad alguna por los efectos de su aplicación. No otorga certificación de ningún tipo. Detalle en el documento 93.</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SEVEN-G">
  <a:themeElements>
    <a:clrScheme name="SEVEN-G">
      <a:dk1>
        <a:srgbClr val="1A1817"/>
      </a:dk1>
      <a:lt1>
        <a:srgbClr val="FBE2CD"/>
      </a:lt1>
      <a:dk2>
        <a:srgbClr val="2F2B28"/>
      </a:dk2>
      <a:lt2>
        <a:srgbClr val="FFFFFF"/>
      </a:lt2>
      <a:accent1>
        <a:srgbClr val="990F3D"/>
      </a:accent1>
      <a:accent2>
        <a:srgbClr val="0F5499"/>
      </a:accent2>
      <a:accent3>
        <a:srgbClr val="0D7680"/>
      </a:accent3>
      <a:accent4>
        <a:srgbClr val="593380"/>
      </a:accent4>
      <a:accent5>
        <a:srgbClr val="A5822A"/>
      </a:accent5>
      <a:accent6>
        <a:srgbClr val="71645B"/>
      </a:accent6>
      <a:hlink>
        <a:srgbClr val="0F5499"/>
      </a:hlink>
      <a:folHlink>
        <a:srgbClr val="593380"/>
      </a:folHlink>
    </a:clrScheme>
    <a:fontScheme name="SEVEN-G">
      <a:majorFont>
        <a:latin typeface="Georgia"/>
        <a:ea typeface=""/>
        <a:cs typeface=""/>
      </a:majorFont>
      <a:minorFont>
        <a:latin typeface="Arial"/>
        <a:ea typeface=""/>
        <a:cs typeface=""/>
      </a:minorFont>
    </a:fontScheme>
    <a:fmtScheme name="SEVEN-G">
      <a:fillStyleLst>
        <a:solidFill>
          <a:schemeClr val="accent1"/>
        </a:solidFill>
        <a:solidFill>
          <a:schemeClr val="accent1"/>
        </a:solidFill>
        <a:solidFill>
          <a:schemeClr val="accent1"/>
        </a:solidFill>
      </a:fillStyleLst>
      <a:lnStyleLst>
        <a:ln>
          <a:solidFill>
            <a:schemeClr val="accent1"/>
          </a:solidFill>
        </a:ln>
        <a:ln>
          <a:solidFill>
            <a:schemeClr val="accent1"/>
          </a:solidFill>
        </a:ln>
        <a:ln>
          <a:solidFill>
            <a:schemeClr val="accent1"/>
          </a:solidFill>
        </a:ln>
      </a:lnStyleLst>
      <a:effectStyleLst>
        <a:effectStyle>
          <a:effectLst/>
        </a:effectStyle>
        <a:effectStyle>
          <a:effectLst/>
        </a:effectStyle>
        <a:effectStyle>
          <a:effectLst/>
        </a:effectStyle>
      </a:effectStyleLst>
      <a:bgFillStyleLst>
        <a:solidFill>
          <a:schemeClr val="lt1"/>
        </a:solidFill>
        <a:solidFill>
          <a:schemeClr val="lt1"/>
        </a:solidFill>
        <a:solidFill>
          <a:schemeClr val="lt1"/>
        </a:solidFill>
      </a:bgFillStyleLst>
    </a:fmtScheme>
  </a:themeElements>
</a:theme>
</file>

<file path=docProps/app.xml><?xml version="1.0" encoding="utf-8"?>
<Properties xmlns="http://schemas.openxmlformats.org/officeDocument/2006/extended-properties">
  <Application>SEVEN-G build</Application>
  <Slides>27</Slides>
  <Company>Fernando García Varela</Company>
</Properties>
</file>

<file path=docProps/core.xml><?xml version="1.0" encoding="utf-8"?>
<cp:coreProperties xmlns:cp="http://schemas.openxmlformats.org/package/2006/metadata/core-properties" xmlns:dc="http://purl.org/dc/elements/1.1/" xmlns:dcterms="http://purl.org/dc/terms/" xmlns:xsi="http://www.w3.org/2001/XMLSchema-instance">
  <dc:title>Curso de SEVEN-G para el partner</dc:title>
  <dc:creator>Fernando García Varela</dc:creator>
  <cp:lastModifiedBy>SEVEN-G build</cp:lastModifiedBy>
  <dcterms:created xsi:type="dcterms:W3CDTF">2026-01-01T00:00:00Z</dcterms:created>
  <dcterms:modified xsi:type="dcterms:W3CDTF">2026-01-01T00:00:00Z</dcterms:modified>
</cp:coreProperties>
</file>
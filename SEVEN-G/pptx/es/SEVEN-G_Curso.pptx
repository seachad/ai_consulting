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1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1" Type="http://schemas.openxmlformats.org/officeDocument/2006/relationships/slideMaster" Target="slideMasters/slideMaster1.xml"/><Relationship Id="rIdT1" Type="http://schemas.openxmlformats.org/officeDocument/2006/relationships/theme" Target="theme/theme1.xml"/><Relationship Id="rIdS1" Type="http://schemas.openxmlformats.org/officeDocument/2006/relationships/slide" Target="slides/slide1.xml"/>
<Relationship Id="rIdS2" Type="http://schemas.openxmlformats.org/officeDocument/2006/relationships/slide" Target="slides/slide2.xml"/>
<Relationship Id="rIdS3" Type="http://schemas.openxmlformats.org/officeDocument/2006/relationships/slide" Target="slides/slide3.xml"/>
<Relationship Id="rIdS4" Type="http://schemas.openxmlformats.org/officeDocument/2006/relationships/slide" Target="slides/slide4.xml"/>
<Relationship Id="rIdS5" Type="http://schemas.openxmlformats.org/officeDocument/2006/relationships/slide" Target="slides/slide5.xml"/>
<Relationship Id="rIdS6" Type="http://schemas.openxmlformats.org/officeDocument/2006/relationships/slide" Target="slides/slide6.xml"/>
<Relationship Id="rIdS7" Type="http://schemas.openxmlformats.org/officeDocument/2006/relationships/slide" Target="slides/slide7.xml"/>
<Relationship Id="rIdS8" Type="http://schemas.openxmlformats.org/officeDocument/2006/relationships/slide" Target="slides/slide8.xml"/>
<Relationship Id="rIdS9" Type="http://schemas.openxmlformats.org/officeDocument/2006/relationships/slide" Target="slides/slide9.xml"/>
<Relationship Id="rIdS10" Type="http://schemas.openxmlformats.org/officeDocument/2006/relationships/slide" Target="slides/slide10.xml"/>
<Relationship Id="rIdS11" Type="http://schemas.openxmlformats.org/officeDocument/2006/relationships/slide" Target="slides/slide11.xml"/>
<Relationship Id="rIdS12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"/>
          <p:cNvSpPr/>
          <p:nvPr/>
        </p:nvSpPr>
        <p:spPr>
          <a:xfrm>
            <a:off x="609600" y="609600"/>
            <a:ext cx="182880" cy="182880"/>
          </a:xfrm>
          <a:prstGeom prst="rect">
            <a:avLst/>
          </a:prstGeom>
          <a:solidFill>
            <a:srgbClr val="990F3D"/>
          </a:solidFill>
        </p:spPr>
        <p:txBody>
          <a:bodyPr/>
          <a:lstStyle/>
          <a:p/>
        </p:txBody>
      </p:sp>
      <p:sp>
        <p:nvSpPr>
          <p:cNvPr id="2" name="Texto 2"/>
          <p:cNvSpPr txBox="1"/>
          <p:nvPr/>
        </p:nvSpPr>
        <p:spPr>
          <a:xfrm>
            <a:off x="609600" y="1600200"/>
            <a:ext cx="10972800" cy="1600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5400" b="1" dirty="0">
                <a:solidFill>
                  <a:srgbClr val="1A1817"/>
                </a:solidFill>
              </a:rPr>
              <a:t>Curso de SEVEN-G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32004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s-ES" sz="2400" dirty="0">
                <a:solidFill>
                  <a:srgbClr val="2F2B28"/>
                </a:solidFill>
              </a:rPr>
              <a:t>Curso de autoaprendizaje: qué es, cómo se usa y cómo moverse por el sitio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6100000"/>
            <a:ext cx="109728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s-ES" sz="1600" dirty="0">
                <a:solidFill>
                  <a:srgbClr val="0F5499"/>
                </a:solidFill>
              </a:rPr>
              <a:t>SEVEN-G · Fernando García Varela · CC BY 4.0 (contenidos) · MIT (código)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00 · Curso de SEVEN-G · Guía del curso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01 · Navegar por el sitio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145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Objetivo: </a:t>
            </a:r>
            <a:r>
              <a:rPr lang="es-ES" sz="1800" dirty="0">
                <a:solidFill>
                  <a:srgbClr val="2F2B28"/>
                </a:solidFill>
              </a:rPr>
              <a:t>Al terminar sabrá encontrar cualquier documento, plantilla o herramienta, buscar un término, descargar un PDF o una plantilla en Word, cambiar de idioma y reconocer los códigos del marco.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El sitio es una biblioteca, no un libro. Nadie la lee de principio a fin: se entra por el documento 00, por el índice o por este curso, y se salta de enlace en enlace.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Todo está enlazado. Cuando un texto cita un documento, una plantilla (P) o una herramienta (T), la cita es un enlace.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Cada página tiene las mismas ayudas: barra de herramientas arriba, zona de descargas bajo la portada y recuadro «Lo esencial» tras el aviso legal.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Español e inglés son equivalentes: mismo contenido, misma estructura, mismo nombre de fichero.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02 · Qué es SEVEN-G y qué problema resuelve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145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Objetivo: </a:t>
            </a:r>
            <a:r>
              <a:rPr lang="es-ES" sz="1800" dirty="0">
                <a:solidFill>
                  <a:srgbClr val="2F2B28"/>
                </a:solidFill>
              </a:rPr>
              <a:t>Al terminar sabrá explicar en dos minutos qué es SEVEN-G, qué problema resuelve, de qué piezas se compone y en qué se diferencia de la forma habitual de adoptar la IA.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Los problemas de la IA en la empresa no son tecnológicos: son de gobierno y de medición. Muchos pilotos y pocos casos en producción, valor declarado y no validado, nadie que pueda parar un proyecto.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Dos niveles. La compañía decide y supervisa en un ciclo corporativo (C1–C5); cada iniciativa recorre un ciclo de vida de ocho fases con puertas de decisión.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Cuatro componentes: un mapa de impacto (esferas y ambición), un sistema de gobierno, un sistema de medición y unas herramientas.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Una pregunta: ¿la compañía se está transformando con IA o solo está siendo más eficiente? Las dos cosas son legítimas; el problema es confundirlas.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03 · Esferas y niveles de ambición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145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Objetivo: </a:t>
            </a:r>
            <a:r>
              <a:rPr lang="es-ES" sz="1800" dirty="0">
                <a:solidFill>
                  <a:srgbClr val="2F2B28"/>
                </a:solidFill>
              </a:rPr>
              <a:t>Al terminar sabrá situar cualquier iniciativa de IA en una esfera y en un nivel de ambición, y entenderá por qué esa clasificación cambia los criterios con los que se la juzga.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Nueve esferas. Siete donde se genera valor o se habilita (cliente, producto y servicio, personas, operaciones, datos, conocimiento, decisión), una de límites (regulación, ética y responsabilidad) y una meta-esfera (gobierno de la IA).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Tres niveles de ambición: Optimizar (hacer lo mismo mejor), Aumentar (hacer más de lo que se podía) y Transformar (hacer algo que antes no era posible o cambiar el modelo).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La clasificación tiene consecuencias. Transformar implica siempre intensidad Enterprise y aprobación del consejo; a cambio, no se le exige el retorno inmediato de un proyecto de eficiencia.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Se clasifica con reglas, no con entusiasmo. La ambición se propone en la fase 1, se confirma en la 2 y se comprueba con lo que ocurre en producción.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04 · Ciclo de vida, puertas y embudo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145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Objetivo: </a:t>
            </a:r>
            <a:r>
              <a:rPr lang="es-ES" sz="1800" dirty="0">
                <a:solidFill>
                  <a:srgbClr val="2F2B28"/>
                </a:solidFill>
              </a:rPr>
              <a:t>Al terminar sabrá decir en qué fase está una iniciativa, qué se le pide para superar su puerta, qué puede decidir el órgano competente y cómo se lee la cartera en el registro de iniciativas.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Ocho fases y una puerta al final de cada una. En la fase 6 (operación) la puerta es una revisión periódica de continuidad, R6.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Validación dual. Una puerta comprueba a la vez el resultado y la documentación. Sin evidencia verificada no hay decisión.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Cinco resultados: continuar, continuar con condiciones, iterar, pivotar o parar. En G7: escalar, iterar o retirar. Parar es un buen resultado cuando evita construir algo inviable; G3 es la principal puerta de parada.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La cartera es un embudo. Como en ventas, se registran etapas, tiempos, requisitos y motivos de pérdida. A diferencia de ventas, no se busca convertir más, sino decidir bien.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05 · Gobierno y riesgo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145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Objetivo: </a:t>
            </a:r>
            <a:r>
              <a:rPr lang="es-ES" sz="1800" dirty="0">
                <a:solidFill>
                  <a:srgbClr val="2F2B28"/>
                </a:solidFill>
              </a:rPr>
              <a:t>Al terminar sabrá explicar la separación de funciones del marco, asignar los roles de una iniciativa sin incompatibilidades y leer un registro de riesgos: nivel inherente, residual y órgano que puede aceptarlo.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Nadie se aprueba a sí mismo. Quien construye no verifica ni decide su propio trabajo; la conformidad de riesgos es independiente del equipo; el consejo aprueba la dirección y el apetito de riesgo.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No hace falta crear órganos nuevos. En una compañía mediana bastan el comité de dirección con un punto mensual de IA, una oficina de IA de una persona y un auditor independiente para las iniciativas Enterprise.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Riesgo = probabilidad × impacto, de 1 a 25, en cuatro niveles. Se valora antes de los controles (inherente) y después (residual).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Cada nivel tiene su órgano de aceptación. Un riesgo residual Crítico solo lo acepta el consejo; sin esa aprobación, bloquea G3 y G5.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06 · Medir el valor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145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Objetivo: </a:t>
            </a:r>
            <a:r>
              <a:rPr lang="es-ES" sz="1800" dirty="0">
                <a:solidFill>
                  <a:srgbClr val="2F2B28"/>
                </a:solidFill>
              </a:rPr>
              <a:t>Al terminar sabrá distinguir valor validado, declarado y estimado, calcular el valor neto anual de un caso y explicar por qué la capacidad liberada no es un ahorro hasta que se materializa.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Todo importe lleva fórmula y estado. Validado (comprobado por un tercero con datos reales), declarado (lo afirma el área) o estimado (previsión). Solo el validado llega al neto de la cartera.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Valor neto anual = eficiencias + retorno − coste recurrente. Sin coste recurrente completo, la cifra no vale.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Las horas liberadas no son dinero. Solo suman si evitan un coste presupuestado; si se reasignan, cuenta el resultado de la actividad de destino.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Un único criterio económico de viabilidad: VAN ≥ 0 con el horizonte y la tasa que fijó el consejo en C2. El ROI y el plazo de recuperación informan; no deciden.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07 · Transformación o eficiencia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145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Objetivo: </a:t>
            </a:r>
            <a:r>
              <a:rPr lang="es-ES" sz="1800" dirty="0">
                <a:solidFill>
                  <a:srgbClr val="2F2B28"/>
                </a:solidFill>
              </a:rPr>
              <a:t>Al terminar sabrá leer el índice de transformación de una compañía, explicar sus cinco perfiles y reconocer una «transformación declarada, no evidenciada».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Eficiencia y transformación son legítimas las dos. El problema es llamar transformación a una cartera de automatizaciones, o bloquear una transformación con criterios de recorte de costes.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El índice no opina: mira evidencias. Tres condiciones de base y ocho señales observables —dónde va la inversión, qué llega a producción, qué capacidad se reasigna, qué ingresos dependen de la IA, qué decide el consejo—, puntuadas de 0 a 3.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«Sin dato» no es evidencia. Puntúa cero y se muestra como sin dato: la cobertura del índice es parte del diagnóstico.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Cinco perfiles: exploración dispersa, eficiencia táctica, eficiencia a escala, transformación en curso y transformación declarada, no evidenciada.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08 · El consejo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145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Objetivo: </a:t>
            </a:r>
            <a:r>
              <a:rPr lang="es-ES" sz="1800" dirty="0">
                <a:solidFill>
                  <a:srgbClr val="2F2B28"/>
                </a:solidFill>
              </a:rPr>
              <a:t>Al terminar sabrá qué decisiones sobre IA corresponden al consejo, cómo se le presenta la información y cómo se registra y se sigue lo que decide.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El consejo no aprueba proyectos técnicos: toma decisiones de negocio. Aprueba la tesis de IA, la ambición por esfera, el apetito de riesgo y los umbrales (C2); aprueba las apuestas de Transformar; supervisa cada trimestre.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Lenguaje de negocio y respuestas claras: «sí», «sí, con una condición», «todavía no, porque falta…» o «no, porque…».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Pocas cifras y defendibles. Siempre con su estado —validado, declarado o estimado— y como máximo tres casos en detalle por sesión.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Lo decidido se registra y se sigue. Cada decisión y cada recomendación tiene identificador, responsable, plazo y estado.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365760"/>
            <a:ext cx="10972800" cy="1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s-ES" sz="3200" b="1" dirty="0">
                <a:solidFill>
                  <a:srgbClr val="990F3D"/>
                </a:solidFill>
              </a:rPr>
              <a:t>09 · Implantar por capas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145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Objetivo: </a:t>
            </a:r>
            <a:r>
              <a:rPr lang="es-ES" sz="1800" dirty="0">
                <a:solidFill>
                  <a:srgbClr val="2F2B28"/>
                </a:solidFill>
              </a:rPr>
              <a:t>Al terminar sabrá elegir el alcance de implantación de su compañía, distinguir lo obligatorio de lo proporcional y preparar el arranque de un plan de 90 días.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2450000"/>
            <a:ext cx="10972800" cy="4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s-ES" sz="1800" b="1" dirty="0">
                <a:solidFill>
                  <a:srgbClr val="1A1817"/>
                </a:solidFill>
              </a:rPr>
              <a:t>Ideas clave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Dos decisiones de proporcionalidad distintas. La intensidad (Lite o Enterprise) es de cada iniciativa; el alcance de implantación (Lite o Enterprise) es de la compañía. El tamaño no decide ninguna de las dos.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Una sola biblioteca, tres capas. Esencial (lo que aplica toda compañía), condicional (lo que activa un disparador) y completa (guías y consulta). No hay versiones reducidas de los documentos.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Ninguna fase ni puerta se salta. En Lite se agrupan —G0 a G2 en una sesión, G4 y G5 en otra— y las evidencias se simplifican. G3 va siempre por separado.</a:t>
            </a:r>
          </a:p>
          <a:p>
            <a:pPr marL="285750" indent="-285750">
              <a:buFont typeface="Arial"/>
              <a:buChar char="•"/>
            </a:pPr>
            <a:r>
              <a:rPr lang="es-ES" sz="1700" dirty="0">
                <a:solidFill>
                  <a:srgbClr val="2F2B28"/>
                </a:solidFill>
              </a:rPr>
              <a:t>Noventa días para tener diagnóstico, dirección y primera cartera, sin moratoria: la actividad de IA continúa mientras se implanta el marco.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2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609600" y="2400000"/>
            <a:ext cx="10972800" cy="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s-ES" sz="3200" b="1" dirty="0">
                <a:solidFill>
                  <a:srgbClr val="1A1817"/>
                </a:solidFill>
              </a:rPr>
              <a:t>Gracias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609600" y="3400000"/>
            <a:ext cx="109728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s-ES" sz="1800" dirty="0">
                <a:solidFill>
                  <a:srgbClr val="2F2B28"/>
                </a:solidFill>
              </a:rPr>
              <a:t>Curso de autoaprendizaje: qué es, cómo se usa y cómo moverse por el sitio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609600" y="4100000"/>
            <a:ext cx="109728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s-ES" sz="1800" dirty="0">
                <a:solidFill>
                  <a:srgbClr val="0F5499"/>
                </a:solidFill>
              </a:rPr>
              <a:t>https://www.linkedin.com/in/fernandogarciavarela/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EVEN-G">
  <a:themeElements>
    <a:clrScheme name="SEVEN-G">
      <a:dk1>
        <a:srgbClr val="1A1817"/>
      </a:dk1>
      <a:lt1>
        <a:srgbClr val="FBE2CD"/>
      </a:lt1>
      <a:dk2>
        <a:srgbClr val="2F2B28"/>
      </a:dk2>
      <a:lt2>
        <a:srgbClr val="FFFFFF"/>
      </a:lt2>
      <a:accent1>
        <a:srgbClr val="990F3D"/>
      </a:accent1>
      <a:accent2>
        <a:srgbClr val="0F5499"/>
      </a:accent2>
      <a:accent3>
        <a:srgbClr val="0D7680"/>
      </a:accent3>
      <a:accent4>
        <a:srgbClr val="593380"/>
      </a:accent4>
      <a:accent5>
        <a:srgbClr val="A5822A"/>
      </a:accent5>
      <a:accent6>
        <a:srgbClr val="71645B"/>
      </a:accent6>
      <a:hlink>
        <a:srgbClr val="0F5499"/>
      </a:hlink>
      <a:folHlink>
        <a:srgbClr val="593380"/>
      </a:folHlink>
    </a:clrScheme>
    <a:fontScheme name="SEVEN-G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EVEN-G">
      <a:fillStyleLst>
        <a:solidFill>
          <a:schemeClr val="accent1"/>
        </a:solidFill>
        <a:solidFill>
          <a:schemeClr val="accent1"/>
        </a:solidFill>
        <a:solidFill>
          <a:schemeClr val="accent1"/>
        </a:solidFill>
      </a:fillStyleLst>
      <a:lnStyleLst>
        <a:ln>
          <a:solidFill>
            <a:schemeClr val="accent1"/>
          </a:solidFill>
        </a:ln>
        <a:ln>
          <a:solidFill>
            <a:schemeClr val="accent1"/>
          </a:solidFill>
        </a:ln>
        <a:ln>
          <a:solidFill>
            <a:schemeClr val="accent1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1"/>
        </a:solidFill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SEVEN-G build</Application>
  <Slides>12</Slides>
  <Company>Fernando García Varela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Curso de SEVEN-G</dc:title>
  <dc:creator>Fernando García Varela</dc:creator>
  <cp:lastModifiedBy>SEVEN-G build</cp:lastModifiedBy>
  <dcterms:created xsi:type="dcterms:W3CDTF">2026-01-01T00:00:00Z</dcterms:created>
  <dcterms:modified xsi:type="dcterms:W3CDTF">2026-01-01T00:00:00Z</dcterms:modified>
</cp:coreProperties>
</file>
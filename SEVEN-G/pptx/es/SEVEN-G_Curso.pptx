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
<Relationship Id="rIdS2" Type="http://schemas.openxmlformats.org/officeDocument/2006/relationships/slide" Target="slides/slide2.xml"/>
<Relationship Id="rIdS3" Type="http://schemas.openxmlformats.org/officeDocument/2006/relationships/slide" Target="slides/slide3.xml"/>
<Relationship Id="rIdS4" Type="http://schemas.openxmlformats.org/officeDocument/2006/relationships/slide" Target="slides/slide4.xml"/>
<Relationship Id="rIdS5" Type="http://schemas.openxmlformats.org/officeDocument/2006/relationships/slide" Target="slides/slide5.xml"/>
<Relationship Id="rIdS6" Type="http://schemas.openxmlformats.org/officeDocument/2006/relationships/slide" Target="slides/slide6.xml"/>
<Relationship Id="rIdS7" Type="http://schemas.openxmlformats.org/officeDocument/2006/relationships/slide" Target="slides/slide7.xml"/>
<Relationship Id="rIdS8" Type="http://schemas.openxmlformats.org/officeDocument/2006/relationships/slide" Target="slides/slide8.xml"/>
<Relationship Id="rIdS9" Type="http://schemas.openxmlformats.org/officeDocument/2006/relationships/slide" Target="slides/slide9.xml"/>
<Relationship Id="rIdS10" Type="http://schemas.openxmlformats.org/officeDocument/2006/relationships/slide" Target="slides/slide10.xml"/>
<Relationship Id="rIdS11" Type="http://schemas.openxmlformats.org/officeDocument/2006/relationships/slide" Target="slides/slide11.xml"/>
<Relationship Id="rIdS12" Type="http://schemas.openxmlformats.org/officeDocument/2006/relationships/slide" Target="slides/slide12.xml"/>
<Relationship Id="rIdS13" Type="http://schemas.openxmlformats.org/officeDocument/2006/relationships/slide" Target="slides/slide13.xml"/>
<Relationship Id="rIdS14" Type="http://schemas.openxmlformats.org/officeDocument/2006/relationships/slide" Target="slides/slide14.xml"/>
<Relationship Id="rIdS15" Type="http://schemas.openxmlformats.org/officeDocument/2006/relationships/slide" Target="slides/slide15.xml"/>
<Relationship Id="rIdS16" Type="http://schemas.openxmlformats.org/officeDocument/2006/relationships/slide" Target="slides/slide16.xml"/>
<Relationship Id="rIdS17" Type="http://schemas.openxmlformats.org/officeDocument/2006/relationships/slide" Target="slides/slide17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3" name="Texto 3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1500000"/>
            <a:ext cx="10972800" cy="1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3350000"/>
            <a:ext cx="105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990F3D"/>
              </a:buClr>
              <a:buFont typeface="Arial"/>
              <a:buChar char="•"/>
            </a:pPr>
            <a:r>
              <a:rPr lang="es-ES" sz="2000" dirty="0">
                <a:solidFill>
                  <a:srgbClr val="2F2B28"/>
                </a:solidFill>
              </a:rPr>
              <a:t>Curso introductorio: qué es, qué aporta y cómo se usa para implantar, gobernar y medir la inteligencia artificial de una compañía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Curso de autoaprendizaje · CC BY 4.0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" name="Texto 8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El problema que resuelve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Muchas compañías tienen pilotos de IA que funcionan, pero pocos llegan a producción.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valor se declara ("liberamos 200 horas") pero casi nadie lo comprueba.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Nadie tiene autoridad clara para parar una iniciativa que no funciona.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pregunta por la IA y recibe una lista de proyectos técnicos, no una decisión de negocio.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 la pregunta de fondo casi nunca se contesta con evidencia: ¿la compañía se está transformando con IA, o solo está siendo un poco más eficiente?</a:t>
            </a:r>
          </a:p>
        </p:txBody>
      </p:sp>
      <p:sp>
        <p:nvSpPr>
          <p:cNvPr id="11" name="Texto 11"/>
          <p:cNvSpPr txBox="1"/>
          <p:nvPr/>
        </p:nvSpPr>
        <p:spPr>
          <a:xfrm>
            <a:off x="609600" y="6300000"/>
            <a:ext cx="109728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Estos síntomas no son un problema tecnológico: son un problema de gobierno y de medición.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" name="Texto 13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4" name="Texto 14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Qué es SEVEN-G</a:t>
            </a:r>
          </a:p>
        </p:txBody>
      </p:sp>
      <p:sp>
        <p:nvSpPr>
          <p:cNvPr id="15" name="Texto 15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una fase 0 habilitante y siete fases de valor, con gobierno en todas ellas.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 método completo, gratuito y modificable para implantar, gobernar y medir la IA de una organización.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 sustituye lo que la compañía ya tiene (comités, marcos de riesgo, oficina de proyectos): lo ordena y lo conecta con un lenguaje común.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 es una guía técnica para construir modelos: gobierna y mide: qué se aprueba, qué se mide, quién decide y cuándo se para.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7" name="Texto 17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8" name="Texto 18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Qué aporta a la compañía</a:t>
            </a:r>
          </a:p>
        </p:txBody>
      </p:sp>
      <p:sp>
        <p:nvSpPr>
          <p:cNvPr id="19" name="Texto 19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Ordena la IA como una cartera, no como una lista de proyectos: cada iniciativa tiene fase, coste, valor esperado y responsable.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Pone puertas de decisión entre las fases: para avanzar hace falta evidencia verificada, o la iniciativa se itera, se pivota o se para.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Separa quién decide, quién construye y quién controla, y traduce la regulación a fases, roles y evidencias.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Mide el valor en dinero y con estado —validado, declarado o estimado— y le dice al consejo si la compañía se transforma o solo se eficienta.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1" name="Texto 21"/>
          <p:cNvSpPr txBox="1"/>
          <p:nvPr/>
        </p:nvSpPr>
        <p:spPr>
          <a:xfrm>
            <a:off x="838200" y="23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CÓMO SE ORGANIZA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4200" b="1" dirty="0">
                <a:solidFill>
                  <a:srgbClr val="FBE2CD"/>
                </a:solidFill>
              </a:rPr>
              <a:t>Dos niveles: la compañía y cada iniciativa</a:t>
            </a:r>
          </a:p>
        </p:txBody>
      </p:sp>
      <p:sp>
        <p:nvSpPr>
          <p:cNvPr id="23" name="Texto 23"/>
          <p:cNvSpPr txBox="1"/>
          <p:nvPr/>
        </p:nvSpPr>
        <p:spPr>
          <a:xfrm>
            <a:off x="609600" y="4350000"/>
            <a:ext cx="105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F3CFB2"/>
                </a:solidFill>
              </a:rPr>
              <a:t>La compañía dirige y supervisa la cartera entera; cada iniciativa recorre su propio camino, de la idea a la producción o a la retirada.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5" name="Texto 25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Nivel 1 · El ciclo corporativo</a:t>
            </a:r>
          </a:p>
        </p:txBody>
      </p:sp>
      <p:sp>
        <p:nvSpPr>
          <p:cNvPr id="27" name="Texto 27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Diagnóstico: madurez de la compañía en las siete dimensiones (estrategia, gobierno, datos, riesgo, talento...).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Dirección: el consejo aprueba la tesis de IA y el apetito de riesgo, y fija el presupuesto marco.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Cartera: se prioriza qué iniciativas se financian y en qué orden, con el mapa de esferas y niveles de ambición.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Supervisión: el consejo y el comité de IA siguen la cartera con el panel y el registro de decisiones.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Revisión anual: qué funcionó, qué no, y qué cambia para el año siguiente.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9" name="Texto 29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Nivel 2 · El ciclo de vida de una iniciativa</a:t>
            </a:r>
          </a:p>
        </p:txBody>
      </p:sp>
      <p:sp>
        <p:nvSpPr>
          <p:cNvPr id="31" name="Texto 31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Ocho fases (0 a 7), separadas por puertas de decisión</a:t>
            </a:r>
          </a:p>
        </p:txBody>
      </p:sp>
      <p:sp>
        <p:nvSpPr>
          <p:cNvPr id="32" name="Caja 32"/>
          <p:cNvSpPr/>
          <p:nvPr/>
        </p:nvSpPr>
        <p:spPr>
          <a:xfrm>
            <a:off x="8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33" name="Texto 33"/>
          <p:cNvSpPr txBox="1"/>
          <p:nvPr/>
        </p:nvSpPr>
        <p:spPr>
          <a:xfrm>
            <a:off x="19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34" name="Caja 34"/>
          <p:cNvSpPr/>
          <p:nvPr/>
        </p:nvSpPr>
        <p:spPr>
          <a:xfrm>
            <a:off x="21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35" name="Texto 35"/>
          <p:cNvSpPr txBox="1"/>
          <p:nvPr/>
        </p:nvSpPr>
        <p:spPr>
          <a:xfrm>
            <a:off x="33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36" name="Caja 36"/>
          <p:cNvSpPr/>
          <p:nvPr/>
        </p:nvSpPr>
        <p:spPr>
          <a:xfrm>
            <a:off x="34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37" name="Texto 37"/>
          <p:cNvSpPr txBox="1"/>
          <p:nvPr/>
        </p:nvSpPr>
        <p:spPr>
          <a:xfrm>
            <a:off x="466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38" name="Caja 38"/>
          <p:cNvSpPr/>
          <p:nvPr/>
        </p:nvSpPr>
        <p:spPr>
          <a:xfrm>
            <a:off x="482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39" name="Texto 39"/>
          <p:cNvSpPr txBox="1"/>
          <p:nvPr/>
        </p:nvSpPr>
        <p:spPr>
          <a:xfrm>
            <a:off x="600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0" name="Caja 40"/>
          <p:cNvSpPr/>
          <p:nvPr/>
        </p:nvSpPr>
        <p:spPr>
          <a:xfrm>
            <a:off x="616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41" name="Texto 41"/>
          <p:cNvSpPr txBox="1"/>
          <p:nvPr/>
        </p:nvSpPr>
        <p:spPr>
          <a:xfrm>
            <a:off x="734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2" name="Caja 42"/>
          <p:cNvSpPr/>
          <p:nvPr/>
        </p:nvSpPr>
        <p:spPr>
          <a:xfrm>
            <a:off x="75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43" name="Texto 43"/>
          <p:cNvSpPr txBox="1"/>
          <p:nvPr/>
        </p:nvSpPr>
        <p:spPr>
          <a:xfrm>
            <a:off x="86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4" name="Caja 44"/>
          <p:cNvSpPr/>
          <p:nvPr/>
        </p:nvSpPr>
        <p:spPr>
          <a:xfrm>
            <a:off x="88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100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6" name="Caja 46"/>
          <p:cNvSpPr/>
          <p:nvPr/>
        </p:nvSpPr>
        <p:spPr>
          <a:xfrm>
            <a:off x="101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47" name="Texto 47"/>
          <p:cNvSpPr txBox="1"/>
          <p:nvPr/>
        </p:nvSpPr>
        <p:spPr>
          <a:xfrm>
            <a:off x="17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30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49" name="Texto 49"/>
          <p:cNvSpPr txBox="1"/>
          <p:nvPr/>
        </p:nvSpPr>
        <p:spPr>
          <a:xfrm>
            <a:off x="443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50" name="Texto 50"/>
          <p:cNvSpPr txBox="1"/>
          <p:nvPr/>
        </p:nvSpPr>
        <p:spPr>
          <a:xfrm>
            <a:off x="577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711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52" name="Texto 52"/>
          <p:cNvSpPr txBox="1"/>
          <p:nvPr/>
        </p:nvSpPr>
        <p:spPr>
          <a:xfrm>
            <a:off x="84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53" name="Texto 53"/>
          <p:cNvSpPr txBox="1"/>
          <p:nvPr/>
        </p:nvSpPr>
        <p:spPr>
          <a:xfrm>
            <a:off x="97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55" name="Texto 55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56" name="Texto 56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Qué puede pasar en cada puerta</a:t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Cinco resultados posibles; nunca decide quien aporta la evidencia</a:t>
            </a:r>
          </a:p>
        </p:txBody>
      </p:sp>
      <p:sp>
        <p:nvSpPr>
          <p:cNvPr id="58" name="Caja 58"/>
          <p:cNvSpPr/>
          <p:nvPr/>
        </p:nvSpPr>
        <p:spPr>
          <a:xfrm>
            <a:off x="48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Continuar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Se cumplen los criterios: pasa a la fase siguiente.</a:t>
            </a:r>
          </a:p>
        </p:txBody>
      </p:sp>
      <p:sp>
        <p:nvSpPr>
          <p:cNvPr id="59" name="Caja 59"/>
          <p:cNvSpPr/>
          <p:nvPr/>
        </p:nvSpPr>
        <p:spPr>
          <a:xfrm>
            <a:off x="275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Con condiciones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Pasa, pero con plazo y responsable para lo pendiente.</a:t>
            </a:r>
          </a:p>
        </p:txBody>
      </p:sp>
      <p:sp>
        <p:nvSpPr>
          <p:cNvPr id="60" name="Caja 60"/>
          <p:cNvSpPr/>
          <p:nvPr/>
        </p:nvSpPr>
        <p:spPr>
          <a:xfrm>
            <a:off x="502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Iterar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Se repite la fase con un ajuste. Máximo dos veces.</a:t>
            </a:r>
          </a:p>
        </p:txBody>
      </p:sp>
      <p:sp>
        <p:nvSpPr>
          <p:cNvPr id="61" name="Caja 61"/>
          <p:cNvSpPr/>
          <p:nvPr/>
        </p:nvSpPr>
        <p:spPr>
          <a:xfrm>
            <a:off x="729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Pivotar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La hipótesis no se sostiene: se prueba otra, desde la fase 2.</a:t>
            </a:r>
          </a:p>
        </p:txBody>
      </p:sp>
      <p:sp>
        <p:nvSpPr>
          <p:cNvPr id="62" name="Caja 62"/>
          <p:cNvSpPr/>
          <p:nvPr/>
        </p:nvSpPr>
        <p:spPr>
          <a:xfrm>
            <a:off x="956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Parar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No hay valor o el riesgo es inaceptable. Es un buen resultado.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4" name="Texto 64"/>
          <p:cNvSpPr txBox="1"/>
          <p:nvPr/>
        </p:nvSpPr>
        <p:spPr>
          <a:xfrm>
            <a:off x="838200" y="23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DOS EJEMPLOS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4200" b="1" dirty="0">
                <a:solidFill>
                  <a:srgbClr val="FBE2CD"/>
                </a:solidFill>
              </a:rPr>
              <a:t>Una iniciativa que se para, y otra que llega a producción</a:t>
            </a:r>
          </a:p>
        </p:txBody>
      </p:sp>
      <p:sp>
        <p:nvSpPr>
          <p:cNvPr id="66" name="Texto 66"/>
          <p:cNvSpPr txBox="1"/>
          <p:nvPr/>
        </p:nvSpPr>
        <p:spPr>
          <a:xfrm>
            <a:off x="609600" y="4350000"/>
            <a:ext cx="105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F3CFB2"/>
                </a:solidFill>
              </a:rPr>
              <a:t>Datos ficticios, ilustrativos: no describen ninguna compañía real (documento 92).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8" name="Texto 68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EJEMPLO ILUSTRATIVO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600" b="1" dirty="0">
                <a:solidFill>
                  <a:srgbClr val="990F3D"/>
                </a:solidFill>
              </a:rPr>
              <a:t>Ejemplo 1 · Cuando una iniciativa se para</a:t>
            </a:r>
          </a:p>
        </p:txBody>
      </p:sp>
      <p:sp>
        <p:nvSpPr>
          <p:cNvPr id="70" name="Texto 70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Cribado de candidaturas en procesos de selección (RR. HH.)</a:t>
            </a:r>
          </a:p>
        </p:txBody>
      </p:sp>
      <p:sp>
        <p:nvSpPr>
          <p:cNvPr id="71" name="Texto 71"/>
          <p:cNvSpPr txBox="1"/>
          <p:nvPr/>
        </p:nvSpPr>
        <p:spPr>
          <a:xfrm>
            <a:off x="609600" y="1950000"/>
            <a:ext cx="10972800" cy="3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0-1: se autoriza con patrocinio de RR. HH.; el objetivo es reducir el tiempo de cribado inicial.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2: la hipótesis de valor se confirma en el piloto: 40 % menos de tiempo de cribado.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3 (viabilidad y riesgo): la prueba de sesgo por segmentos detecta que el modelo penaliza a candidatos de más edad, y corregirlo le hace perder la capacidad predictiva que justificaba el proyecto.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El equipo pide iterar dos veces, ajustando variables y umbrales, sin resolver el sesgo.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En G3, con el riesgo residual todavía alto para un sistema de alto riesgo, el comité de IA decide parar.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Lección aprendida (queda registrada, T01): el sesgo se debe evaluar antes de la fase 3, no como último paso.</a:t>
            </a:r>
          </a:p>
        </p:txBody>
      </p:sp>
      <p:sp>
        <p:nvSpPr>
          <p:cNvPr id="72" name="Caja 72"/>
          <p:cNvSpPr/>
          <p:nvPr/>
        </p:nvSpPr>
        <p:spPr>
          <a:xfrm>
            <a:off x="609600" y="5550000"/>
            <a:ext cx="10972800" cy="10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200" b="1" dirty="0">
                <a:solidFill>
                  <a:srgbClr val="FFFFFF"/>
                </a:solidFill>
              </a:rPr>
              <a:t>RESULTADO: PARADA EN G3 · RIESGO INACEPTABLE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4" name="Texto 74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75" name="Texto 75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La iniciativa 1, sobre el ciclo de vida</a:t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Llegó a la fase 3 y no superó la puerta G3</a:t>
            </a:r>
          </a:p>
        </p:txBody>
      </p:sp>
      <p:sp>
        <p:nvSpPr>
          <p:cNvPr id="77" name="Caja 77"/>
          <p:cNvSpPr/>
          <p:nvPr/>
        </p:nvSpPr>
        <p:spPr>
          <a:xfrm>
            <a:off x="8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78" name="Texto 78"/>
          <p:cNvSpPr txBox="1"/>
          <p:nvPr/>
        </p:nvSpPr>
        <p:spPr>
          <a:xfrm>
            <a:off x="19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79" name="Caja 79"/>
          <p:cNvSpPr/>
          <p:nvPr/>
        </p:nvSpPr>
        <p:spPr>
          <a:xfrm>
            <a:off x="21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33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1" name="Caja 81"/>
          <p:cNvSpPr/>
          <p:nvPr/>
        </p:nvSpPr>
        <p:spPr>
          <a:xfrm>
            <a:off x="34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82" name="Texto 82"/>
          <p:cNvSpPr txBox="1"/>
          <p:nvPr/>
        </p:nvSpPr>
        <p:spPr>
          <a:xfrm>
            <a:off x="466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3" name="Caja 83"/>
          <p:cNvSpPr/>
          <p:nvPr/>
        </p:nvSpPr>
        <p:spPr>
          <a:xfrm>
            <a:off x="482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600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5" name="Caja 85"/>
          <p:cNvSpPr/>
          <p:nvPr/>
        </p:nvSpPr>
        <p:spPr>
          <a:xfrm>
            <a:off x="616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Diseño de la solución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734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7" name="Caja 87"/>
          <p:cNvSpPr/>
          <p:nvPr/>
        </p:nvSpPr>
        <p:spPr>
          <a:xfrm>
            <a:off x="75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Entrega y validación</a:t>
            </a:r>
          </a:p>
        </p:txBody>
      </p:sp>
      <p:sp>
        <p:nvSpPr>
          <p:cNvPr id="88" name="Texto 88"/>
          <p:cNvSpPr txBox="1"/>
          <p:nvPr/>
        </p:nvSpPr>
        <p:spPr>
          <a:xfrm>
            <a:off x="86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9" name="Caja 89"/>
          <p:cNvSpPr/>
          <p:nvPr/>
        </p:nvSpPr>
        <p:spPr>
          <a:xfrm>
            <a:off x="88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Operación y gobierno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100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91" name="Caja 91"/>
          <p:cNvSpPr/>
          <p:nvPr/>
        </p:nvSpPr>
        <p:spPr>
          <a:xfrm>
            <a:off x="101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92" name="Texto 92"/>
          <p:cNvSpPr txBox="1"/>
          <p:nvPr/>
        </p:nvSpPr>
        <p:spPr>
          <a:xfrm>
            <a:off x="17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30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94" name="Texto 94"/>
          <p:cNvSpPr txBox="1"/>
          <p:nvPr/>
        </p:nvSpPr>
        <p:spPr>
          <a:xfrm>
            <a:off x="443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95" name="Texto 95"/>
          <p:cNvSpPr txBox="1"/>
          <p:nvPr/>
        </p:nvSpPr>
        <p:spPr>
          <a:xfrm>
            <a:off x="577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96" name="Texto 96"/>
          <p:cNvSpPr txBox="1"/>
          <p:nvPr/>
        </p:nvSpPr>
        <p:spPr>
          <a:xfrm>
            <a:off x="711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84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98" name="Texto 98"/>
          <p:cNvSpPr txBox="1"/>
          <p:nvPr/>
        </p:nvSpPr>
        <p:spPr>
          <a:xfrm>
            <a:off x="97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99" name="Texto 99"/>
          <p:cNvSpPr txBox="1"/>
          <p:nvPr/>
        </p:nvSpPr>
        <p:spPr>
          <a:xfrm>
            <a:off x="4826000" y="4120000"/>
            <a:ext cx="1058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900" b="1" dirty="0">
                <a:solidFill>
                  <a:srgbClr val="990F3D"/>
                </a:solidFill>
              </a:rPr>
              <a:t>PARADA EN G3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1" name="Texto 101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EJEMPLO ILUSTRATIVO</a:t>
            </a:r>
          </a:p>
        </p:txBody>
      </p:sp>
      <p:sp>
        <p:nvSpPr>
          <p:cNvPr id="102" name="Texto 102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600" b="1" dirty="0">
                <a:solidFill>
                  <a:srgbClr val="990F3D"/>
                </a:solidFill>
              </a:rPr>
              <a:t>Ejemplo 2 · Cuando una iniciativa llega a producción</a:t>
            </a:r>
          </a:p>
        </p:txBody>
      </p:sp>
      <p:sp>
        <p:nvSpPr>
          <p:cNvPr id="103" name="Texto 103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Asistente de respuesta a incidencias de TI de primer nivel</a:t>
            </a:r>
          </a:p>
        </p:txBody>
      </p:sp>
      <p:sp>
        <p:nvSpPr>
          <p:cNvPr id="104" name="Texto 104"/>
          <p:cNvSpPr txBox="1"/>
          <p:nvPr/>
        </p:nvSpPr>
        <p:spPr>
          <a:xfrm>
            <a:off x="609600" y="1950000"/>
            <a:ext cx="10972800" cy="3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0-1: se autoriza con patrocinio del área de TI; el objetivo es reducir el tiempo de primera respuesta.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2: la hipótesis de valor se valida con un piloto controlado: 32 % menos de tiempo de resolución en incidencias sencillas.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3: la prueba de concepto no muestra sesgo relevante por tipo de usuario ni de departamento; el riesgo se clasifica como medio.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4-5: se diseña con supervisión humana obligatoria por encima de cierta gravedad, se construye y se valida el piloto ampliado.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G5: firma de puesta en producción, con plan de reversión probado.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Fase 6-7: catorce meses en uso, con revisión de continuidad (R6) trimestral; en la última R6 se confirma el valor.</a:t>
            </a:r>
          </a:p>
        </p:txBody>
      </p:sp>
      <p:sp>
        <p:nvSpPr>
          <p:cNvPr id="105" name="Caja 105"/>
          <p:cNvSpPr/>
          <p:nvPr/>
        </p:nvSpPr>
        <p:spPr>
          <a:xfrm>
            <a:off x="609600" y="5550000"/>
            <a:ext cx="10972800" cy="10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200" b="1" dirty="0">
                <a:solidFill>
                  <a:srgbClr val="FFFFFF"/>
                </a:solidFill>
              </a:rPr>
              <a:t>RESULTADO: EN PRODUCCIÓN · 1,1 M€ DE RETORNO ANUAL VALIDADO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7" name="Texto 107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08" name="Texto 108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La iniciativa 2, sobre el ciclo de vida</a:t>
            </a:r>
          </a:p>
        </p:txBody>
      </p:sp>
      <p:sp>
        <p:nvSpPr>
          <p:cNvPr id="109" name="Texto 109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Recorrió las ocho fases y sigue en uso, con revisiones periódicas</a:t>
            </a:r>
          </a:p>
        </p:txBody>
      </p:sp>
      <p:sp>
        <p:nvSpPr>
          <p:cNvPr id="110" name="Caja 110"/>
          <p:cNvSpPr/>
          <p:nvPr/>
        </p:nvSpPr>
        <p:spPr>
          <a:xfrm>
            <a:off x="8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19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2" name="Caja 112"/>
          <p:cNvSpPr/>
          <p:nvPr/>
        </p:nvSpPr>
        <p:spPr>
          <a:xfrm>
            <a:off x="21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13" name="Texto 113"/>
          <p:cNvSpPr txBox="1"/>
          <p:nvPr/>
        </p:nvSpPr>
        <p:spPr>
          <a:xfrm>
            <a:off x="33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4" name="Caja 114"/>
          <p:cNvSpPr/>
          <p:nvPr/>
        </p:nvSpPr>
        <p:spPr>
          <a:xfrm>
            <a:off x="34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15" name="Texto 115"/>
          <p:cNvSpPr txBox="1"/>
          <p:nvPr/>
        </p:nvSpPr>
        <p:spPr>
          <a:xfrm>
            <a:off x="466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6" name="Caja 116"/>
          <p:cNvSpPr/>
          <p:nvPr/>
        </p:nvSpPr>
        <p:spPr>
          <a:xfrm>
            <a:off x="482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0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8" name="Caja 118"/>
          <p:cNvSpPr/>
          <p:nvPr/>
        </p:nvSpPr>
        <p:spPr>
          <a:xfrm>
            <a:off x="616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119" name="Texto 119"/>
          <p:cNvSpPr txBox="1"/>
          <p:nvPr/>
        </p:nvSpPr>
        <p:spPr>
          <a:xfrm>
            <a:off x="734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20" name="Caja 120"/>
          <p:cNvSpPr/>
          <p:nvPr/>
        </p:nvSpPr>
        <p:spPr>
          <a:xfrm>
            <a:off x="75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121" name="Texto 121"/>
          <p:cNvSpPr txBox="1"/>
          <p:nvPr/>
        </p:nvSpPr>
        <p:spPr>
          <a:xfrm>
            <a:off x="86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22" name="Caja 122"/>
          <p:cNvSpPr/>
          <p:nvPr/>
        </p:nvSpPr>
        <p:spPr>
          <a:xfrm>
            <a:off x="88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100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24" name="Caja 124"/>
          <p:cNvSpPr/>
          <p:nvPr/>
        </p:nvSpPr>
        <p:spPr>
          <a:xfrm>
            <a:off x="101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125" name="Texto 125"/>
          <p:cNvSpPr txBox="1"/>
          <p:nvPr/>
        </p:nvSpPr>
        <p:spPr>
          <a:xfrm>
            <a:off x="17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30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27" name="Texto 127"/>
          <p:cNvSpPr txBox="1"/>
          <p:nvPr/>
        </p:nvSpPr>
        <p:spPr>
          <a:xfrm>
            <a:off x="443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28" name="Texto 128"/>
          <p:cNvSpPr txBox="1"/>
          <p:nvPr/>
        </p:nvSpPr>
        <p:spPr>
          <a:xfrm>
            <a:off x="577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711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84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31" name="Texto 131"/>
          <p:cNvSpPr txBox="1"/>
          <p:nvPr/>
        </p:nvSpPr>
        <p:spPr>
          <a:xfrm>
            <a:off x="97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32" name="Texto 132"/>
          <p:cNvSpPr txBox="1"/>
          <p:nvPr/>
        </p:nvSpPr>
        <p:spPr>
          <a:xfrm>
            <a:off x="3486000" y="4120000"/>
            <a:ext cx="1058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900" b="1" dirty="0">
                <a:solidFill>
                  <a:srgbClr val="0D7680"/>
                </a:solidFill>
              </a:rPr>
              <a:t>EN USO · R6 TRIMESTRAL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4" name="Texto 134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Cómo se mide el valor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Todo importe lleva una fórmula y un estado: validado (por control de gestión), declarado (por el equipo) o estimado.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capacidad liberada (horas) no cuenta como ahorro hasta que se materializa: se reduce coste o se reasigna a otra actividad con valor.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índice de transformación de la compañía usa ocho señales de evidencia para distinguir transformar de solo eficientar.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Diez reglas de medición en total (documento 40); ninguna cifra entra en el neto de la cartera sin su estado.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8" name="Texto 138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39" name="Texto 139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Lo que ve el consejo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 panel generado desde el mismo registro de iniciativas: cartera, valor, embudo, riesgo y cumplimiento.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cartera de iniciativas de IA, leída como un embudo comercial: cuántas entran, dónde se pierden y por qué.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 registro de decisiones y recomendaciones (T18), con seguimiento de lo que se acordó.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Una pregunta permanente: ¿la compañía se transforma con IA, o solo se está volviendo un poco más eficiente?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42" name="Texto 142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43" name="Texto 143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Cómo empezar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Documento 00: qué es SEVEN-G y su mapa de uso navegable.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Registro de iniciativas de ejemplo (T01) y el panel del consejo generado con esos mismos datos (T17).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adopción es modular: se puede empezar solo por el registro, por las puertas de decisión o por la medición del valor.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guía de implantación (documento 90) propone un plan de 90 días.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o 145"/>
          <p:cNvSpPr txBox="1"/>
          <p:nvPr/>
        </p:nvSpPr>
        <p:spPr>
          <a:xfrm>
            <a:off x="609600" y="25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Gracias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609600" y="3550000"/>
            <a:ext cx="109728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es gratuito: se usa, se descarga y se adapta sin registrarse.</a:t>
            </a:r>
          </a:p>
        </p:txBody>
      </p:sp>
      <p:sp>
        <p:nvSpPr>
          <p:cNvPr id="147" name="Texto 147"/>
          <p:cNvSpPr txBox="1"/>
          <p:nvPr/>
        </p:nvSpPr>
        <p:spPr>
          <a:xfrm>
            <a:off x="609600" y="41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Fernando García Varela · CC BY 4.0 (contenidos) · MIT (código)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609600" y="47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SEVEN-G build</Application>
  <Slides>17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Curso de SEVEN-G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
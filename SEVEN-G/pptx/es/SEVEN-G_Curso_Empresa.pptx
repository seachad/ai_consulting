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1"/>
  </p:sldMasterIdLst>
  <p:sldIdLst>
    <p:sldId id="256" r:id="rIdS1"/>
    <p:sldId id="257" r:id="rIdS2"/>
    <p:sldId id="258" r:id="rIdS3"/>
    <p:sldId id="259" r:id="rIdS4"/>
    <p:sldId id="260" r:id="rIdS5"/>
    <p:sldId id="261" r:id="rIdS6"/>
    <p:sldId id="262" r:id="rIdS7"/>
    <p:sldId id="263" r:id="rIdS8"/>
    <p:sldId id="264" r:id="rIdS9"/>
    <p:sldId id="265" r:id="rIdS10"/>
    <p:sldId id="266" r:id="rIdS11"/>
    <p:sldId id="267" r:id="rIdS12"/>
    <p:sldId id="268" r:id="rIdS13"/>
    <p:sldId id="269" r:id="rIdS14"/>
    <p:sldId id="270" r:id="rIdS15"/>
    <p:sldId id="271" r:id="rIdS16"/>
    <p:sldId id="272" r:id="rIdS17"/>
    <p:sldId id="273" r:id="rIdS18"/>
    <p:sldId id="274" r:id="rIdS19"/>
    <p:sldId id="275" r:id="rIdS20"/>
    <p:sldId id="276" r:id="rIdS21"/>
    <p:sldId id="277" r:id="rIdS22"/>
    <p:sldId id="278" r:id="rIdS23"/>
    <p:sldId id="279" r:id="rIdS24"/>
    <p:sldId id="280" r:id="rIdS25"/>
    <p:sldId id="281" r:id="rIdS26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M1" Type="http://schemas.openxmlformats.org/officeDocument/2006/relationships/slideMaster" Target="slideMasters/slideMaster1.xml"/><Relationship Id="rIdT1" Type="http://schemas.openxmlformats.org/officeDocument/2006/relationships/theme" Target="theme/theme1.xml"/><Relationship Id="rIdS1" Type="http://schemas.openxmlformats.org/officeDocument/2006/relationships/slide" Target="slides/slide1.xml"/><Relationship Id="rIdS2" Type="http://schemas.openxmlformats.org/officeDocument/2006/relationships/slide" Target="slides/slide2.xml"/><Relationship Id="rIdS3" Type="http://schemas.openxmlformats.org/officeDocument/2006/relationships/slide" Target="slides/slide3.xml"/><Relationship Id="rIdS4" Type="http://schemas.openxmlformats.org/officeDocument/2006/relationships/slide" Target="slides/slide4.xml"/><Relationship Id="rIdS5" Type="http://schemas.openxmlformats.org/officeDocument/2006/relationships/slide" Target="slides/slide5.xml"/><Relationship Id="rIdS6" Type="http://schemas.openxmlformats.org/officeDocument/2006/relationships/slide" Target="slides/slide6.xml"/><Relationship Id="rIdS7" Type="http://schemas.openxmlformats.org/officeDocument/2006/relationships/slide" Target="slides/slide7.xml"/><Relationship Id="rIdS8" Type="http://schemas.openxmlformats.org/officeDocument/2006/relationships/slide" Target="slides/slide8.xml"/><Relationship Id="rIdS9" Type="http://schemas.openxmlformats.org/officeDocument/2006/relationships/slide" Target="slides/slide9.xml"/><Relationship Id="rIdS10" Type="http://schemas.openxmlformats.org/officeDocument/2006/relationships/slide" Target="slides/slide10.xml"/><Relationship Id="rIdS11" Type="http://schemas.openxmlformats.org/officeDocument/2006/relationships/slide" Target="slides/slide11.xml"/><Relationship Id="rIdS12" Type="http://schemas.openxmlformats.org/officeDocument/2006/relationships/slide" Target="slides/slide12.xml"/><Relationship Id="rIdS13" Type="http://schemas.openxmlformats.org/officeDocument/2006/relationships/slide" Target="slides/slide13.xml"/><Relationship Id="rIdS14" Type="http://schemas.openxmlformats.org/officeDocument/2006/relationships/slide" Target="slides/slide14.xml"/><Relationship Id="rIdS15" Type="http://schemas.openxmlformats.org/officeDocument/2006/relationships/slide" Target="slides/slide15.xml"/><Relationship Id="rIdS16" Type="http://schemas.openxmlformats.org/officeDocument/2006/relationships/slide" Target="slides/slide16.xml"/><Relationship Id="rIdS17" Type="http://schemas.openxmlformats.org/officeDocument/2006/relationships/slide" Target="slides/slide17.xml"/><Relationship Id="rIdS18" Type="http://schemas.openxmlformats.org/officeDocument/2006/relationships/slide" Target="slides/slide18.xml"/><Relationship Id="rIdS19" Type="http://schemas.openxmlformats.org/officeDocument/2006/relationships/slide" Target="slides/slide19.xml"/><Relationship Id="rIdS20" Type="http://schemas.openxmlformats.org/officeDocument/2006/relationships/slide" Target="slides/slide20.xml"/><Relationship Id="rIdS21" Type="http://schemas.openxmlformats.org/officeDocument/2006/relationships/slide" Target="slides/slide21.xml"/><Relationship Id="rIdS22" Type="http://schemas.openxmlformats.org/officeDocument/2006/relationships/slide" Target="slides/slide22.xml"/><Relationship Id="rIdS23" Type="http://schemas.openxmlformats.org/officeDocument/2006/relationships/slide" Target="slides/slide23.xml"/><Relationship Id="rIdS24" Type="http://schemas.openxmlformats.org/officeDocument/2006/relationships/slide" Target="slides/slide24.xml"/><Relationship Id="rIdS25" Type="http://schemas.openxmlformats.org/officeDocument/2006/relationships/slide" Target="slides/slide25.xml"/><Relationship Id="rIdS26" Type="http://schemas.openxmlformats.org/officeDocument/2006/relationships/slide" Target="slides/slide26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Img_registro" Type="http://schemas.openxmlformats.org/officeDocument/2006/relationships/image" Target="../media/registro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Img_embudo" Type="http://schemas.openxmlformats.org/officeDocument/2006/relationships/image" Target="../media/embudo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Img_panel" Type="http://schemas.openxmlformats.org/officeDocument/2006/relationships/image" Target="../media/panel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7" name="Texto 7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EMPRESA · AUTOCONSULTORÍA</a:t>
            </a:r>
          </a:p>
        </p:txBody>
      </p:sp>
      <p:sp>
        <p:nvSpPr>
          <p:cNvPr id="2" name="Texto 2"/>
          <p:cNvSpPr txBox="1"/>
          <p:nvPr/>
        </p:nvSpPr>
        <p:spPr>
          <a:xfrm>
            <a:off x="609600" y="1350000"/>
            <a:ext cx="10972800" cy="11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5000" b="1" dirty="0">
                <a:solidFill>
                  <a:srgbClr val="1A1817"/>
                </a:solidFill>
              </a:rPr>
              <a:t>SEVEN-G</a:t>
            </a:r>
          </a:p>
        </p:txBody>
      </p:sp>
      <p:sp>
        <p:nvSpPr>
          <p:cNvPr id="3" name="Caja 3"/>
          <p:cNvSpPr/>
          <p:nvPr/>
        </p:nvSpPr>
        <p:spPr>
          <a:xfrm>
            <a:off x="609600" y="2600000"/>
            <a:ext cx="52000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800" b="1" dirty="0">
                <a:solidFill>
                  <a:srgbClr val="FFFFFF"/>
                </a:solidFill>
              </a:rPr>
              <a:t>Empresa · Autoconsultoría</a:t>
            </a:r>
          </a:p>
        </p:txBody>
      </p:sp>
      <p:sp>
        <p:nvSpPr>
          <p:cNvPr id="4" name="Texto 4"/>
          <p:cNvSpPr txBox="1"/>
          <p:nvPr/>
        </p:nvSpPr>
        <p:spPr>
          <a:xfrm>
            <a:off x="609600" y="3450000"/>
            <a:ext cx="10500000" cy="1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000" dirty="0">
                <a:solidFill>
                  <a:srgbClr val="2F2B28"/>
                </a:solidFill>
              </a:rPr>
              <a:t>Qué es SEVEN-G, cómo se llena el embudo de iniciativas hasta el panel del consejo y cómo implantarlo en su compañía por sus propios medios.</a:t>
            </a:r>
          </a:p>
        </p:txBody>
      </p:sp>
      <p:sp>
        <p:nvSpPr>
          <p:cNvPr id="5" name="Texto 5"/>
          <p:cNvSpPr txBox="1"/>
          <p:nvPr/>
        </p:nvSpPr>
        <p:spPr>
          <a:xfrm>
            <a:off x="609600" y="615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400" dirty="0">
                <a:solidFill>
                  <a:srgbClr val="0F5499"/>
                </a:solidFill>
              </a:rPr>
              <a:t>Fernando García Varela · Curso de autoaprendizaje · CC BY 4.0 · Ejemplos con datos ficticios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1" name="Texto 11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EMPRESA · AUTOCONSULTORÍA</a:t>
            </a:r>
          </a:p>
        </p:txBody>
      </p:sp>
      <p:sp>
        <p:nvSpPr>
          <p:cNvPr id="12" name="Texto 12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El problema que resuelve</a:t>
            </a:r>
          </a:p>
        </p:txBody>
      </p:sp>
      <p:sp>
        <p:nvSpPr>
          <p:cNvPr id="8" name="Texto 8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Muchas compañías tienen pilotos de IA que funcionan, pero pocos llegan a producción.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El valor se declara («liberamos 200 horas») y casi nadie lo comprueba.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Nadie tiene autoridad clara para parar una iniciativa que no funciona.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El consejo pregunta por la IA y recibe una lista de proyectos técnicos, no decisiones de negocio.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¿La compañía se está transformando con IA, o solo es un poco más eficiente? Casi nadie puede contestarlo con evidencia.</a:t>
            </a:r>
          </a:p>
        </p:txBody>
      </p:sp>
      <p:sp>
        <p:nvSpPr>
          <p:cNvPr id="9" name="Texto 9"/>
          <p:cNvSpPr txBox="1"/>
          <p:nvPr/>
        </p:nvSpPr>
        <p:spPr>
          <a:xfrm>
            <a:off x="609600" y="625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0F5499"/>
                </a:solidFill>
              </a:rPr>
              <a:t>No es un problema de tecnología: es un problema de gobierno y de medición.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5" name="Texto 15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EMPRESA · AUTOCONSULTORÍA</a:t>
            </a:r>
          </a:p>
        </p:txBody>
      </p:sp>
      <p:sp>
        <p:nvSpPr>
          <p:cNvPr id="16" name="Texto 16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Qué es SEVEN-G y qué aporta</a:t>
            </a:r>
          </a:p>
        </p:txBody>
      </p:sp>
      <p:sp>
        <p:nvSpPr>
          <p:cNvPr id="13" name="Texto 13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Seven-phase Enterprise Value &amp; Governance: una fase 0 habilitante y siete fases de valor, con gobierno en todas.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Ordena la IA como una cartera: cada iniciativa tiene fase, coste, valor esperado y responsable.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Pone puertas de decisión entre las fases: sin evidencia verificada no se avanza.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Separa quién decide, quién construye y quién controla, y traduce la regulación a fases, roles y evidencias.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Mide el valor en dinero y con estado —validado, declarado o estimado— y se lo enseña al consejo en un panel.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Es gratuito y modificable: documentos, plantillas en Word y herramientas, con licencia abierta.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9" name="Texto 19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EMPRESA · AUTOCONSULTORÍA</a:t>
            </a:r>
          </a:p>
        </p:txBody>
      </p:sp>
      <p:sp>
        <p:nvSpPr>
          <p:cNvPr id="20" name="Texto 20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Dos niveles: la compañía y cada iniciativa</a:t>
            </a:r>
          </a:p>
        </p:txBody>
      </p:sp>
      <p:sp>
        <p:nvSpPr>
          <p:cNvPr id="17" name="Texto 17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C1 · Diagnóstico: inventario, madurez en siete dimensiones e índice de transformación.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C2 · Dirección: el consejo aprueba la tesis de IA, la ambición por esfera y el apetito de riesgo.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C3 · Cartera: qué iniciativas se financian y en qué orden.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C4 · Supervisión: panel del consejo y registro de decisiones y recomendaciones.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C5 · Revisión anual: qué funcionó, qué no y qué cambia.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Y, dentro de esa cartera, cada iniciativa recorre su propio ciclo de vida de ocho fases.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43" name="Texto 43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EMPRESA · AUTOCONSULTORÍA</a:t>
            </a:r>
          </a:p>
        </p:txBody>
      </p:sp>
      <p:sp>
        <p:nvSpPr>
          <p:cNvPr id="44" name="Texto 44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El ciclo de vida de una iniciativa</a:t>
            </a:r>
          </a:p>
        </p:txBody>
      </p:sp>
      <p:sp>
        <p:nvSpPr>
          <p:cNvPr id="45" name="Texto 45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Ocho fases con una puerta de decisión al final de cada una; debajo, la etapa del embudo en la que se ve cada fase</a:t>
            </a:r>
          </a:p>
        </p:txBody>
      </p:sp>
      <p:sp>
        <p:nvSpPr>
          <p:cNvPr id="21" name="Caja 21"/>
          <p:cNvSpPr/>
          <p:nvPr/>
        </p:nvSpPr>
        <p:spPr>
          <a:xfrm>
            <a:off x="68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564D47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F0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Contexto y restricciones</a:t>
            </a:r>
          </a:p>
        </p:txBody>
      </p:sp>
      <p:sp>
        <p:nvSpPr>
          <p:cNvPr id="22" name="Texto 22"/>
          <p:cNvSpPr txBox="1"/>
          <p:nvPr/>
        </p:nvSpPr>
        <p:spPr>
          <a:xfrm>
            <a:off x="159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G0</a:t>
            </a:r>
          </a:p>
        </p:txBody>
      </p:sp>
      <p:sp>
        <p:nvSpPr>
          <p:cNvPr id="23" name="Caja 23"/>
          <p:cNvSpPr/>
          <p:nvPr/>
        </p:nvSpPr>
        <p:spPr>
          <a:xfrm>
            <a:off x="205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F1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Descubrimiento de oportunidades</a:t>
            </a:r>
          </a:p>
        </p:txBody>
      </p:sp>
      <p:sp>
        <p:nvSpPr>
          <p:cNvPr id="24" name="Texto 24"/>
          <p:cNvSpPr txBox="1"/>
          <p:nvPr/>
        </p:nvSpPr>
        <p:spPr>
          <a:xfrm>
            <a:off x="296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G1</a:t>
            </a:r>
          </a:p>
        </p:txBody>
      </p:sp>
      <p:sp>
        <p:nvSpPr>
          <p:cNvPr id="25" name="Caja 25"/>
          <p:cNvSpPr/>
          <p:nvPr/>
        </p:nvSpPr>
        <p:spPr>
          <a:xfrm>
            <a:off x="342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F2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Hipótesis de valor</a:t>
            </a:r>
          </a:p>
        </p:txBody>
      </p:sp>
      <p:sp>
        <p:nvSpPr>
          <p:cNvPr id="26" name="Texto 26"/>
          <p:cNvSpPr txBox="1"/>
          <p:nvPr/>
        </p:nvSpPr>
        <p:spPr>
          <a:xfrm>
            <a:off x="433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G2</a:t>
            </a:r>
          </a:p>
        </p:txBody>
      </p:sp>
      <p:sp>
        <p:nvSpPr>
          <p:cNvPr id="27" name="Caja 27"/>
          <p:cNvSpPr/>
          <p:nvPr/>
        </p:nvSpPr>
        <p:spPr>
          <a:xfrm>
            <a:off x="479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F3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Viabilidad y riesgo</a:t>
            </a:r>
          </a:p>
        </p:txBody>
      </p:sp>
      <p:sp>
        <p:nvSpPr>
          <p:cNvPr id="28" name="Texto 28"/>
          <p:cNvSpPr txBox="1"/>
          <p:nvPr/>
        </p:nvSpPr>
        <p:spPr>
          <a:xfrm>
            <a:off x="570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G3</a:t>
            </a:r>
          </a:p>
        </p:txBody>
      </p:sp>
      <p:sp>
        <p:nvSpPr>
          <p:cNvPr id="29" name="Caja 29"/>
          <p:cNvSpPr/>
          <p:nvPr/>
        </p:nvSpPr>
        <p:spPr>
          <a:xfrm>
            <a:off x="616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F4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Diseño de la solución</a:t>
            </a:r>
          </a:p>
        </p:txBody>
      </p:sp>
      <p:sp>
        <p:nvSpPr>
          <p:cNvPr id="30" name="Texto 30"/>
          <p:cNvSpPr txBox="1"/>
          <p:nvPr/>
        </p:nvSpPr>
        <p:spPr>
          <a:xfrm>
            <a:off x="707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G4</a:t>
            </a:r>
          </a:p>
        </p:txBody>
      </p:sp>
      <p:sp>
        <p:nvSpPr>
          <p:cNvPr id="31" name="Caja 31"/>
          <p:cNvSpPr/>
          <p:nvPr/>
        </p:nvSpPr>
        <p:spPr>
          <a:xfrm>
            <a:off x="753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F5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Entrega y validación</a:t>
            </a:r>
          </a:p>
        </p:txBody>
      </p:sp>
      <p:sp>
        <p:nvSpPr>
          <p:cNvPr id="32" name="Texto 32"/>
          <p:cNvSpPr txBox="1"/>
          <p:nvPr/>
        </p:nvSpPr>
        <p:spPr>
          <a:xfrm>
            <a:off x="844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G5</a:t>
            </a:r>
          </a:p>
        </p:txBody>
      </p:sp>
      <p:sp>
        <p:nvSpPr>
          <p:cNvPr id="33" name="Caja 33"/>
          <p:cNvSpPr/>
          <p:nvPr/>
        </p:nvSpPr>
        <p:spPr>
          <a:xfrm>
            <a:off x="890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F6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Operación y gobierno</a:t>
            </a:r>
          </a:p>
        </p:txBody>
      </p:sp>
      <p:sp>
        <p:nvSpPr>
          <p:cNvPr id="34" name="Texto 34"/>
          <p:cNvSpPr txBox="1"/>
          <p:nvPr/>
        </p:nvSpPr>
        <p:spPr>
          <a:xfrm>
            <a:off x="981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R6</a:t>
            </a:r>
          </a:p>
        </p:txBody>
      </p:sp>
      <p:sp>
        <p:nvSpPr>
          <p:cNvPr id="35" name="Caja 35"/>
          <p:cNvSpPr/>
          <p:nvPr/>
        </p:nvSpPr>
        <p:spPr>
          <a:xfrm>
            <a:off x="1027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F7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Evolución o retirada</a:t>
            </a:r>
          </a:p>
        </p:txBody>
      </p:sp>
      <p:sp>
        <p:nvSpPr>
          <p:cNvPr id="36" name="Texto 36"/>
          <p:cNvSpPr txBox="1"/>
          <p:nvPr/>
        </p:nvSpPr>
        <p:spPr>
          <a:xfrm>
            <a:off x="1118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G7</a:t>
            </a:r>
          </a:p>
        </p:txBody>
      </p:sp>
      <p:sp>
        <p:nvSpPr>
          <p:cNvPr id="37" name="Caja 37"/>
          <p:cNvSpPr/>
          <p:nvPr/>
        </p:nvSpPr>
        <p:spPr>
          <a:xfrm>
            <a:off x="681000" y="4330000"/>
            <a:ext cx="2610000" cy="52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300" b="1" dirty="0">
                <a:solidFill>
                  <a:srgbClr val="FFFFFF"/>
                </a:solidFill>
              </a:rPr>
              <a:t>Propuesto</a:t>
            </a:r>
          </a:p>
        </p:txBody>
      </p:sp>
      <p:sp>
        <p:nvSpPr>
          <p:cNvPr id="38" name="Caja 38"/>
          <p:cNvSpPr/>
          <p:nvPr/>
        </p:nvSpPr>
        <p:spPr>
          <a:xfrm>
            <a:off x="3421000" y="4330000"/>
            <a:ext cx="1240000" cy="52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300" b="1" dirty="0">
                <a:solidFill>
                  <a:srgbClr val="FFFFFF"/>
                </a:solidFill>
              </a:rPr>
              <a:t>Hipótesis de valor</a:t>
            </a:r>
          </a:p>
        </p:txBody>
      </p:sp>
      <p:sp>
        <p:nvSpPr>
          <p:cNvPr id="39" name="Caja 39"/>
          <p:cNvSpPr/>
          <p:nvPr/>
        </p:nvSpPr>
        <p:spPr>
          <a:xfrm>
            <a:off x="4791000" y="4330000"/>
            <a:ext cx="1240000" cy="520000"/>
          </a:xfrm>
          <a:prstGeom prst="roundRect">
            <a:avLst>
              <a:gd name="adj" fmla="val 6000"/>
            </a:avLst>
          </a:prstGeom>
          <a:solidFill>
            <a:srgbClr val="A5822A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300" b="1" dirty="0">
                <a:solidFill>
                  <a:srgbClr val="FFFFFF"/>
                </a:solidFill>
              </a:rPr>
              <a:t>Prueba de concepto</a:t>
            </a:r>
          </a:p>
        </p:txBody>
      </p:sp>
      <p:sp>
        <p:nvSpPr>
          <p:cNvPr id="40" name="Caja 40"/>
          <p:cNvSpPr/>
          <p:nvPr/>
        </p:nvSpPr>
        <p:spPr>
          <a:xfrm>
            <a:off x="6161000" y="4330000"/>
            <a:ext cx="2610000" cy="520000"/>
          </a:xfrm>
          <a:prstGeom prst="roundRect">
            <a:avLst>
              <a:gd name="adj" fmla="val 6000"/>
            </a:avLst>
          </a:prstGeom>
          <a:solidFill>
            <a:srgbClr val="1A1817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300" b="1" dirty="0">
                <a:solidFill>
                  <a:srgbClr val="FFFFFF"/>
                </a:solidFill>
              </a:rPr>
              <a:t>En desarrollo</a:t>
            </a:r>
          </a:p>
        </p:txBody>
      </p:sp>
      <p:sp>
        <p:nvSpPr>
          <p:cNvPr id="41" name="Caja 41"/>
          <p:cNvSpPr/>
          <p:nvPr/>
        </p:nvSpPr>
        <p:spPr>
          <a:xfrm>
            <a:off x="8901000" y="4330000"/>
            <a:ext cx="2610000" cy="520000"/>
          </a:xfrm>
          <a:prstGeom prst="roundRect">
            <a:avLst>
              <a:gd name="adj" fmla="val 6000"/>
            </a:avLst>
          </a:prstGeom>
          <a:solidFill>
            <a:srgbClr val="2E7D3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300" b="1" dirty="0">
                <a:solidFill>
                  <a:srgbClr val="FFFFFF"/>
                </a:solidFill>
              </a:rPr>
              <a:t>En uso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63" name="Texto 63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EMPRESA · AUTOCONSULTORÍA</a:t>
            </a:r>
          </a:p>
        </p:txBody>
      </p:sp>
      <p:sp>
        <p:nvSpPr>
          <p:cNvPr id="64" name="Texto 64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Qué puede pasar en cada puerta</a:t>
            </a:r>
          </a:p>
        </p:txBody>
      </p:sp>
      <p:sp>
        <p:nvSpPr>
          <p:cNvPr id="65" name="Texto 65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Cinco resultados; quien aporta la evidencia nunca es quien verifica ni quien decide</a:t>
            </a:r>
          </a:p>
        </p:txBody>
      </p:sp>
      <p:sp>
        <p:nvSpPr>
          <p:cNvPr id="46" name="Caja 46"/>
          <p:cNvSpPr/>
          <p:nvPr/>
        </p:nvSpPr>
        <p:spPr>
          <a:xfrm>
            <a:off x="609600" y="2050000"/>
            <a:ext cx="2098560" cy="8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Continuar</a:t>
            </a:r>
          </a:p>
        </p:txBody>
      </p:sp>
      <p:sp>
        <p:nvSpPr>
          <p:cNvPr id="47" name="Caja 47"/>
          <p:cNvSpPr/>
          <p:nvPr/>
        </p:nvSpPr>
        <p:spPr>
          <a:xfrm>
            <a:off x="609600" y="2790000"/>
            <a:ext cx="209856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48" name="Texto 48"/>
          <p:cNvSpPr txBox="1"/>
          <p:nvPr/>
        </p:nvSpPr>
        <p:spPr>
          <a:xfrm>
            <a:off x="649600" y="2890000"/>
            <a:ext cx="201856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Se cumplen todos los criterios y las evidencias están verificadas: pasa a la fase siguiente.</a:t>
            </a:r>
          </a:p>
        </p:txBody>
      </p:sp>
      <p:sp>
        <p:nvSpPr>
          <p:cNvPr id="49" name="Caja 49"/>
          <p:cNvSpPr/>
          <p:nvPr/>
        </p:nvSpPr>
        <p:spPr>
          <a:xfrm>
            <a:off x="2828160" y="2050000"/>
            <a:ext cx="2098560" cy="8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Con condiciones</a:t>
            </a:r>
          </a:p>
        </p:txBody>
      </p:sp>
      <p:sp>
        <p:nvSpPr>
          <p:cNvPr id="50" name="Caja 50"/>
          <p:cNvSpPr/>
          <p:nvPr/>
        </p:nvSpPr>
        <p:spPr>
          <a:xfrm>
            <a:off x="2828160" y="2790000"/>
            <a:ext cx="209856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51" name="Texto 51"/>
          <p:cNvSpPr txBox="1"/>
          <p:nvPr/>
        </p:nvSpPr>
        <p:spPr>
          <a:xfrm>
            <a:off x="2868160" y="2890000"/>
            <a:ext cx="201856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Pasa, con plazo y responsable para lo pendiente. Nunca para controles críticos de seguridad, legales o de supervisión humana.</a:t>
            </a:r>
          </a:p>
        </p:txBody>
      </p:sp>
      <p:sp>
        <p:nvSpPr>
          <p:cNvPr id="52" name="Caja 52"/>
          <p:cNvSpPr/>
          <p:nvPr/>
        </p:nvSpPr>
        <p:spPr>
          <a:xfrm>
            <a:off x="5046720" y="2050000"/>
            <a:ext cx="2098560" cy="800000"/>
          </a:xfrm>
          <a:prstGeom prst="roundRect">
            <a:avLst>
              <a:gd name="adj" fmla="val 6000"/>
            </a:avLst>
          </a:prstGeom>
          <a:solidFill>
            <a:srgbClr val="A5822A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Iterar</a:t>
            </a:r>
          </a:p>
        </p:txBody>
      </p:sp>
      <p:sp>
        <p:nvSpPr>
          <p:cNvPr id="53" name="Caja 53"/>
          <p:cNvSpPr/>
          <p:nvPr/>
        </p:nvSpPr>
        <p:spPr>
          <a:xfrm>
            <a:off x="5046720" y="2790000"/>
            <a:ext cx="209856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54" name="Texto 54"/>
          <p:cNvSpPr txBox="1"/>
          <p:nvPr/>
        </p:nvSpPr>
        <p:spPr>
          <a:xfrm>
            <a:off x="5086720" y="2890000"/>
            <a:ext cx="201856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Se repite la fase con un ajuste concreto y se vuelve a la misma puerta. A la tercera, decide el órgano superior.</a:t>
            </a:r>
          </a:p>
        </p:txBody>
      </p:sp>
      <p:sp>
        <p:nvSpPr>
          <p:cNvPr id="55" name="Caja 55"/>
          <p:cNvSpPr/>
          <p:nvPr/>
        </p:nvSpPr>
        <p:spPr>
          <a:xfrm>
            <a:off x="7265280" y="2050000"/>
            <a:ext cx="2098560" cy="80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Pivotar</a:t>
            </a:r>
          </a:p>
        </p:txBody>
      </p:sp>
      <p:sp>
        <p:nvSpPr>
          <p:cNvPr id="56" name="Caja 56"/>
          <p:cNvSpPr/>
          <p:nvPr/>
        </p:nvSpPr>
        <p:spPr>
          <a:xfrm>
            <a:off x="7265280" y="2790000"/>
            <a:ext cx="209856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57" name="Texto 57"/>
          <p:cNvSpPr txBox="1"/>
          <p:nvPr/>
        </p:nvSpPr>
        <p:spPr>
          <a:xfrm>
            <a:off x="7305280" y="2890000"/>
            <a:ext cx="201856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La hipótesis no se sostiene pero hay otra razonable: vuelve a la fase 2. Solo en G1, G2 y G3.</a:t>
            </a:r>
          </a:p>
        </p:txBody>
      </p:sp>
      <p:sp>
        <p:nvSpPr>
          <p:cNvPr id="58" name="Caja 58"/>
          <p:cNvSpPr/>
          <p:nvPr/>
        </p:nvSpPr>
        <p:spPr>
          <a:xfrm>
            <a:off x="9483840" y="2050000"/>
            <a:ext cx="2098560" cy="8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Parar</a:t>
            </a:r>
          </a:p>
        </p:txBody>
      </p:sp>
      <p:sp>
        <p:nvSpPr>
          <p:cNvPr id="59" name="Caja 59"/>
          <p:cNvSpPr/>
          <p:nvPr/>
        </p:nvSpPr>
        <p:spPr>
          <a:xfrm>
            <a:off x="9483840" y="2790000"/>
            <a:ext cx="209856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60" name="Texto 60"/>
          <p:cNvSpPr txBox="1"/>
          <p:nvPr/>
        </p:nvSpPr>
        <p:spPr>
          <a:xfrm>
            <a:off x="9523840" y="2890000"/>
            <a:ext cx="201856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No hay valor plausible o el riesgo es inaceptable. Se registran el motivo y lo aprendido. Es un buen resultado.</a:t>
            </a:r>
          </a:p>
        </p:txBody>
      </p:sp>
      <p:sp>
        <p:nvSpPr>
          <p:cNvPr id="61" name="Texto 61"/>
          <p:cNvSpPr txBox="1"/>
          <p:nvPr/>
        </p:nvSpPr>
        <p:spPr>
          <a:xfrm>
            <a:off x="609600" y="615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0F5499"/>
                </a:solidFill>
              </a:rPr>
              <a:t>En G7 los resultados son Escalar, Iterar o Retirar.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8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Marca"/>
          <p:cNvSpPr/>
          <p:nvPr/>
        </p:nvSpPr>
        <p:spPr>
          <a:xfrm>
            <a:off x="609600" y="240000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67" name="Texto 67"/>
          <p:cNvSpPr txBox="1"/>
          <p:nvPr/>
        </p:nvSpPr>
        <p:spPr>
          <a:xfrm>
            <a:off x="838200" y="2320000"/>
            <a:ext cx="9000000" cy="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600" b="1" dirty="0">
                <a:solidFill>
                  <a:srgbClr val="F3CFB2"/>
                </a:solidFill>
              </a:rPr>
              <a:t>DEL DOCUMENTO AL PANEL</a:t>
            </a:r>
          </a:p>
        </p:txBody>
      </p:sp>
      <p:sp>
        <p:nvSpPr>
          <p:cNvPr id="68" name="Texto 68"/>
          <p:cNvSpPr txBox="1"/>
          <p:nvPr/>
        </p:nvSpPr>
        <p:spPr>
          <a:xfrm>
            <a:off x="609600" y="2850000"/>
            <a:ext cx="10972800" cy="1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4000" b="1" dirty="0">
                <a:solidFill>
                  <a:srgbClr val="FBE2CD"/>
                </a:solidFill>
              </a:rPr>
              <a:t>Cómo se llena el embudo</a:t>
            </a:r>
          </a:p>
        </p:txBody>
      </p:sp>
      <p:sp>
        <p:nvSpPr>
          <p:cNvPr id="69" name="Texto 69"/>
          <p:cNvSpPr txBox="1"/>
          <p:nvPr/>
        </p:nvSpPr>
        <p:spPr>
          <a:xfrm>
            <a:off x="609600" y="4400000"/>
            <a:ext cx="10500000" cy="9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700" dirty="0">
                <a:solidFill>
                  <a:srgbClr val="F3CFB2"/>
                </a:solidFill>
              </a:rPr>
              <a:t>Nadie dibuja el embudo ni el panel: salen solos de lo que se rellena y se decide en cada fase. Este es el recorrido.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88" name="Texto 88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EMPRESA · AUTOCONSULTORÍA</a:t>
            </a:r>
          </a:p>
        </p:txBody>
      </p:sp>
      <p:sp>
        <p:nvSpPr>
          <p:cNvPr id="89" name="Texto 89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Fases 0 a 3: de la idea a la prueba de concepto</a:t>
            </a:r>
          </a:p>
        </p:txBody>
      </p:sp>
      <p:sp>
        <p:nvSpPr>
          <p:cNvPr id="90" name="Texto 90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Qué se hace, qué plantillas se rellenan y qué puerta cierra cada fase</a:t>
            </a:r>
          </a:p>
        </p:txBody>
      </p:sp>
      <p:sp>
        <p:nvSpPr>
          <p:cNvPr id="70" name="Caja 70"/>
          <p:cNvSpPr/>
          <p:nvPr/>
        </p:nvSpPr>
        <p:spPr>
          <a:xfrm>
            <a:off x="6096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564D47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F0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Contexto y restricciones</a:t>
            </a:r>
          </a:p>
        </p:txBody>
      </p:sp>
      <p:sp>
        <p:nvSpPr>
          <p:cNvPr id="71" name="Caja 71"/>
          <p:cNvSpPr/>
          <p:nvPr/>
        </p:nvSpPr>
        <p:spPr>
          <a:xfrm>
            <a:off x="6096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72" name="Texto 72"/>
          <p:cNvSpPr txBox="1"/>
          <p:nvPr/>
        </p:nvSpPr>
        <p:spPr>
          <a:xfrm>
            <a:off x="6496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Qué se hace. </a:t>
            </a:r>
            <a:r>
              <a:rPr lang="es-ES" sz="1150" dirty="0">
                <a:solidFill>
                  <a:srgbClr val="2F2B28"/>
                </a:solidFill>
              </a:rPr>
              <a:t>Se autoriza la idea: patrocinador, responsable, alcance, restricciones e intensidad (Lite o Enterprise).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Se rellena. </a:t>
            </a:r>
            <a:r>
              <a:rPr lang="es-ES" sz="1150" dirty="0">
                <a:solidFill>
                  <a:srgbClr val="2F2B28"/>
                </a:solidFill>
              </a:rPr>
              <a:t>P01 Carta de la iniciativa · P02 Contexto y restricciones · P03 Roles · P04 Intensidad · P05 Alta en el inventario.</a:t>
            </a:r>
          </a:p>
        </p:txBody>
      </p:sp>
      <p:sp>
        <p:nvSpPr>
          <p:cNvPr id="73" name="Caja 73"/>
          <p:cNvSpPr/>
          <p:nvPr/>
        </p:nvSpPr>
        <p:spPr>
          <a:xfrm>
            <a:off x="6096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G0 → entra en «Propuesto»</a:t>
            </a:r>
          </a:p>
        </p:txBody>
      </p:sp>
      <p:sp>
        <p:nvSpPr>
          <p:cNvPr id="74" name="Caja 74"/>
          <p:cNvSpPr/>
          <p:nvPr/>
        </p:nvSpPr>
        <p:spPr>
          <a:xfrm>
            <a:off x="33853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F1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Descubrimiento</a:t>
            </a:r>
          </a:p>
        </p:txBody>
      </p:sp>
      <p:sp>
        <p:nvSpPr>
          <p:cNvPr id="75" name="Caja 75"/>
          <p:cNvSpPr/>
          <p:nvPr/>
        </p:nvSpPr>
        <p:spPr>
          <a:xfrm>
            <a:off x="33853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76" name="Texto 76"/>
          <p:cNvSpPr txBox="1"/>
          <p:nvPr/>
        </p:nvSpPr>
        <p:spPr>
          <a:xfrm>
            <a:off x="34253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Qué se hace. </a:t>
            </a:r>
            <a:r>
              <a:rPr lang="es-ES" sz="1150" dirty="0">
                <a:solidFill>
                  <a:srgbClr val="2F2B28"/>
                </a:solidFill>
              </a:rPr>
              <a:t>Se comparan oportunidades, también alternativas sin IA, y se propone esfera y nivel de ambición.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Se rellena. </a:t>
            </a:r>
            <a:r>
              <a:rPr lang="es-ES" sz="1150" dirty="0">
                <a:solidFill>
                  <a:srgbClr val="2F2B28"/>
                </a:solidFill>
              </a:rPr>
              <a:t>P06 Cartera de oportunidades y filtrado · P07 Esfera y ambición · P31 Ficha de caso de uso.</a:t>
            </a:r>
          </a:p>
        </p:txBody>
      </p:sp>
      <p:sp>
        <p:nvSpPr>
          <p:cNvPr id="77" name="Caja 77"/>
          <p:cNvSpPr/>
          <p:nvPr/>
        </p:nvSpPr>
        <p:spPr>
          <a:xfrm>
            <a:off x="33853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G1 → sigue en «Propuesto»</a:t>
            </a:r>
          </a:p>
        </p:txBody>
      </p:sp>
      <p:sp>
        <p:nvSpPr>
          <p:cNvPr id="78" name="Caja 78"/>
          <p:cNvSpPr/>
          <p:nvPr/>
        </p:nvSpPr>
        <p:spPr>
          <a:xfrm>
            <a:off x="61610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F2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Hipótesis de valor</a:t>
            </a:r>
          </a:p>
        </p:txBody>
      </p:sp>
      <p:sp>
        <p:nvSpPr>
          <p:cNvPr id="79" name="Caja 79"/>
          <p:cNvSpPr/>
          <p:nvPr/>
        </p:nvSpPr>
        <p:spPr>
          <a:xfrm>
            <a:off x="61610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80" name="Texto 80"/>
          <p:cNvSpPr txBox="1"/>
          <p:nvPr/>
        </p:nvSpPr>
        <p:spPr>
          <a:xfrm>
            <a:off x="62010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Qué se hace. </a:t>
            </a:r>
            <a:r>
              <a:rPr lang="es-ES" sz="1150" dirty="0">
                <a:solidFill>
                  <a:srgbClr val="2F2B28"/>
                </a:solidFill>
              </a:rPr>
              <a:t>Hipótesis falsable en dinero, con línea base, método de atribución y criterios de parada fijados antes de empezar.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Se rellena. </a:t>
            </a:r>
            <a:r>
              <a:rPr lang="es-ES" sz="1150" dirty="0">
                <a:solidFill>
                  <a:srgbClr val="2F2B28"/>
                </a:solidFill>
              </a:rPr>
              <a:t>P08 Lienzo de hipótesis de valor · P09 Línea base. Apoyo: calculadora T11.</a:t>
            </a:r>
          </a:p>
        </p:txBody>
      </p:sp>
      <p:sp>
        <p:nvSpPr>
          <p:cNvPr id="81" name="Caja 81"/>
          <p:cNvSpPr/>
          <p:nvPr/>
        </p:nvSpPr>
        <p:spPr>
          <a:xfrm>
            <a:off x="61610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G2 → «Hipótesis de valor»</a:t>
            </a:r>
          </a:p>
        </p:txBody>
      </p:sp>
      <p:sp>
        <p:nvSpPr>
          <p:cNvPr id="82" name="Caja 82"/>
          <p:cNvSpPr/>
          <p:nvPr/>
        </p:nvSpPr>
        <p:spPr>
          <a:xfrm>
            <a:off x="89367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F3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Viabilidad y riesgo</a:t>
            </a:r>
          </a:p>
        </p:txBody>
      </p:sp>
      <p:sp>
        <p:nvSpPr>
          <p:cNvPr id="83" name="Caja 83"/>
          <p:cNvSpPr/>
          <p:nvPr/>
        </p:nvSpPr>
        <p:spPr>
          <a:xfrm>
            <a:off x="89367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84" name="Texto 84"/>
          <p:cNvSpPr txBox="1"/>
          <p:nvPr/>
        </p:nvSpPr>
        <p:spPr>
          <a:xfrm>
            <a:off x="89767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Qué se hace. </a:t>
            </a:r>
            <a:r>
              <a:rPr lang="es-ES" sz="1150" dirty="0">
                <a:solidFill>
                  <a:srgbClr val="2F2B28"/>
                </a:solidFill>
              </a:rPr>
              <a:t>Prueba de concepto: viabilidad, clasificación regulatoria, riesgos y proveedores. Es la principal puerta de parada.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Se rellena. </a:t>
            </a:r>
            <a:r>
              <a:rPr lang="es-ES" sz="1150" dirty="0">
                <a:solidFill>
                  <a:srgbClr val="2F2B28"/>
                </a:solidFill>
              </a:rPr>
              <a:t>P10 Viabilidad · P11 Clasificación regulatoria e impacto · P12 Riesgos · P13 Mitigación · P14 Proveedor.</a:t>
            </a:r>
          </a:p>
        </p:txBody>
      </p:sp>
      <p:sp>
        <p:nvSpPr>
          <p:cNvPr id="85" name="Caja 85"/>
          <p:cNvSpPr/>
          <p:nvPr/>
        </p:nvSpPr>
        <p:spPr>
          <a:xfrm>
            <a:off x="89367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G3 → «Prueba de concepto»</a:t>
            </a:r>
          </a:p>
        </p:txBody>
      </p:sp>
      <p:sp>
        <p:nvSpPr>
          <p:cNvPr id="86" name="Texto 86"/>
          <p:cNvSpPr txBox="1"/>
          <p:nvPr/>
        </p:nvSpPr>
        <p:spPr>
          <a:xfrm>
            <a:off x="609600" y="626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b="1" dirty="0">
                <a:solidFill>
                  <a:srgbClr val="0F5499"/>
                </a:solidFill>
              </a:rPr>
              <a:t>Cada decisión de puerta se deja en P29 y en el registro T01, con el estado de cada criterio y su evidencia.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09" name="Texto 109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EMPRESA · AUTOCONSULTORÍA</a:t>
            </a:r>
          </a:p>
        </p:txBody>
      </p:sp>
      <p:sp>
        <p:nvSpPr>
          <p:cNvPr id="110" name="Texto 110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Fases 4 a 7: del diseño a la producción y la retirada</a:t>
            </a:r>
          </a:p>
        </p:txBody>
      </p:sp>
      <p:sp>
        <p:nvSpPr>
          <p:cNvPr id="111" name="Texto 111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La puesta en producción no cierra el ciclo: abre la operación, con revisiones periódicas</a:t>
            </a:r>
          </a:p>
        </p:txBody>
      </p:sp>
      <p:sp>
        <p:nvSpPr>
          <p:cNvPr id="91" name="Caja 91"/>
          <p:cNvSpPr/>
          <p:nvPr/>
        </p:nvSpPr>
        <p:spPr>
          <a:xfrm>
            <a:off x="6096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F4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Diseño de la solución</a:t>
            </a:r>
          </a:p>
        </p:txBody>
      </p:sp>
      <p:sp>
        <p:nvSpPr>
          <p:cNvPr id="92" name="Caja 92"/>
          <p:cNvSpPr/>
          <p:nvPr/>
        </p:nvSpPr>
        <p:spPr>
          <a:xfrm>
            <a:off x="6096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93" name="Texto 93"/>
          <p:cNvSpPr txBox="1"/>
          <p:nvPr/>
        </p:nvSpPr>
        <p:spPr>
          <a:xfrm>
            <a:off x="6496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Qué se hace. </a:t>
            </a:r>
            <a:r>
              <a:rPr lang="es-ES" sz="1150" dirty="0">
                <a:solidFill>
                  <a:srgbClr val="2F2B28"/>
                </a:solidFill>
              </a:rPr>
              <a:t>Antes de construir: arquitectura, linaje de datos y modelos, supervisión humana, seguridad, reversión y adopción.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Se rellena. </a:t>
            </a:r>
            <a:r>
              <a:rPr lang="es-ES" sz="1150" dirty="0">
                <a:solidFill>
                  <a:srgbClr val="2F2B28"/>
                </a:solidFill>
              </a:rPr>
              <a:t>P15 Arquitectura · P16 Linaje · P17 Supervisión humana · P18 Seguridad · P19 Reversión · P20 Adopción.</a:t>
            </a:r>
          </a:p>
        </p:txBody>
      </p:sp>
      <p:sp>
        <p:nvSpPr>
          <p:cNvPr id="94" name="Caja 94"/>
          <p:cNvSpPr/>
          <p:nvPr/>
        </p:nvSpPr>
        <p:spPr>
          <a:xfrm>
            <a:off x="6096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G4 → «En desarrollo»</a:t>
            </a:r>
          </a:p>
        </p:txBody>
      </p:sp>
      <p:sp>
        <p:nvSpPr>
          <p:cNvPr id="95" name="Caja 95"/>
          <p:cNvSpPr/>
          <p:nvPr/>
        </p:nvSpPr>
        <p:spPr>
          <a:xfrm>
            <a:off x="33853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F5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Entrega y validación</a:t>
            </a:r>
          </a:p>
        </p:txBody>
      </p:sp>
      <p:sp>
        <p:nvSpPr>
          <p:cNvPr id="96" name="Caja 96"/>
          <p:cNvSpPr/>
          <p:nvPr/>
        </p:nvSpPr>
        <p:spPr>
          <a:xfrm>
            <a:off x="33853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97" name="Texto 97"/>
          <p:cNvSpPr txBox="1"/>
          <p:nvPr/>
        </p:nvSpPr>
        <p:spPr>
          <a:xfrm>
            <a:off x="34253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Qué se hace. </a:t>
            </a:r>
            <a:r>
              <a:rPr lang="es-ES" sz="1150" dirty="0">
                <a:solidFill>
                  <a:srgbClr val="2F2B28"/>
                </a:solidFill>
              </a:rPr>
              <a:t>Se construye, se valida y se pilota; se prueba la reversión y se firma la puesta en producción.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Se rellena. </a:t>
            </a:r>
            <a:r>
              <a:rPr lang="es-ES" sz="1150" dirty="0">
                <a:solidFill>
                  <a:srgbClr val="2F2B28"/>
                </a:solidFill>
              </a:rPr>
              <a:t>P21 Informe de entrega · P22 Validación y piloto · P23 Firma de puesta en producción · P12 actualizado.</a:t>
            </a:r>
          </a:p>
        </p:txBody>
      </p:sp>
      <p:sp>
        <p:nvSpPr>
          <p:cNvPr id="98" name="Caja 98"/>
          <p:cNvSpPr/>
          <p:nvPr/>
        </p:nvSpPr>
        <p:spPr>
          <a:xfrm>
            <a:off x="33853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G5 → pasa a «En uso»</a:t>
            </a:r>
          </a:p>
        </p:txBody>
      </p:sp>
      <p:sp>
        <p:nvSpPr>
          <p:cNvPr id="99" name="Caja 99"/>
          <p:cNvSpPr/>
          <p:nvPr/>
        </p:nvSpPr>
        <p:spPr>
          <a:xfrm>
            <a:off x="61610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F6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Operación y gobierno</a:t>
            </a:r>
          </a:p>
        </p:txBody>
      </p:sp>
      <p:sp>
        <p:nvSpPr>
          <p:cNvPr id="100" name="Caja 100"/>
          <p:cNvSpPr/>
          <p:nvPr/>
        </p:nvSpPr>
        <p:spPr>
          <a:xfrm>
            <a:off x="61610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101" name="Texto 101"/>
          <p:cNvSpPr txBox="1"/>
          <p:nvPr/>
        </p:nvSpPr>
        <p:spPr>
          <a:xfrm>
            <a:off x="62010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Qué se hace. </a:t>
            </a:r>
            <a:r>
              <a:rPr lang="es-ES" sz="1150" dirty="0">
                <a:solidFill>
                  <a:srgbClr val="2F2B28"/>
                </a:solidFill>
              </a:rPr>
              <a:t>Monitorización, incidentes, cambios y seguimiento del valor realizado, con revisión de continuidad periódica.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Se rellena. </a:t>
            </a:r>
            <a:r>
              <a:rPr lang="es-ES" sz="1150" dirty="0">
                <a:solidFill>
                  <a:srgbClr val="2F2B28"/>
                </a:solidFill>
              </a:rPr>
              <a:t>P24 Manual de operación · P25 Monitorización · P26 y P27 Incidentes y cambios · P28 Valor · P65 Paquete R6.</a:t>
            </a:r>
          </a:p>
        </p:txBody>
      </p:sp>
      <p:sp>
        <p:nvSpPr>
          <p:cNvPr id="102" name="Caja 102"/>
          <p:cNvSpPr/>
          <p:nvPr/>
        </p:nvSpPr>
        <p:spPr>
          <a:xfrm>
            <a:off x="61610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R6 → sigue «En uso» o adelanta G7</a:t>
            </a:r>
          </a:p>
        </p:txBody>
      </p:sp>
      <p:sp>
        <p:nvSpPr>
          <p:cNvPr id="103" name="Caja 103"/>
          <p:cNvSpPr/>
          <p:nvPr/>
        </p:nvSpPr>
        <p:spPr>
          <a:xfrm>
            <a:off x="89367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F7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Evolución o retirada</a:t>
            </a:r>
          </a:p>
        </p:txBody>
      </p:sp>
      <p:sp>
        <p:nvSpPr>
          <p:cNvPr id="104" name="Caja 104"/>
          <p:cNvSpPr/>
          <p:nvPr/>
        </p:nvSpPr>
        <p:spPr>
          <a:xfrm>
            <a:off x="89367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105" name="Texto 105"/>
          <p:cNvSpPr txBox="1"/>
          <p:nvPr/>
        </p:nvSpPr>
        <p:spPr>
          <a:xfrm>
            <a:off x="89767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Qué se hace. </a:t>
            </a:r>
            <a:r>
              <a:rPr lang="es-ES" sz="1150" dirty="0">
                <a:solidFill>
                  <a:srgbClr val="2F2B28"/>
                </a:solidFill>
              </a:rPr>
              <a:t>Con el valor realizado delante se decide escalar, iterar o retirar, y se registran las lecciones.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Se rellena. </a:t>
            </a:r>
            <a:r>
              <a:rPr lang="es-ES" sz="1150" dirty="0">
                <a:solidFill>
                  <a:srgbClr val="2F2B28"/>
                </a:solidFill>
              </a:rPr>
              <a:t>P28 Seguimiento del valor · P30 Decisión de escalado o retirada, con plan de retirada si procede.</a:t>
            </a:r>
          </a:p>
        </p:txBody>
      </p:sp>
      <p:sp>
        <p:nvSpPr>
          <p:cNvPr id="106" name="Caja 106"/>
          <p:cNvSpPr/>
          <p:nvPr/>
        </p:nvSpPr>
        <p:spPr>
          <a:xfrm>
            <a:off x="89367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G7 → escala, itera o «Desenganchado»</a:t>
            </a:r>
          </a:p>
        </p:txBody>
      </p:sp>
      <p:sp>
        <p:nvSpPr>
          <p:cNvPr id="107" name="Texto 107"/>
          <p:cNvSpPr txBox="1"/>
          <p:nvPr/>
        </p:nvSpPr>
        <p:spPr>
          <a:xfrm>
            <a:off x="609600" y="626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b="1" dirty="0">
                <a:solidFill>
                  <a:srgbClr val="0F5499"/>
                </a:solidFill>
              </a:rPr>
              <a:t>Cada decisión de puerta se deja en P29 y en el registro T01, con el estado de cada criterio y su evidencia.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15" name="Texto 115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EMPRESA · AUTOCONSULTORÍA</a:t>
            </a:r>
          </a:p>
        </p:txBody>
      </p:sp>
      <p:sp>
        <p:nvSpPr>
          <p:cNvPr id="116" name="Texto 116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El registro de iniciativas (T01): donde todo queda anotado</a:t>
            </a:r>
          </a:p>
        </p:txBody>
      </p:sp>
      <p:sp>
        <p:nvSpPr>
          <p:cNvPr id="117" name="Texto 117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Cada iniciativa se da de alta como una oportunidad en un CRM; aquí, el registro de ejemplo con datos ficticios</a:t>
            </a:r>
          </a:p>
        </p:txBody>
      </p:sp>
      <p:pic>
        <p:nvPicPr>
          <p:cNvPr id="112" name="Imagen 112" descr="Vista de embudo del registro de iniciativas T01"/>
          <p:cNvPicPr>
            <a:picLocks noChangeAspect="1"/>
          </p:cNvPicPr>
          <p:nvPr/>
        </p:nvPicPr>
        <p:blipFill>
          <a:blip r:embed="rIdImg_registro"/>
          <a:stretch>
            <a:fillRect/>
          </a:stretch>
        </p:blipFill>
        <p:spPr>
          <a:xfrm>
            <a:off x="609600" y="1900000"/>
            <a:ext cx="6211111" cy="4300000"/>
          </a:xfrm>
          <a:prstGeom prst="rect">
            <a:avLst/>
          </a:prstGeom>
          <a:ln w="12700">
            <a:solidFill>
              <a:srgbClr val="C9A78D"/>
            </a:solidFill>
          </a:ln>
        </p:spPr>
      </p:pic>
      <p:sp>
        <p:nvSpPr>
          <p:cNvPr id="113" name="Texto 113"/>
          <p:cNvSpPr txBox="1"/>
          <p:nvPr/>
        </p:nvSpPr>
        <p:spPr>
          <a:xfrm>
            <a:off x="7709600" y="1850000"/>
            <a:ext cx="38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Una barra por fase: cuántas iniciativas hay ahora en cada una y cuánto valor esperado llevan.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Al decidir una puerta, el registro guarda la fecha, el resultado, quién verificó y quién decidió, y el estado de cada criterio.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Con esas fechas calcula solo el tiempo en fase y marca «estancadas» las que superan el plazo de referencia.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Las cifras llevan estado: validado, declarado o estimado. Lo que no se sabe queda «sin dato», nunca cero.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Alertas: puertas pendientes, condiciones vencidas, riesgos sin responsable.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Todo se guarda en un fichero JSON de la propia compañía: sin servidor y sin enviar datos a nadie.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21" name="Texto 121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EMPRESA · AUTOCONSULTORÍA</a:t>
            </a:r>
          </a:p>
        </p:txBody>
      </p:sp>
      <p:sp>
        <p:nvSpPr>
          <p:cNvPr id="122" name="Texto 122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El embudo de la cartera: cómo se lee</a:t>
            </a:r>
          </a:p>
        </p:txBody>
      </p:sp>
      <p:sp>
        <p:nvSpPr>
          <p:cNvPr id="123" name="Texto 123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La cartera de IA, leída como un embudo comercial. Datos ilustrativos</a:t>
            </a:r>
          </a:p>
        </p:txBody>
      </p:sp>
      <p:pic>
        <p:nvPicPr>
          <p:cNvPr id="118" name="Imagen 118" descr="Embudo de iniciativas de IA con sus etapas, salidas y casos en uso"/>
          <p:cNvPicPr>
            <a:picLocks noChangeAspect="1"/>
          </p:cNvPicPr>
          <p:nvPr/>
        </p:nvPicPr>
        <p:blipFill>
          <a:blip r:embed="rIdImg_embudo"/>
          <a:stretch>
            <a:fillRect/>
          </a:stretch>
        </p:blipFill>
        <p:spPr>
          <a:xfrm>
            <a:off x="609600" y="1900000"/>
            <a:ext cx="7500000" cy="3692308"/>
          </a:xfrm>
          <a:prstGeom prst="rect">
            <a:avLst/>
          </a:prstGeom>
          <a:ln w="12700">
            <a:solidFill>
              <a:srgbClr val="C9A78D"/>
            </a:solidFill>
          </a:ln>
        </p:spPr>
      </p:pic>
      <p:sp>
        <p:nvSpPr>
          <p:cNvPr id="119" name="Texto 119"/>
          <p:cNvSpPr txBox="1"/>
          <p:nvPr/>
        </p:nvSpPr>
        <p:spPr>
          <a:xfrm>
            <a:off x="8309600" y="1850000"/>
            <a:ext cx="32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Dentro del embudo, solo lo que está en curso: 5 propuestas, 4 con hipótesis de valor, 3 en prueba de concepto y 4 en desarrollo.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A la izquierda, cuántas alcanzaron cada etapa (40 → 31 → 24 → 17) y cuánto tardan. El triángulo rojo avisa: la prueba de concepto supera su plazo.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A la derecha, las que no superaron cada etapa y por qué: sin valor plausible, hipótesis refutada, riesgo inaceptable, coste superior al valor.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Debajo, las que ya lo atravesaron: 11 en uso, con su valor y su coste, y 1 desenganchada.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No se busca convertir más: parar en G3 una iniciativa inviable es un buen resultado. Un 100 % de conversión indicaría puertas blandas.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28" name="Texto 128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EMPRESA · AUTOCONSULTORÍA</a:t>
            </a:r>
          </a:p>
        </p:txBody>
      </p:sp>
      <p:sp>
        <p:nvSpPr>
          <p:cNvPr id="129" name="Texto 129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El panel del consejo (T17): cómo se lee</a:t>
            </a:r>
          </a:p>
        </p:txBody>
      </p:sp>
      <p:sp>
        <p:nvSpPr>
          <p:cNvPr id="130" name="Texto 130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Se genera del mismo registro, sin volver a teclear nada. Datos ficticios</a:t>
            </a:r>
          </a:p>
        </p:txBody>
      </p:sp>
      <p:pic>
        <p:nvPicPr>
          <p:cNvPr id="124" name="Imagen 124" descr="Panel del consejo con las tarjetas de cartera y valor"/>
          <p:cNvPicPr>
            <a:picLocks noChangeAspect="1"/>
          </p:cNvPicPr>
          <p:nvPr/>
        </p:nvPicPr>
        <p:blipFill>
          <a:blip r:embed="rIdImg_panel"/>
          <a:stretch>
            <a:fillRect/>
          </a:stretch>
        </p:blipFill>
        <p:spPr>
          <a:xfrm>
            <a:off x="609600" y="1900000"/>
            <a:ext cx="6700000" cy="4243333"/>
          </a:xfrm>
          <a:prstGeom prst="rect">
            <a:avLst/>
          </a:prstGeom>
          <a:ln w="12700">
            <a:solidFill>
              <a:srgbClr val="C9A78D"/>
            </a:solidFill>
          </a:ln>
        </p:spPr>
      </p:pic>
      <p:sp>
        <p:nvSpPr>
          <p:cNvPr id="125" name="Texto 125"/>
          <p:cNvSpPr txBox="1"/>
          <p:nvPr/>
        </p:nvSpPr>
        <p:spPr>
          <a:xfrm>
            <a:off x="7509600" y="1850000"/>
            <a:ext cx="40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15 casos: cuántos hay en uso, en desarrollo, en prueba de concepto, propuestos y fuera.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Costes 2,4 M€ al año y retorno total 7,3 M€ (eficiencias más retorno): el neto anual es 4,8 M€.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La tarjeta amarilla es la importante: solo el 36 % del valor está validado por control de gestión. El resto es declarado o estimado.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La capacidad liberada que no se materializa aparece aparte y no suma.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En rojo: solo 3 de 15 casos tienen todos los controles (evaluaciones de impacto, seguridad, manual de uso).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Otras páginas: embudo y ciclo de vida, histórico y adopción, riesgo y cumplimiento, inventario.</a:t>
            </a:r>
          </a:p>
        </p:txBody>
      </p:sp>
      <p:sp>
        <p:nvSpPr>
          <p:cNvPr id="126" name="Texto 126"/>
          <p:cNvSpPr txBox="1"/>
          <p:nvPr/>
        </p:nvSpPr>
        <p:spPr>
          <a:xfrm>
            <a:off x="609600" y="626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b="1" dirty="0">
                <a:solidFill>
                  <a:srgbClr val="0F5499"/>
                </a:solidFill>
              </a:rPr>
              <a:t>Si una cifra del panel no gusta, no se retoca el panel: se corrige la evidencia en el registro y se vuelve a generar.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8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Marca"/>
          <p:cNvSpPr/>
          <p:nvPr/>
        </p:nvSpPr>
        <p:spPr>
          <a:xfrm>
            <a:off x="609600" y="240000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32" name="Texto 132"/>
          <p:cNvSpPr txBox="1"/>
          <p:nvPr/>
        </p:nvSpPr>
        <p:spPr>
          <a:xfrm>
            <a:off x="838200" y="2320000"/>
            <a:ext cx="9000000" cy="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600" b="1" dirty="0">
                <a:solidFill>
                  <a:srgbClr val="F3CFB2"/>
                </a:solidFill>
              </a:rPr>
              <a:t>DOS EJEMPLOS</a:t>
            </a:r>
          </a:p>
        </p:txBody>
      </p:sp>
      <p:sp>
        <p:nvSpPr>
          <p:cNvPr id="133" name="Texto 133"/>
          <p:cNvSpPr txBox="1"/>
          <p:nvPr/>
        </p:nvSpPr>
        <p:spPr>
          <a:xfrm>
            <a:off x="609600" y="2850000"/>
            <a:ext cx="10972800" cy="1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4000" b="1" dirty="0">
                <a:solidFill>
                  <a:srgbClr val="FBE2CD"/>
                </a:solidFill>
              </a:rPr>
              <a:t>Una iniciativa que se para y otra que llega a producción</a:t>
            </a:r>
          </a:p>
        </p:txBody>
      </p:sp>
      <p:sp>
        <p:nvSpPr>
          <p:cNvPr id="134" name="Texto 134"/>
          <p:cNvSpPr txBox="1"/>
          <p:nvPr/>
        </p:nvSpPr>
        <p:spPr>
          <a:xfrm>
            <a:off x="609600" y="4400000"/>
            <a:ext cx="10500000" cy="9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700" dirty="0">
                <a:solidFill>
                  <a:srgbClr val="F3CFB2"/>
                </a:solidFill>
              </a:rPr>
              <a:t>Datos ficticios, ilustrativos: no describen ninguna compañía real.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39" name="Texto 139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EMPRESA · AUTOCONSULTORÍA</a:t>
            </a:r>
          </a:p>
        </p:txBody>
      </p:sp>
      <p:sp>
        <p:nvSpPr>
          <p:cNvPr id="140" name="Texto 140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Ejemplo 1 · Cuando una iniciativa se para</a:t>
            </a:r>
          </a:p>
        </p:txBody>
      </p:sp>
      <p:sp>
        <p:nvSpPr>
          <p:cNvPr id="135" name="Texto 135"/>
          <p:cNvSpPr txBox="1"/>
          <p:nvPr/>
        </p:nvSpPr>
        <p:spPr>
          <a:xfrm>
            <a:off x="609600" y="133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700" b="1" dirty="0">
                <a:solidFill>
                  <a:srgbClr val="2F2B28"/>
                </a:solidFill>
              </a:rPr>
              <a:t>Cribado de candidaturas en procesos de selección (RR. HH.)</a:t>
            </a:r>
          </a:p>
        </p:txBody>
      </p:sp>
      <p:sp>
        <p:nvSpPr>
          <p:cNvPr id="136" name="Texto 136"/>
          <p:cNvSpPr txBox="1"/>
          <p:nvPr/>
        </p:nvSpPr>
        <p:spPr>
          <a:xfrm>
            <a:off x="609600" y="1900000"/>
            <a:ext cx="10972800" cy="35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Fases 0 y 1: RR. HH. la patrocina (P01–P05). Al decidir sobre personas, la intensidad es Enterprise (P04). Entra en «Propuesto».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Fase 2: la hipótesis (P08) promete un 40 % menos de tiempo de cribado frente a la línea base (P09). El piloto lo confirma: G2, Continuar.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Fase 3: la clasificación regulatoria (P11) lo sitúa como sistema de alto riesgo. La prueba de sesgo detecta que penaliza a candidatos de más edad.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Se itera dos veces ajustando variables: corregir el sesgo destruye la capacidad predictiva que justificaba el proyecto.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G3: riesgo residual alto sin mitigación viable (P12, P13). El comité de IA decide Parar; queda en P29 con su motivo.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En el embudo aparece a la derecha de «Prueba de concepto»: Descartado · riesgo inaceptable. Lección: probar el sesgo antes, en la fase 2.</a:t>
            </a:r>
          </a:p>
        </p:txBody>
      </p:sp>
      <p:sp>
        <p:nvSpPr>
          <p:cNvPr id="137" name="Caja 137"/>
          <p:cNvSpPr/>
          <p:nvPr/>
        </p:nvSpPr>
        <p:spPr>
          <a:xfrm>
            <a:off x="609600" y="5600000"/>
            <a:ext cx="10972800" cy="9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100" b="1" dirty="0">
                <a:solidFill>
                  <a:srgbClr val="FFFFFF"/>
                </a:solidFill>
              </a:rPr>
              <a:t>PARADA EN G3 · SE EVITÓ CONSTRUIR Y OPERAR UN SISTEMA INVIABLE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59" name="Texto 159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EMPRESA · AUTOCONSULTORÍA</a:t>
            </a:r>
          </a:p>
        </p:txBody>
      </p:sp>
      <p:sp>
        <p:nvSpPr>
          <p:cNvPr id="160" name="Texto 160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La iniciativa 1, sobre el ciclo de vida</a:t>
            </a:r>
          </a:p>
        </p:txBody>
      </p:sp>
      <p:sp>
        <p:nvSpPr>
          <p:cNvPr id="161" name="Texto 161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Llegó a la fase 3 y no superó la puerta G3</a:t>
            </a:r>
          </a:p>
        </p:txBody>
      </p:sp>
      <p:sp>
        <p:nvSpPr>
          <p:cNvPr id="141" name="Caja 141"/>
          <p:cNvSpPr/>
          <p:nvPr/>
        </p:nvSpPr>
        <p:spPr>
          <a:xfrm>
            <a:off x="68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F0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Contexto y restricciones</a:t>
            </a:r>
          </a:p>
        </p:txBody>
      </p:sp>
      <p:sp>
        <p:nvSpPr>
          <p:cNvPr id="142" name="Texto 142"/>
          <p:cNvSpPr txBox="1"/>
          <p:nvPr/>
        </p:nvSpPr>
        <p:spPr>
          <a:xfrm>
            <a:off x="159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G0</a:t>
            </a:r>
          </a:p>
        </p:txBody>
      </p:sp>
      <p:sp>
        <p:nvSpPr>
          <p:cNvPr id="143" name="Caja 143"/>
          <p:cNvSpPr/>
          <p:nvPr/>
        </p:nvSpPr>
        <p:spPr>
          <a:xfrm>
            <a:off x="205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F1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Descubrimiento de oportunidades</a:t>
            </a:r>
          </a:p>
        </p:txBody>
      </p:sp>
      <p:sp>
        <p:nvSpPr>
          <p:cNvPr id="144" name="Texto 144"/>
          <p:cNvSpPr txBox="1"/>
          <p:nvPr/>
        </p:nvSpPr>
        <p:spPr>
          <a:xfrm>
            <a:off x="296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G1</a:t>
            </a:r>
          </a:p>
        </p:txBody>
      </p:sp>
      <p:sp>
        <p:nvSpPr>
          <p:cNvPr id="145" name="Caja 145"/>
          <p:cNvSpPr/>
          <p:nvPr/>
        </p:nvSpPr>
        <p:spPr>
          <a:xfrm>
            <a:off x="342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F2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Hipótesis de valor</a:t>
            </a:r>
          </a:p>
        </p:txBody>
      </p:sp>
      <p:sp>
        <p:nvSpPr>
          <p:cNvPr id="146" name="Texto 146"/>
          <p:cNvSpPr txBox="1"/>
          <p:nvPr/>
        </p:nvSpPr>
        <p:spPr>
          <a:xfrm>
            <a:off x="433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G2</a:t>
            </a:r>
          </a:p>
        </p:txBody>
      </p:sp>
      <p:sp>
        <p:nvSpPr>
          <p:cNvPr id="147" name="Caja 147"/>
          <p:cNvSpPr/>
          <p:nvPr/>
        </p:nvSpPr>
        <p:spPr>
          <a:xfrm>
            <a:off x="479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F3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Viabilidad y riesgo</a:t>
            </a:r>
          </a:p>
        </p:txBody>
      </p:sp>
      <p:sp>
        <p:nvSpPr>
          <p:cNvPr id="148" name="Texto 148"/>
          <p:cNvSpPr txBox="1"/>
          <p:nvPr/>
        </p:nvSpPr>
        <p:spPr>
          <a:xfrm>
            <a:off x="570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G3</a:t>
            </a:r>
          </a:p>
        </p:txBody>
      </p:sp>
      <p:sp>
        <p:nvSpPr>
          <p:cNvPr id="149" name="Caja 149"/>
          <p:cNvSpPr/>
          <p:nvPr/>
        </p:nvSpPr>
        <p:spPr>
          <a:xfrm>
            <a:off x="616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C9A78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564D47"/>
                </a:solidFill>
              </a:rPr>
              <a:t>F4</a:t>
            </a:r>
          </a:p>
          <a:p>
            <a:pPr algn="ctr"/>
            <a:r>
              <a:rPr lang="es-ES" sz="1050" dirty="0">
                <a:solidFill>
                  <a:srgbClr val="564D47"/>
                </a:solidFill>
              </a:rPr>
              <a:t>Diseño de la solución</a:t>
            </a:r>
          </a:p>
        </p:txBody>
      </p:sp>
      <p:sp>
        <p:nvSpPr>
          <p:cNvPr id="150" name="Texto 150"/>
          <p:cNvSpPr txBox="1"/>
          <p:nvPr/>
        </p:nvSpPr>
        <p:spPr>
          <a:xfrm>
            <a:off x="707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G4</a:t>
            </a:r>
          </a:p>
        </p:txBody>
      </p:sp>
      <p:sp>
        <p:nvSpPr>
          <p:cNvPr id="151" name="Caja 151"/>
          <p:cNvSpPr/>
          <p:nvPr/>
        </p:nvSpPr>
        <p:spPr>
          <a:xfrm>
            <a:off x="753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C9A78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564D47"/>
                </a:solidFill>
              </a:rPr>
              <a:t>F5</a:t>
            </a:r>
          </a:p>
          <a:p>
            <a:pPr algn="ctr"/>
            <a:r>
              <a:rPr lang="es-ES" sz="1050" dirty="0">
                <a:solidFill>
                  <a:srgbClr val="564D47"/>
                </a:solidFill>
              </a:rPr>
              <a:t>Entrega y validación</a:t>
            </a:r>
          </a:p>
        </p:txBody>
      </p:sp>
      <p:sp>
        <p:nvSpPr>
          <p:cNvPr id="152" name="Texto 152"/>
          <p:cNvSpPr txBox="1"/>
          <p:nvPr/>
        </p:nvSpPr>
        <p:spPr>
          <a:xfrm>
            <a:off x="844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G5</a:t>
            </a:r>
          </a:p>
        </p:txBody>
      </p:sp>
      <p:sp>
        <p:nvSpPr>
          <p:cNvPr id="153" name="Caja 153"/>
          <p:cNvSpPr/>
          <p:nvPr/>
        </p:nvSpPr>
        <p:spPr>
          <a:xfrm>
            <a:off x="890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C9A78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564D47"/>
                </a:solidFill>
              </a:rPr>
              <a:t>F6</a:t>
            </a:r>
          </a:p>
          <a:p>
            <a:pPr algn="ctr"/>
            <a:r>
              <a:rPr lang="es-ES" sz="1050" dirty="0">
                <a:solidFill>
                  <a:srgbClr val="564D47"/>
                </a:solidFill>
              </a:rPr>
              <a:t>Operación y gobierno</a:t>
            </a:r>
          </a:p>
        </p:txBody>
      </p:sp>
      <p:sp>
        <p:nvSpPr>
          <p:cNvPr id="154" name="Texto 154"/>
          <p:cNvSpPr txBox="1"/>
          <p:nvPr/>
        </p:nvSpPr>
        <p:spPr>
          <a:xfrm>
            <a:off x="981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R6</a:t>
            </a:r>
          </a:p>
        </p:txBody>
      </p:sp>
      <p:sp>
        <p:nvSpPr>
          <p:cNvPr id="155" name="Caja 155"/>
          <p:cNvSpPr/>
          <p:nvPr/>
        </p:nvSpPr>
        <p:spPr>
          <a:xfrm>
            <a:off x="1027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C9A78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564D47"/>
                </a:solidFill>
              </a:rPr>
              <a:t>F7</a:t>
            </a:r>
          </a:p>
          <a:p>
            <a:pPr algn="ctr"/>
            <a:r>
              <a:rPr lang="es-ES" sz="1050" dirty="0">
                <a:solidFill>
                  <a:srgbClr val="564D47"/>
                </a:solidFill>
              </a:rPr>
              <a:t>Evolución o retirada</a:t>
            </a:r>
          </a:p>
        </p:txBody>
      </p:sp>
      <p:sp>
        <p:nvSpPr>
          <p:cNvPr id="156" name="Texto 156"/>
          <p:cNvSpPr txBox="1"/>
          <p:nvPr/>
        </p:nvSpPr>
        <p:spPr>
          <a:xfrm>
            <a:off x="1118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G7</a:t>
            </a:r>
          </a:p>
        </p:txBody>
      </p:sp>
      <p:sp>
        <p:nvSpPr>
          <p:cNvPr id="157" name="Texto 157"/>
          <p:cNvSpPr txBox="1"/>
          <p:nvPr/>
        </p:nvSpPr>
        <p:spPr>
          <a:xfrm>
            <a:off x="609600" y="4430000"/>
            <a:ext cx="10972800" cy="6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2200" b="1" dirty="0">
                <a:solidFill>
                  <a:srgbClr val="990F3D"/>
                </a:solidFill>
              </a:rPr>
              <a:t>PARADA EN G3 · sale del embudo como «Descartado», con su motivo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66" name="Texto 166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EMPRESA · AUTOCONSULTORÍA</a:t>
            </a:r>
          </a:p>
        </p:txBody>
      </p:sp>
      <p:sp>
        <p:nvSpPr>
          <p:cNvPr id="167" name="Texto 167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Ejemplo 2 · Cuando una iniciativa llega a producción</a:t>
            </a:r>
          </a:p>
        </p:txBody>
      </p:sp>
      <p:sp>
        <p:nvSpPr>
          <p:cNvPr id="162" name="Texto 162"/>
          <p:cNvSpPr txBox="1"/>
          <p:nvPr/>
        </p:nvSpPr>
        <p:spPr>
          <a:xfrm>
            <a:off x="609600" y="133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700" b="1" dirty="0">
                <a:solidFill>
                  <a:srgbClr val="2F2B28"/>
                </a:solidFill>
              </a:rPr>
              <a:t>Asistente de respuesta a incidencias de TI de primer nivel</a:t>
            </a:r>
          </a:p>
        </p:txBody>
      </p:sp>
      <p:sp>
        <p:nvSpPr>
          <p:cNvPr id="163" name="Texto 163"/>
          <p:cNvSpPr txBox="1"/>
          <p:nvPr/>
        </p:nvSpPr>
        <p:spPr>
          <a:xfrm>
            <a:off x="609600" y="1900000"/>
            <a:ext cx="10972800" cy="35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Fases 0 y 1: TI la patrocina; frente a la alternativa sin IA (más plantilla), se propone la esfera de operaciones con ambición Optimizar (P07).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Fase 2: hipótesis de un 30 % menos de tiempo de resolución en incidencias sencillas; el piloto controlado da un 32 %.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Fase 3: sin sesgo relevante, riesgo residual medio aceptado por su órgano (P12), proveedor evaluado (P14). G3, Continuar.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Fases 4 y 5: supervisión humana obligatoria por encima de cierta gravedad (P17), reversión probada (P19) y firma de puesta en producción (P23).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Fase 6: catorce meses en uso. Control de gestión valida 1,1 M€ al año (P28); la capacidad liberada se reasignó a incidencias complejas.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En el embudo está en «En uso»; en el panel suma al neto anual porque su valor está validado, no declarado.</a:t>
            </a:r>
          </a:p>
        </p:txBody>
      </p:sp>
      <p:sp>
        <p:nvSpPr>
          <p:cNvPr id="164" name="Caja 164"/>
          <p:cNvSpPr/>
          <p:nvPr/>
        </p:nvSpPr>
        <p:spPr>
          <a:xfrm>
            <a:off x="609600" y="5600000"/>
            <a:ext cx="10972800" cy="9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100" b="1" dirty="0">
                <a:solidFill>
                  <a:srgbClr val="FFFFFF"/>
                </a:solidFill>
              </a:rPr>
              <a:t>EN PRODUCCIÓN · 1,1 M€ DE RETORNO ANUAL VALIDADO · R6 TRIMESTRAL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86" name="Texto 186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EMPRESA · AUTOCONSULTORÍA</a:t>
            </a:r>
          </a:p>
        </p:txBody>
      </p:sp>
      <p:sp>
        <p:nvSpPr>
          <p:cNvPr id="187" name="Texto 187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La iniciativa 2, sobre el ciclo de vida</a:t>
            </a:r>
          </a:p>
        </p:txBody>
      </p:sp>
      <p:sp>
        <p:nvSpPr>
          <p:cNvPr id="188" name="Texto 188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Recorrió las fases 0 a 6 y sigue en uso; la fase 7 llegará con G7</a:t>
            </a:r>
          </a:p>
        </p:txBody>
      </p:sp>
      <p:sp>
        <p:nvSpPr>
          <p:cNvPr id="168" name="Caja 168"/>
          <p:cNvSpPr/>
          <p:nvPr/>
        </p:nvSpPr>
        <p:spPr>
          <a:xfrm>
            <a:off x="68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F0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Contexto y restricciones</a:t>
            </a:r>
          </a:p>
        </p:txBody>
      </p:sp>
      <p:sp>
        <p:nvSpPr>
          <p:cNvPr id="169" name="Texto 169"/>
          <p:cNvSpPr txBox="1"/>
          <p:nvPr/>
        </p:nvSpPr>
        <p:spPr>
          <a:xfrm>
            <a:off x="159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G0</a:t>
            </a:r>
          </a:p>
        </p:txBody>
      </p:sp>
      <p:sp>
        <p:nvSpPr>
          <p:cNvPr id="170" name="Caja 170"/>
          <p:cNvSpPr/>
          <p:nvPr/>
        </p:nvSpPr>
        <p:spPr>
          <a:xfrm>
            <a:off x="205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F1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Descubrimiento de oportunidades</a:t>
            </a:r>
          </a:p>
        </p:txBody>
      </p:sp>
      <p:sp>
        <p:nvSpPr>
          <p:cNvPr id="171" name="Texto 171"/>
          <p:cNvSpPr txBox="1"/>
          <p:nvPr/>
        </p:nvSpPr>
        <p:spPr>
          <a:xfrm>
            <a:off x="296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G1</a:t>
            </a:r>
          </a:p>
        </p:txBody>
      </p:sp>
      <p:sp>
        <p:nvSpPr>
          <p:cNvPr id="172" name="Caja 172"/>
          <p:cNvSpPr/>
          <p:nvPr/>
        </p:nvSpPr>
        <p:spPr>
          <a:xfrm>
            <a:off x="342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F2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Hipótesis de valor</a:t>
            </a:r>
          </a:p>
        </p:txBody>
      </p:sp>
      <p:sp>
        <p:nvSpPr>
          <p:cNvPr id="173" name="Texto 173"/>
          <p:cNvSpPr txBox="1"/>
          <p:nvPr/>
        </p:nvSpPr>
        <p:spPr>
          <a:xfrm>
            <a:off x="433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G2</a:t>
            </a:r>
          </a:p>
        </p:txBody>
      </p:sp>
      <p:sp>
        <p:nvSpPr>
          <p:cNvPr id="174" name="Caja 174"/>
          <p:cNvSpPr/>
          <p:nvPr/>
        </p:nvSpPr>
        <p:spPr>
          <a:xfrm>
            <a:off x="479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F3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Viabilidad y riesgo</a:t>
            </a:r>
          </a:p>
        </p:txBody>
      </p:sp>
      <p:sp>
        <p:nvSpPr>
          <p:cNvPr id="175" name="Texto 175"/>
          <p:cNvSpPr txBox="1"/>
          <p:nvPr/>
        </p:nvSpPr>
        <p:spPr>
          <a:xfrm>
            <a:off x="570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G3</a:t>
            </a:r>
          </a:p>
        </p:txBody>
      </p:sp>
      <p:sp>
        <p:nvSpPr>
          <p:cNvPr id="176" name="Caja 176"/>
          <p:cNvSpPr/>
          <p:nvPr/>
        </p:nvSpPr>
        <p:spPr>
          <a:xfrm>
            <a:off x="616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F4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Diseño de la solución</a:t>
            </a:r>
          </a:p>
        </p:txBody>
      </p:sp>
      <p:sp>
        <p:nvSpPr>
          <p:cNvPr id="177" name="Texto 177"/>
          <p:cNvSpPr txBox="1"/>
          <p:nvPr/>
        </p:nvSpPr>
        <p:spPr>
          <a:xfrm>
            <a:off x="707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G4</a:t>
            </a:r>
          </a:p>
        </p:txBody>
      </p:sp>
      <p:sp>
        <p:nvSpPr>
          <p:cNvPr id="178" name="Caja 178"/>
          <p:cNvSpPr/>
          <p:nvPr/>
        </p:nvSpPr>
        <p:spPr>
          <a:xfrm>
            <a:off x="753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F5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Entrega y validación</a:t>
            </a:r>
          </a:p>
        </p:txBody>
      </p:sp>
      <p:sp>
        <p:nvSpPr>
          <p:cNvPr id="179" name="Texto 179"/>
          <p:cNvSpPr txBox="1"/>
          <p:nvPr/>
        </p:nvSpPr>
        <p:spPr>
          <a:xfrm>
            <a:off x="844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G5</a:t>
            </a:r>
          </a:p>
        </p:txBody>
      </p:sp>
      <p:sp>
        <p:nvSpPr>
          <p:cNvPr id="180" name="Caja 180"/>
          <p:cNvSpPr/>
          <p:nvPr/>
        </p:nvSpPr>
        <p:spPr>
          <a:xfrm>
            <a:off x="890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F6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Operación y gobierno</a:t>
            </a:r>
          </a:p>
        </p:txBody>
      </p:sp>
      <p:sp>
        <p:nvSpPr>
          <p:cNvPr id="181" name="Texto 181"/>
          <p:cNvSpPr txBox="1"/>
          <p:nvPr/>
        </p:nvSpPr>
        <p:spPr>
          <a:xfrm>
            <a:off x="981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R6</a:t>
            </a:r>
          </a:p>
        </p:txBody>
      </p:sp>
      <p:sp>
        <p:nvSpPr>
          <p:cNvPr id="182" name="Caja 182"/>
          <p:cNvSpPr/>
          <p:nvPr/>
        </p:nvSpPr>
        <p:spPr>
          <a:xfrm>
            <a:off x="1027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C9A78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564D47"/>
                </a:solidFill>
              </a:rPr>
              <a:t>F7</a:t>
            </a:r>
          </a:p>
          <a:p>
            <a:pPr algn="ctr"/>
            <a:r>
              <a:rPr lang="es-ES" sz="1050" dirty="0">
                <a:solidFill>
                  <a:srgbClr val="564D47"/>
                </a:solidFill>
              </a:rPr>
              <a:t>Evolución o retirada</a:t>
            </a:r>
          </a:p>
        </p:txBody>
      </p:sp>
      <p:sp>
        <p:nvSpPr>
          <p:cNvPr id="183" name="Texto 183"/>
          <p:cNvSpPr txBox="1"/>
          <p:nvPr/>
        </p:nvSpPr>
        <p:spPr>
          <a:xfrm>
            <a:off x="1118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G7</a:t>
            </a:r>
          </a:p>
        </p:txBody>
      </p:sp>
      <p:sp>
        <p:nvSpPr>
          <p:cNvPr id="184" name="Texto 184"/>
          <p:cNvSpPr txBox="1"/>
          <p:nvPr/>
        </p:nvSpPr>
        <p:spPr>
          <a:xfrm>
            <a:off x="609600" y="4430000"/>
            <a:ext cx="10972800" cy="6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2200" b="1" dirty="0">
                <a:solidFill>
                  <a:srgbClr val="0D7680"/>
                </a:solidFill>
              </a:rPr>
              <a:t>EN USO · cada R6 confirma que sigue aportando valor bajo control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91" name="Texto 191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EMPRESA · AUTOCONSULTORÍA</a:t>
            </a:r>
          </a:p>
        </p:txBody>
      </p:sp>
      <p:sp>
        <p:nvSpPr>
          <p:cNvPr id="192" name="Texto 192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Cómo se mide el valor</a:t>
            </a:r>
          </a:p>
        </p:txBody>
      </p:sp>
      <p:sp>
        <p:nvSpPr>
          <p:cNvPr id="189" name="Texto 189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Todo importe lleva fórmula y estado: validado (control de gestión), declarado (el equipo) o estimado.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Las horas liberadas no son ahorro hasta que se materializan: baja un coste o se reasignan a una actividad con valor.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El coste es completo: construcción, consumo, operación, supervisión humana y retirada.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El índice de transformación usa ocho señales de evidencia para separar transformar de solo eficientar.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Diez reglas de medición (documento 40). Ninguna cifra entra en el neto de la cartera sin su estado.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8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Marca"/>
          <p:cNvSpPr/>
          <p:nvPr/>
        </p:nvSpPr>
        <p:spPr>
          <a:xfrm>
            <a:off x="609600" y="240000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94" name="Texto 194"/>
          <p:cNvSpPr txBox="1"/>
          <p:nvPr/>
        </p:nvSpPr>
        <p:spPr>
          <a:xfrm>
            <a:off x="838200" y="2320000"/>
            <a:ext cx="9000000" cy="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600" b="1" dirty="0">
                <a:solidFill>
                  <a:srgbClr val="F3CFB2"/>
                </a:solidFill>
              </a:rPr>
              <a:t>AUTOCONSULTORÍA</a:t>
            </a:r>
          </a:p>
        </p:txBody>
      </p:sp>
      <p:sp>
        <p:nvSpPr>
          <p:cNvPr id="195" name="Texto 195"/>
          <p:cNvSpPr txBox="1"/>
          <p:nvPr/>
        </p:nvSpPr>
        <p:spPr>
          <a:xfrm>
            <a:off x="609600" y="2850000"/>
            <a:ext cx="10972800" cy="1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4000" b="1" dirty="0">
                <a:solidFill>
                  <a:srgbClr val="FBE2CD"/>
                </a:solidFill>
              </a:rPr>
              <a:t>Implantarlo en su compañía, por sus propios medios</a:t>
            </a:r>
          </a:p>
        </p:txBody>
      </p:sp>
      <p:sp>
        <p:nvSpPr>
          <p:cNvPr id="196" name="Texto 196"/>
          <p:cNvSpPr txBox="1"/>
          <p:nvPr/>
        </p:nvSpPr>
        <p:spPr>
          <a:xfrm>
            <a:off x="609600" y="4400000"/>
            <a:ext cx="10500000" cy="9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700" dirty="0">
                <a:solidFill>
                  <a:srgbClr val="F3CFB2"/>
                </a:solidFill>
              </a:rPr>
              <a:t>El marco está pensado para aplicarse sin contratar a nadie. Esto es lo que hace falta y en qué orden.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99" name="Texto 199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EMPRESA · AUTOCONSULTORÍA</a:t>
            </a:r>
          </a:p>
        </p:txBody>
      </p:sp>
      <p:sp>
        <p:nvSpPr>
          <p:cNvPr id="200" name="Texto 200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Antes de empezar: lo que la compañía necesita</a:t>
            </a:r>
          </a:p>
        </p:txBody>
      </p:sp>
      <p:sp>
        <p:nvSpPr>
          <p:cNvPr id="197" name="Texto 197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Mandato de implantación firmado por la primera línea ejecutiva, con objetivo, perímetro y plazo (P32).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El consejo conoce el plan y reserva una sesión hacia la semana 12 para aprobar la dirección (C2).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Un responsable de implantación con dedicación real y un equipo núcleo: negocio, tecnología, datos, riesgos, cumplimiento, seguridad, personas y control de gestión.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Auditoría interna informada y asesoría jurídica disponible para la clasificación regulatoria.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Un soporte de registro: T01, o una hoja de cálculo con los mismos campos.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Sin moratoria: la actividad de IA sigue; solo se detiene lo que el diagnóstico señale como riesgo inaceptable.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204" name="Texto 204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EMPRESA · AUTOCONSULTORÍA</a:t>
            </a:r>
          </a:p>
        </p:txBody>
      </p:sp>
      <p:sp>
        <p:nvSpPr>
          <p:cNvPr id="205" name="Texto 205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Lite o Enterprise: proporcionalidad</a:t>
            </a:r>
          </a:p>
        </p:txBody>
      </p:sp>
      <p:sp>
        <p:nvSpPr>
          <p:cNvPr id="201" name="Texto 201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Dos decisiones distintas: el alcance de implantación es de la compañía; la intensidad, de cada iniciativa.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El tamaño no decide. Basta un criterio Enterprise en una iniciativa: alto riesgo, decisiones sobre personas, exposición directa, agentes que actúan, datos protegidos, función crítica, Transformar o inversión alta.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Ruta mínima Lite: consejo con punto de IA trimestral, comité de dirección mensual y oficina de IA de una persona a tiempo parcial.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En Lite las puertas se agrupan (G0–G2 juntas, G4–G5 juntas, R6 semestral). G3 va siempre por separado.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Ninguna evidencia obligatoria se omite en Lite: se simplifica. El inventario nunca se reduce.</a:t>
            </a:r>
          </a:p>
        </p:txBody>
      </p:sp>
      <p:sp>
        <p:nvSpPr>
          <p:cNvPr id="202" name="Texto 202"/>
          <p:cNvSpPr txBox="1"/>
          <p:nvPr/>
        </p:nvSpPr>
        <p:spPr>
          <a:xfrm>
            <a:off x="609600" y="625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0F5499"/>
                </a:solidFill>
              </a:rPr>
              <a:t>Documento 90, sección 2.4, y matriz de obligatoriedad (documento 94).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217" name="Texto 217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EMPRESA · AUTOCONSULTORÍA</a:t>
            </a:r>
          </a:p>
        </p:txBody>
      </p:sp>
      <p:sp>
        <p:nvSpPr>
          <p:cNvPr id="218" name="Texto 218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El plan de 90 días</a:t>
            </a:r>
          </a:p>
        </p:txBody>
      </p:sp>
      <p:sp>
        <p:nvSpPr>
          <p:cNvPr id="219" name="Texto 219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Tres meses, tres resultados y una decisión del consejo</a:t>
            </a:r>
          </a:p>
        </p:txBody>
      </p:sp>
      <p:sp>
        <p:nvSpPr>
          <p:cNvPr id="206" name="Caja 206"/>
          <p:cNvSpPr/>
          <p:nvPr/>
        </p:nvSpPr>
        <p:spPr>
          <a:xfrm>
            <a:off x="609600" y="2050000"/>
            <a:ext cx="3577600" cy="8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Mes 1 · Diagnóstico (C1)</a:t>
            </a:r>
          </a:p>
        </p:txBody>
      </p:sp>
      <p:sp>
        <p:nvSpPr>
          <p:cNvPr id="207" name="Caja 207"/>
          <p:cNvSpPr/>
          <p:nvPr/>
        </p:nvSpPr>
        <p:spPr>
          <a:xfrm>
            <a:off x="609600" y="2790000"/>
            <a:ext cx="357760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08" name="Texto 208"/>
          <p:cNvSpPr txBox="1"/>
          <p:nvPr/>
        </p:nvSpPr>
        <p:spPr>
          <a:xfrm>
            <a:off x="649600" y="2890000"/>
            <a:ext cx="349760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Mandato (P32). Inventario de toda la IA, también la de terceros y la no autorizada, con declaración de completitud. Madurez con evidencia (T15) e índice de transformación (T14). Hito 1: informe C1 verificado (P33).</a:t>
            </a:r>
          </a:p>
        </p:txBody>
      </p:sp>
      <p:sp>
        <p:nvSpPr>
          <p:cNvPr id="209" name="Caja 209"/>
          <p:cNvSpPr/>
          <p:nvPr/>
        </p:nvSpPr>
        <p:spPr>
          <a:xfrm>
            <a:off x="4307200" y="2050000"/>
            <a:ext cx="3577600" cy="80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Mes 2 · Riesgos y oportunidades</a:t>
            </a:r>
          </a:p>
        </p:txBody>
      </p:sp>
      <p:sp>
        <p:nvSpPr>
          <p:cNvPr id="210" name="Caja 210"/>
          <p:cNvSpPr/>
          <p:nvPr/>
        </p:nvSpPr>
        <p:spPr>
          <a:xfrm>
            <a:off x="4307200" y="2790000"/>
            <a:ext cx="357760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11" name="Texto 211"/>
          <p:cNvSpPr txBox="1"/>
          <p:nvPr/>
        </p:nvSpPr>
        <p:spPr>
          <a:xfrm>
            <a:off x="4347200" y="2890000"/>
            <a:ext cx="349760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Talleres por esfera: riesgos de lo que ya existe (P11, P12) y oportunidades con valor estimado (P06, P07). Borrador de tesis de IA, ambición y apetito de riesgo (P35). Hito 2: propuesta de C2 lista para el consejo.</a:t>
            </a:r>
          </a:p>
        </p:txBody>
      </p:sp>
      <p:sp>
        <p:nvSpPr>
          <p:cNvPr id="212" name="Caja 212"/>
          <p:cNvSpPr/>
          <p:nvPr/>
        </p:nvSpPr>
        <p:spPr>
          <a:xfrm>
            <a:off x="8004800" y="2050000"/>
            <a:ext cx="3577600" cy="8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Mes 3 · Gobierno y cartera</a:t>
            </a:r>
          </a:p>
        </p:txBody>
      </p:sp>
      <p:sp>
        <p:nvSpPr>
          <p:cNvPr id="213" name="Caja 213"/>
          <p:cNvSpPr/>
          <p:nvPr/>
        </p:nvSpPr>
        <p:spPr>
          <a:xfrm>
            <a:off x="8004800" y="2790000"/>
            <a:ext cx="357760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14" name="Texto 214"/>
          <p:cNvSpPr txBox="1"/>
          <p:nvPr/>
        </p:nvSpPr>
        <p:spPr>
          <a:xfrm>
            <a:off x="8044800" y="2890000"/>
            <a:ext cx="349760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Órganos y roles sin incompatibilidades (P38, P03), puertas y políticas, primer panel con datos reales (T17) y cartera priorizada (P36). El consejo aprueba C2 y el comité, C3. Hito 3: régimen ordinario.</a:t>
            </a:r>
          </a:p>
        </p:txBody>
      </p:sp>
      <p:sp>
        <p:nvSpPr>
          <p:cNvPr id="215" name="Texto 215"/>
          <p:cNvSpPr txBox="1"/>
          <p:nvPr/>
        </p:nvSpPr>
        <p:spPr>
          <a:xfrm>
            <a:off x="609600" y="615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0F5499"/>
                </a:solidFill>
              </a:rPr>
              <a:t>Desde la semana 13, ninguna iniciativa nueva consume presupuesto sin pasar por G0.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222" name="Texto 222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EMPRESA · AUTOCONSULTORÍA</a:t>
            </a:r>
          </a:p>
        </p:txBody>
      </p:sp>
      <p:sp>
        <p:nvSpPr>
          <p:cNvPr id="223" name="Texto 223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Tres garantías que no se negocian, ni en pequeño</a:t>
            </a:r>
          </a:p>
        </p:txBody>
      </p:sp>
      <p:sp>
        <p:nvSpPr>
          <p:cNvPr id="220" name="Texto 220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Quien construye no verifica ni decide su propio trabajo.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La conformidad de riesgos la emite alguien independiente del equipo.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El consejo aprueba la dirección y el apetito de riesgo: no se delega.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Una misma persona puede tener varios roles si no son incompatibles; el registro T01 lo comprueba (P03).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Lo existente se regulariza con plazos aprobados, no se ignora: inventario primero, después riesgos y después puertas.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226" name="Texto 226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EMPRESA · AUTOCONSULTORÍA</a:t>
            </a:r>
          </a:p>
        </p:txBody>
      </p:sp>
      <p:sp>
        <p:nvSpPr>
          <p:cNvPr id="227" name="Texto 227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Errores frecuentes al implantarlo uno mismo</a:t>
            </a:r>
          </a:p>
        </p:txBody>
      </p:sp>
      <p:sp>
        <p:nvSpPr>
          <p:cNvPr id="224" name="Texto 224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Aplicar Enterprise a todo: el marco se vuelve pesado y se abandona. O no aplicar nada «porque somos pequeños».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Rellenar las plantillas después de decidir: la documentación a posteriori invalida la puerta.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Sumar horas liberadas como ahorro en el panel.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No parar nunca nada: una cartera sin paradas no tiene puertas, tiene trámites.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Un inventario incompleto: la IA de terceros y el uso no autorizado también cuentan.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Dejar al consejo fuera hasta el final: su sesión se reserva el primer día.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230" name="Texto 230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EMPRESA · AUTOCONSULTORÍA</a:t>
            </a:r>
          </a:p>
        </p:txBody>
      </p:sp>
      <p:sp>
        <p:nvSpPr>
          <p:cNvPr id="231" name="Texto 231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Por dónde empezar mañana</a:t>
            </a:r>
          </a:p>
        </p:txBody>
      </p:sp>
      <p:sp>
        <p:nvSpPr>
          <p:cNvPr id="228" name="Texto 228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Una tarde: abra el registro de ejemplo (T01) y su panel (T17), y responda al diagnóstico de madurez (T15) con su situación real.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Una semana: documentos 00, 01 y 90; decida alcance Lite o Enterprise y redacte el mandato (P32).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La adopción puede ser modular: solo el registro, solo las puertas, solo la medición o solo el panel, y ampliar después.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Si quiere acompañamiento, puede pedirlo a cualquier profesional; el documento 91 explica cómo evitar depender de él.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Nada de esto exige registrarse ni contratar a nadie.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Texto 232"/>
          <p:cNvSpPr txBox="1"/>
          <p:nvPr/>
        </p:nvSpPr>
        <p:spPr>
          <a:xfrm>
            <a:off x="609600" y="2300000"/>
            <a:ext cx="10972800" cy="9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4400" b="1" dirty="0">
                <a:solidFill>
                  <a:srgbClr val="1A1817"/>
                </a:solidFill>
              </a:rPr>
              <a:t>Gracias</a:t>
            </a:r>
          </a:p>
        </p:txBody>
      </p:sp>
      <p:sp>
        <p:nvSpPr>
          <p:cNvPr id="233" name="Texto 233"/>
          <p:cNvSpPr txBox="1"/>
          <p:nvPr/>
        </p:nvSpPr>
        <p:spPr>
          <a:xfrm>
            <a:off x="609600" y="3350000"/>
            <a:ext cx="10972800" cy="9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900" dirty="0">
                <a:solidFill>
                  <a:srgbClr val="2F2B28"/>
                </a:solidFill>
              </a:rPr>
              <a:t>SEVEN-G es gratuito: se usa, se descarga y se adapta sin registrarse, y el sitio nunca le escribirá. Si quiere hablar con el autor, la iniciativa es suya.</a:t>
            </a:r>
          </a:p>
        </p:txBody>
      </p:sp>
      <p:sp>
        <p:nvSpPr>
          <p:cNvPr id="234" name="Texto 234"/>
          <p:cNvSpPr txBox="1"/>
          <p:nvPr/>
        </p:nvSpPr>
        <p:spPr>
          <a:xfrm>
            <a:off x="609600" y="435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600" dirty="0">
                <a:solidFill>
                  <a:srgbClr val="564D47"/>
                </a:solidFill>
              </a:rPr>
              <a:t>SEVEN-G es una marca registrada de Fernando García Varela · CC BY 4.0 (contenidos) · MIT (código)</a:t>
            </a:r>
          </a:p>
        </p:txBody>
      </p:sp>
      <p:sp>
        <p:nvSpPr>
          <p:cNvPr id="235" name="Texto 235"/>
          <p:cNvSpPr txBox="1"/>
          <p:nvPr/>
        </p:nvSpPr>
        <p:spPr>
          <a:xfrm>
            <a:off x="609600" y="495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700" dirty="0">
                <a:solidFill>
                  <a:srgbClr val="0F5499"/>
                </a:solidFill>
              </a:rPr>
              <a:t>https://www.linkedin.com/in/fernandogarciavarela/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SEVEN-G">
  <a:themeElements>
    <a:clrScheme name="SEVEN-G">
      <a:dk1>
        <a:srgbClr val="1A1817"/>
      </a:dk1>
      <a:lt1>
        <a:srgbClr val="FBE2CD"/>
      </a:lt1>
      <a:dk2>
        <a:srgbClr val="2F2B28"/>
      </a:dk2>
      <a:lt2>
        <a:srgbClr val="FFFFFF"/>
      </a:lt2>
      <a:accent1>
        <a:srgbClr val="990F3D"/>
      </a:accent1>
      <a:accent2>
        <a:srgbClr val="0F5499"/>
      </a:accent2>
      <a:accent3>
        <a:srgbClr val="0D7680"/>
      </a:accent3>
      <a:accent4>
        <a:srgbClr val="593380"/>
      </a:accent4>
      <a:accent5>
        <a:srgbClr val="A5822A"/>
      </a:accent5>
      <a:accent6>
        <a:srgbClr val="71645B"/>
      </a:accent6>
      <a:hlink>
        <a:srgbClr val="0F5499"/>
      </a:hlink>
      <a:folHlink>
        <a:srgbClr val="593380"/>
      </a:folHlink>
    </a:clrScheme>
    <a:fontScheme name="SEVEN-G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SEVEN-G">
      <a:fillStyleLst>
        <a:solidFill>
          <a:schemeClr val="accent1"/>
        </a:solidFill>
        <a:solidFill>
          <a:schemeClr val="accent1"/>
        </a:solidFill>
        <a:solidFill>
          <a:schemeClr val="accent1"/>
        </a:solidFill>
      </a:fillStyleLst>
      <a:lnStyleLst>
        <a:ln>
          <a:solidFill>
            <a:schemeClr val="accent1"/>
          </a:solidFill>
        </a:ln>
        <a:ln>
          <a:solidFill>
            <a:schemeClr val="accent1"/>
          </a:solidFill>
        </a:ln>
        <a:ln>
          <a:solidFill>
            <a:schemeClr val="accent1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1"/>
        </a:solidFill>
        <a:solidFill>
          <a:schemeClr val="lt1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SEVEN-G build</Application>
  <Slides>26</Slides>
  <Company>Fernando García Varela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Curso de SEVEN-G para la empresa</dc:title>
  <dc:creator>Fernando García Varela</dc:creator>
  <cp:lastModifiedBy>SEVEN-G build</cp:lastModifiedBy>
  <dcterms:created xsi:type="dcterms:W3CDTF">2026-01-01T00:00:00Z</dcterms:created>
  <dcterms:modified xsi:type="dcterms:W3CDTF">2026-01-01T00:00:00Z</dcterms:modified>
</cp:coreProperties>
</file>
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theme/theme1.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 id="281" r:id="rIdS26"/>
  </p:sldIdLst>
  <p:sldSz cx="12192000" cy="6858000" type="screen16x9"/>
  <p:notesSz cx="6858000" cy="9144000"/>
</p:presentation>
</file>

<file path=ppt/_rels/presentation.xml.rels><?xml version="1.0" encoding="UTF-8" standalone="yes"?><Relationships xmlns="http://schemas.openxmlformats.org/package/2006/relationships"><Relationship Id="rIdM1" Type="http://schemas.openxmlformats.org/officeDocument/2006/relationships/slideMaster" Target="slideMasters/slideMaster1.xml"/><Relationship Id="rIdT1" Type="http://schemas.openxmlformats.org/officeDocument/2006/relationships/theme" Target="theme/theme1.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 Id="rIdS26" Type="http://schemas.openxmlformats.org/officeDocument/2006/relationships/slide" Target="slides/slide26.xml"/></Relationship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Relationships xmlns="http://schemas.openxmlformats.org/package/2006/relationships"><Relationship Id="rId1" Type="http://schemas.openxmlformats.org/officeDocument/2006/relationships/slideLayout" Target="../slideLayouts/slideLayout1.xml"/><Relationship Id="rIdImg_registro" Type="http://schemas.openxmlformats.org/officeDocument/2006/relationships/image" Target="../media/registro.png"/></Relationships>
</file>

<file path=ppt/slides/_rels/slide11.xml.rels><?xml version="1.0" encoding="UTF-8" standalone="yes"?><Relationships xmlns="http://schemas.openxmlformats.org/package/2006/relationships"><Relationship Id="rId1" Type="http://schemas.openxmlformats.org/officeDocument/2006/relationships/slideLayout" Target="../slideLayouts/slideLayout1.xml"/><Relationship Id="rIdImg_embudo" Type="http://schemas.openxmlformats.org/officeDocument/2006/relationships/image" Target="../media/embudo.png"/></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1.xml"/><Relationship Id="rIdImg_panel" Type="http://schemas.openxmlformats.org/officeDocument/2006/relationships/image" Target="../media/panel.png"/></Relationships>
</file>

<file path=ppt/slides/_rels/slide1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 name="Marca"/>
          <p:cNvSpPr/>
          <p:nvPr/>
        </p:nvSpPr>
        <p:spPr>
          <a:xfrm>
            <a:off x="609600" y="365760"/>
            <a:ext cx="182880" cy="182880"/>
          </a:xfrm>
          <a:prstGeom prst="rect">
            <a:avLst/>
          </a:prstGeom>
          <a:solidFill>
            <a:srgbClr val="990F3D"/>
          </a:solidFill>
        </p:spPr>
        <p:txBody>
          <a:bodyPr/>
          <a:lstStyle/>
          <a:p/>
        </p:txBody>
      </p:sp>
      <p:sp>
        <p:nvSpPr>
          <p:cNvPr id="7" name="Texto 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 name="Texto 2"/>
          <p:cNvSpPr txBox="1"/>
          <p:nvPr/>
        </p:nvSpPr>
        <p:spPr>
          <a:xfrm>
            <a:off x="609600" y="1350000"/>
            <a:ext cx="10972800" cy="1100000"/>
          </a:xfrm>
          <a:prstGeom prst="rect">
            <a:avLst/>
          </a:prstGeom>
          <a:noFill/>
        </p:spPr>
        <p:txBody>
          <a:bodyPr wrap="square" anchor="t" lIns="45720" rIns="45720">
            <a:noAutofit/>
          </a:bodyPr>
          <a:lstStyle/>
          <a:p>
            <a:pPr algn="l"/>
            <a:r>
              <a:rPr lang="es-ES" sz="5000" b="1" dirty="0">
                <a:solidFill>
                  <a:srgbClr val="1A1817"/>
                </a:solidFill>
              </a:rPr>
              <a:t>SEVEN-G</a:t>
            </a:r>
          </a:p>
        </p:txBody>
      </p:sp>
      <p:sp>
        <p:nvSpPr>
          <p:cNvPr id="3" name="Caja 3"/>
          <p:cNvSpPr/>
          <p:nvPr/>
        </p:nvSpPr>
        <p:spPr>
          <a:xfrm>
            <a:off x="609600" y="2600000"/>
            <a:ext cx="5200000" cy="560000"/>
          </a:xfrm>
          <a:prstGeom prst="roundRect">
            <a:avLst>
              <a:gd name="adj" fmla="val 6000"/>
            </a:avLst>
          </a:prstGeom>
          <a:solidFill>
            <a:srgbClr val="990F3D"/>
          </a:solidFill>
          <a:ln>
            <a:noFill/>
          </a:ln>
        </p:spPr>
        <p:txBody>
          <a:bodyPr wrap="square" anchor="ctr" lIns="45720" rIns="45720">
            <a:noAutofit/>
          </a:bodyPr>
          <a:lstStyle/>
          <a:p>
            <a:pPr algn="ctr"/>
            <a:r>
              <a:rPr lang="es-ES" sz="1800" b="1" dirty="0">
                <a:solidFill>
                  <a:srgbClr val="FFFFFF"/>
                </a:solidFill>
              </a:rPr>
              <a:t>Empresa · Autoconsultoría</a:t>
            </a:r>
          </a:p>
        </p:txBody>
      </p:sp>
      <p:sp>
        <p:nvSpPr>
          <p:cNvPr id="4" name="Texto 4"/>
          <p:cNvSpPr txBox="1"/>
          <p:nvPr/>
        </p:nvSpPr>
        <p:spPr>
          <a:xfrm>
            <a:off x="609600" y="3450000"/>
            <a:ext cx="10500000" cy="1500000"/>
          </a:xfrm>
          <a:prstGeom prst="rect">
            <a:avLst/>
          </a:prstGeom>
          <a:noFill/>
        </p:spPr>
        <p:txBody>
          <a:bodyPr wrap="square" anchor="t" lIns="45720" rIns="45720">
            <a:noAutofit/>
          </a:bodyPr>
          <a:lstStyle/>
          <a:p>
            <a:pPr algn="l"/>
            <a:r>
              <a:rPr lang="es-ES" sz="2000" dirty="0">
                <a:solidFill>
                  <a:srgbClr val="2F2B28"/>
                </a:solidFill>
              </a:rPr>
              <a:t>Qué es SEVEN-G, cómo se llena el embudo de iniciativas hasta el panel del consejo y cómo implantarlo en su compañía por sus propios medios.</a:t>
            </a:r>
          </a:p>
        </p:txBody>
      </p:sp>
      <p:sp>
        <p:nvSpPr>
          <p:cNvPr id="5" name="Texto 5"/>
          <p:cNvSpPr txBox="1"/>
          <p:nvPr/>
        </p:nvSpPr>
        <p:spPr>
          <a:xfrm>
            <a:off x="609600" y="6150000"/>
            <a:ext cx="10972800" cy="450000"/>
          </a:xfrm>
          <a:prstGeom prst="rect">
            <a:avLst/>
          </a:prstGeom>
          <a:noFill/>
        </p:spPr>
        <p:txBody>
          <a:bodyPr wrap="square" anchor="t" lIns="45720" rIns="45720">
            <a:noAutofit/>
          </a:bodyPr>
          <a:lstStyle/>
          <a:p>
            <a:pPr algn="l"/>
            <a:r>
              <a:rPr lang="es-ES" sz="1400" dirty="0">
                <a:solidFill>
                  <a:srgbClr val="0F5499"/>
                </a:solidFill>
              </a:rPr>
              <a:t>Fernando García Varela · Curso de autoaprendizaje · CC BY 4.0 · Ejemplos con datos ficticios</a:t>
            </a:r>
          </a:p>
        </p:txBody>
      </p:sp>
    </p:spTree>
  </p:cSld>
  <p:clrMapOvr>
    <a:overrideClrMapping bg1="lt1" tx1="dk1" bg2="lt2" tx2="dk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 name="Marca"/>
          <p:cNvSpPr/>
          <p:nvPr/>
        </p:nvSpPr>
        <p:spPr>
          <a:xfrm>
            <a:off x="609600" y="365760"/>
            <a:ext cx="182880" cy="182880"/>
          </a:xfrm>
          <a:prstGeom prst="rect">
            <a:avLst/>
          </a:prstGeom>
          <a:solidFill>
            <a:srgbClr val="990F3D"/>
          </a:solidFill>
        </p:spPr>
        <p:txBody>
          <a:bodyPr/>
          <a:lstStyle/>
          <a:p/>
        </p:txBody>
      </p:sp>
      <p:sp>
        <p:nvSpPr>
          <p:cNvPr id="11" name="Texto 1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2" name="Texto 1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problema que resuelve</a:t>
            </a:r>
          </a:p>
        </p:txBody>
      </p:sp>
      <p:sp>
        <p:nvSpPr>
          <p:cNvPr id="8" name="Texto 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Muchas compañías tienen pilotos de IA que funcionan, pero pocos llegan a producción.</a:t>
            </a:r>
          </a:p>
          <a:p>
            <a:pPr marL="285750" indent="-285750">
              <a:spcAft>
                <a:spcPts val="400"/>
              </a:spcAft>
              <a:buClr>
                <a:srgbClr val="990F3D"/>
              </a:buClr>
              <a:buFont typeface="Arial"/>
              <a:buChar char="•"/>
            </a:pPr>
            <a:r>
              <a:rPr lang="es-ES" sz="1800" dirty="0">
                <a:solidFill>
                  <a:srgbClr val="2F2B28"/>
                </a:solidFill>
              </a:rPr>
              <a:t>El valor se declara («liberamos 200 horas») y casi nadie lo comprueba.</a:t>
            </a:r>
          </a:p>
          <a:p>
            <a:pPr marL="285750" indent="-285750">
              <a:spcAft>
                <a:spcPts val="400"/>
              </a:spcAft>
              <a:buClr>
                <a:srgbClr val="990F3D"/>
              </a:buClr>
              <a:buFont typeface="Arial"/>
              <a:buChar char="•"/>
            </a:pPr>
            <a:r>
              <a:rPr lang="es-ES" sz="1800" dirty="0">
                <a:solidFill>
                  <a:srgbClr val="2F2B28"/>
                </a:solidFill>
              </a:rPr>
              <a:t>Nadie tiene autoridad clara para parar una iniciativa que no funciona.</a:t>
            </a:r>
          </a:p>
          <a:p>
            <a:pPr marL="285750" indent="-285750">
              <a:spcAft>
                <a:spcPts val="400"/>
              </a:spcAft>
              <a:buClr>
                <a:srgbClr val="990F3D"/>
              </a:buClr>
              <a:buFont typeface="Arial"/>
              <a:buChar char="•"/>
            </a:pPr>
            <a:r>
              <a:rPr lang="es-ES" sz="1800" dirty="0">
                <a:solidFill>
                  <a:srgbClr val="2F2B28"/>
                </a:solidFill>
              </a:rPr>
              <a:t>El consejo pregunta por la IA y recibe una lista de proyectos técnicos, no decisiones de negocio.</a:t>
            </a:r>
          </a:p>
          <a:p>
            <a:pPr marL="285750" indent="-285750">
              <a:spcAft>
                <a:spcPts val="400"/>
              </a:spcAft>
              <a:buClr>
                <a:srgbClr val="990F3D"/>
              </a:buClr>
              <a:buFont typeface="Arial"/>
              <a:buChar char="•"/>
            </a:pPr>
            <a:r>
              <a:rPr lang="es-ES" sz="1800" dirty="0">
                <a:solidFill>
                  <a:srgbClr val="2F2B28"/>
                </a:solidFill>
              </a:rPr>
              <a:t>¿La compañía se está transformando con IA, o solo es un poco más eficiente? Casi nadie puede contestarlo con evidencia.</a:t>
            </a:r>
          </a:p>
        </p:txBody>
      </p:sp>
      <p:sp>
        <p:nvSpPr>
          <p:cNvPr id="9" name="Texto 9"/>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No es un problema de tecnología: es un problema de gobierno y de medición.</a:t>
            </a:r>
          </a:p>
        </p:txBody>
      </p:sp>
    </p:spTree>
  </p:cSld>
  <p:clrMapOvr>
    <a:overrideClrMapping bg1="lt1" tx1="dk1" bg2="lt2" tx2="dk2" accent1="accent1" accent2="accent2" accent3="accent3" accent4="accent4" accent5="accent5" accent6="accent6" hlink="hlink" folHlink="folHlink"/>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4" name="Marca"/>
          <p:cNvSpPr/>
          <p:nvPr/>
        </p:nvSpPr>
        <p:spPr>
          <a:xfrm>
            <a:off x="609600" y="365760"/>
            <a:ext cx="182880" cy="182880"/>
          </a:xfrm>
          <a:prstGeom prst="rect">
            <a:avLst/>
          </a:prstGeom>
          <a:solidFill>
            <a:srgbClr val="990F3D"/>
          </a:solidFill>
        </p:spPr>
        <p:txBody>
          <a:bodyPr/>
          <a:lstStyle/>
          <a:p/>
        </p:txBody>
      </p:sp>
      <p:sp>
        <p:nvSpPr>
          <p:cNvPr id="15" name="Texto 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6" name="Texto 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es SEVEN-G y qué aporta</a:t>
            </a:r>
          </a:p>
        </p:txBody>
      </p:sp>
      <p:sp>
        <p:nvSpPr>
          <p:cNvPr id="13" name="Texto 13"/>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Seven-phase Enterprise Value &amp; Governance: una fase 0 habilitante y siete fases de valor, con gobierno en todas.</a:t>
            </a:r>
          </a:p>
          <a:p>
            <a:pPr marL="285750" indent="-285750">
              <a:spcAft>
                <a:spcPts val="400"/>
              </a:spcAft>
              <a:buClr>
                <a:srgbClr val="990F3D"/>
              </a:buClr>
              <a:buFont typeface="Arial"/>
              <a:buChar char="•"/>
            </a:pPr>
            <a:r>
              <a:rPr lang="es-ES" sz="1800" dirty="0">
                <a:solidFill>
                  <a:srgbClr val="2F2B28"/>
                </a:solidFill>
              </a:rPr>
              <a:t>Ordena la IA como una cartera: cada iniciativa tiene fase, coste, valor esperado y responsable.</a:t>
            </a:r>
          </a:p>
          <a:p>
            <a:pPr marL="285750" indent="-285750">
              <a:spcAft>
                <a:spcPts val="400"/>
              </a:spcAft>
              <a:buClr>
                <a:srgbClr val="990F3D"/>
              </a:buClr>
              <a:buFont typeface="Arial"/>
              <a:buChar char="•"/>
            </a:pPr>
            <a:r>
              <a:rPr lang="es-ES" sz="1800" dirty="0">
                <a:solidFill>
                  <a:srgbClr val="2F2B28"/>
                </a:solidFill>
              </a:rPr>
              <a:t>Pone puertas de decisión entre las fases: sin evidencia verificada no se avanza.</a:t>
            </a:r>
          </a:p>
          <a:p>
            <a:pPr marL="285750" indent="-285750">
              <a:spcAft>
                <a:spcPts val="400"/>
              </a:spcAft>
              <a:buClr>
                <a:srgbClr val="990F3D"/>
              </a:buClr>
              <a:buFont typeface="Arial"/>
              <a:buChar char="•"/>
            </a:pPr>
            <a:r>
              <a:rPr lang="es-ES" sz="1800" dirty="0">
                <a:solidFill>
                  <a:srgbClr val="2F2B28"/>
                </a:solidFill>
              </a:rPr>
              <a:t>Separa quién decide, quién construye y quién controla, y traduce la regulación a fases, roles y evidencias.</a:t>
            </a:r>
          </a:p>
          <a:p>
            <a:pPr marL="285750" indent="-285750">
              <a:spcAft>
                <a:spcPts val="400"/>
              </a:spcAft>
              <a:buClr>
                <a:srgbClr val="990F3D"/>
              </a:buClr>
              <a:buFont typeface="Arial"/>
              <a:buChar char="•"/>
            </a:pPr>
            <a:r>
              <a:rPr lang="es-ES" sz="1800" dirty="0">
                <a:solidFill>
                  <a:srgbClr val="2F2B28"/>
                </a:solidFill>
              </a:rPr>
              <a:t>Mide el valor en dinero y con estado —validado, declarado o estimado— y se lo enseña al consejo en un panel.</a:t>
            </a:r>
          </a:p>
          <a:p>
            <a:pPr marL="285750" indent="-285750">
              <a:spcAft>
                <a:spcPts val="400"/>
              </a:spcAft>
              <a:buClr>
                <a:srgbClr val="990F3D"/>
              </a:buClr>
              <a:buFont typeface="Arial"/>
              <a:buChar char="•"/>
            </a:pPr>
            <a:r>
              <a:rPr lang="es-ES" sz="1800" dirty="0">
                <a:solidFill>
                  <a:srgbClr val="2F2B28"/>
                </a:solidFill>
              </a:rPr>
              <a:t>Es gratuito y modificable: documentos, plantillas en Word y herramientas, con licencia abierta.</a:t>
            </a:r>
          </a:p>
        </p:txBody>
      </p:sp>
    </p:spTree>
  </p:cSld>
  <p:clrMapOvr>
    <a:overrideClrMapping bg1="lt1" tx1="dk1" bg2="lt2" tx2="dk2" accent1="accent1" accent2="accent2" accent3="accent3" accent4="accent4" accent5="accent5" accent6="accent6" hlink="hlink" folHlink="folHlink"/>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 name="Marca"/>
          <p:cNvSpPr/>
          <p:nvPr/>
        </p:nvSpPr>
        <p:spPr>
          <a:xfrm>
            <a:off x="609600" y="365760"/>
            <a:ext cx="182880" cy="182880"/>
          </a:xfrm>
          <a:prstGeom prst="rect">
            <a:avLst/>
          </a:prstGeom>
          <a:solidFill>
            <a:srgbClr val="990F3D"/>
          </a:solidFill>
        </p:spPr>
        <p:txBody>
          <a:bodyPr/>
          <a:lstStyle/>
          <a:p/>
        </p:txBody>
      </p:sp>
      <p:sp>
        <p:nvSpPr>
          <p:cNvPr id="19" name="Texto 1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0" name="Texto 2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Dos niveles: la compañía y cada iniciativa</a:t>
            </a:r>
          </a:p>
        </p:txBody>
      </p:sp>
      <p:sp>
        <p:nvSpPr>
          <p:cNvPr id="17" name="Texto 1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C1 · Diagnóstico: inventario, madurez en siete dimensiones e índice de transformación.</a:t>
            </a:r>
          </a:p>
          <a:p>
            <a:pPr marL="285750" indent="-285750">
              <a:spcAft>
                <a:spcPts val="400"/>
              </a:spcAft>
              <a:buClr>
                <a:srgbClr val="990F3D"/>
              </a:buClr>
              <a:buFont typeface="Arial"/>
              <a:buChar char="•"/>
            </a:pPr>
            <a:r>
              <a:rPr lang="es-ES" sz="1800" dirty="0">
                <a:solidFill>
                  <a:srgbClr val="2F2B28"/>
                </a:solidFill>
              </a:rPr>
              <a:t>C2 · Dirección: el consejo aprueba la tesis de IA, la ambición por esfera y el apetito de riesgo.</a:t>
            </a:r>
          </a:p>
          <a:p>
            <a:pPr marL="285750" indent="-285750">
              <a:spcAft>
                <a:spcPts val="400"/>
              </a:spcAft>
              <a:buClr>
                <a:srgbClr val="990F3D"/>
              </a:buClr>
              <a:buFont typeface="Arial"/>
              <a:buChar char="•"/>
            </a:pPr>
            <a:r>
              <a:rPr lang="es-ES" sz="1800" dirty="0">
                <a:solidFill>
                  <a:srgbClr val="2F2B28"/>
                </a:solidFill>
              </a:rPr>
              <a:t>C3 · Cartera: qué iniciativas se financian y en qué orden.</a:t>
            </a:r>
          </a:p>
          <a:p>
            <a:pPr marL="285750" indent="-285750">
              <a:spcAft>
                <a:spcPts val="400"/>
              </a:spcAft>
              <a:buClr>
                <a:srgbClr val="990F3D"/>
              </a:buClr>
              <a:buFont typeface="Arial"/>
              <a:buChar char="•"/>
            </a:pPr>
            <a:r>
              <a:rPr lang="es-ES" sz="1800" dirty="0">
                <a:solidFill>
                  <a:srgbClr val="2F2B28"/>
                </a:solidFill>
              </a:rPr>
              <a:t>C4 · Supervisión: panel del consejo y registro de decisiones y recomendaciones.</a:t>
            </a:r>
          </a:p>
          <a:p>
            <a:pPr marL="285750" indent="-285750">
              <a:spcAft>
                <a:spcPts val="400"/>
              </a:spcAft>
              <a:buClr>
                <a:srgbClr val="990F3D"/>
              </a:buClr>
              <a:buFont typeface="Arial"/>
              <a:buChar char="•"/>
            </a:pPr>
            <a:r>
              <a:rPr lang="es-ES" sz="1800" dirty="0">
                <a:solidFill>
                  <a:srgbClr val="2F2B28"/>
                </a:solidFill>
              </a:rPr>
              <a:t>C5 · Revisión anual: qué funcionó, qué no y qué cambia.</a:t>
            </a:r>
          </a:p>
          <a:p>
            <a:pPr marL="285750" indent="-285750">
              <a:spcAft>
                <a:spcPts val="400"/>
              </a:spcAft>
              <a:buClr>
                <a:srgbClr val="990F3D"/>
              </a:buClr>
              <a:buFont typeface="Arial"/>
              <a:buChar char="•"/>
            </a:pPr>
            <a:r>
              <a:rPr lang="es-ES" sz="1800" dirty="0">
                <a:solidFill>
                  <a:srgbClr val="2F2B28"/>
                </a:solidFill>
              </a:rPr>
              <a:t>Y, dentro de esa cartera, cada iniciativa recorre su propio ciclo de vida de ocho fases.</a:t>
            </a:r>
          </a:p>
        </p:txBody>
      </p:sp>
    </p:spTree>
  </p:cSld>
  <p:clrMapOvr>
    <a:overrideClrMapping bg1="lt1" tx1="dk1" bg2="lt2" tx2="dk2" accent1="accent1" accent2="accent2" accent3="accent3" accent4="accent4" accent5="accent5" accent6="accent6" hlink="hlink" folHlink="folHlink"/>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42" name="Marca"/>
          <p:cNvSpPr/>
          <p:nvPr/>
        </p:nvSpPr>
        <p:spPr>
          <a:xfrm>
            <a:off x="609600" y="365760"/>
            <a:ext cx="182880" cy="182880"/>
          </a:xfrm>
          <a:prstGeom prst="rect">
            <a:avLst/>
          </a:prstGeom>
          <a:solidFill>
            <a:srgbClr val="990F3D"/>
          </a:solidFill>
        </p:spPr>
        <p:txBody>
          <a:bodyPr/>
          <a:lstStyle/>
          <a:p/>
        </p:txBody>
      </p:sp>
      <p:sp>
        <p:nvSpPr>
          <p:cNvPr id="43" name="Texto 4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44" name="Texto 4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ciclo de vida de una iniciativa</a:t>
            </a:r>
          </a:p>
        </p:txBody>
      </p:sp>
      <p:sp>
        <p:nvSpPr>
          <p:cNvPr id="45" name="Texto 4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Ocho fases con una puerta de decisión al final de cada una; debajo, la etapa del embudo en la que se ve cada fase</a:t>
            </a:r>
          </a:p>
        </p:txBody>
      </p:sp>
      <p:sp>
        <p:nvSpPr>
          <p:cNvPr id="21" name="Caja 21"/>
          <p:cNvSpPr/>
          <p:nvPr/>
        </p:nvSpPr>
        <p:spPr>
          <a:xfrm>
            <a:off x="681000" y="2350000"/>
            <a:ext cx="1240000" cy="1500000"/>
          </a:xfrm>
          <a:prstGeom prst="roundRect">
            <a:avLst>
              <a:gd name="adj" fmla="val 6000"/>
            </a:avLst>
          </a:prstGeom>
          <a:solidFill>
            <a:srgbClr val="564D47"/>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22" name="Texto 2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23" name="Caja 23"/>
          <p:cNvSpPr/>
          <p:nvPr/>
        </p:nvSpPr>
        <p:spPr>
          <a:xfrm>
            <a:off x="205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24" name="Texto 2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25" name="Caja 25"/>
          <p:cNvSpPr/>
          <p:nvPr/>
        </p:nvSpPr>
        <p:spPr>
          <a:xfrm>
            <a:off x="342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26" name="Texto 2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27" name="Caja 27"/>
          <p:cNvSpPr/>
          <p:nvPr/>
        </p:nvSpPr>
        <p:spPr>
          <a:xfrm>
            <a:off x="4791000" y="2350000"/>
            <a:ext cx="1240000" cy="1500000"/>
          </a:xfrm>
          <a:prstGeom prst="roundRect">
            <a:avLst>
              <a:gd name="adj" fmla="val 6000"/>
            </a:avLst>
          </a:prstGeom>
          <a:solidFill>
            <a:srgbClr val="0F5499"/>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28" name="Texto 2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29" name="Caja 29"/>
          <p:cNvSpPr/>
          <p:nvPr/>
        </p:nvSpPr>
        <p:spPr>
          <a:xfrm>
            <a:off x="616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30" name="Texto 3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31" name="Caja 31"/>
          <p:cNvSpPr/>
          <p:nvPr/>
        </p:nvSpPr>
        <p:spPr>
          <a:xfrm>
            <a:off x="7531000" y="2350000"/>
            <a:ext cx="1240000" cy="1500000"/>
          </a:xfrm>
          <a:prstGeom prst="roundRect">
            <a:avLst>
              <a:gd name="adj" fmla="val 6000"/>
            </a:avLst>
          </a:prstGeom>
          <a:solidFill>
            <a:srgbClr val="5933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32" name="Texto 3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33" name="Caja 33"/>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34" name="Texto 3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35" name="Caja 35"/>
          <p:cNvSpPr/>
          <p:nvPr/>
        </p:nvSpPr>
        <p:spPr>
          <a:xfrm>
            <a:off x="1027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F7</a:t>
            </a:r>
          </a:p>
          <a:p>
            <a:pPr algn="ctr"/>
            <a:r>
              <a:rPr lang="es-ES" sz="1050" dirty="0">
                <a:solidFill>
                  <a:srgbClr val="FFFFFF"/>
                </a:solidFill>
              </a:rPr>
              <a:t>Evolución o retirada</a:t>
            </a:r>
          </a:p>
        </p:txBody>
      </p:sp>
      <p:sp>
        <p:nvSpPr>
          <p:cNvPr id="36" name="Texto 3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37" name="Caja 37"/>
          <p:cNvSpPr/>
          <p:nvPr/>
        </p:nvSpPr>
        <p:spPr>
          <a:xfrm>
            <a:off x="681000" y="4330000"/>
            <a:ext cx="2610000" cy="520000"/>
          </a:xfrm>
          <a:prstGeom prst="roundRect">
            <a:avLst>
              <a:gd name="adj" fmla="val 6000"/>
            </a:avLst>
          </a:prstGeom>
          <a:solidFill>
            <a:srgbClr val="593380"/>
          </a:solidFill>
          <a:ln>
            <a:noFill/>
          </a:ln>
        </p:spPr>
        <p:txBody>
          <a:bodyPr wrap="square" anchor="ctr" lIns="45720" rIns="45720">
            <a:noAutofit/>
          </a:bodyPr>
          <a:lstStyle/>
          <a:p>
            <a:pPr algn="ctr"/>
            <a:r>
              <a:rPr lang="es-ES" sz="1300" b="1" dirty="0">
                <a:solidFill>
                  <a:srgbClr val="FFFFFF"/>
                </a:solidFill>
              </a:rPr>
              <a:t>Propuesto</a:t>
            </a:r>
          </a:p>
        </p:txBody>
      </p:sp>
      <p:sp>
        <p:nvSpPr>
          <p:cNvPr id="38" name="Caja 38"/>
          <p:cNvSpPr/>
          <p:nvPr/>
        </p:nvSpPr>
        <p:spPr>
          <a:xfrm>
            <a:off x="3421000" y="4330000"/>
            <a:ext cx="1240000" cy="520000"/>
          </a:xfrm>
          <a:prstGeom prst="roundRect">
            <a:avLst>
              <a:gd name="adj" fmla="val 6000"/>
            </a:avLst>
          </a:prstGeom>
          <a:solidFill>
            <a:srgbClr val="0F5499"/>
          </a:solidFill>
          <a:ln>
            <a:noFill/>
          </a:ln>
        </p:spPr>
        <p:txBody>
          <a:bodyPr wrap="square" anchor="ctr" lIns="45720" rIns="45720">
            <a:noAutofit/>
          </a:bodyPr>
          <a:lstStyle/>
          <a:p>
            <a:pPr algn="ctr"/>
            <a:r>
              <a:rPr lang="es-ES" sz="1300" b="1" dirty="0">
                <a:solidFill>
                  <a:srgbClr val="FFFFFF"/>
                </a:solidFill>
              </a:rPr>
              <a:t>Hipótesis de valor</a:t>
            </a:r>
          </a:p>
        </p:txBody>
      </p:sp>
      <p:sp>
        <p:nvSpPr>
          <p:cNvPr id="39" name="Caja 39"/>
          <p:cNvSpPr/>
          <p:nvPr/>
        </p:nvSpPr>
        <p:spPr>
          <a:xfrm>
            <a:off x="4791000" y="4330000"/>
            <a:ext cx="1240000" cy="520000"/>
          </a:xfrm>
          <a:prstGeom prst="roundRect">
            <a:avLst>
              <a:gd name="adj" fmla="val 6000"/>
            </a:avLst>
          </a:prstGeom>
          <a:solidFill>
            <a:srgbClr val="A5822A"/>
          </a:solidFill>
          <a:ln>
            <a:noFill/>
          </a:ln>
        </p:spPr>
        <p:txBody>
          <a:bodyPr wrap="square" anchor="ctr" lIns="45720" rIns="45720">
            <a:noAutofit/>
          </a:bodyPr>
          <a:lstStyle/>
          <a:p>
            <a:pPr algn="ctr"/>
            <a:r>
              <a:rPr lang="es-ES" sz="1300" b="1" dirty="0">
                <a:solidFill>
                  <a:srgbClr val="FFFFFF"/>
                </a:solidFill>
              </a:rPr>
              <a:t>Prueba de concepto</a:t>
            </a:r>
          </a:p>
        </p:txBody>
      </p:sp>
      <p:sp>
        <p:nvSpPr>
          <p:cNvPr id="40" name="Caja 40"/>
          <p:cNvSpPr/>
          <p:nvPr/>
        </p:nvSpPr>
        <p:spPr>
          <a:xfrm>
            <a:off x="6161000" y="4330000"/>
            <a:ext cx="2610000" cy="520000"/>
          </a:xfrm>
          <a:prstGeom prst="roundRect">
            <a:avLst>
              <a:gd name="adj" fmla="val 6000"/>
            </a:avLst>
          </a:prstGeom>
          <a:solidFill>
            <a:srgbClr val="1A1817"/>
          </a:solidFill>
          <a:ln>
            <a:noFill/>
          </a:ln>
        </p:spPr>
        <p:txBody>
          <a:bodyPr wrap="square" anchor="ctr" lIns="45720" rIns="45720">
            <a:noAutofit/>
          </a:bodyPr>
          <a:lstStyle/>
          <a:p>
            <a:pPr algn="ctr"/>
            <a:r>
              <a:rPr lang="es-ES" sz="1300" b="1" dirty="0">
                <a:solidFill>
                  <a:srgbClr val="FFFFFF"/>
                </a:solidFill>
              </a:rPr>
              <a:t>En desarrollo</a:t>
            </a:r>
          </a:p>
        </p:txBody>
      </p:sp>
      <p:sp>
        <p:nvSpPr>
          <p:cNvPr id="41" name="Caja 41"/>
          <p:cNvSpPr/>
          <p:nvPr/>
        </p:nvSpPr>
        <p:spPr>
          <a:xfrm>
            <a:off x="8901000" y="4330000"/>
            <a:ext cx="2610000" cy="520000"/>
          </a:xfrm>
          <a:prstGeom prst="roundRect">
            <a:avLst>
              <a:gd name="adj" fmla="val 6000"/>
            </a:avLst>
          </a:prstGeom>
          <a:solidFill>
            <a:srgbClr val="2E7D32"/>
          </a:solidFill>
          <a:ln>
            <a:noFill/>
          </a:ln>
        </p:spPr>
        <p:txBody>
          <a:bodyPr wrap="square" anchor="ctr" lIns="45720" rIns="45720">
            <a:noAutofit/>
          </a:bodyPr>
          <a:lstStyle/>
          <a:p>
            <a:pPr algn="ctr"/>
            <a:r>
              <a:rPr lang="es-ES" sz="1300" b="1" dirty="0">
                <a:solidFill>
                  <a:srgbClr val="FFFFFF"/>
                </a:solidFill>
              </a:rPr>
              <a:t>En uso</a:t>
            </a:r>
          </a:p>
        </p:txBody>
      </p:sp>
    </p:spTree>
  </p:cSld>
  <p:clrMapOvr>
    <a:overrideClrMapping bg1="lt1" tx1="dk1" bg2="lt2" tx2="dk2" accent1="accent1" accent2="accent2" accent3="accent3" accent4="accent4" accent5="accent5" accent6="accent6" hlink="hlink" folHlink="folHlink"/>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62" name="Marca"/>
          <p:cNvSpPr/>
          <p:nvPr/>
        </p:nvSpPr>
        <p:spPr>
          <a:xfrm>
            <a:off x="609600" y="365760"/>
            <a:ext cx="182880" cy="182880"/>
          </a:xfrm>
          <a:prstGeom prst="rect">
            <a:avLst/>
          </a:prstGeom>
          <a:solidFill>
            <a:srgbClr val="990F3D"/>
          </a:solidFill>
        </p:spPr>
        <p:txBody>
          <a:bodyPr/>
          <a:lstStyle/>
          <a:p/>
        </p:txBody>
      </p:sp>
      <p:sp>
        <p:nvSpPr>
          <p:cNvPr id="63" name="Texto 63"/>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64" name="Texto 64"/>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Qué puede pasar en cada puerta</a:t>
            </a:r>
          </a:p>
        </p:txBody>
      </p:sp>
      <p:sp>
        <p:nvSpPr>
          <p:cNvPr id="65" name="Texto 65"/>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Cinco resultados; quien aporta la evidencia nunca es quien verifica ni quien decide</a:t>
            </a:r>
          </a:p>
        </p:txBody>
      </p:sp>
      <p:sp>
        <p:nvSpPr>
          <p:cNvPr id="46" name="Caja 46"/>
          <p:cNvSpPr/>
          <p:nvPr/>
        </p:nvSpPr>
        <p:spPr>
          <a:xfrm>
            <a:off x="609600" y="2050000"/>
            <a:ext cx="209856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Continuar</a:t>
            </a:r>
          </a:p>
        </p:txBody>
      </p:sp>
      <p:sp>
        <p:nvSpPr>
          <p:cNvPr id="47" name="Caja 47"/>
          <p:cNvSpPr/>
          <p:nvPr/>
        </p:nvSpPr>
        <p:spPr>
          <a:xfrm>
            <a:off x="60960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48" name="Texto 48"/>
          <p:cNvSpPr txBox="1"/>
          <p:nvPr/>
        </p:nvSpPr>
        <p:spPr>
          <a:xfrm>
            <a:off x="649600" y="2890000"/>
            <a:ext cx="2018560" cy="2340000"/>
          </a:xfrm>
          <a:prstGeom prst="rect">
            <a:avLst/>
          </a:prstGeom>
          <a:noFill/>
        </p:spPr>
        <p:txBody>
          <a:bodyPr wrap="square" anchor="t" lIns="45720" rIns="45720">
            <a:noAutofit/>
          </a:bodyPr>
          <a:lstStyle/>
          <a:p>
            <a:pPr algn="l"/>
            <a:r>
              <a:rPr lang="es-ES" sz="1300" dirty="0">
                <a:solidFill>
                  <a:srgbClr val="2F2B28"/>
                </a:solidFill>
              </a:rPr>
              <a:t>Se cumplen todos los criterios y las evidencias están verificadas: pasa a la fase siguiente.</a:t>
            </a:r>
          </a:p>
        </p:txBody>
      </p:sp>
      <p:sp>
        <p:nvSpPr>
          <p:cNvPr id="49" name="Caja 49"/>
          <p:cNvSpPr/>
          <p:nvPr/>
        </p:nvSpPr>
        <p:spPr>
          <a:xfrm>
            <a:off x="2828160" y="2050000"/>
            <a:ext cx="209856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Con condiciones</a:t>
            </a:r>
          </a:p>
        </p:txBody>
      </p:sp>
      <p:sp>
        <p:nvSpPr>
          <p:cNvPr id="50" name="Caja 50"/>
          <p:cNvSpPr/>
          <p:nvPr/>
        </p:nvSpPr>
        <p:spPr>
          <a:xfrm>
            <a:off x="282816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1" name="Texto 51"/>
          <p:cNvSpPr txBox="1"/>
          <p:nvPr/>
        </p:nvSpPr>
        <p:spPr>
          <a:xfrm>
            <a:off x="2868160" y="2890000"/>
            <a:ext cx="2018560" cy="2340000"/>
          </a:xfrm>
          <a:prstGeom prst="rect">
            <a:avLst/>
          </a:prstGeom>
          <a:noFill/>
        </p:spPr>
        <p:txBody>
          <a:bodyPr wrap="square" anchor="t" lIns="45720" rIns="45720">
            <a:noAutofit/>
          </a:bodyPr>
          <a:lstStyle/>
          <a:p>
            <a:pPr algn="l"/>
            <a:r>
              <a:rPr lang="es-ES" sz="1300" dirty="0">
                <a:solidFill>
                  <a:srgbClr val="2F2B28"/>
                </a:solidFill>
              </a:rPr>
              <a:t>Pasa, con plazo y responsable para lo pendiente. Nunca para controles críticos de seguridad, legales o de supervisión humana.</a:t>
            </a:r>
          </a:p>
        </p:txBody>
      </p:sp>
      <p:sp>
        <p:nvSpPr>
          <p:cNvPr id="52" name="Caja 52"/>
          <p:cNvSpPr/>
          <p:nvPr/>
        </p:nvSpPr>
        <p:spPr>
          <a:xfrm>
            <a:off x="5046720" y="2050000"/>
            <a:ext cx="2098560" cy="800000"/>
          </a:xfrm>
          <a:prstGeom prst="roundRect">
            <a:avLst>
              <a:gd name="adj" fmla="val 6000"/>
            </a:avLst>
          </a:prstGeom>
          <a:solidFill>
            <a:srgbClr val="A5822A"/>
          </a:solidFill>
          <a:ln>
            <a:noFill/>
          </a:ln>
        </p:spPr>
        <p:txBody>
          <a:bodyPr wrap="square" anchor="ctr" lIns="45720" rIns="45720">
            <a:noAutofit/>
          </a:bodyPr>
          <a:lstStyle/>
          <a:p>
            <a:pPr algn="ctr"/>
            <a:r>
              <a:rPr lang="es-ES" sz="1700" b="1" dirty="0">
                <a:solidFill>
                  <a:srgbClr val="FFFFFF"/>
                </a:solidFill>
              </a:rPr>
              <a:t>Iterar</a:t>
            </a:r>
          </a:p>
        </p:txBody>
      </p:sp>
      <p:sp>
        <p:nvSpPr>
          <p:cNvPr id="53" name="Caja 53"/>
          <p:cNvSpPr/>
          <p:nvPr/>
        </p:nvSpPr>
        <p:spPr>
          <a:xfrm>
            <a:off x="504672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4" name="Texto 54"/>
          <p:cNvSpPr txBox="1"/>
          <p:nvPr/>
        </p:nvSpPr>
        <p:spPr>
          <a:xfrm>
            <a:off x="5086720" y="2890000"/>
            <a:ext cx="2018560" cy="2340000"/>
          </a:xfrm>
          <a:prstGeom prst="rect">
            <a:avLst/>
          </a:prstGeom>
          <a:noFill/>
        </p:spPr>
        <p:txBody>
          <a:bodyPr wrap="square" anchor="t" lIns="45720" rIns="45720">
            <a:noAutofit/>
          </a:bodyPr>
          <a:lstStyle/>
          <a:p>
            <a:pPr algn="l"/>
            <a:r>
              <a:rPr lang="es-ES" sz="1300" dirty="0">
                <a:solidFill>
                  <a:srgbClr val="2F2B28"/>
                </a:solidFill>
              </a:rPr>
              <a:t>Se repite la fase con un ajuste concreto y se vuelve a la misma puerta. A la tercera, decide el órgano superior.</a:t>
            </a:r>
          </a:p>
        </p:txBody>
      </p:sp>
      <p:sp>
        <p:nvSpPr>
          <p:cNvPr id="55" name="Caja 55"/>
          <p:cNvSpPr/>
          <p:nvPr/>
        </p:nvSpPr>
        <p:spPr>
          <a:xfrm>
            <a:off x="7265280" y="2050000"/>
            <a:ext cx="209856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Pivotar</a:t>
            </a:r>
          </a:p>
        </p:txBody>
      </p:sp>
      <p:sp>
        <p:nvSpPr>
          <p:cNvPr id="56" name="Caja 56"/>
          <p:cNvSpPr/>
          <p:nvPr/>
        </p:nvSpPr>
        <p:spPr>
          <a:xfrm>
            <a:off x="726528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57" name="Texto 57"/>
          <p:cNvSpPr txBox="1"/>
          <p:nvPr/>
        </p:nvSpPr>
        <p:spPr>
          <a:xfrm>
            <a:off x="7305280" y="2890000"/>
            <a:ext cx="2018560" cy="2340000"/>
          </a:xfrm>
          <a:prstGeom prst="rect">
            <a:avLst/>
          </a:prstGeom>
          <a:noFill/>
        </p:spPr>
        <p:txBody>
          <a:bodyPr wrap="square" anchor="t" lIns="45720" rIns="45720">
            <a:noAutofit/>
          </a:bodyPr>
          <a:lstStyle/>
          <a:p>
            <a:pPr algn="l"/>
            <a:r>
              <a:rPr lang="es-ES" sz="1300" dirty="0">
                <a:solidFill>
                  <a:srgbClr val="2F2B28"/>
                </a:solidFill>
              </a:rPr>
              <a:t>La hipótesis no se sostiene pero hay otra razonable: vuelve a la fase 2. Solo en G1, G2 y G3.</a:t>
            </a:r>
          </a:p>
        </p:txBody>
      </p:sp>
      <p:sp>
        <p:nvSpPr>
          <p:cNvPr id="58" name="Caja 58"/>
          <p:cNvSpPr/>
          <p:nvPr/>
        </p:nvSpPr>
        <p:spPr>
          <a:xfrm>
            <a:off x="9483840" y="2050000"/>
            <a:ext cx="2098560" cy="800000"/>
          </a:xfrm>
          <a:prstGeom prst="roundRect">
            <a:avLst>
              <a:gd name="adj" fmla="val 6000"/>
            </a:avLst>
          </a:prstGeom>
          <a:solidFill>
            <a:srgbClr val="990F3D"/>
          </a:solidFill>
          <a:ln>
            <a:noFill/>
          </a:ln>
        </p:spPr>
        <p:txBody>
          <a:bodyPr wrap="square" anchor="ctr" lIns="45720" rIns="45720">
            <a:noAutofit/>
          </a:bodyPr>
          <a:lstStyle/>
          <a:p>
            <a:pPr algn="ctr"/>
            <a:r>
              <a:rPr lang="es-ES" sz="1700" b="1" dirty="0">
                <a:solidFill>
                  <a:srgbClr val="FFFFFF"/>
                </a:solidFill>
              </a:rPr>
              <a:t>Parar</a:t>
            </a:r>
          </a:p>
        </p:txBody>
      </p:sp>
      <p:sp>
        <p:nvSpPr>
          <p:cNvPr id="59" name="Caja 59"/>
          <p:cNvSpPr/>
          <p:nvPr/>
        </p:nvSpPr>
        <p:spPr>
          <a:xfrm>
            <a:off x="9483840" y="2790000"/>
            <a:ext cx="209856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60" name="Texto 60"/>
          <p:cNvSpPr txBox="1"/>
          <p:nvPr/>
        </p:nvSpPr>
        <p:spPr>
          <a:xfrm>
            <a:off x="9523840" y="2890000"/>
            <a:ext cx="2018560" cy="2340000"/>
          </a:xfrm>
          <a:prstGeom prst="rect">
            <a:avLst/>
          </a:prstGeom>
          <a:noFill/>
        </p:spPr>
        <p:txBody>
          <a:bodyPr wrap="square" anchor="t" lIns="45720" rIns="45720">
            <a:noAutofit/>
          </a:bodyPr>
          <a:lstStyle/>
          <a:p>
            <a:pPr algn="l"/>
            <a:r>
              <a:rPr lang="es-ES" sz="1300" dirty="0">
                <a:solidFill>
                  <a:srgbClr val="2F2B28"/>
                </a:solidFill>
              </a:rPr>
              <a:t>No hay valor plausible o el riesgo es inaceptable. Se registran el motivo y lo aprendido. Es un buen resultado.</a:t>
            </a:r>
          </a:p>
        </p:txBody>
      </p:sp>
      <p:sp>
        <p:nvSpPr>
          <p:cNvPr id="61" name="Texto 61"/>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En G7 los resultados son Escalar, Iterar o Retirar.</a:t>
            </a:r>
          </a:p>
        </p:txBody>
      </p:sp>
    </p:spTree>
  </p:cSld>
  <p:clrMapOvr>
    <a:overrideClrMapping bg1="lt1" tx1="dk1" bg2="lt2" tx2="dk2" accent1="accent1" accent2="accent2" accent3="accent3" accent4="accent4" accent5="accent5" accent6="accent6" hlink="hlink" folHlink="folHlink"/>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66" name="Marca"/>
          <p:cNvSpPr/>
          <p:nvPr/>
        </p:nvSpPr>
        <p:spPr>
          <a:xfrm>
            <a:off x="609600" y="2400000"/>
            <a:ext cx="182880" cy="182880"/>
          </a:xfrm>
          <a:prstGeom prst="rect">
            <a:avLst/>
          </a:prstGeom>
          <a:solidFill>
            <a:srgbClr val="990F3D"/>
          </a:solidFill>
        </p:spPr>
        <p:txBody>
          <a:bodyPr/>
          <a:lstStyle/>
          <a:p/>
        </p:txBody>
      </p:sp>
      <p:sp>
        <p:nvSpPr>
          <p:cNvPr id="67" name="Texto 67"/>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DEL DOCUMENTO AL PANEL</a:t>
            </a:r>
          </a:p>
        </p:txBody>
      </p:sp>
      <p:sp>
        <p:nvSpPr>
          <p:cNvPr id="68" name="Texto 68"/>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Cómo se llena el embudo</a:t>
            </a:r>
          </a:p>
        </p:txBody>
      </p:sp>
      <p:sp>
        <p:nvSpPr>
          <p:cNvPr id="69" name="Texto 69"/>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Nadie dibuja el embudo ni el panel: salen solos de lo que se rellena y se decide en cada fase. Este es el recorrido.</a:t>
            </a:r>
          </a:p>
        </p:txBody>
      </p:sp>
    </p:spTree>
  </p:cSld>
  <p:clrMapOvr>
    <a:overrideClrMapping bg1="lt1" tx1="dk1" bg2="lt2" tx2="dk2" accent1="accent1" accent2="accent2" accent3="accent3" accent4="accent4" accent5="accent5" accent6="accent6" hlink="hlink" folHlink="folHlink"/>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87" name="Marca"/>
          <p:cNvSpPr/>
          <p:nvPr/>
        </p:nvSpPr>
        <p:spPr>
          <a:xfrm>
            <a:off x="609600" y="365760"/>
            <a:ext cx="182880" cy="182880"/>
          </a:xfrm>
          <a:prstGeom prst="rect">
            <a:avLst/>
          </a:prstGeom>
          <a:solidFill>
            <a:srgbClr val="990F3D"/>
          </a:solidFill>
        </p:spPr>
        <p:txBody>
          <a:bodyPr/>
          <a:lstStyle/>
          <a:p/>
        </p:txBody>
      </p:sp>
      <p:sp>
        <p:nvSpPr>
          <p:cNvPr id="88" name="Texto 8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89" name="Texto 8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0 a 3: de la idea a la prueba de concepto</a:t>
            </a:r>
          </a:p>
        </p:txBody>
      </p:sp>
      <p:sp>
        <p:nvSpPr>
          <p:cNvPr id="90" name="Texto 9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Qué se hace, qué plantillas se rellenan y qué puerta cierra cada fase</a:t>
            </a:r>
          </a:p>
        </p:txBody>
      </p:sp>
      <p:sp>
        <p:nvSpPr>
          <p:cNvPr id="70" name="Caja 70"/>
          <p:cNvSpPr/>
          <p:nvPr/>
        </p:nvSpPr>
        <p:spPr>
          <a:xfrm>
            <a:off x="609600" y="1900000"/>
            <a:ext cx="2645700" cy="700000"/>
          </a:xfrm>
          <a:prstGeom prst="roundRect">
            <a:avLst>
              <a:gd name="adj" fmla="val 6000"/>
            </a:avLst>
          </a:prstGeom>
          <a:solidFill>
            <a:srgbClr val="564D47"/>
          </a:solidFill>
          <a:ln>
            <a:noFill/>
          </a:ln>
        </p:spPr>
        <p:txBody>
          <a:bodyPr wrap="square" anchor="ctr" lIns="45720" rIns="45720">
            <a:noAutofit/>
          </a:bodyPr>
          <a:lstStyle/>
          <a:p>
            <a:pPr algn="ctr"/>
            <a:r>
              <a:rPr lang="es-ES" sz="1700" b="1" dirty="0">
                <a:solidFill>
                  <a:srgbClr val="FFFFFF"/>
                </a:solidFill>
              </a:rPr>
              <a:t>F0</a:t>
            </a:r>
          </a:p>
          <a:p>
            <a:pPr algn="ctr"/>
            <a:r>
              <a:rPr lang="es-ES" sz="1150" dirty="0">
                <a:solidFill>
                  <a:srgbClr val="FFFFFF"/>
                </a:solidFill>
              </a:rPr>
              <a:t>Contexto y restricciones</a:t>
            </a:r>
          </a:p>
        </p:txBody>
      </p:sp>
      <p:sp>
        <p:nvSpPr>
          <p:cNvPr id="71" name="Caja 71"/>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2" name="Texto 72"/>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autoriza la idea: patrocinador, responsable, alcance, restricciones e intensidad (Lite o Enterprise).</a:t>
            </a:r>
          </a:p>
          <a:p>
            <a:pPr algn="l">
              <a:spcAft>
                <a:spcPts val="500"/>
              </a:spcAft>
            </a:pPr>
            <a:r>
              <a:rPr lang="es-ES" sz="1150" b="1" dirty="0">
                <a:solidFill>
                  <a:srgbClr val="1A1817"/>
                </a:solidFill>
              </a:rPr>
              <a:t>Se rellena. </a:t>
            </a:r>
            <a:r>
              <a:rPr lang="es-ES" sz="1150" dirty="0">
                <a:solidFill>
                  <a:srgbClr val="2F2B28"/>
                </a:solidFill>
              </a:rPr>
              <a:t>P01 Carta de la iniciativa · P02 Contexto y restricciones · P03 Roles · P04 Intensidad · P05 Alta en el inventario.</a:t>
            </a:r>
          </a:p>
        </p:txBody>
      </p:sp>
      <p:sp>
        <p:nvSpPr>
          <p:cNvPr id="73" name="Caja 73"/>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G0 → entra en «Propuesto»</a:t>
            </a:r>
          </a:p>
        </p:txBody>
      </p:sp>
      <p:sp>
        <p:nvSpPr>
          <p:cNvPr id="74" name="Caja 74"/>
          <p:cNvSpPr/>
          <p:nvPr/>
        </p:nvSpPr>
        <p:spPr>
          <a:xfrm>
            <a:off x="33853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F1</a:t>
            </a:r>
          </a:p>
          <a:p>
            <a:pPr algn="ctr"/>
            <a:r>
              <a:rPr lang="es-ES" sz="1150" dirty="0">
                <a:solidFill>
                  <a:srgbClr val="FFFFFF"/>
                </a:solidFill>
              </a:rPr>
              <a:t>Descubrimiento</a:t>
            </a:r>
          </a:p>
        </p:txBody>
      </p:sp>
      <p:sp>
        <p:nvSpPr>
          <p:cNvPr id="75" name="Caja 75"/>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76" name="Texto 76"/>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comparan oportunidades, también alternativas sin IA, y se propone esfera y nivel de ambición.</a:t>
            </a:r>
          </a:p>
          <a:p>
            <a:pPr algn="l">
              <a:spcAft>
                <a:spcPts val="500"/>
              </a:spcAft>
            </a:pPr>
            <a:r>
              <a:rPr lang="es-ES" sz="1150" b="1" dirty="0">
                <a:solidFill>
                  <a:srgbClr val="1A1817"/>
                </a:solidFill>
              </a:rPr>
              <a:t>Se rellena. </a:t>
            </a:r>
            <a:r>
              <a:rPr lang="es-ES" sz="1150" dirty="0">
                <a:solidFill>
                  <a:srgbClr val="2F2B28"/>
                </a:solidFill>
              </a:rPr>
              <a:t>P06 Cartera de oportunidades y filtrado · P07 Esfera y ambición · P31 Ficha de caso de uso.</a:t>
            </a:r>
          </a:p>
        </p:txBody>
      </p:sp>
      <p:sp>
        <p:nvSpPr>
          <p:cNvPr id="77" name="Caja 77"/>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G1 → sigue en «Propuesto»</a:t>
            </a:r>
          </a:p>
        </p:txBody>
      </p:sp>
      <p:sp>
        <p:nvSpPr>
          <p:cNvPr id="78" name="Caja 78"/>
          <p:cNvSpPr/>
          <p:nvPr/>
        </p:nvSpPr>
        <p:spPr>
          <a:xfrm>
            <a:off x="61610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F2</a:t>
            </a:r>
          </a:p>
          <a:p>
            <a:pPr algn="ctr"/>
            <a:r>
              <a:rPr lang="es-ES" sz="1150" dirty="0">
                <a:solidFill>
                  <a:srgbClr val="FFFFFF"/>
                </a:solidFill>
              </a:rPr>
              <a:t>Hipótesis de valor</a:t>
            </a:r>
          </a:p>
        </p:txBody>
      </p:sp>
      <p:sp>
        <p:nvSpPr>
          <p:cNvPr id="79" name="Caja 79"/>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0" name="Texto 80"/>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Hipótesis falsable en dinero, con línea base, método de atribución y criterios de parada fijados antes de empezar.</a:t>
            </a:r>
          </a:p>
          <a:p>
            <a:pPr algn="l">
              <a:spcAft>
                <a:spcPts val="500"/>
              </a:spcAft>
            </a:pPr>
            <a:r>
              <a:rPr lang="es-ES" sz="1150" b="1" dirty="0">
                <a:solidFill>
                  <a:srgbClr val="1A1817"/>
                </a:solidFill>
              </a:rPr>
              <a:t>Se rellena. </a:t>
            </a:r>
            <a:r>
              <a:rPr lang="es-ES" sz="1150" dirty="0">
                <a:solidFill>
                  <a:srgbClr val="2F2B28"/>
                </a:solidFill>
              </a:rPr>
              <a:t>P08 Lienzo de hipótesis de valor · P09 Línea base. Apoyo: calculadora T11.</a:t>
            </a:r>
          </a:p>
        </p:txBody>
      </p:sp>
      <p:sp>
        <p:nvSpPr>
          <p:cNvPr id="81" name="Caja 81"/>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G2 → «Hipótesis de valor»</a:t>
            </a:r>
          </a:p>
        </p:txBody>
      </p:sp>
      <p:sp>
        <p:nvSpPr>
          <p:cNvPr id="82" name="Caja 82"/>
          <p:cNvSpPr/>
          <p:nvPr/>
        </p:nvSpPr>
        <p:spPr>
          <a:xfrm>
            <a:off x="8936700" y="1900000"/>
            <a:ext cx="2645700" cy="7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F3</a:t>
            </a:r>
          </a:p>
          <a:p>
            <a:pPr algn="ctr"/>
            <a:r>
              <a:rPr lang="es-ES" sz="1150" dirty="0">
                <a:solidFill>
                  <a:srgbClr val="FFFFFF"/>
                </a:solidFill>
              </a:rPr>
              <a:t>Viabilidad y riesgo</a:t>
            </a:r>
          </a:p>
        </p:txBody>
      </p:sp>
      <p:sp>
        <p:nvSpPr>
          <p:cNvPr id="83" name="Caja 83"/>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84" name="Texto 84"/>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Prueba de concepto: viabilidad, clasificación regulatoria, riesgos y proveedores. Es la principal puerta de parada.</a:t>
            </a:r>
          </a:p>
          <a:p>
            <a:pPr algn="l">
              <a:spcAft>
                <a:spcPts val="500"/>
              </a:spcAft>
            </a:pPr>
            <a:r>
              <a:rPr lang="es-ES" sz="1150" b="1" dirty="0">
                <a:solidFill>
                  <a:srgbClr val="1A1817"/>
                </a:solidFill>
              </a:rPr>
              <a:t>Se rellena. </a:t>
            </a:r>
            <a:r>
              <a:rPr lang="es-ES" sz="1150" dirty="0">
                <a:solidFill>
                  <a:srgbClr val="2F2B28"/>
                </a:solidFill>
              </a:rPr>
              <a:t>P10 Viabilidad · P11 Clasificación regulatoria e impacto · P12 Riesgos · P13 Mitigación · P14 Proveedor.</a:t>
            </a:r>
          </a:p>
        </p:txBody>
      </p:sp>
      <p:sp>
        <p:nvSpPr>
          <p:cNvPr id="85" name="Caja 85"/>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G3 → «Prueba de concepto»</a:t>
            </a:r>
          </a:p>
        </p:txBody>
      </p:sp>
      <p:sp>
        <p:nvSpPr>
          <p:cNvPr id="86" name="Texto 8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08" name="Marca"/>
          <p:cNvSpPr/>
          <p:nvPr/>
        </p:nvSpPr>
        <p:spPr>
          <a:xfrm>
            <a:off x="609600" y="365760"/>
            <a:ext cx="182880" cy="182880"/>
          </a:xfrm>
          <a:prstGeom prst="rect">
            <a:avLst/>
          </a:prstGeom>
          <a:solidFill>
            <a:srgbClr val="990F3D"/>
          </a:solidFill>
        </p:spPr>
        <p:txBody>
          <a:bodyPr/>
          <a:lstStyle/>
          <a:p/>
        </p:txBody>
      </p:sp>
      <p:sp>
        <p:nvSpPr>
          <p:cNvPr id="109" name="Texto 10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10" name="Texto 11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Fases 4 a 7: del diseño a la producción y la retirada</a:t>
            </a:r>
          </a:p>
        </p:txBody>
      </p:sp>
      <p:sp>
        <p:nvSpPr>
          <p:cNvPr id="111" name="Texto 11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puesta en producción no cierra el ciclo: abre la operación, con revisiones periódicas</a:t>
            </a:r>
          </a:p>
        </p:txBody>
      </p:sp>
      <p:sp>
        <p:nvSpPr>
          <p:cNvPr id="91" name="Caja 91"/>
          <p:cNvSpPr/>
          <p:nvPr/>
        </p:nvSpPr>
        <p:spPr>
          <a:xfrm>
            <a:off x="6096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F4</a:t>
            </a:r>
          </a:p>
          <a:p>
            <a:pPr algn="ctr"/>
            <a:r>
              <a:rPr lang="es-ES" sz="1150" dirty="0">
                <a:solidFill>
                  <a:srgbClr val="FFFFFF"/>
                </a:solidFill>
              </a:rPr>
              <a:t>Diseño de la solución</a:t>
            </a:r>
          </a:p>
        </p:txBody>
      </p:sp>
      <p:sp>
        <p:nvSpPr>
          <p:cNvPr id="92" name="Caja 92"/>
          <p:cNvSpPr/>
          <p:nvPr/>
        </p:nvSpPr>
        <p:spPr>
          <a:xfrm>
            <a:off x="6096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3" name="Texto 93"/>
          <p:cNvSpPr txBox="1"/>
          <p:nvPr/>
        </p:nvSpPr>
        <p:spPr>
          <a:xfrm>
            <a:off x="6496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Antes de construir: arquitectura, linaje de datos y modelos, supervisión humana, seguridad, reversión y adopción.</a:t>
            </a:r>
          </a:p>
          <a:p>
            <a:pPr algn="l">
              <a:spcAft>
                <a:spcPts val="500"/>
              </a:spcAft>
            </a:pPr>
            <a:r>
              <a:rPr lang="es-ES" sz="1150" b="1" dirty="0">
                <a:solidFill>
                  <a:srgbClr val="1A1817"/>
                </a:solidFill>
              </a:rPr>
              <a:t>Se rellena. </a:t>
            </a:r>
            <a:r>
              <a:rPr lang="es-ES" sz="1150" dirty="0">
                <a:solidFill>
                  <a:srgbClr val="2F2B28"/>
                </a:solidFill>
              </a:rPr>
              <a:t>P15 Arquitectura · P16 Linaje · P17 Supervisión humana · P18 Seguridad · P19 Reversión · P20 Adopción.</a:t>
            </a:r>
          </a:p>
        </p:txBody>
      </p:sp>
      <p:sp>
        <p:nvSpPr>
          <p:cNvPr id="94" name="Caja 94"/>
          <p:cNvSpPr/>
          <p:nvPr/>
        </p:nvSpPr>
        <p:spPr>
          <a:xfrm>
            <a:off x="6096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G4 → «En desarrollo»</a:t>
            </a:r>
          </a:p>
        </p:txBody>
      </p:sp>
      <p:sp>
        <p:nvSpPr>
          <p:cNvPr id="95" name="Caja 95"/>
          <p:cNvSpPr/>
          <p:nvPr/>
        </p:nvSpPr>
        <p:spPr>
          <a:xfrm>
            <a:off x="3385300" y="1900000"/>
            <a:ext cx="2645700" cy="7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F5</a:t>
            </a:r>
          </a:p>
          <a:p>
            <a:pPr algn="ctr"/>
            <a:r>
              <a:rPr lang="es-ES" sz="1150" dirty="0">
                <a:solidFill>
                  <a:srgbClr val="FFFFFF"/>
                </a:solidFill>
              </a:rPr>
              <a:t>Entrega y validación</a:t>
            </a:r>
          </a:p>
        </p:txBody>
      </p:sp>
      <p:sp>
        <p:nvSpPr>
          <p:cNvPr id="96" name="Caja 96"/>
          <p:cNvSpPr/>
          <p:nvPr/>
        </p:nvSpPr>
        <p:spPr>
          <a:xfrm>
            <a:off x="33853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97" name="Texto 97"/>
          <p:cNvSpPr txBox="1"/>
          <p:nvPr/>
        </p:nvSpPr>
        <p:spPr>
          <a:xfrm>
            <a:off x="34253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Se construye, se valida y se pilota; se prueba la reversión y se firma la puesta en producción.</a:t>
            </a:r>
          </a:p>
          <a:p>
            <a:pPr algn="l">
              <a:spcAft>
                <a:spcPts val="500"/>
              </a:spcAft>
            </a:pPr>
            <a:r>
              <a:rPr lang="es-ES" sz="1150" b="1" dirty="0">
                <a:solidFill>
                  <a:srgbClr val="1A1817"/>
                </a:solidFill>
              </a:rPr>
              <a:t>Se rellena. </a:t>
            </a:r>
            <a:r>
              <a:rPr lang="es-ES" sz="1150" dirty="0">
                <a:solidFill>
                  <a:srgbClr val="2F2B28"/>
                </a:solidFill>
              </a:rPr>
              <a:t>P21 Informe de entrega · P22 Validación y piloto · P23 Firma de puesta en producción · P12 actualizado.</a:t>
            </a:r>
          </a:p>
        </p:txBody>
      </p:sp>
      <p:sp>
        <p:nvSpPr>
          <p:cNvPr id="98" name="Caja 98"/>
          <p:cNvSpPr/>
          <p:nvPr/>
        </p:nvSpPr>
        <p:spPr>
          <a:xfrm>
            <a:off x="33853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G5 → pasa a «En uso»</a:t>
            </a:r>
          </a:p>
        </p:txBody>
      </p:sp>
      <p:sp>
        <p:nvSpPr>
          <p:cNvPr id="99" name="Caja 99"/>
          <p:cNvSpPr/>
          <p:nvPr/>
        </p:nvSpPr>
        <p:spPr>
          <a:xfrm>
            <a:off x="61610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F6</a:t>
            </a:r>
          </a:p>
          <a:p>
            <a:pPr algn="ctr"/>
            <a:r>
              <a:rPr lang="es-ES" sz="1150" dirty="0">
                <a:solidFill>
                  <a:srgbClr val="FFFFFF"/>
                </a:solidFill>
              </a:rPr>
              <a:t>Operación y gobierno</a:t>
            </a:r>
          </a:p>
        </p:txBody>
      </p:sp>
      <p:sp>
        <p:nvSpPr>
          <p:cNvPr id="100" name="Caja 100"/>
          <p:cNvSpPr/>
          <p:nvPr/>
        </p:nvSpPr>
        <p:spPr>
          <a:xfrm>
            <a:off x="61610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1" name="Texto 101"/>
          <p:cNvSpPr txBox="1"/>
          <p:nvPr/>
        </p:nvSpPr>
        <p:spPr>
          <a:xfrm>
            <a:off x="62010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Monitorización, incidentes, cambios y seguimiento del valor realizado, con revisión de continuidad periódica.</a:t>
            </a:r>
          </a:p>
          <a:p>
            <a:pPr algn="l">
              <a:spcAft>
                <a:spcPts val="500"/>
              </a:spcAft>
            </a:pPr>
            <a:r>
              <a:rPr lang="es-ES" sz="1150" b="1" dirty="0">
                <a:solidFill>
                  <a:srgbClr val="1A1817"/>
                </a:solidFill>
              </a:rPr>
              <a:t>Se rellena. </a:t>
            </a:r>
            <a:r>
              <a:rPr lang="es-ES" sz="1150" dirty="0">
                <a:solidFill>
                  <a:srgbClr val="2F2B28"/>
                </a:solidFill>
              </a:rPr>
              <a:t>P24 Manual de operación · P25 Monitorización · P26 y P27 Incidentes y cambios · P28 Valor · P65 Paquete R6.</a:t>
            </a:r>
          </a:p>
        </p:txBody>
      </p:sp>
      <p:sp>
        <p:nvSpPr>
          <p:cNvPr id="102" name="Caja 102"/>
          <p:cNvSpPr/>
          <p:nvPr/>
        </p:nvSpPr>
        <p:spPr>
          <a:xfrm>
            <a:off x="61610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R6 → sigue «En uso» o adelanta G7</a:t>
            </a:r>
          </a:p>
        </p:txBody>
      </p:sp>
      <p:sp>
        <p:nvSpPr>
          <p:cNvPr id="103" name="Caja 103"/>
          <p:cNvSpPr/>
          <p:nvPr/>
        </p:nvSpPr>
        <p:spPr>
          <a:xfrm>
            <a:off x="8936700" y="1900000"/>
            <a:ext cx="2645700" cy="7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F7</a:t>
            </a:r>
          </a:p>
          <a:p>
            <a:pPr algn="ctr"/>
            <a:r>
              <a:rPr lang="es-ES" sz="1150" dirty="0">
                <a:solidFill>
                  <a:srgbClr val="FFFFFF"/>
                </a:solidFill>
              </a:rPr>
              <a:t>Evolución o retirada</a:t>
            </a:r>
          </a:p>
        </p:txBody>
      </p:sp>
      <p:sp>
        <p:nvSpPr>
          <p:cNvPr id="104" name="Caja 104"/>
          <p:cNvSpPr/>
          <p:nvPr/>
        </p:nvSpPr>
        <p:spPr>
          <a:xfrm>
            <a:off x="8936700" y="2540000"/>
            <a:ext cx="2645700" cy="295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105" name="Texto 105"/>
          <p:cNvSpPr txBox="1"/>
          <p:nvPr/>
        </p:nvSpPr>
        <p:spPr>
          <a:xfrm>
            <a:off x="8976700" y="2660000"/>
            <a:ext cx="2565700" cy="2780000"/>
          </a:xfrm>
          <a:prstGeom prst="rect">
            <a:avLst/>
          </a:prstGeom>
          <a:noFill/>
        </p:spPr>
        <p:txBody>
          <a:bodyPr wrap="square" anchor="t" lIns="45720" rIns="45720">
            <a:noAutofit/>
          </a:bodyPr>
          <a:lstStyle/>
          <a:p>
            <a:pPr algn="l">
              <a:spcAft>
                <a:spcPts val="500"/>
              </a:spcAft>
            </a:pPr>
            <a:r>
              <a:rPr lang="es-ES" sz="1150" b="1" dirty="0">
                <a:solidFill>
                  <a:srgbClr val="1A1817"/>
                </a:solidFill>
              </a:rPr>
              <a:t>Qué se hace. </a:t>
            </a:r>
            <a:r>
              <a:rPr lang="es-ES" sz="1150" dirty="0">
                <a:solidFill>
                  <a:srgbClr val="2F2B28"/>
                </a:solidFill>
              </a:rPr>
              <a:t>Con el valor realizado delante se decide escalar, iterar o retirar, y se registran las lecciones.</a:t>
            </a:r>
          </a:p>
          <a:p>
            <a:pPr algn="l">
              <a:spcAft>
                <a:spcPts val="500"/>
              </a:spcAft>
            </a:pPr>
            <a:r>
              <a:rPr lang="es-ES" sz="1150" b="1" dirty="0">
                <a:solidFill>
                  <a:srgbClr val="1A1817"/>
                </a:solidFill>
              </a:rPr>
              <a:t>Se rellena. </a:t>
            </a:r>
            <a:r>
              <a:rPr lang="es-ES" sz="1150" dirty="0">
                <a:solidFill>
                  <a:srgbClr val="2F2B28"/>
                </a:solidFill>
              </a:rPr>
              <a:t>P28 Seguimiento del valor · P30 Decisión de escalado o retirada, con plan de retirada si procede.</a:t>
            </a:r>
          </a:p>
        </p:txBody>
      </p:sp>
      <p:sp>
        <p:nvSpPr>
          <p:cNvPr id="106" name="Caja 106"/>
          <p:cNvSpPr/>
          <p:nvPr/>
        </p:nvSpPr>
        <p:spPr>
          <a:xfrm>
            <a:off x="8936700" y="5550000"/>
            <a:ext cx="2645700" cy="560000"/>
          </a:xfrm>
          <a:prstGeom prst="roundRect">
            <a:avLst>
              <a:gd name="adj" fmla="val 6000"/>
            </a:avLst>
          </a:prstGeom>
          <a:solidFill>
            <a:srgbClr val="990F3D"/>
          </a:solidFill>
          <a:ln>
            <a:noFill/>
          </a:ln>
        </p:spPr>
        <p:txBody>
          <a:bodyPr wrap="square" anchor="ctr" lIns="45720" rIns="45720">
            <a:noAutofit/>
          </a:bodyPr>
          <a:lstStyle/>
          <a:p>
            <a:pPr algn="ctr"/>
            <a:r>
              <a:rPr lang="es-ES" sz="1150" b="1" dirty="0">
                <a:solidFill>
                  <a:srgbClr val="FFFFFF"/>
                </a:solidFill>
              </a:rPr>
              <a:t>G7 → escala, itera o «Desenganchado»</a:t>
            </a:r>
          </a:p>
        </p:txBody>
      </p:sp>
      <p:sp>
        <p:nvSpPr>
          <p:cNvPr id="107" name="Texto 107"/>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Cada decisión de puerta se deja en P29 y en el registro T01, con el estado de cada criterio y su evidencia.</a:t>
            </a:r>
          </a:p>
        </p:txBody>
      </p:sp>
    </p:spTree>
  </p:cSld>
  <p:clrMapOvr>
    <a:overrideClrMapping bg1="lt1" tx1="dk1" bg2="lt2" tx2="dk2" accent1="accent1" accent2="accent2" accent3="accent3" accent4="accent4" accent5="accent5" accent6="accent6" hlink="hlink" folHlink="folHlink"/>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14" name="Marca"/>
          <p:cNvSpPr/>
          <p:nvPr/>
        </p:nvSpPr>
        <p:spPr>
          <a:xfrm>
            <a:off x="609600" y="365760"/>
            <a:ext cx="182880" cy="182880"/>
          </a:xfrm>
          <a:prstGeom prst="rect">
            <a:avLst/>
          </a:prstGeom>
          <a:solidFill>
            <a:srgbClr val="990F3D"/>
          </a:solidFill>
        </p:spPr>
        <p:txBody>
          <a:bodyPr/>
          <a:lstStyle/>
          <a:p/>
        </p:txBody>
      </p:sp>
      <p:sp>
        <p:nvSpPr>
          <p:cNvPr id="115" name="Texto 115"/>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16" name="Texto 116"/>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registro de iniciativas (T01): donde todo queda anotado</a:t>
            </a:r>
          </a:p>
        </p:txBody>
      </p:sp>
      <p:sp>
        <p:nvSpPr>
          <p:cNvPr id="117" name="Texto 117"/>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Cada iniciativa se da de alta como una oportunidad en un CRM; aquí, el registro de ejemplo con datos ficticios</a:t>
            </a:r>
          </a:p>
        </p:txBody>
      </p:sp>
      <p:pic>
        <p:nvPicPr>
          <p:cNvPr id="112" name="Imagen 112" descr="Vista de embudo del registro de iniciativas T01"/>
          <p:cNvPicPr>
            <a:picLocks noChangeAspect="1"/>
          </p:cNvPicPr>
          <p:nvPr/>
        </p:nvPicPr>
        <p:blipFill>
          <a:blip r:embed="rIdImg_registro"/>
          <a:stretch>
            <a:fillRect/>
          </a:stretch>
        </p:blipFill>
        <p:spPr>
          <a:xfrm>
            <a:off x="609600" y="1900000"/>
            <a:ext cx="6211111" cy="4300000"/>
          </a:xfrm>
          <a:prstGeom prst="rect">
            <a:avLst/>
          </a:prstGeom>
          <a:ln w="12700">
            <a:solidFill>
              <a:srgbClr val="C9A78D"/>
            </a:solidFill>
          </a:ln>
        </p:spPr>
      </p:pic>
      <p:sp>
        <p:nvSpPr>
          <p:cNvPr id="113" name="Texto 113"/>
          <p:cNvSpPr txBox="1"/>
          <p:nvPr/>
        </p:nvSpPr>
        <p:spPr>
          <a:xfrm>
            <a:off x="7709600" y="1850000"/>
            <a:ext cx="38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Una barra por fase: cuántas iniciativas hay ahora en cada una y cuánto valor esperado llevan.</a:t>
            </a:r>
          </a:p>
          <a:p>
            <a:pPr marL="285750" indent="-285750">
              <a:spcAft>
                <a:spcPts val="400"/>
              </a:spcAft>
              <a:buClr>
                <a:srgbClr val="990F3D"/>
              </a:buClr>
              <a:buFont typeface="Arial"/>
              <a:buChar char="•"/>
            </a:pPr>
            <a:r>
              <a:rPr lang="es-ES" sz="1300" dirty="0">
                <a:solidFill>
                  <a:srgbClr val="2F2B28"/>
                </a:solidFill>
              </a:rPr>
              <a:t>Al decidir una puerta, el registro guarda la fecha, el resultado, quién verificó y quién decidió, y el estado de cada criterio.</a:t>
            </a:r>
          </a:p>
          <a:p>
            <a:pPr marL="285750" indent="-285750">
              <a:spcAft>
                <a:spcPts val="400"/>
              </a:spcAft>
              <a:buClr>
                <a:srgbClr val="990F3D"/>
              </a:buClr>
              <a:buFont typeface="Arial"/>
              <a:buChar char="•"/>
            </a:pPr>
            <a:r>
              <a:rPr lang="es-ES" sz="1300" dirty="0">
                <a:solidFill>
                  <a:srgbClr val="2F2B28"/>
                </a:solidFill>
              </a:rPr>
              <a:t>Con esas fechas calcula solo el tiempo en fase y marca «estancadas» las que superan el plazo de referencia.</a:t>
            </a:r>
          </a:p>
          <a:p>
            <a:pPr marL="285750" indent="-285750">
              <a:spcAft>
                <a:spcPts val="400"/>
              </a:spcAft>
              <a:buClr>
                <a:srgbClr val="990F3D"/>
              </a:buClr>
              <a:buFont typeface="Arial"/>
              <a:buChar char="•"/>
            </a:pPr>
            <a:r>
              <a:rPr lang="es-ES" sz="1300" dirty="0">
                <a:solidFill>
                  <a:srgbClr val="2F2B28"/>
                </a:solidFill>
              </a:rPr>
              <a:t>Las cifras llevan estado: validado, declarado o estimado. Lo que no se sabe queda «sin dato», nunca cero.</a:t>
            </a:r>
          </a:p>
          <a:p>
            <a:pPr marL="285750" indent="-285750">
              <a:spcAft>
                <a:spcPts val="400"/>
              </a:spcAft>
              <a:buClr>
                <a:srgbClr val="990F3D"/>
              </a:buClr>
              <a:buFont typeface="Arial"/>
              <a:buChar char="•"/>
            </a:pPr>
            <a:r>
              <a:rPr lang="es-ES" sz="1300" dirty="0">
                <a:solidFill>
                  <a:srgbClr val="2F2B28"/>
                </a:solidFill>
              </a:rPr>
              <a:t>Alertas: puertas pendientes, condiciones vencidas, riesgos sin responsable.</a:t>
            </a:r>
          </a:p>
          <a:p>
            <a:pPr marL="285750" indent="-285750">
              <a:spcAft>
                <a:spcPts val="400"/>
              </a:spcAft>
              <a:buClr>
                <a:srgbClr val="990F3D"/>
              </a:buClr>
              <a:buFont typeface="Arial"/>
              <a:buChar char="•"/>
            </a:pPr>
            <a:r>
              <a:rPr lang="es-ES" sz="1300" dirty="0">
                <a:solidFill>
                  <a:srgbClr val="2F2B28"/>
                </a:solidFill>
              </a:rPr>
              <a:t>Todo se guarda en un fichero JSON de la propia compañía: sin servidor y sin enviar datos a nadie.</a:t>
            </a:r>
          </a:p>
        </p:txBody>
      </p:sp>
    </p:spTree>
  </p:cSld>
  <p:clrMapOvr>
    <a:overrideClrMapping bg1="lt1" tx1="dk1" bg2="lt2" tx2="dk2" accent1="accent1" accent2="accent2" accent3="accent3" accent4="accent4" accent5="accent5" accent6="accent6" hlink="hlink" folHlink="folHlink"/>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0" name="Marca"/>
          <p:cNvSpPr/>
          <p:nvPr/>
        </p:nvSpPr>
        <p:spPr>
          <a:xfrm>
            <a:off x="609600" y="365760"/>
            <a:ext cx="182880" cy="182880"/>
          </a:xfrm>
          <a:prstGeom prst="rect">
            <a:avLst/>
          </a:prstGeom>
          <a:solidFill>
            <a:srgbClr val="990F3D"/>
          </a:solidFill>
        </p:spPr>
        <p:txBody>
          <a:bodyPr/>
          <a:lstStyle/>
          <a:p/>
        </p:txBody>
      </p:sp>
      <p:sp>
        <p:nvSpPr>
          <p:cNvPr id="121" name="Texto 12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22" name="Texto 12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embudo de la cartera: cómo se lee</a:t>
            </a:r>
          </a:p>
        </p:txBody>
      </p:sp>
      <p:sp>
        <p:nvSpPr>
          <p:cNvPr id="123" name="Texto 123"/>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La cartera de IA, leída como un embudo comercial. Datos ilustrativos</a:t>
            </a:r>
          </a:p>
        </p:txBody>
      </p:sp>
      <p:pic>
        <p:nvPicPr>
          <p:cNvPr id="118" name="Imagen 118" descr="Embudo de iniciativas de IA con sus etapas, salidas y casos en uso"/>
          <p:cNvPicPr>
            <a:picLocks noChangeAspect="1"/>
          </p:cNvPicPr>
          <p:nvPr/>
        </p:nvPicPr>
        <p:blipFill>
          <a:blip r:embed="rIdImg_embudo"/>
          <a:stretch>
            <a:fillRect/>
          </a:stretch>
        </p:blipFill>
        <p:spPr>
          <a:xfrm>
            <a:off x="609600" y="1900000"/>
            <a:ext cx="7500000" cy="3692308"/>
          </a:xfrm>
          <a:prstGeom prst="rect">
            <a:avLst/>
          </a:prstGeom>
          <a:ln w="12700">
            <a:solidFill>
              <a:srgbClr val="C9A78D"/>
            </a:solidFill>
          </a:ln>
        </p:spPr>
      </p:pic>
      <p:sp>
        <p:nvSpPr>
          <p:cNvPr id="119" name="Texto 119"/>
          <p:cNvSpPr txBox="1"/>
          <p:nvPr/>
        </p:nvSpPr>
        <p:spPr>
          <a:xfrm>
            <a:off x="8309600" y="1850000"/>
            <a:ext cx="32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Dentro del embudo, solo lo que está en curso: 5 propuestas, 4 con hipótesis de valor, 3 en prueba de concepto y 4 en desarrollo.</a:t>
            </a:r>
          </a:p>
          <a:p>
            <a:pPr marL="285750" indent="-285750">
              <a:spcAft>
                <a:spcPts val="400"/>
              </a:spcAft>
              <a:buClr>
                <a:srgbClr val="990F3D"/>
              </a:buClr>
              <a:buFont typeface="Arial"/>
              <a:buChar char="•"/>
            </a:pPr>
            <a:r>
              <a:rPr lang="es-ES" sz="1300" dirty="0">
                <a:solidFill>
                  <a:srgbClr val="2F2B28"/>
                </a:solidFill>
              </a:rPr>
              <a:t>A la izquierda, cuántas alcanzaron cada etapa (40 → 31 → 24 → 17) y cuánto tardan. El triángulo rojo avisa: la prueba de concepto supera su plazo.</a:t>
            </a:r>
          </a:p>
          <a:p>
            <a:pPr marL="285750" indent="-285750">
              <a:spcAft>
                <a:spcPts val="400"/>
              </a:spcAft>
              <a:buClr>
                <a:srgbClr val="990F3D"/>
              </a:buClr>
              <a:buFont typeface="Arial"/>
              <a:buChar char="•"/>
            </a:pPr>
            <a:r>
              <a:rPr lang="es-ES" sz="1300" dirty="0">
                <a:solidFill>
                  <a:srgbClr val="2F2B28"/>
                </a:solidFill>
              </a:rPr>
              <a:t>A la derecha, las que no superaron cada etapa y por qué: sin valor plausible, hipótesis refutada, riesgo inaceptable, coste superior al valor.</a:t>
            </a:r>
          </a:p>
          <a:p>
            <a:pPr marL="285750" indent="-285750">
              <a:spcAft>
                <a:spcPts val="400"/>
              </a:spcAft>
              <a:buClr>
                <a:srgbClr val="990F3D"/>
              </a:buClr>
              <a:buFont typeface="Arial"/>
              <a:buChar char="•"/>
            </a:pPr>
            <a:r>
              <a:rPr lang="es-ES" sz="1300" dirty="0">
                <a:solidFill>
                  <a:srgbClr val="2F2B28"/>
                </a:solidFill>
              </a:rPr>
              <a:t>Debajo, las que ya lo atravesaron: 11 en uso, con su valor y su coste, y 1 desenganchada.</a:t>
            </a:r>
          </a:p>
          <a:p>
            <a:pPr marL="285750" indent="-285750">
              <a:spcAft>
                <a:spcPts val="400"/>
              </a:spcAft>
              <a:buClr>
                <a:srgbClr val="990F3D"/>
              </a:buClr>
              <a:buFont typeface="Arial"/>
              <a:buChar char="•"/>
            </a:pPr>
            <a:r>
              <a:rPr lang="es-ES" sz="1300" dirty="0">
                <a:solidFill>
                  <a:srgbClr val="2F2B28"/>
                </a:solidFill>
              </a:rPr>
              <a:t>No se busca convertir más: parar en G3 una iniciativa inviable es un buen resultado. Un 100 % de conversión indicaría puertas blandas.</a:t>
            </a:r>
          </a:p>
        </p:txBody>
      </p:sp>
    </p:spTree>
  </p:cSld>
  <p:clrMapOvr>
    <a:overrideClrMapping bg1="lt1" tx1="dk1" bg2="lt2" tx2="dk2" accent1="accent1" accent2="accent2" accent3="accent3" accent4="accent4" accent5="accent5" accent6="accent6" hlink="hlink" folHlink="folHlink"/>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27" name="Marca"/>
          <p:cNvSpPr/>
          <p:nvPr/>
        </p:nvSpPr>
        <p:spPr>
          <a:xfrm>
            <a:off x="609600" y="365760"/>
            <a:ext cx="182880" cy="182880"/>
          </a:xfrm>
          <a:prstGeom prst="rect">
            <a:avLst/>
          </a:prstGeom>
          <a:solidFill>
            <a:srgbClr val="990F3D"/>
          </a:solidFill>
        </p:spPr>
        <p:txBody>
          <a:bodyPr/>
          <a:lstStyle/>
          <a:p/>
        </p:txBody>
      </p:sp>
      <p:sp>
        <p:nvSpPr>
          <p:cNvPr id="128" name="Texto 128"/>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29" name="Texto 129"/>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panel del consejo (T17): cómo se lee</a:t>
            </a:r>
          </a:p>
        </p:txBody>
      </p:sp>
      <p:sp>
        <p:nvSpPr>
          <p:cNvPr id="130" name="Texto 130"/>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Se genera del mismo registro, sin volver a teclear nada. Datos ficticios</a:t>
            </a:r>
          </a:p>
        </p:txBody>
      </p:sp>
      <p:pic>
        <p:nvPicPr>
          <p:cNvPr id="124" name="Imagen 124" descr="Panel del consejo con las tarjetas de cartera y valor"/>
          <p:cNvPicPr>
            <a:picLocks noChangeAspect="1"/>
          </p:cNvPicPr>
          <p:nvPr/>
        </p:nvPicPr>
        <p:blipFill>
          <a:blip r:embed="rIdImg_panel"/>
          <a:stretch>
            <a:fillRect/>
          </a:stretch>
        </p:blipFill>
        <p:spPr>
          <a:xfrm>
            <a:off x="609600" y="1900000"/>
            <a:ext cx="6700000" cy="4243333"/>
          </a:xfrm>
          <a:prstGeom prst="rect">
            <a:avLst/>
          </a:prstGeom>
          <a:ln w="12700">
            <a:solidFill>
              <a:srgbClr val="C9A78D"/>
            </a:solidFill>
          </a:ln>
        </p:spPr>
      </p:pic>
      <p:sp>
        <p:nvSpPr>
          <p:cNvPr id="125" name="Texto 125"/>
          <p:cNvSpPr txBox="1"/>
          <p:nvPr/>
        </p:nvSpPr>
        <p:spPr>
          <a:xfrm>
            <a:off x="7509600" y="1850000"/>
            <a:ext cx="40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300" dirty="0">
                <a:solidFill>
                  <a:srgbClr val="2F2B28"/>
                </a:solidFill>
              </a:rPr>
              <a:t>15 casos: cuántos hay en uso, en desarrollo, en prueba de concepto, propuestos y fuera.</a:t>
            </a:r>
          </a:p>
          <a:p>
            <a:pPr marL="285750" indent="-285750">
              <a:spcAft>
                <a:spcPts val="400"/>
              </a:spcAft>
              <a:buClr>
                <a:srgbClr val="990F3D"/>
              </a:buClr>
              <a:buFont typeface="Arial"/>
              <a:buChar char="•"/>
            </a:pPr>
            <a:r>
              <a:rPr lang="es-ES" sz="1300" dirty="0">
                <a:solidFill>
                  <a:srgbClr val="2F2B28"/>
                </a:solidFill>
              </a:rPr>
              <a:t>Costes 2,4 M€ al año y retorno total 7,3 M€ (eficiencias más retorno): el neto anual es 4,8 M€.</a:t>
            </a:r>
          </a:p>
          <a:p>
            <a:pPr marL="285750" indent="-285750">
              <a:spcAft>
                <a:spcPts val="400"/>
              </a:spcAft>
              <a:buClr>
                <a:srgbClr val="990F3D"/>
              </a:buClr>
              <a:buFont typeface="Arial"/>
              <a:buChar char="•"/>
            </a:pPr>
            <a:r>
              <a:rPr lang="es-ES" sz="1300" dirty="0">
                <a:solidFill>
                  <a:srgbClr val="2F2B28"/>
                </a:solidFill>
              </a:rPr>
              <a:t>La tarjeta amarilla es la importante: solo el 36 % del valor está validado por control de gestión. El resto es declarado o estimado.</a:t>
            </a:r>
          </a:p>
          <a:p>
            <a:pPr marL="285750" indent="-285750">
              <a:spcAft>
                <a:spcPts val="400"/>
              </a:spcAft>
              <a:buClr>
                <a:srgbClr val="990F3D"/>
              </a:buClr>
              <a:buFont typeface="Arial"/>
              <a:buChar char="•"/>
            </a:pPr>
            <a:r>
              <a:rPr lang="es-ES" sz="1300" dirty="0">
                <a:solidFill>
                  <a:srgbClr val="2F2B28"/>
                </a:solidFill>
              </a:rPr>
              <a:t>La capacidad liberada que no se materializa aparece aparte y no suma.</a:t>
            </a:r>
          </a:p>
          <a:p>
            <a:pPr marL="285750" indent="-285750">
              <a:spcAft>
                <a:spcPts val="400"/>
              </a:spcAft>
              <a:buClr>
                <a:srgbClr val="990F3D"/>
              </a:buClr>
              <a:buFont typeface="Arial"/>
              <a:buChar char="•"/>
            </a:pPr>
            <a:r>
              <a:rPr lang="es-ES" sz="1300" dirty="0">
                <a:solidFill>
                  <a:srgbClr val="2F2B28"/>
                </a:solidFill>
              </a:rPr>
              <a:t>En rojo: solo 3 de 15 casos tienen todos los controles (evaluaciones de impacto, seguridad, manual de uso).</a:t>
            </a:r>
          </a:p>
          <a:p>
            <a:pPr marL="285750" indent="-285750">
              <a:spcAft>
                <a:spcPts val="400"/>
              </a:spcAft>
              <a:buClr>
                <a:srgbClr val="990F3D"/>
              </a:buClr>
              <a:buFont typeface="Arial"/>
              <a:buChar char="•"/>
            </a:pPr>
            <a:r>
              <a:rPr lang="es-ES" sz="1300" dirty="0">
                <a:solidFill>
                  <a:srgbClr val="2F2B28"/>
                </a:solidFill>
              </a:rPr>
              <a:t>Otras páginas: embudo y ciclo de vida, histórico y adopción, riesgo y cumplimiento, inventario.</a:t>
            </a:r>
          </a:p>
        </p:txBody>
      </p:sp>
      <p:sp>
        <p:nvSpPr>
          <p:cNvPr id="126" name="Texto 126"/>
          <p:cNvSpPr txBox="1"/>
          <p:nvPr/>
        </p:nvSpPr>
        <p:spPr>
          <a:xfrm>
            <a:off x="609600" y="6260000"/>
            <a:ext cx="10972800" cy="450000"/>
          </a:xfrm>
          <a:prstGeom prst="rect">
            <a:avLst/>
          </a:prstGeom>
          <a:noFill/>
        </p:spPr>
        <p:txBody>
          <a:bodyPr wrap="square" anchor="t" lIns="45720" rIns="45720">
            <a:noAutofit/>
          </a:bodyPr>
          <a:lstStyle/>
          <a:p>
            <a:pPr algn="l"/>
            <a:r>
              <a:rPr lang="es-ES" sz="1300" b="1" dirty="0">
                <a:solidFill>
                  <a:srgbClr val="0F5499"/>
                </a:solidFill>
              </a:rPr>
              <a:t>Si una cifra del panel no gusta, no se retoca el panel: se corrige la evidencia en el registro y se vuelve a generar.</a:t>
            </a:r>
          </a:p>
        </p:txBody>
      </p:sp>
    </p:spTree>
  </p:cSld>
  <p:clrMapOvr>
    <a:overrideClrMapping bg1="lt1" tx1="dk1" bg2="lt2" tx2="dk2" accent1="accent1" accent2="accent2" accent3="accent3" accent4="accent4" accent5="accent5" accent6="accent6" hlink="hlink" folHlink="folHlink"/>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31" name="Marca"/>
          <p:cNvSpPr/>
          <p:nvPr/>
        </p:nvSpPr>
        <p:spPr>
          <a:xfrm>
            <a:off x="609600" y="2400000"/>
            <a:ext cx="182880" cy="182880"/>
          </a:xfrm>
          <a:prstGeom prst="rect">
            <a:avLst/>
          </a:prstGeom>
          <a:solidFill>
            <a:srgbClr val="990F3D"/>
          </a:solidFill>
        </p:spPr>
        <p:txBody>
          <a:bodyPr/>
          <a:lstStyle/>
          <a:p/>
        </p:txBody>
      </p:sp>
      <p:sp>
        <p:nvSpPr>
          <p:cNvPr id="132" name="Texto 132"/>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DOS EJEMPLOS</a:t>
            </a:r>
          </a:p>
        </p:txBody>
      </p:sp>
      <p:sp>
        <p:nvSpPr>
          <p:cNvPr id="133" name="Texto 133"/>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Una iniciativa que se para y otra que llega a producción</a:t>
            </a:r>
          </a:p>
        </p:txBody>
      </p:sp>
      <p:sp>
        <p:nvSpPr>
          <p:cNvPr id="134" name="Texto 134"/>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Datos ficticios, ilustrativos: no describen ninguna compañía real.</a:t>
            </a:r>
          </a:p>
        </p:txBody>
      </p:sp>
    </p:spTree>
  </p:cSld>
  <p:clrMapOvr>
    <a:overrideClrMapping bg1="lt1" tx1="dk1" bg2="lt2" tx2="dk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38" name="Marca"/>
          <p:cNvSpPr/>
          <p:nvPr/>
        </p:nvSpPr>
        <p:spPr>
          <a:xfrm>
            <a:off x="609600" y="365760"/>
            <a:ext cx="182880" cy="182880"/>
          </a:xfrm>
          <a:prstGeom prst="rect">
            <a:avLst/>
          </a:prstGeom>
          <a:solidFill>
            <a:srgbClr val="990F3D"/>
          </a:solidFill>
        </p:spPr>
        <p:txBody>
          <a:bodyPr/>
          <a:lstStyle/>
          <a:p/>
        </p:txBody>
      </p:sp>
      <p:sp>
        <p:nvSpPr>
          <p:cNvPr id="139" name="Texto 13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40" name="Texto 14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1 · Cuando una iniciativa se para</a:t>
            </a:r>
          </a:p>
        </p:txBody>
      </p:sp>
      <p:sp>
        <p:nvSpPr>
          <p:cNvPr id="135" name="Texto 135"/>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Cribado de candidaturas en procesos de selección (RR. HH.)</a:t>
            </a:r>
          </a:p>
        </p:txBody>
      </p:sp>
      <p:sp>
        <p:nvSpPr>
          <p:cNvPr id="136" name="Texto 136"/>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RR. HH. la patrocina (P01–P05). Al decidir sobre personas, la intensidad es Enterprise (P04). Entra en «Propuesto».</a:t>
            </a:r>
          </a:p>
          <a:p>
            <a:pPr marL="285750" indent="-285750">
              <a:spcAft>
                <a:spcPts val="400"/>
              </a:spcAft>
              <a:buClr>
                <a:srgbClr val="990F3D"/>
              </a:buClr>
              <a:buFont typeface="Arial"/>
              <a:buChar char="•"/>
            </a:pPr>
            <a:r>
              <a:rPr lang="es-ES" sz="1500" dirty="0">
                <a:solidFill>
                  <a:srgbClr val="2F2B28"/>
                </a:solidFill>
              </a:rPr>
              <a:t>Fase 2: la hipótesis (P08) promete un 40 % menos de tiempo de cribado frente a la línea base (P09). El piloto lo confirma: G2, Continuar.</a:t>
            </a:r>
          </a:p>
          <a:p>
            <a:pPr marL="285750" indent="-285750">
              <a:spcAft>
                <a:spcPts val="400"/>
              </a:spcAft>
              <a:buClr>
                <a:srgbClr val="990F3D"/>
              </a:buClr>
              <a:buFont typeface="Arial"/>
              <a:buChar char="•"/>
            </a:pPr>
            <a:r>
              <a:rPr lang="es-ES" sz="1500" dirty="0">
                <a:solidFill>
                  <a:srgbClr val="2F2B28"/>
                </a:solidFill>
              </a:rPr>
              <a:t>Fase 3: la clasificación regulatoria (P11) lo sitúa como sistema de alto riesgo. La prueba de sesgo detecta que penaliza a candidatos de más edad.</a:t>
            </a:r>
          </a:p>
          <a:p>
            <a:pPr marL="285750" indent="-285750">
              <a:spcAft>
                <a:spcPts val="400"/>
              </a:spcAft>
              <a:buClr>
                <a:srgbClr val="990F3D"/>
              </a:buClr>
              <a:buFont typeface="Arial"/>
              <a:buChar char="•"/>
            </a:pPr>
            <a:r>
              <a:rPr lang="es-ES" sz="1500" dirty="0">
                <a:solidFill>
                  <a:srgbClr val="2F2B28"/>
                </a:solidFill>
              </a:rPr>
              <a:t>Se itera dos veces ajustando variables: corregir el sesgo destruye la capacidad predictiva que justificaba el proyecto.</a:t>
            </a:r>
          </a:p>
          <a:p>
            <a:pPr marL="285750" indent="-285750">
              <a:spcAft>
                <a:spcPts val="400"/>
              </a:spcAft>
              <a:buClr>
                <a:srgbClr val="990F3D"/>
              </a:buClr>
              <a:buFont typeface="Arial"/>
              <a:buChar char="•"/>
            </a:pPr>
            <a:r>
              <a:rPr lang="es-ES" sz="1500" dirty="0">
                <a:solidFill>
                  <a:srgbClr val="2F2B28"/>
                </a:solidFill>
              </a:rPr>
              <a:t>G3: riesgo residual alto sin mitigación viable (P12, P13). El comité de IA decide Parar; queda en P29 con su motivo.</a:t>
            </a:r>
          </a:p>
          <a:p>
            <a:pPr marL="285750" indent="-285750">
              <a:spcAft>
                <a:spcPts val="400"/>
              </a:spcAft>
              <a:buClr>
                <a:srgbClr val="990F3D"/>
              </a:buClr>
              <a:buFont typeface="Arial"/>
              <a:buChar char="•"/>
            </a:pPr>
            <a:r>
              <a:rPr lang="es-ES" sz="1500" dirty="0">
                <a:solidFill>
                  <a:srgbClr val="2F2B28"/>
                </a:solidFill>
              </a:rPr>
              <a:t>En el embudo aparece a la derecha de «Prueba de concepto»: Descartado · riesgo inaceptable. Lección: probar el sesgo antes, en la fase 2.</a:t>
            </a:r>
          </a:p>
        </p:txBody>
      </p:sp>
      <p:sp>
        <p:nvSpPr>
          <p:cNvPr id="137" name="Caja 137"/>
          <p:cNvSpPr/>
          <p:nvPr/>
        </p:nvSpPr>
        <p:spPr>
          <a:xfrm>
            <a:off x="609600" y="5600000"/>
            <a:ext cx="10972800" cy="900000"/>
          </a:xfrm>
          <a:prstGeom prst="roundRect">
            <a:avLst>
              <a:gd name="adj" fmla="val 6000"/>
            </a:avLst>
          </a:prstGeom>
          <a:solidFill>
            <a:srgbClr val="990F3D"/>
          </a:solidFill>
          <a:ln>
            <a:noFill/>
          </a:ln>
        </p:spPr>
        <p:txBody>
          <a:bodyPr wrap="square" anchor="ctr" lIns="45720" rIns="45720">
            <a:noAutofit/>
          </a:bodyPr>
          <a:lstStyle/>
          <a:p>
            <a:pPr algn="ctr"/>
            <a:r>
              <a:rPr lang="es-ES" sz="2100" b="1" dirty="0">
                <a:solidFill>
                  <a:srgbClr val="FFFFFF"/>
                </a:solidFill>
              </a:rPr>
              <a:t>PARADA EN G3 · SE EVITÓ CONSTRUIR Y OPERAR UN SISTEMA INVIABLE</a:t>
            </a:r>
          </a:p>
        </p:txBody>
      </p:sp>
    </p:spTree>
  </p:cSld>
  <p:clrMapOvr>
    <a:overrideClrMapping bg1="lt1" tx1="dk1" bg2="lt2" tx2="dk2" accent1="accent1" accent2="accent2" accent3="accent3" accent4="accent4" accent5="accent5" accent6="accent6" hlink="hlink" folHlink="folHlink"/>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58" name="Marca"/>
          <p:cNvSpPr/>
          <p:nvPr/>
        </p:nvSpPr>
        <p:spPr>
          <a:xfrm>
            <a:off x="609600" y="365760"/>
            <a:ext cx="182880" cy="182880"/>
          </a:xfrm>
          <a:prstGeom prst="rect">
            <a:avLst/>
          </a:prstGeom>
          <a:solidFill>
            <a:srgbClr val="990F3D"/>
          </a:solidFill>
        </p:spPr>
        <p:txBody>
          <a:bodyPr/>
          <a:lstStyle/>
          <a:p/>
        </p:txBody>
      </p:sp>
      <p:sp>
        <p:nvSpPr>
          <p:cNvPr id="159" name="Texto 15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60" name="Texto 16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1, sobre el ciclo de vida</a:t>
            </a:r>
          </a:p>
        </p:txBody>
      </p:sp>
      <p:sp>
        <p:nvSpPr>
          <p:cNvPr id="161" name="Texto 161"/>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Llegó a la fase 3 y no superó la puerta G3</a:t>
            </a:r>
          </a:p>
        </p:txBody>
      </p:sp>
      <p:sp>
        <p:nvSpPr>
          <p:cNvPr id="141" name="Caja 141"/>
          <p:cNvSpPr/>
          <p:nvPr/>
        </p:nvSpPr>
        <p:spPr>
          <a:xfrm>
            <a:off x="68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42" name="Texto 142"/>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43" name="Caja 143"/>
          <p:cNvSpPr/>
          <p:nvPr/>
        </p:nvSpPr>
        <p:spPr>
          <a:xfrm>
            <a:off x="205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44" name="Texto 144"/>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45" name="Caja 145"/>
          <p:cNvSpPr/>
          <p:nvPr/>
        </p:nvSpPr>
        <p:spPr>
          <a:xfrm>
            <a:off x="342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46" name="Texto 146"/>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47" name="Caja 147"/>
          <p:cNvSpPr/>
          <p:nvPr/>
        </p:nvSpPr>
        <p:spPr>
          <a:xfrm>
            <a:off x="4791000" y="2350000"/>
            <a:ext cx="1240000" cy="1500000"/>
          </a:xfrm>
          <a:prstGeom prst="roundRect">
            <a:avLst>
              <a:gd name="adj" fmla="val 6000"/>
            </a:avLst>
          </a:prstGeom>
          <a:solidFill>
            <a:srgbClr val="990F3D"/>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48" name="Texto 148"/>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49" name="Caja 149"/>
          <p:cNvSpPr/>
          <p:nvPr/>
        </p:nvSpPr>
        <p:spPr>
          <a:xfrm>
            <a:off x="616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F4</a:t>
            </a:r>
          </a:p>
          <a:p>
            <a:pPr algn="ctr"/>
            <a:r>
              <a:rPr lang="es-ES" sz="1050" dirty="0">
                <a:solidFill>
                  <a:srgbClr val="564D47"/>
                </a:solidFill>
              </a:rPr>
              <a:t>Diseño de la solución</a:t>
            </a:r>
          </a:p>
        </p:txBody>
      </p:sp>
      <p:sp>
        <p:nvSpPr>
          <p:cNvPr id="150" name="Texto 150"/>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51" name="Caja 151"/>
          <p:cNvSpPr/>
          <p:nvPr/>
        </p:nvSpPr>
        <p:spPr>
          <a:xfrm>
            <a:off x="753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F5</a:t>
            </a:r>
          </a:p>
          <a:p>
            <a:pPr algn="ctr"/>
            <a:r>
              <a:rPr lang="es-ES" sz="1050" dirty="0">
                <a:solidFill>
                  <a:srgbClr val="564D47"/>
                </a:solidFill>
              </a:rPr>
              <a:t>Entrega y validación</a:t>
            </a:r>
          </a:p>
        </p:txBody>
      </p:sp>
      <p:sp>
        <p:nvSpPr>
          <p:cNvPr id="152" name="Texto 152"/>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53" name="Caja 153"/>
          <p:cNvSpPr/>
          <p:nvPr/>
        </p:nvSpPr>
        <p:spPr>
          <a:xfrm>
            <a:off x="890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F6</a:t>
            </a:r>
          </a:p>
          <a:p>
            <a:pPr algn="ctr"/>
            <a:r>
              <a:rPr lang="es-ES" sz="1050" dirty="0">
                <a:solidFill>
                  <a:srgbClr val="564D47"/>
                </a:solidFill>
              </a:rPr>
              <a:t>Operación y gobierno</a:t>
            </a:r>
          </a:p>
        </p:txBody>
      </p:sp>
      <p:sp>
        <p:nvSpPr>
          <p:cNvPr id="154" name="Texto 154"/>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55" name="Caja 155"/>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56" name="Texto 156"/>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57" name="Texto 157"/>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990F3D"/>
                </a:solidFill>
              </a:rPr>
              <a:t>PARADA EN G3 · sale del embudo como «Descartado», con su motivo</a:t>
            </a:r>
          </a:p>
        </p:txBody>
      </p:sp>
    </p:spTree>
  </p:cSld>
  <p:clrMapOvr>
    <a:overrideClrMapping bg1="lt1" tx1="dk1" bg2="lt2" tx2="dk2" accent1="accent1" accent2="accent2" accent3="accent3" accent4="accent4" accent5="accent5" accent6="accent6" hlink="hlink" folHlink="folHlink"/>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65" name="Marca"/>
          <p:cNvSpPr/>
          <p:nvPr/>
        </p:nvSpPr>
        <p:spPr>
          <a:xfrm>
            <a:off x="609600" y="365760"/>
            <a:ext cx="182880" cy="182880"/>
          </a:xfrm>
          <a:prstGeom prst="rect">
            <a:avLst/>
          </a:prstGeom>
          <a:solidFill>
            <a:srgbClr val="990F3D"/>
          </a:solidFill>
        </p:spPr>
        <p:txBody>
          <a:bodyPr/>
          <a:lstStyle/>
          <a:p/>
        </p:txBody>
      </p:sp>
      <p:sp>
        <p:nvSpPr>
          <p:cNvPr id="166" name="Texto 16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67" name="Texto 16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Ejemplo 2 · Cuando una iniciativa llega a producción</a:t>
            </a:r>
          </a:p>
        </p:txBody>
      </p:sp>
      <p:sp>
        <p:nvSpPr>
          <p:cNvPr id="162" name="Texto 162"/>
          <p:cNvSpPr txBox="1"/>
          <p:nvPr/>
        </p:nvSpPr>
        <p:spPr>
          <a:xfrm>
            <a:off x="609600" y="1330000"/>
            <a:ext cx="10972800" cy="500000"/>
          </a:xfrm>
          <a:prstGeom prst="rect">
            <a:avLst/>
          </a:prstGeom>
          <a:noFill/>
        </p:spPr>
        <p:txBody>
          <a:bodyPr wrap="square" anchor="t" lIns="45720" rIns="45720">
            <a:noAutofit/>
          </a:bodyPr>
          <a:lstStyle/>
          <a:p>
            <a:pPr algn="l"/>
            <a:r>
              <a:rPr lang="es-ES" sz="1700" b="1" dirty="0">
                <a:solidFill>
                  <a:srgbClr val="2F2B28"/>
                </a:solidFill>
              </a:rPr>
              <a:t>Asistente de respuesta a incidencias de TI de primer nivel</a:t>
            </a:r>
          </a:p>
        </p:txBody>
      </p:sp>
      <p:sp>
        <p:nvSpPr>
          <p:cNvPr id="163" name="Texto 163"/>
          <p:cNvSpPr txBox="1"/>
          <p:nvPr/>
        </p:nvSpPr>
        <p:spPr>
          <a:xfrm>
            <a:off x="609600" y="1900000"/>
            <a:ext cx="10972800" cy="355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500" dirty="0">
                <a:solidFill>
                  <a:srgbClr val="2F2B28"/>
                </a:solidFill>
              </a:rPr>
              <a:t>Fases 0 y 1: TI la patrocina; frente a la alternativa sin IA (más plantilla), se propone la esfera de operaciones con ambición Optimizar (P07).</a:t>
            </a:r>
          </a:p>
          <a:p>
            <a:pPr marL="285750" indent="-285750">
              <a:spcAft>
                <a:spcPts val="400"/>
              </a:spcAft>
              <a:buClr>
                <a:srgbClr val="990F3D"/>
              </a:buClr>
              <a:buFont typeface="Arial"/>
              <a:buChar char="•"/>
            </a:pPr>
            <a:r>
              <a:rPr lang="es-ES" sz="1500" dirty="0">
                <a:solidFill>
                  <a:srgbClr val="2F2B28"/>
                </a:solidFill>
              </a:rPr>
              <a:t>Fase 2: hipótesis de un 30 % menos de tiempo de resolución en incidencias sencillas; el piloto controlado da un 32 %.</a:t>
            </a:r>
          </a:p>
          <a:p>
            <a:pPr marL="285750" indent="-285750">
              <a:spcAft>
                <a:spcPts val="400"/>
              </a:spcAft>
              <a:buClr>
                <a:srgbClr val="990F3D"/>
              </a:buClr>
              <a:buFont typeface="Arial"/>
              <a:buChar char="•"/>
            </a:pPr>
            <a:r>
              <a:rPr lang="es-ES" sz="1500" dirty="0">
                <a:solidFill>
                  <a:srgbClr val="2F2B28"/>
                </a:solidFill>
              </a:rPr>
              <a:t>Fase 3: sin sesgo relevante, riesgo residual medio aceptado por su órgano (P12), proveedor evaluado (P14). G3, Continuar.</a:t>
            </a:r>
          </a:p>
          <a:p>
            <a:pPr marL="285750" indent="-285750">
              <a:spcAft>
                <a:spcPts val="400"/>
              </a:spcAft>
              <a:buClr>
                <a:srgbClr val="990F3D"/>
              </a:buClr>
              <a:buFont typeface="Arial"/>
              <a:buChar char="•"/>
            </a:pPr>
            <a:r>
              <a:rPr lang="es-ES" sz="1500" dirty="0">
                <a:solidFill>
                  <a:srgbClr val="2F2B28"/>
                </a:solidFill>
              </a:rPr>
              <a:t>Fases 4 y 5: supervisión humana obligatoria por encima de cierta gravedad (P17), reversión probada (P19) y firma de puesta en producción (P23).</a:t>
            </a:r>
          </a:p>
          <a:p>
            <a:pPr marL="285750" indent="-285750">
              <a:spcAft>
                <a:spcPts val="400"/>
              </a:spcAft>
              <a:buClr>
                <a:srgbClr val="990F3D"/>
              </a:buClr>
              <a:buFont typeface="Arial"/>
              <a:buChar char="•"/>
            </a:pPr>
            <a:r>
              <a:rPr lang="es-ES" sz="1500" dirty="0">
                <a:solidFill>
                  <a:srgbClr val="2F2B28"/>
                </a:solidFill>
              </a:rPr>
              <a:t>Fase 6: catorce meses en uso. Control de gestión valida 1,1 M€ al año (P28); la capacidad liberada se reasignó a incidencias complejas.</a:t>
            </a:r>
          </a:p>
          <a:p>
            <a:pPr marL="285750" indent="-285750">
              <a:spcAft>
                <a:spcPts val="400"/>
              </a:spcAft>
              <a:buClr>
                <a:srgbClr val="990F3D"/>
              </a:buClr>
              <a:buFont typeface="Arial"/>
              <a:buChar char="•"/>
            </a:pPr>
            <a:r>
              <a:rPr lang="es-ES" sz="1500" dirty="0">
                <a:solidFill>
                  <a:srgbClr val="2F2B28"/>
                </a:solidFill>
              </a:rPr>
              <a:t>En el embudo está en «En uso»; en el panel suma al neto anual porque su valor está validado, no declarado.</a:t>
            </a:r>
          </a:p>
        </p:txBody>
      </p:sp>
      <p:sp>
        <p:nvSpPr>
          <p:cNvPr id="164" name="Caja 164"/>
          <p:cNvSpPr/>
          <p:nvPr/>
        </p:nvSpPr>
        <p:spPr>
          <a:xfrm>
            <a:off x="609600" y="5600000"/>
            <a:ext cx="10972800" cy="900000"/>
          </a:xfrm>
          <a:prstGeom prst="roundRect">
            <a:avLst>
              <a:gd name="adj" fmla="val 6000"/>
            </a:avLst>
          </a:prstGeom>
          <a:solidFill>
            <a:srgbClr val="0D7680"/>
          </a:solidFill>
          <a:ln>
            <a:noFill/>
          </a:ln>
        </p:spPr>
        <p:txBody>
          <a:bodyPr wrap="square" anchor="ctr" lIns="45720" rIns="45720">
            <a:noAutofit/>
          </a:bodyPr>
          <a:lstStyle/>
          <a:p>
            <a:pPr algn="ctr"/>
            <a:r>
              <a:rPr lang="es-ES" sz="2100" b="1" dirty="0">
                <a:solidFill>
                  <a:srgbClr val="FFFFFF"/>
                </a:solidFill>
              </a:rPr>
              <a:t>EN PRODUCCIÓN · 1,1 M€ DE RETORNO ANUAL VALIDADO · R6 TRIMESTRAL</a:t>
            </a:r>
          </a:p>
        </p:txBody>
      </p:sp>
    </p:spTree>
  </p:cSld>
  <p:clrMapOvr>
    <a:overrideClrMapping bg1="lt1" tx1="dk1" bg2="lt2" tx2="dk2" accent1="accent1" accent2="accent2" accent3="accent3" accent4="accent4" accent5="accent5" accent6="accent6" hlink="hlink" folHlink="folHlink"/>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85" name="Marca"/>
          <p:cNvSpPr/>
          <p:nvPr/>
        </p:nvSpPr>
        <p:spPr>
          <a:xfrm>
            <a:off x="609600" y="365760"/>
            <a:ext cx="182880" cy="182880"/>
          </a:xfrm>
          <a:prstGeom prst="rect">
            <a:avLst/>
          </a:prstGeom>
          <a:solidFill>
            <a:srgbClr val="990F3D"/>
          </a:solidFill>
        </p:spPr>
        <p:txBody>
          <a:bodyPr/>
          <a:lstStyle/>
          <a:p/>
        </p:txBody>
      </p:sp>
      <p:sp>
        <p:nvSpPr>
          <p:cNvPr id="186" name="Texto 18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87" name="Texto 18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La iniciativa 2, sobre el ciclo de vida</a:t>
            </a:r>
          </a:p>
        </p:txBody>
      </p:sp>
      <p:sp>
        <p:nvSpPr>
          <p:cNvPr id="188" name="Texto 188"/>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Recorrió las fases 0 a 6 y sigue en uso; la fase 7 llegará con G7</a:t>
            </a:r>
          </a:p>
        </p:txBody>
      </p:sp>
      <p:sp>
        <p:nvSpPr>
          <p:cNvPr id="168" name="Caja 168"/>
          <p:cNvSpPr/>
          <p:nvPr/>
        </p:nvSpPr>
        <p:spPr>
          <a:xfrm>
            <a:off x="68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F0</a:t>
            </a:r>
          </a:p>
          <a:p>
            <a:pPr algn="ctr"/>
            <a:r>
              <a:rPr lang="es-ES" sz="1050" dirty="0">
                <a:solidFill>
                  <a:srgbClr val="FFFFFF"/>
                </a:solidFill>
              </a:rPr>
              <a:t>Contexto y restricciones</a:t>
            </a:r>
          </a:p>
        </p:txBody>
      </p:sp>
      <p:sp>
        <p:nvSpPr>
          <p:cNvPr id="169" name="Texto 169"/>
          <p:cNvSpPr txBox="1"/>
          <p:nvPr/>
        </p:nvSpPr>
        <p:spPr>
          <a:xfrm>
            <a:off x="1591000" y="3900000"/>
            <a:ext cx="800000" cy="300000"/>
          </a:xfrm>
          <a:prstGeom prst="rect">
            <a:avLst/>
          </a:prstGeom>
          <a:noFill/>
        </p:spPr>
        <p:txBody>
          <a:bodyPr wrap="square" anchor="t" lIns="45720" rIns="45720">
            <a:noAutofit/>
          </a:bodyPr>
          <a:lstStyle/>
          <a:p>
            <a:pPr algn="ctr"/>
            <a:r>
              <a:rPr lang="es-ES" sz="1200" b="1" dirty="0">
                <a:solidFill>
                  <a:srgbClr val="990F3D"/>
                </a:solidFill>
              </a:rPr>
              <a:t>G0</a:t>
            </a:r>
          </a:p>
        </p:txBody>
      </p:sp>
      <p:sp>
        <p:nvSpPr>
          <p:cNvPr id="170" name="Caja 170"/>
          <p:cNvSpPr/>
          <p:nvPr/>
        </p:nvSpPr>
        <p:spPr>
          <a:xfrm>
            <a:off x="205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F1</a:t>
            </a:r>
          </a:p>
          <a:p>
            <a:pPr algn="ctr"/>
            <a:r>
              <a:rPr lang="es-ES" sz="1050" dirty="0">
                <a:solidFill>
                  <a:srgbClr val="FFFFFF"/>
                </a:solidFill>
              </a:rPr>
              <a:t>Descubrimiento de oportunidades</a:t>
            </a:r>
          </a:p>
        </p:txBody>
      </p:sp>
      <p:sp>
        <p:nvSpPr>
          <p:cNvPr id="171" name="Texto 171"/>
          <p:cNvSpPr txBox="1"/>
          <p:nvPr/>
        </p:nvSpPr>
        <p:spPr>
          <a:xfrm>
            <a:off x="2961000" y="3900000"/>
            <a:ext cx="800000" cy="300000"/>
          </a:xfrm>
          <a:prstGeom prst="rect">
            <a:avLst/>
          </a:prstGeom>
          <a:noFill/>
        </p:spPr>
        <p:txBody>
          <a:bodyPr wrap="square" anchor="t" lIns="45720" rIns="45720">
            <a:noAutofit/>
          </a:bodyPr>
          <a:lstStyle/>
          <a:p>
            <a:pPr algn="ctr"/>
            <a:r>
              <a:rPr lang="es-ES" sz="1200" b="1" dirty="0">
                <a:solidFill>
                  <a:srgbClr val="990F3D"/>
                </a:solidFill>
              </a:rPr>
              <a:t>G1</a:t>
            </a:r>
          </a:p>
        </p:txBody>
      </p:sp>
      <p:sp>
        <p:nvSpPr>
          <p:cNvPr id="172" name="Caja 172"/>
          <p:cNvSpPr/>
          <p:nvPr/>
        </p:nvSpPr>
        <p:spPr>
          <a:xfrm>
            <a:off x="342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F2</a:t>
            </a:r>
          </a:p>
          <a:p>
            <a:pPr algn="ctr"/>
            <a:r>
              <a:rPr lang="es-ES" sz="1050" dirty="0">
                <a:solidFill>
                  <a:srgbClr val="FFFFFF"/>
                </a:solidFill>
              </a:rPr>
              <a:t>Hipótesis de valor</a:t>
            </a:r>
          </a:p>
        </p:txBody>
      </p:sp>
      <p:sp>
        <p:nvSpPr>
          <p:cNvPr id="173" name="Texto 173"/>
          <p:cNvSpPr txBox="1"/>
          <p:nvPr/>
        </p:nvSpPr>
        <p:spPr>
          <a:xfrm>
            <a:off x="4331000" y="3900000"/>
            <a:ext cx="800000" cy="300000"/>
          </a:xfrm>
          <a:prstGeom prst="rect">
            <a:avLst/>
          </a:prstGeom>
          <a:noFill/>
        </p:spPr>
        <p:txBody>
          <a:bodyPr wrap="square" anchor="t" lIns="45720" rIns="45720">
            <a:noAutofit/>
          </a:bodyPr>
          <a:lstStyle/>
          <a:p>
            <a:pPr algn="ctr"/>
            <a:r>
              <a:rPr lang="es-ES" sz="1200" b="1" dirty="0">
                <a:solidFill>
                  <a:srgbClr val="990F3D"/>
                </a:solidFill>
              </a:rPr>
              <a:t>G2</a:t>
            </a:r>
          </a:p>
        </p:txBody>
      </p:sp>
      <p:sp>
        <p:nvSpPr>
          <p:cNvPr id="174" name="Caja 174"/>
          <p:cNvSpPr/>
          <p:nvPr/>
        </p:nvSpPr>
        <p:spPr>
          <a:xfrm>
            <a:off x="479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F3</a:t>
            </a:r>
          </a:p>
          <a:p>
            <a:pPr algn="ctr"/>
            <a:r>
              <a:rPr lang="es-ES" sz="1050" dirty="0">
                <a:solidFill>
                  <a:srgbClr val="FFFFFF"/>
                </a:solidFill>
              </a:rPr>
              <a:t>Viabilidad y riesgo</a:t>
            </a:r>
          </a:p>
        </p:txBody>
      </p:sp>
      <p:sp>
        <p:nvSpPr>
          <p:cNvPr id="175" name="Texto 175"/>
          <p:cNvSpPr txBox="1"/>
          <p:nvPr/>
        </p:nvSpPr>
        <p:spPr>
          <a:xfrm>
            <a:off x="5701000" y="3900000"/>
            <a:ext cx="800000" cy="300000"/>
          </a:xfrm>
          <a:prstGeom prst="rect">
            <a:avLst/>
          </a:prstGeom>
          <a:noFill/>
        </p:spPr>
        <p:txBody>
          <a:bodyPr wrap="square" anchor="t" lIns="45720" rIns="45720">
            <a:noAutofit/>
          </a:bodyPr>
          <a:lstStyle/>
          <a:p>
            <a:pPr algn="ctr"/>
            <a:r>
              <a:rPr lang="es-ES" sz="1200" b="1" dirty="0">
                <a:solidFill>
                  <a:srgbClr val="990F3D"/>
                </a:solidFill>
              </a:rPr>
              <a:t>G3</a:t>
            </a:r>
          </a:p>
        </p:txBody>
      </p:sp>
      <p:sp>
        <p:nvSpPr>
          <p:cNvPr id="176" name="Caja 176"/>
          <p:cNvSpPr/>
          <p:nvPr/>
        </p:nvSpPr>
        <p:spPr>
          <a:xfrm>
            <a:off x="616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F4</a:t>
            </a:r>
          </a:p>
          <a:p>
            <a:pPr algn="ctr"/>
            <a:r>
              <a:rPr lang="es-ES" sz="1050" dirty="0">
                <a:solidFill>
                  <a:srgbClr val="FFFFFF"/>
                </a:solidFill>
              </a:rPr>
              <a:t>Diseño de la solución</a:t>
            </a:r>
          </a:p>
        </p:txBody>
      </p:sp>
      <p:sp>
        <p:nvSpPr>
          <p:cNvPr id="177" name="Texto 177"/>
          <p:cNvSpPr txBox="1"/>
          <p:nvPr/>
        </p:nvSpPr>
        <p:spPr>
          <a:xfrm>
            <a:off x="7071000" y="3900000"/>
            <a:ext cx="800000" cy="300000"/>
          </a:xfrm>
          <a:prstGeom prst="rect">
            <a:avLst/>
          </a:prstGeom>
          <a:noFill/>
        </p:spPr>
        <p:txBody>
          <a:bodyPr wrap="square" anchor="t" lIns="45720" rIns="45720">
            <a:noAutofit/>
          </a:bodyPr>
          <a:lstStyle/>
          <a:p>
            <a:pPr algn="ctr"/>
            <a:r>
              <a:rPr lang="es-ES" sz="1200" b="1" dirty="0">
                <a:solidFill>
                  <a:srgbClr val="990F3D"/>
                </a:solidFill>
              </a:rPr>
              <a:t>G4</a:t>
            </a:r>
          </a:p>
        </p:txBody>
      </p:sp>
      <p:sp>
        <p:nvSpPr>
          <p:cNvPr id="178" name="Caja 178"/>
          <p:cNvSpPr/>
          <p:nvPr/>
        </p:nvSpPr>
        <p:spPr>
          <a:xfrm>
            <a:off x="753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F5</a:t>
            </a:r>
          </a:p>
          <a:p>
            <a:pPr algn="ctr"/>
            <a:r>
              <a:rPr lang="es-ES" sz="1050" dirty="0">
                <a:solidFill>
                  <a:srgbClr val="FFFFFF"/>
                </a:solidFill>
              </a:rPr>
              <a:t>Entrega y validación</a:t>
            </a:r>
          </a:p>
        </p:txBody>
      </p:sp>
      <p:sp>
        <p:nvSpPr>
          <p:cNvPr id="179" name="Texto 179"/>
          <p:cNvSpPr txBox="1"/>
          <p:nvPr/>
        </p:nvSpPr>
        <p:spPr>
          <a:xfrm>
            <a:off x="8441000" y="3900000"/>
            <a:ext cx="800000" cy="300000"/>
          </a:xfrm>
          <a:prstGeom prst="rect">
            <a:avLst/>
          </a:prstGeom>
          <a:noFill/>
        </p:spPr>
        <p:txBody>
          <a:bodyPr wrap="square" anchor="t" lIns="45720" rIns="45720">
            <a:noAutofit/>
          </a:bodyPr>
          <a:lstStyle/>
          <a:p>
            <a:pPr algn="ctr"/>
            <a:r>
              <a:rPr lang="es-ES" sz="1200" b="1" dirty="0">
                <a:solidFill>
                  <a:srgbClr val="990F3D"/>
                </a:solidFill>
              </a:rPr>
              <a:t>G5</a:t>
            </a:r>
          </a:p>
        </p:txBody>
      </p:sp>
      <p:sp>
        <p:nvSpPr>
          <p:cNvPr id="180" name="Caja 180"/>
          <p:cNvSpPr/>
          <p:nvPr/>
        </p:nvSpPr>
        <p:spPr>
          <a:xfrm>
            <a:off x="8901000" y="2350000"/>
            <a:ext cx="1240000" cy="1500000"/>
          </a:xfrm>
          <a:prstGeom prst="roundRect">
            <a:avLst>
              <a:gd name="adj" fmla="val 6000"/>
            </a:avLst>
          </a:prstGeom>
          <a:solidFill>
            <a:srgbClr val="0D7680"/>
          </a:solidFill>
          <a:ln>
            <a:noFill/>
          </a:ln>
        </p:spPr>
        <p:txBody>
          <a:bodyPr wrap="square" anchor="ctr" lIns="45720" rIns="45720">
            <a:noAutofit/>
          </a:bodyPr>
          <a:lstStyle/>
          <a:p>
            <a:pPr algn="ctr"/>
            <a:r>
              <a:rPr lang="es-ES" sz="2400" b="1" dirty="0">
                <a:solidFill>
                  <a:srgbClr val="FFFFFF"/>
                </a:solidFill>
              </a:rPr>
              <a:t>F6</a:t>
            </a:r>
          </a:p>
          <a:p>
            <a:pPr algn="ctr"/>
            <a:r>
              <a:rPr lang="es-ES" sz="1050" dirty="0">
                <a:solidFill>
                  <a:srgbClr val="FFFFFF"/>
                </a:solidFill>
              </a:rPr>
              <a:t>Operación y gobierno</a:t>
            </a:r>
          </a:p>
        </p:txBody>
      </p:sp>
      <p:sp>
        <p:nvSpPr>
          <p:cNvPr id="181" name="Texto 181"/>
          <p:cNvSpPr txBox="1"/>
          <p:nvPr/>
        </p:nvSpPr>
        <p:spPr>
          <a:xfrm>
            <a:off x="9811000" y="3900000"/>
            <a:ext cx="800000" cy="300000"/>
          </a:xfrm>
          <a:prstGeom prst="rect">
            <a:avLst/>
          </a:prstGeom>
          <a:noFill/>
        </p:spPr>
        <p:txBody>
          <a:bodyPr wrap="square" anchor="t" lIns="45720" rIns="45720">
            <a:noAutofit/>
          </a:bodyPr>
          <a:lstStyle/>
          <a:p>
            <a:pPr algn="ctr"/>
            <a:r>
              <a:rPr lang="es-ES" sz="1200" b="1" dirty="0">
                <a:solidFill>
                  <a:srgbClr val="990F3D"/>
                </a:solidFill>
              </a:rPr>
              <a:t>R6</a:t>
            </a:r>
          </a:p>
        </p:txBody>
      </p:sp>
      <p:sp>
        <p:nvSpPr>
          <p:cNvPr id="182" name="Caja 182"/>
          <p:cNvSpPr/>
          <p:nvPr/>
        </p:nvSpPr>
        <p:spPr>
          <a:xfrm>
            <a:off x="10271000" y="2350000"/>
            <a:ext cx="1240000" cy="1500000"/>
          </a:xfrm>
          <a:prstGeom prst="roundRect">
            <a:avLst>
              <a:gd name="adj" fmla="val 6000"/>
            </a:avLst>
          </a:prstGeom>
          <a:solidFill>
            <a:srgbClr val="C9A78D"/>
          </a:solidFill>
          <a:ln>
            <a:noFill/>
          </a:ln>
        </p:spPr>
        <p:txBody>
          <a:bodyPr wrap="square" anchor="ctr" lIns="45720" rIns="45720">
            <a:noAutofit/>
          </a:bodyPr>
          <a:lstStyle/>
          <a:p>
            <a:pPr algn="ctr"/>
            <a:r>
              <a:rPr lang="es-ES" sz="2400" b="1" dirty="0">
                <a:solidFill>
                  <a:srgbClr val="564D47"/>
                </a:solidFill>
              </a:rPr>
              <a:t>F7</a:t>
            </a:r>
          </a:p>
          <a:p>
            <a:pPr algn="ctr"/>
            <a:r>
              <a:rPr lang="es-ES" sz="1050" dirty="0">
                <a:solidFill>
                  <a:srgbClr val="564D47"/>
                </a:solidFill>
              </a:rPr>
              <a:t>Evolución o retirada</a:t>
            </a:r>
          </a:p>
        </p:txBody>
      </p:sp>
      <p:sp>
        <p:nvSpPr>
          <p:cNvPr id="183" name="Texto 183"/>
          <p:cNvSpPr txBox="1"/>
          <p:nvPr/>
        </p:nvSpPr>
        <p:spPr>
          <a:xfrm>
            <a:off x="11181000" y="3900000"/>
            <a:ext cx="800000" cy="300000"/>
          </a:xfrm>
          <a:prstGeom prst="rect">
            <a:avLst/>
          </a:prstGeom>
          <a:noFill/>
        </p:spPr>
        <p:txBody>
          <a:bodyPr wrap="square" anchor="t" lIns="45720" rIns="45720">
            <a:noAutofit/>
          </a:bodyPr>
          <a:lstStyle/>
          <a:p>
            <a:pPr algn="ctr"/>
            <a:r>
              <a:rPr lang="es-ES" sz="1200" b="1" dirty="0">
                <a:solidFill>
                  <a:srgbClr val="990F3D"/>
                </a:solidFill>
              </a:rPr>
              <a:t>G7</a:t>
            </a:r>
          </a:p>
        </p:txBody>
      </p:sp>
      <p:sp>
        <p:nvSpPr>
          <p:cNvPr id="184" name="Texto 184"/>
          <p:cNvSpPr txBox="1"/>
          <p:nvPr/>
        </p:nvSpPr>
        <p:spPr>
          <a:xfrm>
            <a:off x="609600" y="4430000"/>
            <a:ext cx="10972800" cy="600000"/>
          </a:xfrm>
          <a:prstGeom prst="rect">
            <a:avLst/>
          </a:prstGeom>
          <a:noFill/>
        </p:spPr>
        <p:txBody>
          <a:bodyPr wrap="square" anchor="t" lIns="45720" rIns="45720">
            <a:noAutofit/>
          </a:bodyPr>
          <a:lstStyle/>
          <a:p>
            <a:pPr algn="ctr"/>
            <a:r>
              <a:rPr lang="es-ES" sz="2200" b="1" dirty="0">
                <a:solidFill>
                  <a:srgbClr val="0D7680"/>
                </a:solidFill>
              </a:rPr>
              <a:t>EN USO · cada R6 confirma que sigue aportando valor bajo control</a:t>
            </a:r>
          </a:p>
        </p:txBody>
      </p:sp>
    </p:spTree>
  </p:cSld>
  <p:clrMapOvr>
    <a:overrideClrMapping bg1="lt1" tx1="dk1" bg2="lt2" tx2="dk2" accent1="accent1" accent2="accent2" accent3="accent3" accent4="accent4" accent5="accent5" accent6="accent6" hlink="hlink" folHlink="folHlink"/>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0" name="Marca"/>
          <p:cNvSpPr/>
          <p:nvPr/>
        </p:nvSpPr>
        <p:spPr>
          <a:xfrm>
            <a:off x="609600" y="365760"/>
            <a:ext cx="182880" cy="182880"/>
          </a:xfrm>
          <a:prstGeom prst="rect">
            <a:avLst/>
          </a:prstGeom>
          <a:solidFill>
            <a:srgbClr val="990F3D"/>
          </a:solidFill>
        </p:spPr>
        <p:txBody>
          <a:bodyPr/>
          <a:lstStyle/>
          <a:p/>
        </p:txBody>
      </p:sp>
      <p:sp>
        <p:nvSpPr>
          <p:cNvPr id="191" name="Texto 191"/>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192" name="Texto 192"/>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Cómo se mide el valor</a:t>
            </a:r>
          </a:p>
        </p:txBody>
      </p:sp>
      <p:sp>
        <p:nvSpPr>
          <p:cNvPr id="189" name="Texto 189"/>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Todo importe lleva fórmula y estado: validado (control de gestión), declarado (el equipo) o estimado.</a:t>
            </a:r>
          </a:p>
          <a:p>
            <a:pPr marL="285750" indent="-285750">
              <a:spcAft>
                <a:spcPts val="400"/>
              </a:spcAft>
              <a:buClr>
                <a:srgbClr val="990F3D"/>
              </a:buClr>
              <a:buFont typeface="Arial"/>
              <a:buChar char="•"/>
            </a:pPr>
            <a:r>
              <a:rPr lang="es-ES" sz="1800" dirty="0">
                <a:solidFill>
                  <a:srgbClr val="2F2B28"/>
                </a:solidFill>
              </a:rPr>
              <a:t>Las horas liberadas no son ahorro hasta que se materializan: baja un coste o se reasignan a una actividad con valor.</a:t>
            </a:r>
          </a:p>
          <a:p>
            <a:pPr marL="285750" indent="-285750">
              <a:spcAft>
                <a:spcPts val="400"/>
              </a:spcAft>
              <a:buClr>
                <a:srgbClr val="990F3D"/>
              </a:buClr>
              <a:buFont typeface="Arial"/>
              <a:buChar char="•"/>
            </a:pPr>
            <a:r>
              <a:rPr lang="es-ES" sz="1800" dirty="0">
                <a:solidFill>
                  <a:srgbClr val="2F2B28"/>
                </a:solidFill>
              </a:rPr>
              <a:t>El coste es completo: construcción, consumo, operación, supervisión humana y retirada.</a:t>
            </a:r>
          </a:p>
          <a:p>
            <a:pPr marL="285750" indent="-285750">
              <a:spcAft>
                <a:spcPts val="400"/>
              </a:spcAft>
              <a:buClr>
                <a:srgbClr val="990F3D"/>
              </a:buClr>
              <a:buFont typeface="Arial"/>
              <a:buChar char="•"/>
            </a:pPr>
            <a:r>
              <a:rPr lang="es-ES" sz="1800" dirty="0">
                <a:solidFill>
                  <a:srgbClr val="2F2B28"/>
                </a:solidFill>
              </a:rPr>
              <a:t>El índice de transformación usa ocho señales de evidencia para separar transformar de solo eficientar.</a:t>
            </a:r>
          </a:p>
          <a:p>
            <a:pPr marL="285750" indent="-285750">
              <a:spcAft>
                <a:spcPts val="400"/>
              </a:spcAft>
              <a:buClr>
                <a:srgbClr val="990F3D"/>
              </a:buClr>
              <a:buFont typeface="Arial"/>
              <a:buChar char="•"/>
            </a:pPr>
            <a:r>
              <a:rPr lang="es-ES" sz="1800" dirty="0">
                <a:solidFill>
                  <a:srgbClr val="2F2B28"/>
                </a:solidFill>
              </a:rPr>
              <a:t>Diez reglas de medición (documento 40). Ninguna cifra entra en el neto de la cartera sin su estado.</a:t>
            </a:r>
          </a:p>
        </p:txBody>
      </p:sp>
    </p:spTree>
  </p:cSld>
  <p:clrMapOvr>
    <a:overrideClrMapping bg1="lt1" tx1="dk1" bg2="lt2" tx2="dk2" accent1="accent1" accent2="accent2" accent3="accent3" accent4="accent4" accent5="accent5" accent6="accent6" hlink="hlink" folHlink="folHlink"/>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1A1817"/>
        </a:solidFill>
        <a:effectLst/>
      </p:bgPr>
    </p:bg>
    <p:spTree>
      <p:nvGrpSpPr>
        <p:cNvPr id="1" name=""/>
        <p:cNvGrpSpPr/>
        <p:nvPr/>
      </p:nvGrpSpPr>
      <p:grpSpPr>
        <a:xfrm>
          <a:off x="0" y="0"/>
          <a:ext cx="0" cy="0"/>
          <a:chOff x="0" y="0"/>
          <a:chExt cx="0" cy="0"/>
        </a:xfrm>
      </p:grpSpPr>
      <p:sp>
        <p:nvSpPr>
          <p:cNvPr id="193" name="Marca"/>
          <p:cNvSpPr/>
          <p:nvPr/>
        </p:nvSpPr>
        <p:spPr>
          <a:xfrm>
            <a:off x="609600" y="2400000"/>
            <a:ext cx="182880" cy="182880"/>
          </a:xfrm>
          <a:prstGeom prst="rect">
            <a:avLst/>
          </a:prstGeom>
          <a:solidFill>
            <a:srgbClr val="990F3D"/>
          </a:solidFill>
        </p:spPr>
        <p:txBody>
          <a:bodyPr/>
          <a:lstStyle/>
          <a:p/>
        </p:txBody>
      </p:sp>
      <p:sp>
        <p:nvSpPr>
          <p:cNvPr id="194" name="Texto 194"/>
          <p:cNvSpPr txBox="1"/>
          <p:nvPr/>
        </p:nvSpPr>
        <p:spPr>
          <a:xfrm>
            <a:off x="838200" y="2320000"/>
            <a:ext cx="9000000" cy="400000"/>
          </a:xfrm>
          <a:prstGeom prst="rect">
            <a:avLst/>
          </a:prstGeom>
          <a:noFill/>
        </p:spPr>
        <p:txBody>
          <a:bodyPr wrap="square" anchor="t" lIns="45720" rIns="45720">
            <a:noAutofit/>
          </a:bodyPr>
          <a:lstStyle/>
          <a:p>
            <a:pPr algn="l"/>
            <a:r>
              <a:rPr lang="es-ES" sz="1600" b="1" dirty="0">
                <a:solidFill>
                  <a:srgbClr val="F3CFB2"/>
                </a:solidFill>
              </a:rPr>
              <a:t>AUTOCONSULTORÍA</a:t>
            </a:r>
          </a:p>
        </p:txBody>
      </p:sp>
      <p:sp>
        <p:nvSpPr>
          <p:cNvPr id="195" name="Texto 195"/>
          <p:cNvSpPr txBox="1"/>
          <p:nvPr/>
        </p:nvSpPr>
        <p:spPr>
          <a:xfrm>
            <a:off x="609600" y="2850000"/>
            <a:ext cx="10972800" cy="1400000"/>
          </a:xfrm>
          <a:prstGeom prst="rect">
            <a:avLst/>
          </a:prstGeom>
          <a:noFill/>
        </p:spPr>
        <p:txBody>
          <a:bodyPr wrap="square" anchor="t" lIns="45720" rIns="45720">
            <a:noAutofit/>
          </a:bodyPr>
          <a:lstStyle/>
          <a:p>
            <a:pPr algn="l"/>
            <a:r>
              <a:rPr lang="es-ES" sz="4000" b="1" dirty="0">
                <a:solidFill>
                  <a:srgbClr val="FBE2CD"/>
                </a:solidFill>
              </a:rPr>
              <a:t>Implantarlo en su compañía, por sus propios medios</a:t>
            </a:r>
          </a:p>
        </p:txBody>
      </p:sp>
      <p:sp>
        <p:nvSpPr>
          <p:cNvPr id="196" name="Texto 196"/>
          <p:cNvSpPr txBox="1"/>
          <p:nvPr/>
        </p:nvSpPr>
        <p:spPr>
          <a:xfrm>
            <a:off x="609600" y="4400000"/>
            <a:ext cx="10500000" cy="900000"/>
          </a:xfrm>
          <a:prstGeom prst="rect">
            <a:avLst/>
          </a:prstGeom>
          <a:noFill/>
        </p:spPr>
        <p:txBody>
          <a:bodyPr wrap="square" anchor="t" lIns="45720" rIns="45720">
            <a:noAutofit/>
          </a:bodyPr>
          <a:lstStyle/>
          <a:p>
            <a:pPr algn="l"/>
            <a:r>
              <a:rPr lang="es-ES" sz="1700" dirty="0">
                <a:solidFill>
                  <a:srgbClr val="F3CFB2"/>
                </a:solidFill>
              </a:rPr>
              <a:t>El marco está pensado para aplicarse sin contratar a nadie. Esto es lo que hace falta y en qué orden.</a:t>
            </a:r>
          </a:p>
        </p:txBody>
      </p:sp>
    </p:spTree>
  </p:cSld>
  <p:clrMapOvr>
    <a:overrideClrMapping bg1="lt1" tx1="dk1" bg2="lt2" tx2="dk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198" name="Marca"/>
          <p:cNvSpPr/>
          <p:nvPr/>
        </p:nvSpPr>
        <p:spPr>
          <a:xfrm>
            <a:off x="609600" y="365760"/>
            <a:ext cx="182880" cy="182880"/>
          </a:xfrm>
          <a:prstGeom prst="rect">
            <a:avLst/>
          </a:prstGeom>
          <a:solidFill>
            <a:srgbClr val="990F3D"/>
          </a:solidFill>
        </p:spPr>
        <p:txBody>
          <a:bodyPr/>
          <a:lstStyle/>
          <a:p/>
        </p:txBody>
      </p:sp>
      <p:sp>
        <p:nvSpPr>
          <p:cNvPr id="199" name="Texto 199"/>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00" name="Texto 200"/>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Antes de empezar: lo que la compañía necesita</a:t>
            </a:r>
          </a:p>
        </p:txBody>
      </p:sp>
      <p:sp>
        <p:nvSpPr>
          <p:cNvPr id="197" name="Texto 197"/>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Mandato de implantación firmado por la primera línea ejecutiva, con objetivo, perímetro y plazo (P32).</a:t>
            </a:r>
          </a:p>
          <a:p>
            <a:pPr marL="285750" indent="-285750">
              <a:spcAft>
                <a:spcPts val="400"/>
              </a:spcAft>
              <a:buClr>
                <a:srgbClr val="990F3D"/>
              </a:buClr>
              <a:buFont typeface="Arial"/>
              <a:buChar char="•"/>
            </a:pPr>
            <a:r>
              <a:rPr lang="es-ES" sz="1800" dirty="0">
                <a:solidFill>
                  <a:srgbClr val="2F2B28"/>
                </a:solidFill>
              </a:rPr>
              <a:t>El consejo conoce el plan y reserva una sesión hacia la semana 12 para aprobar la dirección (C2).</a:t>
            </a:r>
          </a:p>
          <a:p>
            <a:pPr marL="285750" indent="-285750">
              <a:spcAft>
                <a:spcPts val="400"/>
              </a:spcAft>
              <a:buClr>
                <a:srgbClr val="990F3D"/>
              </a:buClr>
              <a:buFont typeface="Arial"/>
              <a:buChar char="•"/>
            </a:pPr>
            <a:r>
              <a:rPr lang="es-ES" sz="1800" dirty="0">
                <a:solidFill>
                  <a:srgbClr val="2F2B28"/>
                </a:solidFill>
              </a:rPr>
              <a:t>Un responsable de implantación con dedicación real y un equipo núcleo: negocio, tecnología, datos, riesgos, cumplimiento, seguridad, personas y control de gestión.</a:t>
            </a:r>
          </a:p>
          <a:p>
            <a:pPr marL="285750" indent="-285750">
              <a:spcAft>
                <a:spcPts val="400"/>
              </a:spcAft>
              <a:buClr>
                <a:srgbClr val="990F3D"/>
              </a:buClr>
              <a:buFont typeface="Arial"/>
              <a:buChar char="•"/>
            </a:pPr>
            <a:r>
              <a:rPr lang="es-ES" sz="1800" dirty="0">
                <a:solidFill>
                  <a:srgbClr val="2F2B28"/>
                </a:solidFill>
              </a:rPr>
              <a:t>Auditoría interna informada y asesoría jurídica disponible para la clasificación regulatoria.</a:t>
            </a:r>
          </a:p>
          <a:p>
            <a:pPr marL="285750" indent="-285750">
              <a:spcAft>
                <a:spcPts val="400"/>
              </a:spcAft>
              <a:buClr>
                <a:srgbClr val="990F3D"/>
              </a:buClr>
              <a:buFont typeface="Arial"/>
              <a:buChar char="•"/>
            </a:pPr>
            <a:r>
              <a:rPr lang="es-ES" sz="1800" dirty="0">
                <a:solidFill>
                  <a:srgbClr val="2F2B28"/>
                </a:solidFill>
              </a:rPr>
              <a:t>Un soporte de registro: T01, o una hoja de cálculo con los mismos campos.</a:t>
            </a:r>
          </a:p>
          <a:p>
            <a:pPr marL="285750" indent="-285750">
              <a:spcAft>
                <a:spcPts val="400"/>
              </a:spcAft>
              <a:buClr>
                <a:srgbClr val="990F3D"/>
              </a:buClr>
              <a:buFont typeface="Arial"/>
              <a:buChar char="•"/>
            </a:pPr>
            <a:r>
              <a:rPr lang="es-ES" sz="1800" dirty="0">
                <a:solidFill>
                  <a:srgbClr val="2F2B28"/>
                </a:solidFill>
              </a:rPr>
              <a:t>Sin moratoria: la actividad de IA sigue; solo se detiene lo que el diagnóstico señale como riesgo inaceptable.</a:t>
            </a:r>
          </a:p>
        </p:txBody>
      </p:sp>
    </p:spTree>
  </p:cSld>
  <p:clrMapOvr>
    <a:overrideClrMapping bg1="lt1" tx1="dk1" bg2="lt2" tx2="dk2" accent1="accent1" accent2="accent2" accent3="accent3" accent4="accent4" accent5="accent5" accent6="accent6" hlink="hlink" folHlink="folHlink"/>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03" name="Marca"/>
          <p:cNvSpPr/>
          <p:nvPr/>
        </p:nvSpPr>
        <p:spPr>
          <a:xfrm>
            <a:off x="609600" y="365760"/>
            <a:ext cx="182880" cy="182880"/>
          </a:xfrm>
          <a:prstGeom prst="rect">
            <a:avLst/>
          </a:prstGeom>
          <a:solidFill>
            <a:srgbClr val="990F3D"/>
          </a:solidFill>
        </p:spPr>
        <p:txBody>
          <a:bodyPr/>
          <a:lstStyle/>
          <a:p/>
        </p:txBody>
      </p:sp>
      <p:sp>
        <p:nvSpPr>
          <p:cNvPr id="204" name="Texto 204"/>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05" name="Texto 205"/>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Lite o Enterprise: proporcionalidad</a:t>
            </a:r>
          </a:p>
        </p:txBody>
      </p:sp>
      <p:sp>
        <p:nvSpPr>
          <p:cNvPr id="201" name="Texto 201"/>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Dos decisiones distintas: el alcance de implantación es de la compañía; la intensidad, de cada iniciativa.</a:t>
            </a:r>
          </a:p>
          <a:p>
            <a:pPr marL="285750" indent="-285750">
              <a:spcAft>
                <a:spcPts val="400"/>
              </a:spcAft>
              <a:buClr>
                <a:srgbClr val="990F3D"/>
              </a:buClr>
              <a:buFont typeface="Arial"/>
              <a:buChar char="•"/>
            </a:pPr>
            <a:r>
              <a:rPr lang="es-ES" sz="1800" dirty="0">
                <a:solidFill>
                  <a:srgbClr val="2F2B28"/>
                </a:solidFill>
              </a:rPr>
              <a:t>El tamaño no decide. Basta un criterio Enterprise en una iniciativa: alto riesgo, decisiones sobre personas, exposición directa, agentes que actúan, datos protegidos, función crítica, Transformar o inversión alta.</a:t>
            </a:r>
          </a:p>
          <a:p>
            <a:pPr marL="285750" indent="-285750">
              <a:spcAft>
                <a:spcPts val="400"/>
              </a:spcAft>
              <a:buClr>
                <a:srgbClr val="990F3D"/>
              </a:buClr>
              <a:buFont typeface="Arial"/>
              <a:buChar char="•"/>
            </a:pPr>
            <a:r>
              <a:rPr lang="es-ES" sz="1800" dirty="0">
                <a:solidFill>
                  <a:srgbClr val="2F2B28"/>
                </a:solidFill>
              </a:rPr>
              <a:t>Ruta mínima Lite: consejo con punto de IA trimestral, comité de dirección mensual y oficina de IA de una persona a tiempo parcial.</a:t>
            </a:r>
          </a:p>
          <a:p>
            <a:pPr marL="285750" indent="-285750">
              <a:spcAft>
                <a:spcPts val="400"/>
              </a:spcAft>
              <a:buClr>
                <a:srgbClr val="990F3D"/>
              </a:buClr>
              <a:buFont typeface="Arial"/>
              <a:buChar char="•"/>
            </a:pPr>
            <a:r>
              <a:rPr lang="es-ES" sz="1800" dirty="0">
                <a:solidFill>
                  <a:srgbClr val="2F2B28"/>
                </a:solidFill>
              </a:rPr>
              <a:t>En Lite las puertas se agrupan (G0–G2 juntas, G4–G5 juntas, R6 semestral). G3 va siempre por separado.</a:t>
            </a:r>
          </a:p>
          <a:p>
            <a:pPr marL="285750" indent="-285750">
              <a:spcAft>
                <a:spcPts val="400"/>
              </a:spcAft>
              <a:buClr>
                <a:srgbClr val="990F3D"/>
              </a:buClr>
              <a:buFont typeface="Arial"/>
              <a:buChar char="•"/>
            </a:pPr>
            <a:r>
              <a:rPr lang="es-ES" sz="1800" dirty="0">
                <a:solidFill>
                  <a:srgbClr val="2F2B28"/>
                </a:solidFill>
              </a:rPr>
              <a:t>Ninguna evidencia obligatoria se omite en Lite: se simplifica. El inventario nunca se reduce.</a:t>
            </a:r>
          </a:p>
        </p:txBody>
      </p:sp>
      <p:sp>
        <p:nvSpPr>
          <p:cNvPr id="202" name="Texto 202"/>
          <p:cNvSpPr txBox="1"/>
          <p:nvPr/>
        </p:nvSpPr>
        <p:spPr>
          <a:xfrm>
            <a:off x="609600" y="6250000"/>
            <a:ext cx="10972800" cy="450000"/>
          </a:xfrm>
          <a:prstGeom prst="rect">
            <a:avLst/>
          </a:prstGeom>
          <a:noFill/>
        </p:spPr>
        <p:txBody>
          <a:bodyPr wrap="square" anchor="t" lIns="45720" rIns="45720">
            <a:noAutofit/>
          </a:bodyPr>
          <a:lstStyle/>
          <a:p>
            <a:pPr algn="l"/>
            <a:r>
              <a:rPr lang="es-ES" sz="1400" b="1" dirty="0">
                <a:solidFill>
                  <a:srgbClr val="0F5499"/>
                </a:solidFill>
              </a:rPr>
              <a:t>Documento 90, sección 2.4, y matriz de obligatoriedad (documento 94).</a:t>
            </a:r>
          </a:p>
        </p:txBody>
      </p:sp>
    </p:spTree>
  </p:cSld>
  <p:clrMapOvr>
    <a:overrideClrMapping bg1="lt1" tx1="dk1" bg2="lt2" tx2="dk2" accent1="accent1" accent2="accent2" accent3="accent3" accent4="accent4" accent5="accent5" accent6="accent6" hlink="hlink" folHlink="folHlink"/>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16" name="Marca"/>
          <p:cNvSpPr/>
          <p:nvPr/>
        </p:nvSpPr>
        <p:spPr>
          <a:xfrm>
            <a:off x="609600" y="365760"/>
            <a:ext cx="182880" cy="182880"/>
          </a:xfrm>
          <a:prstGeom prst="rect">
            <a:avLst/>
          </a:prstGeom>
          <a:solidFill>
            <a:srgbClr val="990F3D"/>
          </a:solidFill>
        </p:spPr>
        <p:txBody>
          <a:bodyPr/>
          <a:lstStyle/>
          <a:p/>
        </p:txBody>
      </p:sp>
      <p:sp>
        <p:nvSpPr>
          <p:cNvPr id="217" name="Texto 217"/>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18" name="Texto 218"/>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El plan de 90 días</a:t>
            </a:r>
          </a:p>
        </p:txBody>
      </p:sp>
      <p:sp>
        <p:nvSpPr>
          <p:cNvPr id="219" name="Texto 219"/>
          <p:cNvSpPr txBox="1"/>
          <p:nvPr/>
        </p:nvSpPr>
        <p:spPr>
          <a:xfrm>
            <a:off x="609600" y="1330000"/>
            <a:ext cx="10972800" cy="450000"/>
          </a:xfrm>
          <a:prstGeom prst="rect">
            <a:avLst/>
          </a:prstGeom>
          <a:noFill/>
        </p:spPr>
        <p:txBody>
          <a:bodyPr wrap="square" anchor="t" lIns="45720" rIns="45720">
            <a:noAutofit/>
          </a:bodyPr>
          <a:lstStyle/>
          <a:p>
            <a:pPr algn="l"/>
            <a:r>
              <a:rPr lang="es-ES" sz="1500" dirty="0">
                <a:solidFill>
                  <a:srgbClr val="564D47"/>
                </a:solidFill>
              </a:rPr>
              <a:t>Tres meses, tres resultados y una decisión del consejo</a:t>
            </a:r>
          </a:p>
        </p:txBody>
      </p:sp>
      <p:sp>
        <p:nvSpPr>
          <p:cNvPr id="206" name="Caja 206"/>
          <p:cNvSpPr/>
          <p:nvPr/>
        </p:nvSpPr>
        <p:spPr>
          <a:xfrm>
            <a:off x="609600" y="2050000"/>
            <a:ext cx="3577600" cy="800000"/>
          </a:xfrm>
          <a:prstGeom prst="roundRect">
            <a:avLst>
              <a:gd name="adj" fmla="val 6000"/>
            </a:avLst>
          </a:prstGeom>
          <a:solidFill>
            <a:srgbClr val="0F5499"/>
          </a:solidFill>
          <a:ln>
            <a:noFill/>
          </a:ln>
        </p:spPr>
        <p:txBody>
          <a:bodyPr wrap="square" anchor="ctr" lIns="45720" rIns="45720">
            <a:noAutofit/>
          </a:bodyPr>
          <a:lstStyle/>
          <a:p>
            <a:pPr algn="ctr"/>
            <a:r>
              <a:rPr lang="es-ES" sz="1700" b="1" dirty="0">
                <a:solidFill>
                  <a:srgbClr val="FFFFFF"/>
                </a:solidFill>
              </a:rPr>
              <a:t>Mes 1 · Diagnóstico (C1)</a:t>
            </a:r>
          </a:p>
        </p:txBody>
      </p:sp>
      <p:sp>
        <p:nvSpPr>
          <p:cNvPr id="207" name="Caja 207"/>
          <p:cNvSpPr/>
          <p:nvPr/>
        </p:nvSpPr>
        <p:spPr>
          <a:xfrm>
            <a:off x="6096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08" name="Texto 208"/>
          <p:cNvSpPr txBox="1"/>
          <p:nvPr/>
        </p:nvSpPr>
        <p:spPr>
          <a:xfrm>
            <a:off x="649600" y="2890000"/>
            <a:ext cx="3497600" cy="2340000"/>
          </a:xfrm>
          <a:prstGeom prst="rect">
            <a:avLst/>
          </a:prstGeom>
          <a:noFill/>
        </p:spPr>
        <p:txBody>
          <a:bodyPr wrap="square" anchor="t" lIns="45720" rIns="45720">
            <a:noAutofit/>
          </a:bodyPr>
          <a:lstStyle/>
          <a:p>
            <a:pPr algn="l"/>
            <a:r>
              <a:rPr lang="es-ES" sz="1300" dirty="0">
                <a:solidFill>
                  <a:srgbClr val="2F2B28"/>
                </a:solidFill>
              </a:rPr>
              <a:t>Mandato (P32). Inventario de toda la IA, también la de terceros y la no autorizada, con declaración de completitud. Madurez con evidencia (T15) e índice de transformación (T14). Hito 1: informe C1 verificado (P33).</a:t>
            </a:r>
          </a:p>
        </p:txBody>
      </p:sp>
      <p:sp>
        <p:nvSpPr>
          <p:cNvPr id="209" name="Caja 209"/>
          <p:cNvSpPr/>
          <p:nvPr/>
        </p:nvSpPr>
        <p:spPr>
          <a:xfrm>
            <a:off x="4307200" y="2050000"/>
            <a:ext cx="3577600" cy="800000"/>
          </a:xfrm>
          <a:prstGeom prst="roundRect">
            <a:avLst>
              <a:gd name="adj" fmla="val 6000"/>
            </a:avLst>
          </a:prstGeom>
          <a:solidFill>
            <a:srgbClr val="593380"/>
          </a:solidFill>
          <a:ln>
            <a:noFill/>
          </a:ln>
        </p:spPr>
        <p:txBody>
          <a:bodyPr wrap="square" anchor="ctr" lIns="45720" rIns="45720">
            <a:noAutofit/>
          </a:bodyPr>
          <a:lstStyle/>
          <a:p>
            <a:pPr algn="ctr"/>
            <a:r>
              <a:rPr lang="es-ES" sz="1700" b="1" dirty="0">
                <a:solidFill>
                  <a:srgbClr val="FFFFFF"/>
                </a:solidFill>
              </a:rPr>
              <a:t>Mes 2 · Riesgos y oportunidades</a:t>
            </a:r>
          </a:p>
        </p:txBody>
      </p:sp>
      <p:sp>
        <p:nvSpPr>
          <p:cNvPr id="210" name="Caja 210"/>
          <p:cNvSpPr/>
          <p:nvPr/>
        </p:nvSpPr>
        <p:spPr>
          <a:xfrm>
            <a:off x="43072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1" name="Texto 211"/>
          <p:cNvSpPr txBox="1"/>
          <p:nvPr/>
        </p:nvSpPr>
        <p:spPr>
          <a:xfrm>
            <a:off x="4347200" y="2890000"/>
            <a:ext cx="3497600" cy="2340000"/>
          </a:xfrm>
          <a:prstGeom prst="rect">
            <a:avLst/>
          </a:prstGeom>
          <a:noFill/>
        </p:spPr>
        <p:txBody>
          <a:bodyPr wrap="square" anchor="t" lIns="45720" rIns="45720">
            <a:noAutofit/>
          </a:bodyPr>
          <a:lstStyle/>
          <a:p>
            <a:pPr algn="l"/>
            <a:r>
              <a:rPr lang="es-ES" sz="1300" dirty="0">
                <a:solidFill>
                  <a:srgbClr val="2F2B28"/>
                </a:solidFill>
              </a:rPr>
              <a:t>Talleres por esfera: riesgos de lo que ya existe (P11, P12) y oportunidades con valor estimado (P06, P07). Borrador de tesis de IA, ambición y apetito de riesgo (P35). Hito 2: propuesta de C2 lista para el consejo.</a:t>
            </a:r>
          </a:p>
        </p:txBody>
      </p:sp>
      <p:sp>
        <p:nvSpPr>
          <p:cNvPr id="212" name="Caja 212"/>
          <p:cNvSpPr/>
          <p:nvPr/>
        </p:nvSpPr>
        <p:spPr>
          <a:xfrm>
            <a:off x="8004800" y="2050000"/>
            <a:ext cx="3577600" cy="800000"/>
          </a:xfrm>
          <a:prstGeom prst="roundRect">
            <a:avLst>
              <a:gd name="adj" fmla="val 6000"/>
            </a:avLst>
          </a:prstGeom>
          <a:solidFill>
            <a:srgbClr val="0D7680"/>
          </a:solidFill>
          <a:ln>
            <a:noFill/>
          </a:ln>
        </p:spPr>
        <p:txBody>
          <a:bodyPr wrap="square" anchor="ctr" lIns="45720" rIns="45720">
            <a:noAutofit/>
          </a:bodyPr>
          <a:lstStyle/>
          <a:p>
            <a:pPr algn="ctr"/>
            <a:r>
              <a:rPr lang="es-ES" sz="1700" b="1" dirty="0">
                <a:solidFill>
                  <a:srgbClr val="FFFFFF"/>
                </a:solidFill>
              </a:rPr>
              <a:t>Mes 3 · Gobierno y cartera</a:t>
            </a:r>
          </a:p>
        </p:txBody>
      </p:sp>
      <p:sp>
        <p:nvSpPr>
          <p:cNvPr id="213" name="Caja 213"/>
          <p:cNvSpPr/>
          <p:nvPr/>
        </p:nvSpPr>
        <p:spPr>
          <a:xfrm>
            <a:off x="8004800" y="2790000"/>
            <a:ext cx="3577600" cy="2500000"/>
          </a:xfrm>
          <a:prstGeom prst="roundRect">
            <a:avLst>
              <a:gd name="adj" fmla="val 6000"/>
            </a:avLst>
          </a:prstGeom>
          <a:solidFill>
            <a:srgbClr val="F3CFB2"/>
          </a:solidFill>
          <a:ln>
            <a:noFill/>
          </a:ln>
        </p:spPr>
        <p:txBody>
          <a:bodyPr wrap="square" anchor="ctr" lIns="45720" rIns="45720">
            <a:noAutofit/>
          </a:bodyPr>
          <a:lstStyle/>
          <a:p>
            <a:pPr algn="ctr"/>
            <a:r>
              <a:rPr lang="es-ES" sz="1000" b="1" dirty="0">
                <a:solidFill>
                  <a:srgbClr val="2F2B28"/>
                </a:solidFill>
              </a:rPr>
              <a:t/>
            </a:r>
          </a:p>
        </p:txBody>
      </p:sp>
      <p:sp>
        <p:nvSpPr>
          <p:cNvPr id="214" name="Texto 214"/>
          <p:cNvSpPr txBox="1"/>
          <p:nvPr/>
        </p:nvSpPr>
        <p:spPr>
          <a:xfrm>
            <a:off x="8044800" y="2890000"/>
            <a:ext cx="3497600" cy="2340000"/>
          </a:xfrm>
          <a:prstGeom prst="rect">
            <a:avLst/>
          </a:prstGeom>
          <a:noFill/>
        </p:spPr>
        <p:txBody>
          <a:bodyPr wrap="square" anchor="t" lIns="45720" rIns="45720">
            <a:noAutofit/>
          </a:bodyPr>
          <a:lstStyle/>
          <a:p>
            <a:pPr algn="l"/>
            <a:r>
              <a:rPr lang="es-ES" sz="1300" dirty="0">
                <a:solidFill>
                  <a:srgbClr val="2F2B28"/>
                </a:solidFill>
              </a:rPr>
              <a:t>Órganos y roles sin incompatibilidades (P38, P03), puertas y políticas, primer panel con datos reales (T17) y cartera priorizada (P36). El consejo aprueba C2 y el comité, C3. Hito 3: régimen ordinario.</a:t>
            </a:r>
          </a:p>
        </p:txBody>
      </p:sp>
      <p:sp>
        <p:nvSpPr>
          <p:cNvPr id="215" name="Texto 215"/>
          <p:cNvSpPr txBox="1"/>
          <p:nvPr/>
        </p:nvSpPr>
        <p:spPr>
          <a:xfrm>
            <a:off x="609600" y="6150000"/>
            <a:ext cx="10972800" cy="500000"/>
          </a:xfrm>
          <a:prstGeom prst="rect">
            <a:avLst/>
          </a:prstGeom>
          <a:noFill/>
        </p:spPr>
        <p:txBody>
          <a:bodyPr wrap="square" anchor="t" lIns="45720" rIns="45720">
            <a:noAutofit/>
          </a:bodyPr>
          <a:lstStyle/>
          <a:p>
            <a:pPr algn="l"/>
            <a:r>
              <a:rPr lang="es-ES" sz="1400" b="1" dirty="0">
                <a:solidFill>
                  <a:srgbClr val="0F5499"/>
                </a:solidFill>
              </a:rPr>
              <a:t>Desde la semana 13, ninguna iniciativa nueva consume presupuesto sin pasar por G0.</a:t>
            </a:r>
          </a:p>
        </p:txBody>
      </p:sp>
    </p:spTree>
  </p:cSld>
  <p:clrMapOvr>
    <a:overrideClrMapping bg1="lt1" tx1="dk1" bg2="lt2" tx2="dk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1" name="Marca"/>
          <p:cNvSpPr/>
          <p:nvPr/>
        </p:nvSpPr>
        <p:spPr>
          <a:xfrm>
            <a:off x="609600" y="365760"/>
            <a:ext cx="182880" cy="182880"/>
          </a:xfrm>
          <a:prstGeom prst="rect">
            <a:avLst/>
          </a:prstGeom>
          <a:solidFill>
            <a:srgbClr val="990F3D"/>
          </a:solidFill>
        </p:spPr>
        <p:txBody>
          <a:bodyPr/>
          <a:lstStyle/>
          <a:p/>
        </p:txBody>
      </p:sp>
      <p:sp>
        <p:nvSpPr>
          <p:cNvPr id="222" name="Texto 222"/>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23" name="Texto 223"/>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Tres garantías que no se negocian, ni en pequeño</a:t>
            </a:r>
          </a:p>
        </p:txBody>
      </p:sp>
      <p:sp>
        <p:nvSpPr>
          <p:cNvPr id="220" name="Texto 220"/>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Quien construye no verifica ni decide su propio trabajo.</a:t>
            </a:r>
          </a:p>
          <a:p>
            <a:pPr marL="285750" indent="-285750">
              <a:spcAft>
                <a:spcPts val="400"/>
              </a:spcAft>
              <a:buClr>
                <a:srgbClr val="990F3D"/>
              </a:buClr>
              <a:buFont typeface="Arial"/>
              <a:buChar char="•"/>
            </a:pPr>
            <a:r>
              <a:rPr lang="es-ES" sz="1800" dirty="0">
                <a:solidFill>
                  <a:srgbClr val="2F2B28"/>
                </a:solidFill>
              </a:rPr>
              <a:t>La conformidad de riesgos la emite alguien independiente del equipo.</a:t>
            </a:r>
          </a:p>
          <a:p>
            <a:pPr marL="285750" indent="-285750">
              <a:spcAft>
                <a:spcPts val="400"/>
              </a:spcAft>
              <a:buClr>
                <a:srgbClr val="990F3D"/>
              </a:buClr>
              <a:buFont typeface="Arial"/>
              <a:buChar char="•"/>
            </a:pPr>
            <a:r>
              <a:rPr lang="es-ES" sz="1800" dirty="0">
                <a:solidFill>
                  <a:srgbClr val="2F2B28"/>
                </a:solidFill>
              </a:rPr>
              <a:t>El consejo aprueba la dirección y el apetito de riesgo: no se delega.</a:t>
            </a:r>
          </a:p>
          <a:p>
            <a:pPr marL="285750" indent="-285750">
              <a:spcAft>
                <a:spcPts val="400"/>
              </a:spcAft>
              <a:buClr>
                <a:srgbClr val="990F3D"/>
              </a:buClr>
              <a:buFont typeface="Arial"/>
              <a:buChar char="•"/>
            </a:pPr>
            <a:r>
              <a:rPr lang="es-ES" sz="1800" dirty="0">
                <a:solidFill>
                  <a:srgbClr val="2F2B28"/>
                </a:solidFill>
              </a:rPr>
              <a:t>Una misma persona puede tener varios roles si no son incompatibles; el registro T01 lo comprueba (P03).</a:t>
            </a:r>
          </a:p>
          <a:p>
            <a:pPr marL="285750" indent="-285750">
              <a:spcAft>
                <a:spcPts val="400"/>
              </a:spcAft>
              <a:buClr>
                <a:srgbClr val="990F3D"/>
              </a:buClr>
              <a:buFont typeface="Arial"/>
              <a:buChar char="•"/>
            </a:pPr>
            <a:r>
              <a:rPr lang="es-ES" sz="1800" dirty="0">
                <a:solidFill>
                  <a:srgbClr val="2F2B28"/>
                </a:solidFill>
              </a:rPr>
              <a:t>Lo existente se regulariza con plazos aprobados, no se ignora: inventario primero, después riesgos y después puertas.</a:t>
            </a:r>
          </a:p>
        </p:txBody>
      </p:sp>
    </p:spTree>
  </p:cSld>
  <p:clrMapOvr>
    <a:overrideClrMapping bg1="lt1" tx1="dk1" bg2="lt2" tx2="dk2" accent1="accent1" accent2="accent2" accent3="accent3" accent4="accent4" accent5="accent5" accent6="accent6" hlink="hlink" folHlink="folHlink"/>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5" name="Marca"/>
          <p:cNvSpPr/>
          <p:nvPr/>
        </p:nvSpPr>
        <p:spPr>
          <a:xfrm>
            <a:off x="609600" y="365760"/>
            <a:ext cx="182880" cy="182880"/>
          </a:xfrm>
          <a:prstGeom prst="rect">
            <a:avLst/>
          </a:prstGeom>
          <a:solidFill>
            <a:srgbClr val="990F3D"/>
          </a:solidFill>
        </p:spPr>
        <p:txBody>
          <a:bodyPr/>
          <a:lstStyle/>
          <a:p/>
        </p:txBody>
      </p:sp>
      <p:sp>
        <p:nvSpPr>
          <p:cNvPr id="226" name="Texto 226"/>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27" name="Texto 227"/>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Errores frecuentes al implantarlo uno mismo</a:t>
            </a:r>
          </a:p>
        </p:txBody>
      </p:sp>
      <p:sp>
        <p:nvSpPr>
          <p:cNvPr id="224" name="Texto 224"/>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Aplicar Enterprise a todo: el marco se vuelve pesado y se abandona. O no aplicar nada «porque somos pequeños».</a:t>
            </a:r>
          </a:p>
          <a:p>
            <a:pPr marL="285750" indent="-285750">
              <a:spcAft>
                <a:spcPts val="400"/>
              </a:spcAft>
              <a:buClr>
                <a:srgbClr val="990F3D"/>
              </a:buClr>
              <a:buFont typeface="Arial"/>
              <a:buChar char="•"/>
            </a:pPr>
            <a:r>
              <a:rPr lang="es-ES" sz="1800" dirty="0">
                <a:solidFill>
                  <a:srgbClr val="2F2B28"/>
                </a:solidFill>
              </a:rPr>
              <a:t>Rellenar las plantillas después de decidir: la documentación a posteriori invalida la puerta.</a:t>
            </a:r>
          </a:p>
          <a:p>
            <a:pPr marL="285750" indent="-285750">
              <a:spcAft>
                <a:spcPts val="400"/>
              </a:spcAft>
              <a:buClr>
                <a:srgbClr val="990F3D"/>
              </a:buClr>
              <a:buFont typeface="Arial"/>
              <a:buChar char="•"/>
            </a:pPr>
            <a:r>
              <a:rPr lang="es-ES" sz="1800" dirty="0">
                <a:solidFill>
                  <a:srgbClr val="2F2B28"/>
                </a:solidFill>
              </a:rPr>
              <a:t>Sumar horas liberadas como ahorro en el panel.</a:t>
            </a:r>
          </a:p>
          <a:p>
            <a:pPr marL="285750" indent="-285750">
              <a:spcAft>
                <a:spcPts val="400"/>
              </a:spcAft>
              <a:buClr>
                <a:srgbClr val="990F3D"/>
              </a:buClr>
              <a:buFont typeface="Arial"/>
              <a:buChar char="•"/>
            </a:pPr>
            <a:r>
              <a:rPr lang="es-ES" sz="1800" dirty="0">
                <a:solidFill>
                  <a:srgbClr val="2F2B28"/>
                </a:solidFill>
              </a:rPr>
              <a:t>No parar nunca nada: una cartera sin paradas no tiene puertas, tiene trámites.</a:t>
            </a:r>
          </a:p>
          <a:p>
            <a:pPr marL="285750" indent="-285750">
              <a:spcAft>
                <a:spcPts val="400"/>
              </a:spcAft>
              <a:buClr>
                <a:srgbClr val="990F3D"/>
              </a:buClr>
              <a:buFont typeface="Arial"/>
              <a:buChar char="•"/>
            </a:pPr>
            <a:r>
              <a:rPr lang="es-ES" sz="1800" dirty="0">
                <a:solidFill>
                  <a:srgbClr val="2F2B28"/>
                </a:solidFill>
              </a:rPr>
              <a:t>Un inventario incompleto: la IA de terceros y el uso no autorizado también cuentan.</a:t>
            </a:r>
          </a:p>
          <a:p>
            <a:pPr marL="285750" indent="-285750">
              <a:spcAft>
                <a:spcPts val="400"/>
              </a:spcAft>
              <a:buClr>
                <a:srgbClr val="990F3D"/>
              </a:buClr>
              <a:buFont typeface="Arial"/>
              <a:buChar char="•"/>
            </a:pPr>
            <a:r>
              <a:rPr lang="es-ES" sz="1800" dirty="0">
                <a:solidFill>
                  <a:srgbClr val="2F2B28"/>
                </a:solidFill>
              </a:rPr>
              <a:t>Dejar al consejo fuera hasta el final: su sesión se reserva el primer día.</a:t>
            </a:r>
          </a:p>
        </p:txBody>
      </p:sp>
    </p:spTree>
  </p:cSld>
  <p:clrMapOvr>
    <a:overrideClrMapping bg1="lt1" tx1="dk1" bg2="lt2" tx2="dk2" accent1="accent1" accent2="accent2" accent3="accent3" accent4="accent4" accent5="accent5" accent6="accent6" hlink="hlink" folHlink="folHlink"/>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29" name="Marca"/>
          <p:cNvSpPr/>
          <p:nvPr/>
        </p:nvSpPr>
        <p:spPr>
          <a:xfrm>
            <a:off x="609600" y="365760"/>
            <a:ext cx="182880" cy="182880"/>
          </a:xfrm>
          <a:prstGeom prst="rect">
            <a:avLst/>
          </a:prstGeom>
          <a:solidFill>
            <a:srgbClr val="990F3D"/>
          </a:solidFill>
        </p:spPr>
        <p:txBody>
          <a:bodyPr/>
          <a:lstStyle/>
          <a:p/>
        </p:txBody>
      </p:sp>
      <p:sp>
        <p:nvSpPr>
          <p:cNvPr id="230" name="Texto 230"/>
          <p:cNvSpPr txBox="1"/>
          <p:nvPr/>
        </p:nvSpPr>
        <p:spPr>
          <a:xfrm>
            <a:off x="838200" y="300000"/>
            <a:ext cx="10500000" cy="320000"/>
          </a:xfrm>
          <a:prstGeom prst="rect">
            <a:avLst/>
          </a:prstGeom>
          <a:noFill/>
        </p:spPr>
        <p:txBody>
          <a:bodyPr wrap="square" anchor="ctr" lIns="45720" rIns="45720">
            <a:noAutofit/>
          </a:bodyPr>
          <a:lstStyle/>
          <a:p>
            <a:pPr algn="l"/>
            <a:r>
              <a:rPr lang="es-ES" sz="1400" b="1" dirty="0">
                <a:solidFill>
                  <a:srgbClr val="1A1817"/>
                </a:solidFill>
              </a:rPr>
              <a:t>SEVEN-G · CURSO · EMPRESA · AUTOCONSULTORÍA</a:t>
            </a:r>
          </a:p>
        </p:txBody>
      </p:sp>
      <p:sp>
        <p:nvSpPr>
          <p:cNvPr id="231" name="Texto 231"/>
          <p:cNvSpPr txBox="1"/>
          <p:nvPr/>
        </p:nvSpPr>
        <p:spPr>
          <a:xfrm>
            <a:off x="609600" y="700000"/>
            <a:ext cx="10972800" cy="650000"/>
          </a:xfrm>
          <a:prstGeom prst="rect">
            <a:avLst/>
          </a:prstGeom>
          <a:noFill/>
        </p:spPr>
        <p:txBody>
          <a:bodyPr wrap="square" anchor="t" lIns="45720" rIns="45720">
            <a:noAutofit/>
          </a:bodyPr>
          <a:lstStyle/>
          <a:p>
            <a:pPr algn="l"/>
            <a:r>
              <a:rPr lang="es-ES" sz="2700" b="1" dirty="0">
                <a:solidFill>
                  <a:srgbClr val="990F3D"/>
                </a:solidFill>
              </a:rPr>
              <a:t>Por dónde empezar mañana</a:t>
            </a:r>
          </a:p>
        </p:txBody>
      </p:sp>
      <p:sp>
        <p:nvSpPr>
          <p:cNvPr id="228" name="Texto 228"/>
          <p:cNvSpPr txBox="1"/>
          <p:nvPr/>
        </p:nvSpPr>
        <p:spPr>
          <a:xfrm>
            <a:off x="609600" y="1750000"/>
            <a:ext cx="10972800" cy="4400000"/>
          </a:xfrm>
          <a:prstGeom prst="rect">
            <a:avLst/>
          </a:prstGeom>
          <a:noFill/>
        </p:spPr>
        <p:txBody>
          <a:bodyPr wrap="square" anchor="t" lIns="45720" rIns="45720">
            <a:noAutofit/>
          </a:bodyPr>
          <a:lstStyle/>
          <a:p>
            <a:pPr marL="285750" indent="-285750">
              <a:spcAft>
                <a:spcPts val="400"/>
              </a:spcAft>
              <a:buClr>
                <a:srgbClr val="990F3D"/>
              </a:buClr>
              <a:buFont typeface="Arial"/>
              <a:buChar char="•"/>
            </a:pPr>
            <a:r>
              <a:rPr lang="es-ES" sz="1800" dirty="0">
                <a:solidFill>
                  <a:srgbClr val="2F2B28"/>
                </a:solidFill>
              </a:rPr>
              <a:t>Una tarde: abra el registro de ejemplo (T01) y su panel (T17), y responda al diagnóstico de madurez (T15) con su situación real.</a:t>
            </a:r>
          </a:p>
          <a:p>
            <a:pPr marL="285750" indent="-285750">
              <a:spcAft>
                <a:spcPts val="400"/>
              </a:spcAft>
              <a:buClr>
                <a:srgbClr val="990F3D"/>
              </a:buClr>
              <a:buFont typeface="Arial"/>
              <a:buChar char="•"/>
            </a:pPr>
            <a:r>
              <a:rPr lang="es-ES" sz="1800" dirty="0">
                <a:solidFill>
                  <a:srgbClr val="2F2B28"/>
                </a:solidFill>
              </a:rPr>
              <a:t>Una semana: documentos 00, 01 y 90; decida alcance Lite o Enterprise y redacte el mandato (P32).</a:t>
            </a:r>
          </a:p>
          <a:p>
            <a:pPr marL="285750" indent="-285750">
              <a:spcAft>
                <a:spcPts val="400"/>
              </a:spcAft>
              <a:buClr>
                <a:srgbClr val="990F3D"/>
              </a:buClr>
              <a:buFont typeface="Arial"/>
              <a:buChar char="•"/>
            </a:pPr>
            <a:r>
              <a:rPr lang="es-ES" sz="1800" dirty="0">
                <a:solidFill>
                  <a:srgbClr val="2F2B28"/>
                </a:solidFill>
              </a:rPr>
              <a:t>La adopción puede ser modular: solo el registro, solo las puertas, solo la medición o solo el panel, y ampliar después.</a:t>
            </a:r>
          </a:p>
          <a:p>
            <a:pPr marL="285750" indent="-285750">
              <a:spcAft>
                <a:spcPts val="400"/>
              </a:spcAft>
              <a:buClr>
                <a:srgbClr val="990F3D"/>
              </a:buClr>
              <a:buFont typeface="Arial"/>
              <a:buChar char="•"/>
            </a:pPr>
            <a:r>
              <a:rPr lang="es-ES" sz="1800" dirty="0">
                <a:solidFill>
                  <a:srgbClr val="2F2B28"/>
                </a:solidFill>
              </a:rPr>
              <a:t>Si quiere acompañamiento, puede pedirlo a cualquier profesional; el documento 91 explica cómo evitar depender de él.</a:t>
            </a:r>
          </a:p>
          <a:p>
            <a:pPr marL="285750" indent="-285750">
              <a:spcAft>
                <a:spcPts val="400"/>
              </a:spcAft>
              <a:buClr>
                <a:srgbClr val="990F3D"/>
              </a:buClr>
              <a:buFont typeface="Arial"/>
              <a:buChar char="•"/>
            </a:pPr>
            <a:r>
              <a:rPr lang="es-ES" sz="1800" dirty="0">
                <a:solidFill>
                  <a:srgbClr val="2F2B28"/>
                </a:solidFill>
              </a:rPr>
              <a:t>Nada de esto exige registrarse ni contratar a nadie.</a:t>
            </a:r>
          </a:p>
        </p:txBody>
      </p:sp>
    </p:spTree>
  </p:cSld>
  <p:clrMapOvr>
    <a:overrideClrMapping bg1="lt1" tx1="dk1" bg2="lt2" tx2="dk2" accent1="accent1" accent2="accent2" accent3="accent3" accent4="accent4" accent5="accent5" accent6="accent6" hlink="hlink" folHlink="folHlink"/>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BE2CD"/>
        </a:solidFill>
        <a:effectLst/>
      </p:bgPr>
    </p:bg>
    <p:spTree>
      <p:nvGrpSpPr>
        <p:cNvPr id="1" name=""/>
        <p:cNvGrpSpPr/>
        <p:nvPr/>
      </p:nvGrpSpPr>
      <p:grpSpPr>
        <a:xfrm>
          <a:off x="0" y="0"/>
          <a:ext cx="0" cy="0"/>
          <a:chOff x="0" y="0"/>
          <a:chExt cx="0" cy="0"/>
        </a:xfrm>
      </p:grpSpPr>
      <p:sp>
        <p:nvSpPr>
          <p:cNvPr id="232" name="Texto 232"/>
          <p:cNvSpPr txBox="1"/>
          <p:nvPr/>
        </p:nvSpPr>
        <p:spPr>
          <a:xfrm>
            <a:off x="609600" y="2300000"/>
            <a:ext cx="10972800" cy="900000"/>
          </a:xfrm>
          <a:prstGeom prst="rect">
            <a:avLst/>
          </a:prstGeom>
          <a:noFill/>
        </p:spPr>
        <p:txBody>
          <a:bodyPr wrap="square" anchor="t" lIns="45720" rIns="45720">
            <a:noAutofit/>
          </a:bodyPr>
          <a:lstStyle/>
          <a:p>
            <a:pPr algn="ctr"/>
            <a:r>
              <a:rPr lang="es-ES" sz="4400" b="1" dirty="0">
                <a:solidFill>
                  <a:srgbClr val="1A1817"/>
                </a:solidFill>
              </a:rPr>
              <a:t>Gracias</a:t>
            </a:r>
          </a:p>
        </p:txBody>
      </p:sp>
      <p:sp>
        <p:nvSpPr>
          <p:cNvPr id="233" name="Texto 233"/>
          <p:cNvSpPr txBox="1"/>
          <p:nvPr/>
        </p:nvSpPr>
        <p:spPr>
          <a:xfrm>
            <a:off x="609600" y="3350000"/>
            <a:ext cx="10972800" cy="900000"/>
          </a:xfrm>
          <a:prstGeom prst="rect">
            <a:avLst/>
          </a:prstGeom>
          <a:noFill/>
        </p:spPr>
        <p:txBody>
          <a:bodyPr wrap="square" anchor="t" lIns="45720" rIns="45720">
            <a:noAutofit/>
          </a:bodyPr>
          <a:lstStyle/>
          <a:p>
            <a:pPr algn="ctr"/>
            <a:r>
              <a:rPr lang="es-ES" sz="1900" dirty="0">
                <a:solidFill>
                  <a:srgbClr val="2F2B28"/>
                </a:solidFill>
              </a:rPr>
              <a:t>SEVEN-G es gratuito: se usa, se descarga y se adapta sin registrarse, y el sitio nunca le escribirá. Si quiere hablar con el autor, la iniciativa es suya.</a:t>
            </a:r>
          </a:p>
        </p:txBody>
      </p:sp>
      <p:sp>
        <p:nvSpPr>
          <p:cNvPr id="234" name="Texto 234"/>
          <p:cNvSpPr txBox="1"/>
          <p:nvPr/>
        </p:nvSpPr>
        <p:spPr>
          <a:xfrm>
            <a:off x="609600" y="4350000"/>
            <a:ext cx="10972800" cy="500000"/>
          </a:xfrm>
          <a:prstGeom prst="rect">
            <a:avLst/>
          </a:prstGeom>
          <a:noFill/>
        </p:spPr>
        <p:txBody>
          <a:bodyPr wrap="square" anchor="t" lIns="45720" rIns="45720">
            <a:noAutofit/>
          </a:bodyPr>
          <a:lstStyle/>
          <a:p>
            <a:pPr algn="ctr"/>
            <a:r>
              <a:rPr lang="es-ES" sz="1600" dirty="0">
                <a:solidFill>
                  <a:srgbClr val="564D47"/>
                </a:solidFill>
              </a:rPr>
              <a:t>SEVEN-G es una marca registrada de Fernando García Varela · CC BY 4.0 (contenidos) · MIT (código)</a:t>
            </a:r>
          </a:p>
        </p:txBody>
      </p:sp>
      <p:sp>
        <p:nvSpPr>
          <p:cNvPr id="235" name="Texto 235"/>
          <p:cNvSpPr txBox="1"/>
          <p:nvPr/>
        </p:nvSpPr>
        <p:spPr>
          <a:xfrm>
            <a:off x="609600" y="4950000"/>
            <a:ext cx="10972800" cy="500000"/>
          </a:xfrm>
          <a:prstGeom prst="rect">
            <a:avLst/>
          </a:prstGeom>
          <a:noFill/>
        </p:spPr>
        <p:txBody>
          <a:bodyPr wrap="square" anchor="t" lIns="45720" rIns="45720">
            <a:noAutofit/>
          </a:bodyPr>
          <a:lstStyle/>
          <a:p>
            <a:pPr algn="ctr"/>
            <a:r>
              <a:rPr lang="es-ES" sz="1700" dirty="0">
                <a:solidFill>
                  <a:srgbClr val="0F5499"/>
                </a:solidFill>
              </a:rPr>
              <a:t>https://www.linkedin.com/in/fernandogarciavarela/</a:t>
            </a:r>
          </a:p>
        </p:txBody>
      </p:sp>
      <p:sp>
        <p:nvSpPr>
          <p:cNvPr id="236" name="Texto 236"/>
          <p:cNvSpPr txBox="1"/>
          <p:nvPr/>
        </p:nvSpPr>
        <p:spPr>
          <a:xfrm>
            <a:off x="609600" y="5550000"/>
            <a:ext cx="10972800" cy="1000000"/>
          </a:xfrm>
          <a:prstGeom prst="rect">
            <a:avLst/>
          </a:prstGeom>
          <a:noFill/>
        </p:spPr>
        <p:txBody>
          <a:bodyPr wrap="square" anchor="t" lIns="45720" rIns="45720">
            <a:noAutofit/>
          </a:bodyPr>
          <a:lstStyle/>
          <a:p>
            <a:pPr algn="ctr"/>
            <a:r>
              <a:rPr lang="es-ES" sz="1000" dirty="0">
                <a:solidFill>
                  <a:srgbClr val="564D47"/>
                </a:solidFill>
              </a:rPr>
              <a:t>Aviso legal: ayuda metodológica genérica y gratuita, «tal cual» y con fines informativos; no es asesoramiento jurídico ni está revisada jurídicamente para ningún caso. Cada organización la adapta y es responsable de su revisión legal y de su cumplimiento regulatorio; puede no recoger cambios normativos recientes. En la máxima medida permitida por la ley, el autor no asume responsabilidad alguna por los efectos de su aplicación. No otorga certificación de ningún tipo. Detalle en el documento 93.</a:t>
            </a:r>
          </a:p>
        </p:txBody>
      </p:sp>
    </p:spTree>
  </p:cSld>
  <p:clrMapOvr>
    <a:overrideClrMapping bg1="lt1" tx1="dk1" bg2="lt2" tx2="dk2" accent1="accent1" accent2="accent2" accent3="accent3" accent4="accent4" accent5="accent5" accent6="accent6" hlink="hlink" folHlink="folHlink"/>
  </p:clrMapOvr>
</p:sld>
</file>

<file path=ppt/theme/theme1.xml><?xml version="1.0" encoding="utf-8"?>
<a:theme xmlns:a="http://schemas.openxmlformats.org/drawingml/2006/main" name="SEVEN-G">
  <a:themeElements>
    <a:clrScheme name="SEVEN-G">
      <a:dk1>
        <a:srgbClr val="1A1817"/>
      </a:dk1>
      <a:lt1>
        <a:srgbClr val="FBE2CD"/>
      </a:lt1>
      <a:dk2>
        <a:srgbClr val="2F2B28"/>
      </a:dk2>
      <a:lt2>
        <a:srgbClr val="FFFFFF"/>
      </a:lt2>
      <a:accent1>
        <a:srgbClr val="990F3D"/>
      </a:accent1>
      <a:accent2>
        <a:srgbClr val="0F5499"/>
      </a:accent2>
      <a:accent3>
        <a:srgbClr val="0D7680"/>
      </a:accent3>
      <a:accent4>
        <a:srgbClr val="593380"/>
      </a:accent4>
      <a:accent5>
        <a:srgbClr val="A5822A"/>
      </a:accent5>
      <a:accent6>
        <a:srgbClr val="71645B"/>
      </a:accent6>
      <a:hlink>
        <a:srgbClr val="0F5499"/>
      </a:hlink>
      <a:folHlink>
        <a:srgbClr val="593380"/>
      </a:folHlink>
    </a:clrScheme>
    <a:fontScheme name="SEVEN-G">
      <a:majorFont>
        <a:latin typeface="Georgia"/>
        <a:ea typeface=""/>
        <a:cs typeface=""/>
      </a:majorFont>
      <a:minorFont>
        <a:latin typeface="Arial"/>
        <a:ea typeface=""/>
        <a:cs typeface=""/>
      </a:minorFont>
    </a:fontScheme>
    <a:fmtScheme name="SEVEN-G">
      <a:fillStyleLst>
        <a:solidFill>
          <a:schemeClr val="accent1"/>
        </a:solidFill>
        <a:solidFill>
          <a:schemeClr val="accent1"/>
        </a:solidFill>
        <a:solidFill>
          <a:schemeClr val="accent1"/>
        </a:solidFill>
      </a:fillStyleLst>
      <a:lnStyleLst>
        <a:ln>
          <a:solidFill>
            <a:schemeClr val="accent1"/>
          </a:solidFill>
        </a:ln>
        <a:ln>
          <a:solidFill>
            <a:schemeClr val="accent1"/>
          </a:solidFill>
        </a:ln>
        <a:ln>
          <a:solidFill>
            <a:schemeClr val="accent1"/>
          </a:solidFill>
        </a:ln>
      </a:lnStyleLst>
      <a:effectStyleLst>
        <a:effectStyle>
          <a:effectLst/>
        </a:effectStyle>
        <a:effectStyle>
          <a:effectLst/>
        </a:effectStyle>
        <a:effectStyle>
          <a:effectLst/>
        </a:effectStyle>
      </a:effectStyleLst>
      <a:bgFillStyleLst>
        <a:solidFill>
          <a:schemeClr val="lt1"/>
        </a:solidFill>
        <a:solidFill>
          <a:schemeClr val="lt1"/>
        </a:solidFill>
        <a:solidFill>
          <a:schemeClr val="lt1"/>
        </a:solidFill>
      </a:bgFillStyleLst>
    </a:fmtScheme>
  </a:themeElements>
</a:theme>
</file>

<file path=docProps/app.xml><?xml version="1.0" encoding="utf-8"?>
<Properties xmlns="http://schemas.openxmlformats.org/officeDocument/2006/extended-properties">
  <Application>SEVEN-G build</Application>
  <Slides>26</Slides>
  <Company>Fernando García Varela</Company>
</Properties>
</file>

<file path=docProps/core.xml><?xml version="1.0" encoding="utf-8"?>
<cp:coreProperties xmlns:cp="http://schemas.openxmlformats.org/package/2006/metadata/core-properties" xmlns:dc="http://purl.org/dc/elements/1.1/" xmlns:dcterms="http://purl.org/dc/terms/" xmlns:xsi="http://www.w3.org/2001/XMLSchema-instance">
  <dc:title>Curso de SEVEN-G para la empresa</dc:title>
  <dc:creator>Fernando García Varela</dc:creator>
  <cp:lastModifiedBy>SEVEN-G build</cp:lastModifiedBy>
  <dcterms:created xsi:type="dcterms:W3CDTF">2026-01-01T00:00:00Z</dcterms:created>
  <dcterms:modified xsi:type="dcterms:W3CDTF">2026-01-01T00:00:00Z</dcterms:modified>
</cp:coreProperties>
</file>
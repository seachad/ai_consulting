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1"/>
  </p:sldMasterIdLst>
  <p:sldIdLst>
    <p:sldId id="256" r:id="rIdS1"/>
    <p:sldId id="257" r:id="rIdS2"/>
    <p:sldId id="258" r:id="rIdS3"/>
    <p:sldId id="259" r:id="rIdS4"/>
    <p:sldId id="260" r:id="rIdS5"/>
    <p:sldId id="261" r:id="rIdS6"/>
    <p:sldId id="262" r:id="rIdS7"/>
    <p:sldId id="263" r:id="rIdS8"/>
    <p:sldId id="264" r:id="rIdS9"/>
    <p:sldId id="265" r:id="rIdS10"/>
    <p:sldId id="266" r:id="rIdS11"/>
    <p:sldId id="267" r:id="rIdS12"/>
    <p:sldId id="268" r:id="rIdS13"/>
    <p:sldId id="269" r:id="rIdS14"/>
    <p:sldId id="270" r:id="rIdS15"/>
    <p:sldId id="271" r:id="rIdS16"/>
    <p:sldId id="272" r:id="rIdS17"/>
    <p:sldId id="273" r:id="rIdS18"/>
    <p:sldId id="274" r:id="rIdS19"/>
    <p:sldId id="275" r:id="rIdS20"/>
    <p:sldId id="276" r:id="rIdS21"/>
    <p:sldId id="277" r:id="rIdS22"/>
    <p:sldId id="278" r:id="rIdS23"/>
    <p:sldId id="279" r:id="rIdS24"/>
    <p:sldId id="280" r:id="rIdS25"/>
    <p:sldId id="281" r:id="rIdS26"/>
    <p:sldId id="282" r:id="rIdS27"/>
  </p:sldIdLst>
  <p:sldSz cx="12192000" cy="6858000" type="screen16x9"/>
  <p:notesSz cx="6858000" cy="9144000"/>
</p:presentation>
</file>

<file path=ppt/_rels/presentation.xml.rels><?xml version="1.0" encoding="UTF-8" standalone="yes"?><Relationships xmlns="http://schemas.openxmlformats.org/package/2006/relationships"><Relationship Id="rIdM1" Type="http://schemas.openxmlformats.org/officeDocument/2006/relationships/slideMaster" Target="slideMasters/slideMaster1.xml"/><Relationship Id="rIdT1" Type="http://schemas.openxmlformats.org/officeDocument/2006/relationships/theme" Target="theme/theme1.xml"/><Relationship Id="rIdS1" Type="http://schemas.openxmlformats.org/officeDocument/2006/relationships/slide" Target="slides/slide1.xml"/><Relationship Id="rIdS2" Type="http://schemas.openxmlformats.org/officeDocument/2006/relationships/slide" Target="slides/slide2.xml"/><Relationship Id="rIdS3" Type="http://schemas.openxmlformats.org/officeDocument/2006/relationships/slide" Target="slides/slide3.xml"/><Relationship Id="rIdS4" Type="http://schemas.openxmlformats.org/officeDocument/2006/relationships/slide" Target="slides/slide4.xml"/><Relationship Id="rIdS5" Type="http://schemas.openxmlformats.org/officeDocument/2006/relationships/slide" Target="slides/slide5.xml"/><Relationship Id="rIdS6" Type="http://schemas.openxmlformats.org/officeDocument/2006/relationships/slide" Target="slides/slide6.xml"/><Relationship Id="rIdS7" Type="http://schemas.openxmlformats.org/officeDocument/2006/relationships/slide" Target="slides/slide7.xml"/><Relationship Id="rIdS8" Type="http://schemas.openxmlformats.org/officeDocument/2006/relationships/slide" Target="slides/slide8.xml"/><Relationship Id="rIdS9" Type="http://schemas.openxmlformats.org/officeDocument/2006/relationships/slide" Target="slides/slide9.xml"/><Relationship Id="rIdS10" Type="http://schemas.openxmlformats.org/officeDocument/2006/relationships/slide" Target="slides/slide10.xml"/><Relationship Id="rIdS11" Type="http://schemas.openxmlformats.org/officeDocument/2006/relationships/slide" Target="slides/slide11.xml"/><Relationship Id="rIdS12" Type="http://schemas.openxmlformats.org/officeDocument/2006/relationships/slide" Target="slides/slide12.xml"/><Relationship Id="rIdS13" Type="http://schemas.openxmlformats.org/officeDocument/2006/relationships/slide" Target="slides/slide13.xml"/><Relationship Id="rIdS14" Type="http://schemas.openxmlformats.org/officeDocument/2006/relationships/slide" Target="slides/slide14.xml"/><Relationship Id="rIdS15" Type="http://schemas.openxmlformats.org/officeDocument/2006/relationships/slide" Target="slides/slide15.xml"/><Relationship Id="rIdS16" Type="http://schemas.openxmlformats.org/officeDocument/2006/relationships/slide" Target="slides/slide16.xml"/><Relationship Id="rIdS17" Type="http://schemas.openxmlformats.org/officeDocument/2006/relationships/slide" Target="slides/slide17.xml"/><Relationship Id="rIdS18" Type="http://schemas.openxmlformats.org/officeDocument/2006/relationships/slide" Target="slides/slide18.xml"/><Relationship Id="rIdS19" Type="http://schemas.openxmlformats.org/officeDocument/2006/relationships/slide" Target="slides/slide19.xml"/><Relationship Id="rIdS20" Type="http://schemas.openxmlformats.org/officeDocument/2006/relationships/slide" Target="slides/slide20.xml"/><Relationship Id="rIdS21" Type="http://schemas.openxmlformats.org/officeDocument/2006/relationships/slide" Target="slides/slide21.xml"/><Relationship Id="rIdS22" Type="http://schemas.openxmlformats.org/officeDocument/2006/relationships/slide" Target="slides/slide22.xml"/><Relationship Id="rIdS23" Type="http://schemas.openxmlformats.org/officeDocument/2006/relationships/slide" Target="slides/slide23.xml"/><Relationship Id="rIdS24" Type="http://schemas.openxmlformats.org/officeDocument/2006/relationships/slide" Target="slides/slide24.xml"/><Relationship Id="rIdS25" Type="http://schemas.openxmlformats.org/officeDocument/2006/relationships/slide" Target="slides/slide25.xml"/><Relationship Id="rIdS26" Type="http://schemas.openxmlformats.org/officeDocument/2006/relationships/slide" Target="slides/slide26.xml"/><Relationship Id="rIdS27" Type="http://schemas.openxmlformats.org/officeDocument/2006/relationships/slide" Target="slides/slide27.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Img_registro" Type="http://schemas.openxmlformats.org/officeDocument/2006/relationships/image" Target="../media/registro.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Img_embudo" Type="http://schemas.openxmlformats.org/officeDocument/2006/relationships/image" Target="../media/embudo.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Img_panel" Type="http://schemas.openxmlformats.org/officeDocument/2006/relationships/image" Target="../media/panel.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Img_impacto" Type="http://schemas.openxmlformats.org/officeDocument/2006/relationships/image" Target="../media/impacto.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6" name="Marca"/>
          <p:cNvSpPr/>
          <p:nvPr/>
        </p:nvSpPr>
        <p:spPr>
          <a:xfrm>
            <a:off x="609600" y="365760"/>
            <a:ext cx="182880" cy="182880"/>
          </a:xfrm>
          <a:prstGeom prst="rect">
            <a:avLst/>
          </a:prstGeom>
          <a:solidFill>
            <a:srgbClr val="990F3D"/>
          </a:solidFill>
        </p:spPr>
        <p:txBody>
          <a:bodyPr/>
          <a:lstStyle/>
          <a:p/>
        </p:txBody>
      </p:sp>
      <p:sp>
        <p:nvSpPr>
          <p:cNvPr id="7" name="Texto 7"/>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EMPRESA · AUTOCONSULTORÍA</a:t>
            </a:r>
          </a:p>
        </p:txBody>
      </p:sp>
      <p:sp>
        <p:nvSpPr>
          <p:cNvPr id="2" name="Texto 2"/>
          <p:cNvSpPr txBox="1"/>
          <p:nvPr/>
        </p:nvSpPr>
        <p:spPr>
          <a:xfrm>
            <a:off x="609600" y="1350000"/>
            <a:ext cx="10972800" cy="1100000"/>
          </a:xfrm>
          <a:prstGeom prst="rect">
            <a:avLst/>
          </a:prstGeom>
          <a:noFill/>
        </p:spPr>
        <p:txBody>
          <a:bodyPr wrap="square" anchor="t" lIns="45720" rIns="45720">
            <a:noAutofit/>
          </a:bodyPr>
          <a:lstStyle/>
          <a:p>
            <a:pPr algn="l"/>
            <a:r>
              <a:rPr lang="es-ES" sz="5000" b="1" dirty="0">
                <a:solidFill>
                  <a:srgbClr val="1A1817"/>
                </a:solidFill>
              </a:rPr>
              <a:t>SEVEN-G</a:t>
            </a:r>
          </a:p>
        </p:txBody>
      </p:sp>
      <p:sp>
        <p:nvSpPr>
          <p:cNvPr id="3" name="Caja 3"/>
          <p:cNvSpPr/>
          <p:nvPr/>
        </p:nvSpPr>
        <p:spPr>
          <a:xfrm>
            <a:off x="609600" y="2600000"/>
            <a:ext cx="5200000" cy="560000"/>
          </a:xfrm>
          <a:prstGeom prst="roundRect">
            <a:avLst>
              <a:gd name="adj" fmla="val 6000"/>
            </a:avLst>
          </a:prstGeom>
          <a:solidFill>
            <a:srgbClr val="990F3D"/>
          </a:solidFill>
          <a:ln>
            <a:noFill/>
          </a:ln>
        </p:spPr>
        <p:txBody>
          <a:bodyPr wrap="square" anchor="ctr" lIns="45720" rIns="45720">
            <a:noAutofit/>
          </a:bodyPr>
          <a:lstStyle/>
          <a:p>
            <a:pPr algn="ctr"/>
            <a:r>
              <a:rPr lang="es-ES" sz="1800" b="1" dirty="0">
                <a:solidFill>
                  <a:srgbClr val="FFFFFF"/>
                </a:solidFill>
              </a:rPr>
              <a:t>Empresa · Autoconsultoría</a:t>
            </a:r>
          </a:p>
        </p:txBody>
      </p:sp>
      <p:sp>
        <p:nvSpPr>
          <p:cNvPr id="4" name="Texto 4"/>
          <p:cNvSpPr txBox="1"/>
          <p:nvPr/>
        </p:nvSpPr>
        <p:spPr>
          <a:xfrm>
            <a:off x="609600" y="3450000"/>
            <a:ext cx="10500000" cy="1500000"/>
          </a:xfrm>
          <a:prstGeom prst="rect">
            <a:avLst/>
          </a:prstGeom>
          <a:noFill/>
        </p:spPr>
        <p:txBody>
          <a:bodyPr wrap="square" anchor="t" lIns="45720" rIns="45720">
            <a:noAutofit/>
          </a:bodyPr>
          <a:lstStyle/>
          <a:p>
            <a:pPr algn="l"/>
            <a:r>
              <a:rPr lang="es-ES" sz="2000" dirty="0">
                <a:solidFill>
                  <a:srgbClr val="2F2B28"/>
                </a:solidFill>
              </a:rPr>
              <a:t>Qué es SEVEN-G, cómo se llena el embudo de iniciativas hasta el panel del consejo y cómo implantarlo en su compañía por sus propios medios.</a:t>
            </a:r>
          </a:p>
        </p:txBody>
      </p:sp>
      <p:sp>
        <p:nvSpPr>
          <p:cNvPr id="5" name="Texto 5"/>
          <p:cNvSpPr txBox="1"/>
          <p:nvPr/>
        </p:nvSpPr>
        <p:spPr>
          <a:xfrm>
            <a:off x="609600" y="6150000"/>
            <a:ext cx="10972800" cy="450000"/>
          </a:xfrm>
          <a:prstGeom prst="rect">
            <a:avLst/>
          </a:prstGeom>
          <a:noFill/>
        </p:spPr>
        <p:txBody>
          <a:bodyPr wrap="square" anchor="t" lIns="45720" rIns="45720">
            <a:noAutofit/>
          </a:bodyPr>
          <a:lstStyle/>
          <a:p>
            <a:pPr algn="l"/>
            <a:r>
              <a:rPr lang="es-ES" sz="1400" dirty="0">
                <a:solidFill>
                  <a:srgbClr val="0F5499"/>
                </a:solidFill>
              </a:rPr>
              <a:t>Fernando García Varela · Curso de autoaprendizaje · CC BY 4.0 · Ejemplos con datos ficticios</a:t>
            </a: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0" name="Marca"/>
          <p:cNvSpPr/>
          <p:nvPr/>
        </p:nvSpPr>
        <p:spPr>
          <a:xfrm>
            <a:off x="609600" y="365760"/>
            <a:ext cx="182880" cy="182880"/>
          </a:xfrm>
          <a:prstGeom prst="rect">
            <a:avLst/>
          </a:prstGeom>
          <a:solidFill>
            <a:srgbClr val="990F3D"/>
          </a:solidFill>
        </p:spPr>
        <p:txBody>
          <a:bodyPr/>
          <a:lstStyle/>
          <a:p/>
        </p:txBody>
      </p:sp>
      <p:sp>
        <p:nvSpPr>
          <p:cNvPr id="11" name="Texto 11"/>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EMPRESA · AUTOCONSULTORÍA</a:t>
            </a:r>
          </a:p>
        </p:txBody>
      </p:sp>
      <p:sp>
        <p:nvSpPr>
          <p:cNvPr id="12" name="Texto 12"/>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El problema que resuelve</a:t>
            </a:r>
          </a:p>
        </p:txBody>
      </p:sp>
      <p:sp>
        <p:nvSpPr>
          <p:cNvPr id="8" name="Texto 8"/>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Muchas compañías tienen pilotos de IA que funcionan, pero pocos llegan a producción.</a:t>
            </a:r>
          </a:p>
          <a:p>
            <a:pPr marL="285750" indent="-285750">
              <a:spcAft>
                <a:spcPts val="400"/>
              </a:spcAft>
              <a:buClr>
                <a:srgbClr val="990F3D"/>
              </a:buClr>
              <a:buFont typeface="Arial"/>
              <a:buChar char="•"/>
            </a:pPr>
            <a:r>
              <a:rPr lang="es-ES" sz="1800" dirty="0">
                <a:solidFill>
                  <a:srgbClr val="2F2B28"/>
                </a:solidFill>
              </a:rPr>
              <a:t>El valor se declara («liberamos 200 horas») y casi nadie lo comprueba.</a:t>
            </a:r>
          </a:p>
          <a:p>
            <a:pPr marL="285750" indent="-285750">
              <a:spcAft>
                <a:spcPts val="400"/>
              </a:spcAft>
              <a:buClr>
                <a:srgbClr val="990F3D"/>
              </a:buClr>
              <a:buFont typeface="Arial"/>
              <a:buChar char="•"/>
            </a:pPr>
            <a:r>
              <a:rPr lang="es-ES" sz="1800" dirty="0">
                <a:solidFill>
                  <a:srgbClr val="2F2B28"/>
                </a:solidFill>
              </a:rPr>
              <a:t>Nadie tiene autoridad clara para parar una iniciativa que no funciona.</a:t>
            </a:r>
          </a:p>
          <a:p>
            <a:pPr marL="285750" indent="-285750">
              <a:spcAft>
                <a:spcPts val="400"/>
              </a:spcAft>
              <a:buClr>
                <a:srgbClr val="990F3D"/>
              </a:buClr>
              <a:buFont typeface="Arial"/>
              <a:buChar char="•"/>
            </a:pPr>
            <a:r>
              <a:rPr lang="es-ES" sz="1800" dirty="0">
                <a:solidFill>
                  <a:srgbClr val="2F2B28"/>
                </a:solidFill>
              </a:rPr>
              <a:t>El consejo pregunta por la IA y recibe una lista de proyectos técnicos, no decisiones de negocio.</a:t>
            </a:r>
          </a:p>
          <a:p>
            <a:pPr marL="285750" indent="-285750">
              <a:spcAft>
                <a:spcPts val="400"/>
              </a:spcAft>
              <a:buClr>
                <a:srgbClr val="990F3D"/>
              </a:buClr>
              <a:buFont typeface="Arial"/>
              <a:buChar char="•"/>
            </a:pPr>
            <a:r>
              <a:rPr lang="es-ES" sz="1800" dirty="0">
                <a:solidFill>
                  <a:srgbClr val="2F2B28"/>
                </a:solidFill>
              </a:rPr>
              <a:t>¿La compañía se está transformando con IA, o solo es un poco más eficiente? Casi nadie puede contestarlo con evidencia.</a:t>
            </a:r>
          </a:p>
        </p:txBody>
      </p:sp>
      <p:sp>
        <p:nvSpPr>
          <p:cNvPr id="9" name="Texto 9"/>
          <p:cNvSpPr txBox="1"/>
          <p:nvPr/>
        </p:nvSpPr>
        <p:spPr>
          <a:xfrm>
            <a:off x="609600" y="6250000"/>
            <a:ext cx="10972800" cy="450000"/>
          </a:xfrm>
          <a:prstGeom prst="rect">
            <a:avLst/>
          </a:prstGeom>
          <a:noFill/>
        </p:spPr>
        <p:txBody>
          <a:bodyPr wrap="square" anchor="t" lIns="45720" rIns="45720">
            <a:noAutofit/>
          </a:bodyPr>
          <a:lstStyle/>
          <a:p>
            <a:pPr algn="l"/>
            <a:r>
              <a:rPr lang="es-ES" sz="1400" b="1" dirty="0">
                <a:solidFill>
                  <a:srgbClr val="0F5499"/>
                </a:solidFill>
              </a:rPr>
              <a:t>No es un problema de tecnología: es un problema de gobierno y de medición.</a:t>
            </a: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4" name="Marca"/>
          <p:cNvSpPr/>
          <p:nvPr/>
        </p:nvSpPr>
        <p:spPr>
          <a:xfrm>
            <a:off x="609600" y="365760"/>
            <a:ext cx="182880" cy="182880"/>
          </a:xfrm>
          <a:prstGeom prst="rect">
            <a:avLst/>
          </a:prstGeom>
          <a:solidFill>
            <a:srgbClr val="990F3D"/>
          </a:solidFill>
        </p:spPr>
        <p:txBody>
          <a:bodyPr/>
          <a:lstStyle/>
          <a:p/>
        </p:txBody>
      </p:sp>
      <p:sp>
        <p:nvSpPr>
          <p:cNvPr id="15" name="Texto 15"/>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EMPRESA · AUTOCONSULTORÍA</a:t>
            </a:r>
          </a:p>
        </p:txBody>
      </p:sp>
      <p:sp>
        <p:nvSpPr>
          <p:cNvPr id="16" name="Texto 16"/>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Qué es SEVEN-G y qué aporta</a:t>
            </a:r>
          </a:p>
        </p:txBody>
      </p:sp>
      <p:sp>
        <p:nvSpPr>
          <p:cNvPr id="13" name="Texto 13"/>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Seven-phase Enterprise Value &amp; Governance: una fase 0 habilitante y siete fases de valor, con gobierno en todas.</a:t>
            </a:r>
          </a:p>
          <a:p>
            <a:pPr marL="285750" indent="-285750">
              <a:spcAft>
                <a:spcPts val="400"/>
              </a:spcAft>
              <a:buClr>
                <a:srgbClr val="990F3D"/>
              </a:buClr>
              <a:buFont typeface="Arial"/>
              <a:buChar char="•"/>
            </a:pPr>
            <a:r>
              <a:rPr lang="es-ES" sz="1800" dirty="0">
                <a:solidFill>
                  <a:srgbClr val="2F2B28"/>
                </a:solidFill>
              </a:rPr>
              <a:t>Ordena la IA como una cartera: cada iniciativa tiene fase, coste, valor esperado y responsable.</a:t>
            </a:r>
          </a:p>
          <a:p>
            <a:pPr marL="285750" indent="-285750">
              <a:spcAft>
                <a:spcPts val="400"/>
              </a:spcAft>
              <a:buClr>
                <a:srgbClr val="990F3D"/>
              </a:buClr>
              <a:buFont typeface="Arial"/>
              <a:buChar char="•"/>
            </a:pPr>
            <a:r>
              <a:rPr lang="es-ES" sz="1800" dirty="0">
                <a:solidFill>
                  <a:srgbClr val="2F2B28"/>
                </a:solidFill>
              </a:rPr>
              <a:t>Pone puertas de decisión entre las fases: sin evidencia verificada no se avanza.</a:t>
            </a:r>
          </a:p>
          <a:p>
            <a:pPr marL="285750" indent="-285750">
              <a:spcAft>
                <a:spcPts val="400"/>
              </a:spcAft>
              <a:buClr>
                <a:srgbClr val="990F3D"/>
              </a:buClr>
              <a:buFont typeface="Arial"/>
              <a:buChar char="•"/>
            </a:pPr>
            <a:r>
              <a:rPr lang="es-ES" sz="1800" dirty="0">
                <a:solidFill>
                  <a:srgbClr val="2F2B28"/>
                </a:solidFill>
              </a:rPr>
              <a:t>Separa quién decide, quién construye y quién controla, y traduce la regulación a fases, roles y evidencias.</a:t>
            </a:r>
          </a:p>
          <a:p>
            <a:pPr marL="285750" indent="-285750">
              <a:spcAft>
                <a:spcPts val="400"/>
              </a:spcAft>
              <a:buClr>
                <a:srgbClr val="990F3D"/>
              </a:buClr>
              <a:buFont typeface="Arial"/>
              <a:buChar char="•"/>
            </a:pPr>
            <a:r>
              <a:rPr lang="es-ES" sz="1800" dirty="0">
                <a:solidFill>
                  <a:srgbClr val="2F2B28"/>
                </a:solidFill>
              </a:rPr>
              <a:t>Mide el valor en dinero y con estado —validado, declarado o estimado— y se lo enseña al consejo en un panel.</a:t>
            </a:r>
          </a:p>
          <a:p>
            <a:pPr marL="285750" indent="-285750">
              <a:spcAft>
                <a:spcPts val="400"/>
              </a:spcAft>
              <a:buClr>
                <a:srgbClr val="990F3D"/>
              </a:buClr>
              <a:buFont typeface="Arial"/>
              <a:buChar char="•"/>
            </a:pPr>
            <a:r>
              <a:rPr lang="es-ES" sz="1800" dirty="0">
                <a:solidFill>
                  <a:srgbClr val="2F2B28"/>
                </a:solidFill>
              </a:rPr>
              <a:t>Es gratuito y modificable: documentos, plantillas en Word y herramientas, con licencia abierta.</a:t>
            </a: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8" name="Marca"/>
          <p:cNvSpPr/>
          <p:nvPr/>
        </p:nvSpPr>
        <p:spPr>
          <a:xfrm>
            <a:off x="609600" y="365760"/>
            <a:ext cx="182880" cy="182880"/>
          </a:xfrm>
          <a:prstGeom prst="rect">
            <a:avLst/>
          </a:prstGeom>
          <a:solidFill>
            <a:srgbClr val="990F3D"/>
          </a:solidFill>
        </p:spPr>
        <p:txBody>
          <a:bodyPr/>
          <a:lstStyle/>
          <a:p/>
        </p:txBody>
      </p:sp>
      <p:sp>
        <p:nvSpPr>
          <p:cNvPr id="19" name="Texto 19"/>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EMPRESA · AUTOCONSULTORÍA</a:t>
            </a:r>
          </a:p>
        </p:txBody>
      </p:sp>
      <p:sp>
        <p:nvSpPr>
          <p:cNvPr id="20" name="Texto 20"/>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Dos niveles: la compañía y cada iniciativa</a:t>
            </a:r>
          </a:p>
        </p:txBody>
      </p:sp>
      <p:sp>
        <p:nvSpPr>
          <p:cNvPr id="17" name="Texto 17"/>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C1 · Diagnóstico: inventario, madurez en siete dimensiones e índice de transformación.</a:t>
            </a:r>
          </a:p>
          <a:p>
            <a:pPr marL="285750" indent="-285750">
              <a:spcAft>
                <a:spcPts val="400"/>
              </a:spcAft>
              <a:buClr>
                <a:srgbClr val="990F3D"/>
              </a:buClr>
              <a:buFont typeface="Arial"/>
              <a:buChar char="•"/>
            </a:pPr>
            <a:r>
              <a:rPr lang="es-ES" sz="1800" dirty="0">
                <a:solidFill>
                  <a:srgbClr val="2F2B28"/>
                </a:solidFill>
              </a:rPr>
              <a:t>C2 · Dirección: el consejo aprueba la tesis de IA, la ambición por esfera y el apetito de riesgo.</a:t>
            </a:r>
          </a:p>
          <a:p>
            <a:pPr marL="285750" indent="-285750">
              <a:spcAft>
                <a:spcPts val="400"/>
              </a:spcAft>
              <a:buClr>
                <a:srgbClr val="990F3D"/>
              </a:buClr>
              <a:buFont typeface="Arial"/>
              <a:buChar char="•"/>
            </a:pPr>
            <a:r>
              <a:rPr lang="es-ES" sz="1800" dirty="0">
                <a:solidFill>
                  <a:srgbClr val="2F2B28"/>
                </a:solidFill>
              </a:rPr>
              <a:t>C3 · Cartera: qué iniciativas se financian y en qué orden.</a:t>
            </a:r>
          </a:p>
          <a:p>
            <a:pPr marL="285750" indent="-285750">
              <a:spcAft>
                <a:spcPts val="400"/>
              </a:spcAft>
              <a:buClr>
                <a:srgbClr val="990F3D"/>
              </a:buClr>
              <a:buFont typeface="Arial"/>
              <a:buChar char="•"/>
            </a:pPr>
            <a:r>
              <a:rPr lang="es-ES" sz="1800" dirty="0">
                <a:solidFill>
                  <a:srgbClr val="2F2B28"/>
                </a:solidFill>
              </a:rPr>
              <a:t>C4 · Supervisión: panel del consejo y registro de decisiones y recomendaciones.</a:t>
            </a:r>
          </a:p>
          <a:p>
            <a:pPr marL="285750" indent="-285750">
              <a:spcAft>
                <a:spcPts val="400"/>
              </a:spcAft>
              <a:buClr>
                <a:srgbClr val="990F3D"/>
              </a:buClr>
              <a:buFont typeface="Arial"/>
              <a:buChar char="•"/>
            </a:pPr>
            <a:r>
              <a:rPr lang="es-ES" sz="1800" dirty="0">
                <a:solidFill>
                  <a:srgbClr val="2F2B28"/>
                </a:solidFill>
              </a:rPr>
              <a:t>C5 · Revisión anual: qué funcionó, qué no y qué cambia.</a:t>
            </a:r>
          </a:p>
          <a:p>
            <a:pPr marL="285750" indent="-285750">
              <a:spcAft>
                <a:spcPts val="400"/>
              </a:spcAft>
              <a:buClr>
                <a:srgbClr val="990F3D"/>
              </a:buClr>
              <a:buFont typeface="Arial"/>
              <a:buChar char="•"/>
            </a:pPr>
            <a:r>
              <a:rPr lang="es-ES" sz="1800" dirty="0">
                <a:solidFill>
                  <a:srgbClr val="2F2B28"/>
                </a:solidFill>
              </a:rPr>
              <a:t>Y, dentro de esa cartera, cada iniciativa recorre su propio ciclo de vida de ocho fases.</a:t>
            </a: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42" name="Marca"/>
          <p:cNvSpPr/>
          <p:nvPr/>
        </p:nvSpPr>
        <p:spPr>
          <a:xfrm>
            <a:off x="609600" y="365760"/>
            <a:ext cx="182880" cy="182880"/>
          </a:xfrm>
          <a:prstGeom prst="rect">
            <a:avLst/>
          </a:prstGeom>
          <a:solidFill>
            <a:srgbClr val="990F3D"/>
          </a:solidFill>
        </p:spPr>
        <p:txBody>
          <a:bodyPr/>
          <a:lstStyle/>
          <a:p/>
        </p:txBody>
      </p:sp>
      <p:sp>
        <p:nvSpPr>
          <p:cNvPr id="43" name="Texto 43"/>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EMPRESA · AUTOCONSULTORÍA</a:t>
            </a:r>
          </a:p>
        </p:txBody>
      </p:sp>
      <p:sp>
        <p:nvSpPr>
          <p:cNvPr id="44" name="Texto 44"/>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El ciclo de vida de una iniciativa</a:t>
            </a:r>
          </a:p>
        </p:txBody>
      </p:sp>
      <p:sp>
        <p:nvSpPr>
          <p:cNvPr id="45" name="Texto 45"/>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Ocho fases con una puerta de decisión al final de cada una; debajo, la etapa del embudo en la que se ve cada fase</a:t>
            </a:r>
          </a:p>
        </p:txBody>
      </p:sp>
      <p:sp>
        <p:nvSpPr>
          <p:cNvPr id="21" name="Caja 21"/>
          <p:cNvSpPr/>
          <p:nvPr/>
        </p:nvSpPr>
        <p:spPr>
          <a:xfrm>
            <a:off x="681000" y="2350000"/>
            <a:ext cx="1240000" cy="1500000"/>
          </a:xfrm>
          <a:prstGeom prst="roundRect">
            <a:avLst>
              <a:gd name="adj" fmla="val 6000"/>
            </a:avLst>
          </a:prstGeom>
          <a:solidFill>
            <a:srgbClr val="564D47"/>
          </a:solidFill>
          <a:ln>
            <a:noFill/>
          </a:ln>
        </p:spPr>
        <p:txBody>
          <a:bodyPr wrap="square" anchor="ctr" lIns="45720" rIns="45720">
            <a:noAutofit/>
          </a:bodyPr>
          <a:lstStyle/>
          <a:p>
            <a:pPr algn="ctr"/>
            <a:r>
              <a:rPr lang="es-ES" sz="2400" b="1" dirty="0">
                <a:solidFill>
                  <a:srgbClr val="FFFFFF"/>
                </a:solidFill>
              </a:rPr>
              <a:t>F0</a:t>
            </a:r>
          </a:p>
          <a:p>
            <a:pPr algn="ctr"/>
            <a:r>
              <a:rPr lang="es-ES" sz="1050" dirty="0">
                <a:solidFill>
                  <a:srgbClr val="FFFFFF"/>
                </a:solidFill>
              </a:rPr>
              <a:t>Contexto y restricciones</a:t>
            </a:r>
          </a:p>
        </p:txBody>
      </p:sp>
      <p:sp>
        <p:nvSpPr>
          <p:cNvPr id="22" name="Texto 22"/>
          <p:cNvSpPr txBox="1"/>
          <p:nvPr/>
        </p:nvSpPr>
        <p:spPr>
          <a:xfrm>
            <a:off x="1591000" y="3900000"/>
            <a:ext cx="800000" cy="300000"/>
          </a:xfrm>
          <a:prstGeom prst="rect">
            <a:avLst/>
          </a:prstGeom>
          <a:noFill/>
        </p:spPr>
        <p:txBody>
          <a:bodyPr wrap="square" anchor="t" lIns="45720" rIns="45720">
            <a:noAutofit/>
          </a:bodyPr>
          <a:lstStyle/>
          <a:p>
            <a:pPr algn="ctr"/>
            <a:r>
              <a:rPr lang="es-ES" sz="1200" b="1" dirty="0">
                <a:solidFill>
                  <a:srgbClr val="990F3D"/>
                </a:solidFill>
              </a:rPr>
              <a:t>G0</a:t>
            </a:r>
          </a:p>
        </p:txBody>
      </p:sp>
      <p:sp>
        <p:nvSpPr>
          <p:cNvPr id="23" name="Caja 23"/>
          <p:cNvSpPr/>
          <p:nvPr/>
        </p:nvSpPr>
        <p:spPr>
          <a:xfrm>
            <a:off x="2051000" y="2350000"/>
            <a:ext cx="1240000" cy="1500000"/>
          </a:xfrm>
          <a:prstGeom prst="roundRect">
            <a:avLst>
              <a:gd name="adj" fmla="val 6000"/>
            </a:avLst>
          </a:prstGeom>
          <a:solidFill>
            <a:srgbClr val="0F5499"/>
          </a:solidFill>
          <a:ln>
            <a:noFill/>
          </a:ln>
        </p:spPr>
        <p:txBody>
          <a:bodyPr wrap="square" anchor="ctr" lIns="45720" rIns="45720">
            <a:noAutofit/>
          </a:bodyPr>
          <a:lstStyle/>
          <a:p>
            <a:pPr algn="ctr"/>
            <a:r>
              <a:rPr lang="es-ES" sz="2400" b="1" dirty="0">
                <a:solidFill>
                  <a:srgbClr val="FFFFFF"/>
                </a:solidFill>
              </a:rPr>
              <a:t>F1</a:t>
            </a:r>
          </a:p>
          <a:p>
            <a:pPr algn="ctr"/>
            <a:r>
              <a:rPr lang="es-ES" sz="1050" dirty="0">
                <a:solidFill>
                  <a:srgbClr val="FFFFFF"/>
                </a:solidFill>
              </a:rPr>
              <a:t>Descubrimiento de oportunidades</a:t>
            </a:r>
          </a:p>
        </p:txBody>
      </p:sp>
      <p:sp>
        <p:nvSpPr>
          <p:cNvPr id="24" name="Texto 24"/>
          <p:cNvSpPr txBox="1"/>
          <p:nvPr/>
        </p:nvSpPr>
        <p:spPr>
          <a:xfrm>
            <a:off x="2961000" y="3900000"/>
            <a:ext cx="800000" cy="300000"/>
          </a:xfrm>
          <a:prstGeom prst="rect">
            <a:avLst/>
          </a:prstGeom>
          <a:noFill/>
        </p:spPr>
        <p:txBody>
          <a:bodyPr wrap="square" anchor="t" lIns="45720" rIns="45720">
            <a:noAutofit/>
          </a:bodyPr>
          <a:lstStyle/>
          <a:p>
            <a:pPr algn="ctr"/>
            <a:r>
              <a:rPr lang="es-ES" sz="1200" b="1" dirty="0">
                <a:solidFill>
                  <a:srgbClr val="990F3D"/>
                </a:solidFill>
              </a:rPr>
              <a:t>G1</a:t>
            </a:r>
          </a:p>
        </p:txBody>
      </p:sp>
      <p:sp>
        <p:nvSpPr>
          <p:cNvPr id="25" name="Caja 25"/>
          <p:cNvSpPr/>
          <p:nvPr/>
        </p:nvSpPr>
        <p:spPr>
          <a:xfrm>
            <a:off x="3421000" y="2350000"/>
            <a:ext cx="1240000" cy="1500000"/>
          </a:xfrm>
          <a:prstGeom prst="roundRect">
            <a:avLst>
              <a:gd name="adj" fmla="val 6000"/>
            </a:avLst>
          </a:prstGeom>
          <a:solidFill>
            <a:srgbClr val="0F5499"/>
          </a:solidFill>
          <a:ln>
            <a:noFill/>
          </a:ln>
        </p:spPr>
        <p:txBody>
          <a:bodyPr wrap="square" anchor="ctr" lIns="45720" rIns="45720">
            <a:noAutofit/>
          </a:bodyPr>
          <a:lstStyle/>
          <a:p>
            <a:pPr algn="ctr"/>
            <a:r>
              <a:rPr lang="es-ES" sz="2400" b="1" dirty="0">
                <a:solidFill>
                  <a:srgbClr val="FFFFFF"/>
                </a:solidFill>
              </a:rPr>
              <a:t>F2</a:t>
            </a:r>
          </a:p>
          <a:p>
            <a:pPr algn="ctr"/>
            <a:r>
              <a:rPr lang="es-ES" sz="1050" dirty="0">
                <a:solidFill>
                  <a:srgbClr val="FFFFFF"/>
                </a:solidFill>
              </a:rPr>
              <a:t>Hipótesis de valor</a:t>
            </a:r>
          </a:p>
        </p:txBody>
      </p:sp>
      <p:sp>
        <p:nvSpPr>
          <p:cNvPr id="26" name="Texto 26"/>
          <p:cNvSpPr txBox="1"/>
          <p:nvPr/>
        </p:nvSpPr>
        <p:spPr>
          <a:xfrm>
            <a:off x="4331000" y="3900000"/>
            <a:ext cx="800000" cy="300000"/>
          </a:xfrm>
          <a:prstGeom prst="rect">
            <a:avLst/>
          </a:prstGeom>
          <a:noFill/>
        </p:spPr>
        <p:txBody>
          <a:bodyPr wrap="square" anchor="t" lIns="45720" rIns="45720">
            <a:noAutofit/>
          </a:bodyPr>
          <a:lstStyle/>
          <a:p>
            <a:pPr algn="ctr"/>
            <a:r>
              <a:rPr lang="es-ES" sz="1200" b="1" dirty="0">
                <a:solidFill>
                  <a:srgbClr val="990F3D"/>
                </a:solidFill>
              </a:rPr>
              <a:t>G2</a:t>
            </a:r>
          </a:p>
        </p:txBody>
      </p:sp>
      <p:sp>
        <p:nvSpPr>
          <p:cNvPr id="27" name="Caja 27"/>
          <p:cNvSpPr/>
          <p:nvPr/>
        </p:nvSpPr>
        <p:spPr>
          <a:xfrm>
            <a:off x="4791000" y="2350000"/>
            <a:ext cx="1240000" cy="1500000"/>
          </a:xfrm>
          <a:prstGeom prst="roundRect">
            <a:avLst>
              <a:gd name="adj" fmla="val 6000"/>
            </a:avLst>
          </a:prstGeom>
          <a:solidFill>
            <a:srgbClr val="0F5499"/>
          </a:solidFill>
          <a:ln>
            <a:noFill/>
          </a:ln>
        </p:spPr>
        <p:txBody>
          <a:bodyPr wrap="square" anchor="ctr" lIns="45720" rIns="45720">
            <a:noAutofit/>
          </a:bodyPr>
          <a:lstStyle/>
          <a:p>
            <a:pPr algn="ctr"/>
            <a:r>
              <a:rPr lang="es-ES" sz="2400" b="1" dirty="0">
                <a:solidFill>
                  <a:srgbClr val="FFFFFF"/>
                </a:solidFill>
              </a:rPr>
              <a:t>F3</a:t>
            </a:r>
          </a:p>
          <a:p>
            <a:pPr algn="ctr"/>
            <a:r>
              <a:rPr lang="es-ES" sz="1050" dirty="0">
                <a:solidFill>
                  <a:srgbClr val="FFFFFF"/>
                </a:solidFill>
              </a:rPr>
              <a:t>Viabilidad y riesgo</a:t>
            </a:r>
          </a:p>
        </p:txBody>
      </p:sp>
      <p:sp>
        <p:nvSpPr>
          <p:cNvPr id="28" name="Texto 28"/>
          <p:cNvSpPr txBox="1"/>
          <p:nvPr/>
        </p:nvSpPr>
        <p:spPr>
          <a:xfrm>
            <a:off x="5701000" y="3900000"/>
            <a:ext cx="800000" cy="300000"/>
          </a:xfrm>
          <a:prstGeom prst="rect">
            <a:avLst/>
          </a:prstGeom>
          <a:noFill/>
        </p:spPr>
        <p:txBody>
          <a:bodyPr wrap="square" anchor="t" lIns="45720" rIns="45720">
            <a:noAutofit/>
          </a:bodyPr>
          <a:lstStyle/>
          <a:p>
            <a:pPr algn="ctr"/>
            <a:r>
              <a:rPr lang="es-ES" sz="1200" b="1" dirty="0">
                <a:solidFill>
                  <a:srgbClr val="990F3D"/>
                </a:solidFill>
              </a:rPr>
              <a:t>G3</a:t>
            </a:r>
          </a:p>
        </p:txBody>
      </p:sp>
      <p:sp>
        <p:nvSpPr>
          <p:cNvPr id="29" name="Caja 29"/>
          <p:cNvSpPr/>
          <p:nvPr/>
        </p:nvSpPr>
        <p:spPr>
          <a:xfrm>
            <a:off x="6161000" y="2350000"/>
            <a:ext cx="1240000" cy="1500000"/>
          </a:xfrm>
          <a:prstGeom prst="roundRect">
            <a:avLst>
              <a:gd name="adj" fmla="val 6000"/>
            </a:avLst>
          </a:prstGeom>
          <a:solidFill>
            <a:srgbClr val="593380"/>
          </a:solidFill>
          <a:ln>
            <a:noFill/>
          </a:ln>
        </p:spPr>
        <p:txBody>
          <a:bodyPr wrap="square" anchor="ctr" lIns="45720" rIns="45720">
            <a:noAutofit/>
          </a:bodyPr>
          <a:lstStyle/>
          <a:p>
            <a:pPr algn="ctr"/>
            <a:r>
              <a:rPr lang="es-ES" sz="2400" b="1" dirty="0">
                <a:solidFill>
                  <a:srgbClr val="FFFFFF"/>
                </a:solidFill>
              </a:rPr>
              <a:t>F4</a:t>
            </a:r>
          </a:p>
          <a:p>
            <a:pPr algn="ctr"/>
            <a:r>
              <a:rPr lang="es-ES" sz="1050" dirty="0">
                <a:solidFill>
                  <a:srgbClr val="FFFFFF"/>
                </a:solidFill>
              </a:rPr>
              <a:t>Diseño de la solución</a:t>
            </a:r>
          </a:p>
        </p:txBody>
      </p:sp>
      <p:sp>
        <p:nvSpPr>
          <p:cNvPr id="30" name="Texto 30"/>
          <p:cNvSpPr txBox="1"/>
          <p:nvPr/>
        </p:nvSpPr>
        <p:spPr>
          <a:xfrm>
            <a:off x="7071000" y="3900000"/>
            <a:ext cx="800000" cy="300000"/>
          </a:xfrm>
          <a:prstGeom prst="rect">
            <a:avLst/>
          </a:prstGeom>
          <a:noFill/>
        </p:spPr>
        <p:txBody>
          <a:bodyPr wrap="square" anchor="t" lIns="45720" rIns="45720">
            <a:noAutofit/>
          </a:bodyPr>
          <a:lstStyle/>
          <a:p>
            <a:pPr algn="ctr"/>
            <a:r>
              <a:rPr lang="es-ES" sz="1200" b="1" dirty="0">
                <a:solidFill>
                  <a:srgbClr val="990F3D"/>
                </a:solidFill>
              </a:rPr>
              <a:t>G4</a:t>
            </a:r>
          </a:p>
        </p:txBody>
      </p:sp>
      <p:sp>
        <p:nvSpPr>
          <p:cNvPr id="31" name="Caja 31"/>
          <p:cNvSpPr/>
          <p:nvPr/>
        </p:nvSpPr>
        <p:spPr>
          <a:xfrm>
            <a:off x="7531000" y="2350000"/>
            <a:ext cx="1240000" cy="1500000"/>
          </a:xfrm>
          <a:prstGeom prst="roundRect">
            <a:avLst>
              <a:gd name="adj" fmla="val 6000"/>
            </a:avLst>
          </a:prstGeom>
          <a:solidFill>
            <a:srgbClr val="593380"/>
          </a:solidFill>
          <a:ln>
            <a:noFill/>
          </a:ln>
        </p:spPr>
        <p:txBody>
          <a:bodyPr wrap="square" anchor="ctr" lIns="45720" rIns="45720">
            <a:noAutofit/>
          </a:bodyPr>
          <a:lstStyle/>
          <a:p>
            <a:pPr algn="ctr"/>
            <a:r>
              <a:rPr lang="es-ES" sz="2400" b="1" dirty="0">
                <a:solidFill>
                  <a:srgbClr val="FFFFFF"/>
                </a:solidFill>
              </a:rPr>
              <a:t>F5</a:t>
            </a:r>
          </a:p>
          <a:p>
            <a:pPr algn="ctr"/>
            <a:r>
              <a:rPr lang="es-ES" sz="1050" dirty="0">
                <a:solidFill>
                  <a:srgbClr val="FFFFFF"/>
                </a:solidFill>
              </a:rPr>
              <a:t>Entrega y validación</a:t>
            </a:r>
          </a:p>
        </p:txBody>
      </p:sp>
      <p:sp>
        <p:nvSpPr>
          <p:cNvPr id="32" name="Texto 32"/>
          <p:cNvSpPr txBox="1"/>
          <p:nvPr/>
        </p:nvSpPr>
        <p:spPr>
          <a:xfrm>
            <a:off x="8441000" y="3900000"/>
            <a:ext cx="800000" cy="300000"/>
          </a:xfrm>
          <a:prstGeom prst="rect">
            <a:avLst/>
          </a:prstGeom>
          <a:noFill/>
        </p:spPr>
        <p:txBody>
          <a:bodyPr wrap="square" anchor="t" lIns="45720" rIns="45720">
            <a:noAutofit/>
          </a:bodyPr>
          <a:lstStyle/>
          <a:p>
            <a:pPr algn="ctr"/>
            <a:r>
              <a:rPr lang="es-ES" sz="1200" b="1" dirty="0">
                <a:solidFill>
                  <a:srgbClr val="990F3D"/>
                </a:solidFill>
              </a:rPr>
              <a:t>G5</a:t>
            </a:r>
          </a:p>
        </p:txBody>
      </p:sp>
      <p:sp>
        <p:nvSpPr>
          <p:cNvPr id="33" name="Caja 33"/>
          <p:cNvSpPr/>
          <p:nvPr/>
        </p:nvSpPr>
        <p:spPr>
          <a:xfrm>
            <a:off x="890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F6</a:t>
            </a:r>
          </a:p>
          <a:p>
            <a:pPr algn="ctr"/>
            <a:r>
              <a:rPr lang="es-ES" sz="1050" dirty="0">
                <a:solidFill>
                  <a:srgbClr val="FFFFFF"/>
                </a:solidFill>
              </a:rPr>
              <a:t>Operación y gobierno</a:t>
            </a:r>
          </a:p>
        </p:txBody>
      </p:sp>
      <p:sp>
        <p:nvSpPr>
          <p:cNvPr id="34" name="Texto 34"/>
          <p:cNvSpPr txBox="1"/>
          <p:nvPr/>
        </p:nvSpPr>
        <p:spPr>
          <a:xfrm>
            <a:off x="9811000" y="3900000"/>
            <a:ext cx="800000" cy="300000"/>
          </a:xfrm>
          <a:prstGeom prst="rect">
            <a:avLst/>
          </a:prstGeom>
          <a:noFill/>
        </p:spPr>
        <p:txBody>
          <a:bodyPr wrap="square" anchor="t" lIns="45720" rIns="45720">
            <a:noAutofit/>
          </a:bodyPr>
          <a:lstStyle/>
          <a:p>
            <a:pPr algn="ctr"/>
            <a:r>
              <a:rPr lang="es-ES" sz="1200" b="1" dirty="0">
                <a:solidFill>
                  <a:srgbClr val="990F3D"/>
                </a:solidFill>
              </a:rPr>
              <a:t>R6</a:t>
            </a:r>
          </a:p>
        </p:txBody>
      </p:sp>
      <p:sp>
        <p:nvSpPr>
          <p:cNvPr id="35" name="Caja 35"/>
          <p:cNvSpPr/>
          <p:nvPr/>
        </p:nvSpPr>
        <p:spPr>
          <a:xfrm>
            <a:off x="1027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F7</a:t>
            </a:r>
          </a:p>
          <a:p>
            <a:pPr algn="ctr"/>
            <a:r>
              <a:rPr lang="es-ES" sz="1050" dirty="0">
                <a:solidFill>
                  <a:srgbClr val="FFFFFF"/>
                </a:solidFill>
              </a:rPr>
              <a:t>Evolución o retirada</a:t>
            </a:r>
          </a:p>
        </p:txBody>
      </p:sp>
      <p:sp>
        <p:nvSpPr>
          <p:cNvPr id="36" name="Texto 36"/>
          <p:cNvSpPr txBox="1"/>
          <p:nvPr/>
        </p:nvSpPr>
        <p:spPr>
          <a:xfrm>
            <a:off x="11181000" y="3900000"/>
            <a:ext cx="800000" cy="300000"/>
          </a:xfrm>
          <a:prstGeom prst="rect">
            <a:avLst/>
          </a:prstGeom>
          <a:noFill/>
        </p:spPr>
        <p:txBody>
          <a:bodyPr wrap="square" anchor="t" lIns="45720" rIns="45720">
            <a:noAutofit/>
          </a:bodyPr>
          <a:lstStyle/>
          <a:p>
            <a:pPr algn="ctr"/>
            <a:r>
              <a:rPr lang="es-ES" sz="1200" b="1" dirty="0">
                <a:solidFill>
                  <a:srgbClr val="990F3D"/>
                </a:solidFill>
              </a:rPr>
              <a:t>G7</a:t>
            </a:r>
          </a:p>
        </p:txBody>
      </p:sp>
      <p:sp>
        <p:nvSpPr>
          <p:cNvPr id="37" name="Caja 37"/>
          <p:cNvSpPr/>
          <p:nvPr/>
        </p:nvSpPr>
        <p:spPr>
          <a:xfrm>
            <a:off x="681000" y="4330000"/>
            <a:ext cx="2610000" cy="520000"/>
          </a:xfrm>
          <a:prstGeom prst="roundRect">
            <a:avLst>
              <a:gd name="adj" fmla="val 6000"/>
            </a:avLst>
          </a:prstGeom>
          <a:solidFill>
            <a:srgbClr val="593380"/>
          </a:solidFill>
          <a:ln>
            <a:noFill/>
          </a:ln>
        </p:spPr>
        <p:txBody>
          <a:bodyPr wrap="square" anchor="ctr" lIns="45720" rIns="45720">
            <a:noAutofit/>
          </a:bodyPr>
          <a:lstStyle/>
          <a:p>
            <a:pPr algn="ctr"/>
            <a:r>
              <a:rPr lang="es-ES" sz="1300" b="1" dirty="0">
                <a:solidFill>
                  <a:srgbClr val="FFFFFF"/>
                </a:solidFill>
              </a:rPr>
              <a:t>Propuesto</a:t>
            </a:r>
          </a:p>
        </p:txBody>
      </p:sp>
      <p:sp>
        <p:nvSpPr>
          <p:cNvPr id="38" name="Caja 38"/>
          <p:cNvSpPr/>
          <p:nvPr/>
        </p:nvSpPr>
        <p:spPr>
          <a:xfrm>
            <a:off x="3421000" y="4330000"/>
            <a:ext cx="1240000" cy="520000"/>
          </a:xfrm>
          <a:prstGeom prst="roundRect">
            <a:avLst>
              <a:gd name="adj" fmla="val 6000"/>
            </a:avLst>
          </a:prstGeom>
          <a:solidFill>
            <a:srgbClr val="0F5499"/>
          </a:solidFill>
          <a:ln>
            <a:noFill/>
          </a:ln>
        </p:spPr>
        <p:txBody>
          <a:bodyPr wrap="square" anchor="ctr" lIns="45720" rIns="45720">
            <a:noAutofit/>
          </a:bodyPr>
          <a:lstStyle/>
          <a:p>
            <a:pPr algn="ctr"/>
            <a:r>
              <a:rPr lang="es-ES" sz="1300" b="1" dirty="0">
                <a:solidFill>
                  <a:srgbClr val="FFFFFF"/>
                </a:solidFill>
              </a:rPr>
              <a:t>Hipótesis de valor</a:t>
            </a:r>
          </a:p>
        </p:txBody>
      </p:sp>
      <p:sp>
        <p:nvSpPr>
          <p:cNvPr id="39" name="Caja 39"/>
          <p:cNvSpPr/>
          <p:nvPr/>
        </p:nvSpPr>
        <p:spPr>
          <a:xfrm>
            <a:off x="4791000" y="4330000"/>
            <a:ext cx="1240000" cy="520000"/>
          </a:xfrm>
          <a:prstGeom prst="roundRect">
            <a:avLst>
              <a:gd name="adj" fmla="val 6000"/>
            </a:avLst>
          </a:prstGeom>
          <a:solidFill>
            <a:srgbClr val="A5822A"/>
          </a:solidFill>
          <a:ln>
            <a:noFill/>
          </a:ln>
        </p:spPr>
        <p:txBody>
          <a:bodyPr wrap="square" anchor="ctr" lIns="45720" rIns="45720">
            <a:noAutofit/>
          </a:bodyPr>
          <a:lstStyle/>
          <a:p>
            <a:pPr algn="ctr"/>
            <a:r>
              <a:rPr lang="es-ES" sz="1300" b="1" dirty="0">
                <a:solidFill>
                  <a:srgbClr val="FFFFFF"/>
                </a:solidFill>
              </a:rPr>
              <a:t>Prueba de concepto</a:t>
            </a:r>
          </a:p>
        </p:txBody>
      </p:sp>
      <p:sp>
        <p:nvSpPr>
          <p:cNvPr id="40" name="Caja 40"/>
          <p:cNvSpPr/>
          <p:nvPr/>
        </p:nvSpPr>
        <p:spPr>
          <a:xfrm>
            <a:off x="6161000" y="4330000"/>
            <a:ext cx="2610000" cy="520000"/>
          </a:xfrm>
          <a:prstGeom prst="roundRect">
            <a:avLst>
              <a:gd name="adj" fmla="val 6000"/>
            </a:avLst>
          </a:prstGeom>
          <a:solidFill>
            <a:srgbClr val="1A1817"/>
          </a:solidFill>
          <a:ln>
            <a:noFill/>
          </a:ln>
        </p:spPr>
        <p:txBody>
          <a:bodyPr wrap="square" anchor="ctr" lIns="45720" rIns="45720">
            <a:noAutofit/>
          </a:bodyPr>
          <a:lstStyle/>
          <a:p>
            <a:pPr algn="ctr"/>
            <a:r>
              <a:rPr lang="es-ES" sz="1300" b="1" dirty="0">
                <a:solidFill>
                  <a:srgbClr val="FFFFFF"/>
                </a:solidFill>
              </a:rPr>
              <a:t>En desarrollo</a:t>
            </a:r>
          </a:p>
        </p:txBody>
      </p:sp>
      <p:sp>
        <p:nvSpPr>
          <p:cNvPr id="41" name="Caja 41"/>
          <p:cNvSpPr/>
          <p:nvPr/>
        </p:nvSpPr>
        <p:spPr>
          <a:xfrm>
            <a:off x="8901000" y="4330000"/>
            <a:ext cx="2610000" cy="520000"/>
          </a:xfrm>
          <a:prstGeom prst="roundRect">
            <a:avLst>
              <a:gd name="adj" fmla="val 6000"/>
            </a:avLst>
          </a:prstGeom>
          <a:solidFill>
            <a:srgbClr val="2E7D32"/>
          </a:solidFill>
          <a:ln>
            <a:noFill/>
          </a:ln>
        </p:spPr>
        <p:txBody>
          <a:bodyPr wrap="square" anchor="ctr" lIns="45720" rIns="45720">
            <a:noAutofit/>
          </a:bodyPr>
          <a:lstStyle/>
          <a:p>
            <a:pPr algn="ctr"/>
            <a:r>
              <a:rPr lang="es-ES" sz="1300" b="1" dirty="0">
                <a:solidFill>
                  <a:srgbClr val="FFFFFF"/>
                </a:solidFill>
              </a:rPr>
              <a:t>En uso</a:t>
            </a: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62" name="Marca"/>
          <p:cNvSpPr/>
          <p:nvPr/>
        </p:nvSpPr>
        <p:spPr>
          <a:xfrm>
            <a:off x="609600" y="365760"/>
            <a:ext cx="182880" cy="182880"/>
          </a:xfrm>
          <a:prstGeom prst="rect">
            <a:avLst/>
          </a:prstGeom>
          <a:solidFill>
            <a:srgbClr val="990F3D"/>
          </a:solidFill>
        </p:spPr>
        <p:txBody>
          <a:bodyPr/>
          <a:lstStyle/>
          <a:p/>
        </p:txBody>
      </p:sp>
      <p:sp>
        <p:nvSpPr>
          <p:cNvPr id="63" name="Texto 63"/>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EMPRESA · AUTOCONSULTORÍA</a:t>
            </a:r>
          </a:p>
        </p:txBody>
      </p:sp>
      <p:sp>
        <p:nvSpPr>
          <p:cNvPr id="64" name="Texto 64"/>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Qué puede pasar en cada puerta</a:t>
            </a:r>
          </a:p>
        </p:txBody>
      </p:sp>
      <p:sp>
        <p:nvSpPr>
          <p:cNvPr id="65" name="Texto 65"/>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Cinco resultados; quien aporta la evidencia nunca es quien verifica ni quien decide</a:t>
            </a:r>
          </a:p>
        </p:txBody>
      </p:sp>
      <p:sp>
        <p:nvSpPr>
          <p:cNvPr id="46" name="Caja 46"/>
          <p:cNvSpPr/>
          <p:nvPr/>
        </p:nvSpPr>
        <p:spPr>
          <a:xfrm>
            <a:off x="609600" y="2050000"/>
            <a:ext cx="2098560" cy="800000"/>
          </a:xfrm>
          <a:prstGeom prst="roundRect">
            <a:avLst>
              <a:gd name="adj" fmla="val 6000"/>
            </a:avLst>
          </a:prstGeom>
          <a:solidFill>
            <a:srgbClr val="0D7680"/>
          </a:solidFill>
          <a:ln>
            <a:noFill/>
          </a:ln>
        </p:spPr>
        <p:txBody>
          <a:bodyPr wrap="square" anchor="ctr" lIns="45720" rIns="45720">
            <a:noAutofit/>
          </a:bodyPr>
          <a:lstStyle/>
          <a:p>
            <a:pPr algn="ctr"/>
            <a:r>
              <a:rPr lang="es-ES" sz="1700" b="1" dirty="0">
                <a:solidFill>
                  <a:srgbClr val="FFFFFF"/>
                </a:solidFill>
              </a:rPr>
              <a:t>Continuar</a:t>
            </a:r>
          </a:p>
        </p:txBody>
      </p:sp>
      <p:sp>
        <p:nvSpPr>
          <p:cNvPr id="47" name="Caja 47"/>
          <p:cNvSpPr/>
          <p:nvPr/>
        </p:nvSpPr>
        <p:spPr>
          <a:xfrm>
            <a:off x="60960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48" name="Texto 48"/>
          <p:cNvSpPr txBox="1"/>
          <p:nvPr/>
        </p:nvSpPr>
        <p:spPr>
          <a:xfrm>
            <a:off x="649600" y="2890000"/>
            <a:ext cx="2018560" cy="2340000"/>
          </a:xfrm>
          <a:prstGeom prst="rect">
            <a:avLst/>
          </a:prstGeom>
          <a:noFill/>
        </p:spPr>
        <p:txBody>
          <a:bodyPr wrap="square" anchor="t" lIns="45720" rIns="45720">
            <a:noAutofit/>
          </a:bodyPr>
          <a:lstStyle/>
          <a:p>
            <a:pPr algn="l"/>
            <a:r>
              <a:rPr lang="es-ES" sz="1300" dirty="0">
                <a:solidFill>
                  <a:srgbClr val="2F2B28"/>
                </a:solidFill>
              </a:rPr>
              <a:t>Se cumplen todos los criterios y las evidencias están verificadas: pasa a la fase siguiente.</a:t>
            </a:r>
          </a:p>
        </p:txBody>
      </p:sp>
      <p:sp>
        <p:nvSpPr>
          <p:cNvPr id="49" name="Caja 49"/>
          <p:cNvSpPr/>
          <p:nvPr/>
        </p:nvSpPr>
        <p:spPr>
          <a:xfrm>
            <a:off x="2828160" y="2050000"/>
            <a:ext cx="2098560" cy="8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Con condiciones</a:t>
            </a:r>
          </a:p>
        </p:txBody>
      </p:sp>
      <p:sp>
        <p:nvSpPr>
          <p:cNvPr id="50" name="Caja 50"/>
          <p:cNvSpPr/>
          <p:nvPr/>
        </p:nvSpPr>
        <p:spPr>
          <a:xfrm>
            <a:off x="282816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51" name="Texto 51"/>
          <p:cNvSpPr txBox="1"/>
          <p:nvPr/>
        </p:nvSpPr>
        <p:spPr>
          <a:xfrm>
            <a:off x="2868160" y="2890000"/>
            <a:ext cx="2018560" cy="2340000"/>
          </a:xfrm>
          <a:prstGeom prst="rect">
            <a:avLst/>
          </a:prstGeom>
          <a:noFill/>
        </p:spPr>
        <p:txBody>
          <a:bodyPr wrap="square" anchor="t" lIns="45720" rIns="45720">
            <a:noAutofit/>
          </a:bodyPr>
          <a:lstStyle/>
          <a:p>
            <a:pPr algn="l"/>
            <a:r>
              <a:rPr lang="es-ES" sz="1300" dirty="0">
                <a:solidFill>
                  <a:srgbClr val="2F2B28"/>
                </a:solidFill>
              </a:rPr>
              <a:t>Pasa, con plazo y responsable para lo pendiente. Nunca para controles críticos de seguridad, legales o de supervisión humana.</a:t>
            </a:r>
          </a:p>
        </p:txBody>
      </p:sp>
      <p:sp>
        <p:nvSpPr>
          <p:cNvPr id="52" name="Caja 52"/>
          <p:cNvSpPr/>
          <p:nvPr/>
        </p:nvSpPr>
        <p:spPr>
          <a:xfrm>
            <a:off x="5046720" y="2050000"/>
            <a:ext cx="2098560" cy="800000"/>
          </a:xfrm>
          <a:prstGeom prst="roundRect">
            <a:avLst>
              <a:gd name="adj" fmla="val 6000"/>
            </a:avLst>
          </a:prstGeom>
          <a:solidFill>
            <a:srgbClr val="A5822A"/>
          </a:solidFill>
          <a:ln>
            <a:noFill/>
          </a:ln>
        </p:spPr>
        <p:txBody>
          <a:bodyPr wrap="square" anchor="ctr" lIns="45720" rIns="45720">
            <a:noAutofit/>
          </a:bodyPr>
          <a:lstStyle/>
          <a:p>
            <a:pPr algn="ctr"/>
            <a:r>
              <a:rPr lang="es-ES" sz="1700" b="1" dirty="0">
                <a:solidFill>
                  <a:srgbClr val="FFFFFF"/>
                </a:solidFill>
              </a:rPr>
              <a:t>Iterar</a:t>
            </a:r>
          </a:p>
        </p:txBody>
      </p:sp>
      <p:sp>
        <p:nvSpPr>
          <p:cNvPr id="53" name="Caja 53"/>
          <p:cNvSpPr/>
          <p:nvPr/>
        </p:nvSpPr>
        <p:spPr>
          <a:xfrm>
            <a:off x="504672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54" name="Texto 54"/>
          <p:cNvSpPr txBox="1"/>
          <p:nvPr/>
        </p:nvSpPr>
        <p:spPr>
          <a:xfrm>
            <a:off x="5086720" y="2890000"/>
            <a:ext cx="2018560" cy="2340000"/>
          </a:xfrm>
          <a:prstGeom prst="rect">
            <a:avLst/>
          </a:prstGeom>
          <a:noFill/>
        </p:spPr>
        <p:txBody>
          <a:bodyPr wrap="square" anchor="t" lIns="45720" rIns="45720">
            <a:noAutofit/>
          </a:bodyPr>
          <a:lstStyle/>
          <a:p>
            <a:pPr algn="l"/>
            <a:r>
              <a:rPr lang="es-ES" sz="1300" dirty="0">
                <a:solidFill>
                  <a:srgbClr val="2F2B28"/>
                </a:solidFill>
              </a:rPr>
              <a:t>Se repite la fase con un ajuste concreto y se vuelve a la misma puerta. A la tercera, decide el órgano superior.</a:t>
            </a:r>
          </a:p>
        </p:txBody>
      </p:sp>
      <p:sp>
        <p:nvSpPr>
          <p:cNvPr id="55" name="Caja 55"/>
          <p:cNvSpPr/>
          <p:nvPr/>
        </p:nvSpPr>
        <p:spPr>
          <a:xfrm>
            <a:off x="7265280" y="2050000"/>
            <a:ext cx="2098560" cy="800000"/>
          </a:xfrm>
          <a:prstGeom prst="roundRect">
            <a:avLst>
              <a:gd name="adj" fmla="val 6000"/>
            </a:avLst>
          </a:prstGeom>
          <a:solidFill>
            <a:srgbClr val="593380"/>
          </a:solidFill>
          <a:ln>
            <a:noFill/>
          </a:ln>
        </p:spPr>
        <p:txBody>
          <a:bodyPr wrap="square" anchor="ctr" lIns="45720" rIns="45720">
            <a:noAutofit/>
          </a:bodyPr>
          <a:lstStyle/>
          <a:p>
            <a:pPr algn="ctr"/>
            <a:r>
              <a:rPr lang="es-ES" sz="1700" b="1" dirty="0">
                <a:solidFill>
                  <a:srgbClr val="FFFFFF"/>
                </a:solidFill>
              </a:rPr>
              <a:t>Pivotar</a:t>
            </a:r>
          </a:p>
        </p:txBody>
      </p:sp>
      <p:sp>
        <p:nvSpPr>
          <p:cNvPr id="56" name="Caja 56"/>
          <p:cNvSpPr/>
          <p:nvPr/>
        </p:nvSpPr>
        <p:spPr>
          <a:xfrm>
            <a:off x="726528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57" name="Texto 57"/>
          <p:cNvSpPr txBox="1"/>
          <p:nvPr/>
        </p:nvSpPr>
        <p:spPr>
          <a:xfrm>
            <a:off x="7305280" y="2890000"/>
            <a:ext cx="2018560" cy="2340000"/>
          </a:xfrm>
          <a:prstGeom prst="rect">
            <a:avLst/>
          </a:prstGeom>
          <a:noFill/>
        </p:spPr>
        <p:txBody>
          <a:bodyPr wrap="square" anchor="t" lIns="45720" rIns="45720">
            <a:noAutofit/>
          </a:bodyPr>
          <a:lstStyle/>
          <a:p>
            <a:pPr algn="l"/>
            <a:r>
              <a:rPr lang="es-ES" sz="1300" dirty="0">
                <a:solidFill>
                  <a:srgbClr val="2F2B28"/>
                </a:solidFill>
              </a:rPr>
              <a:t>La hipótesis no se sostiene pero hay otra razonable: vuelve a la fase 2. Solo en G1, G2 y G3.</a:t>
            </a:r>
          </a:p>
        </p:txBody>
      </p:sp>
      <p:sp>
        <p:nvSpPr>
          <p:cNvPr id="58" name="Caja 58"/>
          <p:cNvSpPr/>
          <p:nvPr/>
        </p:nvSpPr>
        <p:spPr>
          <a:xfrm>
            <a:off x="9483840" y="2050000"/>
            <a:ext cx="2098560" cy="800000"/>
          </a:xfrm>
          <a:prstGeom prst="roundRect">
            <a:avLst>
              <a:gd name="adj" fmla="val 6000"/>
            </a:avLst>
          </a:prstGeom>
          <a:solidFill>
            <a:srgbClr val="990F3D"/>
          </a:solidFill>
          <a:ln>
            <a:noFill/>
          </a:ln>
        </p:spPr>
        <p:txBody>
          <a:bodyPr wrap="square" anchor="ctr" lIns="45720" rIns="45720">
            <a:noAutofit/>
          </a:bodyPr>
          <a:lstStyle/>
          <a:p>
            <a:pPr algn="ctr"/>
            <a:r>
              <a:rPr lang="es-ES" sz="1700" b="1" dirty="0">
                <a:solidFill>
                  <a:srgbClr val="FFFFFF"/>
                </a:solidFill>
              </a:rPr>
              <a:t>Parar</a:t>
            </a:r>
          </a:p>
        </p:txBody>
      </p:sp>
      <p:sp>
        <p:nvSpPr>
          <p:cNvPr id="59" name="Caja 59"/>
          <p:cNvSpPr/>
          <p:nvPr/>
        </p:nvSpPr>
        <p:spPr>
          <a:xfrm>
            <a:off x="948384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60" name="Texto 60"/>
          <p:cNvSpPr txBox="1"/>
          <p:nvPr/>
        </p:nvSpPr>
        <p:spPr>
          <a:xfrm>
            <a:off x="9523840" y="2890000"/>
            <a:ext cx="2018560" cy="2340000"/>
          </a:xfrm>
          <a:prstGeom prst="rect">
            <a:avLst/>
          </a:prstGeom>
          <a:noFill/>
        </p:spPr>
        <p:txBody>
          <a:bodyPr wrap="square" anchor="t" lIns="45720" rIns="45720">
            <a:noAutofit/>
          </a:bodyPr>
          <a:lstStyle/>
          <a:p>
            <a:pPr algn="l"/>
            <a:r>
              <a:rPr lang="es-ES" sz="1300" dirty="0">
                <a:solidFill>
                  <a:srgbClr val="2F2B28"/>
                </a:solidFill>
              </a:rPr>
              <a:t>No hay valor plausible o el riesgo es inaceptable. Se registran el motivo y lo aprendido. Es un buen resultado.</a:t>
            </a:r>
          </a:p>
        </p:txBody>
      </p:sp>
      <p:sp>
        <p:nvSpPr>
          <p:cNvPr id="61" name="Texto 61"/>
          <p:cNvSpPr txBox="1"/>
          <p:nvPr/>
        </p:nvSpPr>
        <p:spPr>
          <a:xfrm>
            <a:off x="609600" y="6150000"/>
            <a:ext cx="10972800" cy="500000"/>
          </a:xfrm>
          <a:prstGeom prst="rect">
            <a:avLst/>
          </a:prstGeom>
          <a:noFill/>
        </p:spPr>
        <p:txBody>
          <a:bodyPr wrap="square" anchor="t" lIns="45720" rIns="45720">
            <a:noAutofit/>
          </a:bodyPr>
          <a:lstStyle/>
          <a:p>
            <a:pPr algn="l"/>
            <a:r>
              <a:rPr lang="es-ES" sz="1400" b="1" dirty="0">
                <a:solidFill>
                  <a:srgbClr val="0F5499"/>
                </a:solidFill>
              </a:rPr>
              <a:t>En G7 los resultados son Escalar, Iterar o Retirar.</a:t>
            </a: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817"/>
        </a:solidFill>
        <a:effectLst/>
      </p:bgPr>
    </p:bg>
    <p:spTree>
      <p:nvGrpSpPr>
        <p:cNvPr id="1" name=""/>
        <p:cNvGrpSpPr/>
        <p:nvPr/>
      </p:nvGrpSpPr>
      <p:grpSpPr>
        <a:xfrm>
          <a:off x="0" y="0"/>
          <a:ext cx="0" cy="0"/>
          <a:chOff x="0" y="0"/>
          <a:chExt cx="0" cy="0"/>
        </a:xfrm>
      </p:grpSpPr>
      <p:sp>
        <p:nvSpPr>
          <p:cNvPr id="66" name="Marca"/>
          <p:cNvSpPr/>
          <p:nvPr/>
        </p:nvSpPr>
        <p:spPr>
          <a:xfrm>
            <a:off x="609600" y="2400000"/>
            <a:ext cx="182880" cy="182880"/>
          </a:xfrm>
          <a:prstGeom prst="rect">
            <a:avLst/>
          </a:prstGeom>
          <a:solidFill>
            <a:srgbClr val="990F3D"/>
          </a:solidFill>
        </p:spPr>
        <p:txBody>
          <a:bodyPr/>
          <a:lstStyle/>
          <a:p/>
        </p:txBody>
      </p:sp>
      <p:sp>
        <p:nvSpPr>
          <p:cNvPr id="67" name="Texto 67"/>
          <p:cNvSpPr txBox="1"/>
          <p:nvPr/>
        </p:nvSpPr>
        <p:spPr>
          <a:xfrm>
            <a:off x="838200" y="2320000"/>
            <a:ext cx="9000000" cy="400000"/>
          </a:xfrm>
          <a:prstGeom prst="rect">
            <a:avLst/>
          </a:prstGeom>
          <a:noFill/>
        </p:spPr>
        <p:txBody>
          <a:bodyPr wrap="square" anchor="t" lIns="45720" rIns="45720">
            <a:noAutofit/>
          </a:bodyPr>
          <a:lstStyle/>
          <a:p>
            <a:pPr algn="l"/>
            <a:r>
              <a:rPr lang="es-ES" sz="1600" b="1" dirty="0">
                <a:solidFill>
                  <a:srgbClr val="F3CFB2"/>
                </a:solidFill>
              </a:rPr>
              <a:t>DEL DOCUMENTO AL PANEL</a:t>
            </a:r>
          </a:p>
        </p:txBody>
      </p:sp>
      <p:sp>
        <p:nvSpPr>
          <p:cNvPr id="68" name="Texto 68"/>
          <p:cNvSpPr txBox="1"/>
          <p:nvPr/>
        </p:nvSpPr>
        <p:spPr>
          <a:xfrm>
            <a:off x="609600" y="2850000"/>
            <a:ext cx="10972800" cy="1400000"/>
          </a:xfrm>
          <a:prstGeom prst="rect">
            <a:avLst/>
          </a:prstGeom>
          <a:noFill/>
        </p:spPr>
        <p:txBody>
          <a:bodyPr wrap="square" anchor="t" lIns="45720" rIns="45720">
            <a:noAutofit/>
          </a:bodyPr>
          <a:lstStyle/>
          <a:p>
            <a:pPr algn="l"/>
            <a:r>
              <a:rPr lang="es-ES" sz="4000" b="1" dirty="0">
                <a:solidFill>
                  <a:srgbClr val="FBE2CD"/>
                </a:solidFill>
              </a:rPr>
              <a:t>Cómo se llena el embudo</a:t>
            </a:r>
          </a:p>
        </p:txBody>
      </p:sp>
      <p:sp>
        <p:nvSpPr>
          <p:cNvPr id="69" name="Texto 69"/>
          <p:cNvSpPr txBox="1"/>
          <p:nvPr/>
        </p:nvSpPr>
        <p:spPr>
          <a:xfrm>
            <a:off x="609600" y="4400000"/>
            <a:ext cx="10500000" cy="900000"/>
          </a:xfrm>
          <a:prstGeom prst="rect">
            <a:avLst/>
          </a:prstGeom>
          <a:noFill/>
        </p:spPr>
        <p:txBody>
          <a:bodyPr wrap="square" anchor="t" lIns="45720" rIns="45720">
            <a:noAutofit/>
          </a:bodyPr>
          <a:lstStyle/>
          <a:p>
            <a:pPr algn="l"/>
            <a:r>
              <a:rPr lang="es-ES" sz="1700" dirty="0">
                <a:solidFill>
                  <a:srgbClr val="F3CFB2"/>
                </a:solidFill>
              </a:rPr>
              <a:t>Nadie dibuja el embudo ni el panel: salen solos de lo que se rellena y se decide en cada fase. Este es el recorrido.</a:t>
            </a: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87" name="Marca"/>
          <p:cNvSpPr/>
          <p:nvPr/>
        </p:nvSpPr>
        <p:spPr>
          <a:xfrm>
            <a:off x="609600" y="365760"/>
            <a:ext cx="182880" cy="182880"/>
          </a:xfrm>
          <a:prstGeom prst="rect">
            <a:avLst/>
          </a:prstGeom>
          <a:solidFill>
            <a:srgbClr val="990F3D"/>
          </a:solidFill>
        </p:spPr>
        <p:txBody>
          <a:bodyPr/>
          <a:lstStyle/>
          <a:p/>
        </p:txBody>
      </p:sp>
      <p:sp>
        <p:nvSpPr>
          <p:cNvPr id="88" name="Texto 88"/>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EMPRESA · AUTOCONSULTORÍA</a:t>
            </a:r>
          </a:p>
        </p:txBody>
      </p:sp>
      <p:sp>
        <p:nvSpPr>
          <p:cNvPr id="89" name="Texto 89"/>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Fases 0 a 3: de la idea a la prueba de concepto</a:t>
            </a:r>
          </a:p>
        </p:txBody>
      </p:sp>
      <p:sp>
        <p:nvSpPr>
          <p:cNvPr id="90" name="Texto 90"/>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Qué se hace, qué plantillas se rellenan y qué puerta cierra cada fase</a:t>
            </a:r>
          </a:p>
        </p:txBody>
      </p:sp>
      <p:sp>
        <p:nvSpPr>
          <p:cNvPr id="70" name="Caja 70"/>
          <p:cNvSpPr/>
          <p:nvPr/>
        </p:nvSpPr>
        <p:spPr>
          <a:xfrm>
            <a:off x="609600" y="1900000"/>
            <a:ext cx="2645700" cy="700000"/>
          </a:xfrm>
          <a:prstGeom prst="roundRect">
            <a:avLst>
              <a:gd name="adj" fmla="val 6000"/>
            </a:avLst>
          </a:prstGeom>
          <a:solidFill>
            <a:srgbClr val="564D47"/>
          </a:solidFill>
          <a:ln>
            <a:noFill/>
          </a:ln>
        </p:spPr>
        <p:txBody>
          <a:bodyPr wrap="square" anchor="ctr" lIns="45720" rIns="45720">
            <a:noAutofit/>
          </a:bodyPr>
          <a:lstStyle/>
          <a:p>
            <a:pPr algn="ctr"/>
            <a:r>
              <a:rPr lang="es-ES" sz="1700" b="1" dirty="0">
                <a:solidFill>
                  <a:srgbClr val="FFFFFF"/>
                </a:solidFill>
              </a:rPr>
              <a:t>F0</a:t>
            </a:r>
          </a:p>
          <a:p>
            <a:pPr algn="ctr"/>
            <a:r>
              <a:rPr lang="es-ES" sz="1150" dirty="0">
                <a:solidFill>
                  <a:srgbClr val="FFFFFF"/>
                </a:solidFill>
              </a:rPr>
              <a:t>Contexto y restricciones</a:t>
            </a:r>
          </a:p>
        </p:txBody>
      </p:sp>
      <p:sp>
        <p:nvSpPr>
          <p:cNvPr id="71" name="Caja 71"/>
          <p:cNvSpPr/>
          <p:nvPr/>
        </p:nvSpPr>
        <p:spPr>
          <a:xfrm>
            <a:off x="6096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72" name="Texto 72"/>
          <p:cNvSpPr txBox="1"/>
          <p:nvPr/>
        </p:nvSpPr>
        <p:spPr>
          <a:xfrm>
            <a:off x="6496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Qué se hace. </a:t>
            </a:r>
            <a:r>
              <a:rPr lang="es-ES" sz="1150" dirty="0">
                <a:solidFill>
                  <a:srgbClr val="2F2B28"/>
                </a:solidFill>
              </a:rPr>
              <a:t>Se autoriza la idea: patrocinador, responsable, alcance, restricciones e intensidad (Lite o Enterprise).</a:t>
            </a:r>
          </a:p>
          <a:p>
            <a:pPr algn="l">
              <a:spcAft>
                <a:spcPts val="500"/>
              </a:spcAft>
            </a:pPr>
            <a:r>
              <a:rPr lang="es-ES" sz="1150" b="1" dirty="0">
                <a:solidFill>
                  <a:srgbClr val="1A1817"/>
                </a:solidFill>
              </a:rPr>
              <a:t>Se rellena. </a:t>
            </a:r>
            <a:r>
              <a:rPr lang="es-ES" sz="1150" dirty="0">
                <a:solidFill>
                  <a:srgbClr val="2F2B28"/>
                </a:solidFill>
              </a:rPr>
              <a:t>P01 Carta de la iniciativa · P02 Contexto y restricciones · P03 Roles · P04 Intensidad · P05 Alta en el inventario.</a:t>
            </a:r>
          </a:p>
        </p:txBody>
      </p:sp>
      <p:sp>
        <p:nvSpPr>
          <p:cNvPr id="73" name="Caja 73"/>
          <p:cNvSpPr/>
          <p:nvPr/>
        </p:nvSpPr>
        <p:spPr>
          <a:xfrm>
            <a:off x="6096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G0 → entra en «Propuesto»</a:t>
            </a:r>
          </a:p>
        </p:txBody>
      </p:sp>
      <p:sp>
        <p:nvSpPr>
          <p:cNvPr id="74" name="Caja 74"/>
          <p:cNvSpPr/>
          <p:nvPr/>
        </p:nvSpPr>
        <p:spPr>
          <a:xfrm>
            <a:off x="3385300" y="1900000"/>
            <a:ext cx="2645700" cy="7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F1</a:t>
            </a:r>
          </a:p>
          <a:p>
            <a:pPr algn="ctr"/>
            <a:r>
              <a:rPr lang="es-ES" sz="1150" dirty="0">
                <a:solidFill>
                  <a:srgbClr val="FFFFFF"/>
                </a:solidFill>
              </a:rPr>
              <a:t>Descubrimiento</a:t>
            </a:r>
          </a:p>
        </p:txBody>
      </p:sp>
      <p:sp>
        <p:nvSpPr>
          <p:cNvPr id="75" name="Caja 75"/>
          <p:cNvSpPr/>
          <p:nvPr/>
        </p:nvSpPr>
        <p:spPr>
          <a:xfrm>
            <a:off x="33853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76" name="Texto 76"/>
          <p:cNvSpPr txBox="1"/>
          <p:nvPr/>
        </p:nvSpPr>
        <p:spPr>
          <a:xfrm>
            <a:off x="34253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Qué se hace. </a:t>
            </a:r>
            <a:r>
              <a:rPr lang="es-ES" sz="1150" dirty="0">
                <a:solidFill>
                  <a:srgbClr val="2F2B28"/>
                </a:solidFill>
              </a:rPr>
              <a:t>Se comparan oportunidades, también alternativas sin IA, y se propone esfera y nivel de ambición.</a:t>
            </a:r>
          </a:p>
          <a:p>
            <a:pPr algn="l">
              <a:spcAft>
                <a:spcPts val="500"/>
              </a:spcAft>
            </a:pPr>
            <a:r>
              <a:rPr lang="es-ES" sz="1150" b="1" dirty="0">
                <a:solidFill>
                  <a:srgbClr val="1A1817"/>
                </a:solidFill>
              </a:rPr>
              <a:t>Se rellena. </a:t>
            </a:r>
            <a:r>
              <a:rPr lang="es-ES" sz="1150" dirty="0">
                <a:solidFill>
                  <a:srgbClr val="2F2B28"/>
                </a:solidFill>
              </a:rPr>
              <a:t>P06 Cartera de oportunidades y filtrado · P07 Esfera y ambición · P31 Ficha de caso de uso.</a:t>
            </a:r>
          </a:p>
        </p:txBody>
      </p:sp>
      <p:sp>
        <p:nvSpPr>
          <p:cNvPr id="77" name="Caja 77"/>
          <p:cNvSpPr/>
          <p:nvPr/>
        </p:nvSpPr>
        <p:spPr>
          <a:xfrm>
            <a:off x="33853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G1 → sigue en «Propuesto»</a:t>
            </a:r>
          </a:p>
        </p:txBody>
      </p:sp>
      <p:sp>
        <p:nvSpPr>
          <p:cNvPr id="78" name="Caja 78"/>
          <p:cNvSpPr/>
          <p:nvPr/>
        </p:nvSpPr>
        <p:spPr>
          <a:xfrm>
            <a:off x="6161000" y="1900000"/>
            <a:ext cx="2645700" cy="7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F2</a:t>
            </a:r>
          </a:p>
          <a:p>
            <a:pPr algn="ctr"/>
            <a:r>
              <a:rPr lang="es-ES" sz="1150" dirty="0">
                <a:solidFill>
                  <a:srgbClr val="FFFFFF"/>
                </a:solidFill>
              </a:rPr>
              <a:t>Hipótesis de valor</a:t>
            </a:r>
          </a:p>
        </p:txBody>
      </p:sp>
      <p:sp>
        <p:nvSpPr>
          <p:cNvPr id="79" name="Caja 79"/>
          <p:cNvSpPr/>
          <p:nvPr/>
        </p:nvSpPr>
        <p:spPr>
          <a:xfrm>
            <a:off x="61610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80" name="Texto 80"/>
          <p:cNvSpPr txBox="1"/>
          <p:nvPr/>
        </p:nvSpPr>
        <p:spPr>
          <a:xfrm>
            <a:off x="62010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Qué se hace. </a:t>
            </a:r>
            <a:r>
              <a:rPr lang="es-ES" sz="1150" dirty="0">
                <a:solidFill>
                  <a:srgbClr val="2F2B28"/>
                </a:solidFill>
              </a:rPr>
              <a:t>Hipótesis falsable en dinero, con línea base, método de atribución y criterios de parada fijados antes de empezar.</a:t>
            </a:r>
          </a:p>
          <a:p>
            <a:pPr algn="l">
              <a:spcAft>
                <a:spcPts val="500"/>
              </a:spcAft>
            </a:pPr>
            <a:r>
              <a:rPr lang="es-ES" sz="1150" b="1" dirty="0">
                <a:solidFill>
                  <a:srgbClr val="1A1817"/>
                </a:solidFill>
              </a:rPr>
              <a:t>Se rellena. </a:t>
            </a:r>
            <a:r>
              <a:rPr lang="es-ES" sz="1150" dirty="0">
                <a:solidFill>
                  <a:srgbClr val="2F2B28"/>
                </a:solidFill>
              </a:rPr>
              <a:t>P08 Lienzo de hipótesis de valor · P09 Línea base. Apoyo: calculadora T11.</a:t>
            </a:r>
          </a:p>
        </p:txBody>
      </p:sp>
      <p:sp>
        <p:nvSpPr>
          <p:cNvPr id="81" name="Caja 81"/>
          <p:cNvSpPr/>
          <p:nvPr/>
        </p:nvSpPr>
        <p:spPr>
          <a:xfrm>
            <a:off x="61610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G2 → «Hipótesis de valor»</a:t>
            </a:r>
          </a:p>
        </p:txBody>
      </p:sp>
      <p:sp>
        <p:nvSpPr>
          <p:cNvPr id="82" name="Caja 82"/>
          <p:cNvSpPr/>
          <p:nvPr/>
        </p:nvSpPr>
        <p:spPr>
          <a:xfrm>
            <a:off x="8936700" y="1900000"/>
            <a:ext cx="2645700" cy="7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F3</a:t>
            </a:r>
          </a:p>
          <a:p>
            <a:pPr algn="ctr"/>
            <a:r>
              <a:rPr lang="es-ES" sz="1150" dirty="0">
                <a:solidFill>
                  <a:srgbClr val="FFFFFF"/>
                </a:solidFill>
              </a:rPr>
              <a:t>Viabilidad y riesgo</a:t>
            </a:r>
          </a:p>
        </p:txBody>
      </p:sp>
      <p:sp>
        <p:nvSpPr>
          <p:cNvPr id="83" name="Caja 83"/>
          <p:cNvSpPr/>
          <p:nvPr/>
        </p:nvSpPr>
        <p:spPr>
          <a:xfrm>
            <a:off x="89367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84" name="Texto 84"/>
          <p:cNvSpPr txBox="1"/>
          <p:nvPr/>
        </p:nvSpPr>
        <p:spPr>
          <a:xfrm>
            <a:off x="89767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Qué se hace. </a:t>
            </a:r>
            <a:r>
              <a:rPr lang="es-ES" sz="1150" dirty="0">
                <a:solidFill>
                  <a:srgbClr val="2F2B28"/>
                </a:solidFill>
              </a:rPr>
              <a:t>Prueba de concepto: viabilidad, clasificación regulatoria, riesgos y proveedores. Es la principal puerta de parada.</a:t>
            </a:r>
          </a:p>
          <a:p>
            <a:pPr algn="l">
              <a:spcAft>
                <a:spcPts val="500"/>
              </a:spcAft>
            </a:pPr>
            <a:r>
              <a:rPr lang="es-ES" sz="1150" b="1" dirty="0">
                <a:solidFill>
                  <a:srgbClr val="1A1817"/>
                </a:solidFill>
              </a:rPr>
              <a:t>Se rellena. </a:t>
            </a:r>
            <a:r>
              <a:rPr lang="es-ES" sz="1150" dirty="0">
                <a:solidFill>
                  <a:srgbClr val="2F2B28"/>
                </a:solidFill>
              </a:rPr>
              <a:t>P10 Viabilidad · P11 Clasificación regulatoria e impacto · P12 Riesgos · P13 Mitigación · P14 Proveedor.</a:t>
            </a:r>
          </a:p>
        </p:txBody>
      </p:sp>
      <p:sp>
        <p:nvSpPr>
          <p:cNvPr id="85" name="Caja 85"/>
          <p:cNvSpPr/>
          <p:nvPr/>
        </p:nvSpPr>
        <p:spPr>
          <a:xfrm>
            <a:off x="89367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G3 → «Prueba de concepto»</a:t>
            </a:r>
          </a:p>
        </p:txBody>
      </p:sp>
      <p:sp>
        <p:nvSpPr>
          <p:cNvPr id="86" name="Texto 86"/>
          <p:cNvSpPr txBox="1"/>
          <p:nvPr/>
        </p:nvSpPr>
        <p:spPr>
          <a:xfrm>
            <a:off x="609600" y="6260000"/>
            <a:ext cx="10972800" cy="450000"/>
          </a:xfrm>
          <a:prstGeom prst="rect">
            <a:avLst/>
          </a:prstGeom>
          <a:noFill/>
        </p:spPr>
        <p:txBody>
          <a:bodyPr wrap="square" anchor="t" lIns="45720" rIns="45720">
            <a:noAutofit/>
          </a:bodyPr>
          <a:lstStyle/>
          <a:p>
            <a:pPr algn="l"/>
            <a:r>
              <a:rPr lang="es-ES" sz="1300" b="1" dirty="0">
                <a:solidFill>
                  <a:srgbClr val="0F5499"/>
                </a:solidFill>
              </a:rPr>
              <a:t>Cada decisión de puerta se deja en P29 y en el registro T01, con el estado de cada criterio y su evidencia.</a:t>
            </a: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08" name="Marca"/>
          <p:cNvSpPr/>
          <p:nvPr/>
        </p:nvSpPr>
        <p:spPr>
          <a:xfrm>
            <a:off x="609600" y="365760"/>
            <a:ext cx="182880" cy="182880"/>
          </a:xfrm>
          <a:prstGeom prst="rect">
            <a:avLst/>
          </a:prstGeom>
          <a:solidFill>
            <a:srgbClr val="990F3D"/>
          </a:solidFill>
        </p:spPr>
        <p:txBody>
          <a:bodyPr/>
          <a:lstStyle/>
          <a:p/>
        </p:txBody>
      </p:sp>
      <p:sp>
        <p:nvSpPr>
          <p:cNvPr id="109" name="Texto 109"/>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EMPRESA · AUTOCONSULTORÍA</a:t>
            </a:r>
          </a:p>
        </p:txBody>
      </p:sp>
      <p:sp>
        <p:nvSpPr>
          <p:cNvPr id="110" name="Texto 110"/>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Fases 4 a 7: del diseño a la producción y la retirada</a:t>
            </a:r>
          </a:p>
        </p:txBody>
      </p:sp>
      <p:sp>
        <p:nvSpPr>
          <p:cNvPr id="111" name="Texto 111"/>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La puesta en producción no cierra el ciclo: abre la operación, con revisiones periódicas</a:t>
            </a:r>
          </a:p>
        </p:txBody>
      </p:sp>
      <p:sp>
        <p:nvSpPr>
          <p:cNvPr id="91" name="Caja 91"/>
          <p:cNvSpPr/>
          <p:nvPr/>
        </p:nvSpPr>
        <p:spPr>
          <a:xfrm>
            <a:off x="609600" y="1900000"/>
            <a:ext cx="2645700" cy="700000"/>
          </a:xfrm>
          <a:prstGeom prst="roundRect">
            <a:avLst>
              <a:gd name="adj" fmla="val 6000"/>
            </a:avLst>
          </a:prstGeom>
          <a:solidFill>
            <a:srgbClr val="593380"/>
          </a:solidFill>
          <a:ln>
            <a:noFill/>
          </a:ln>
        </p:spPr>
        <p:txBody>
          <a:bodyPr wrap="square" anchor="ctr" lIns="45720" rIns="45720">
            <a:noAutofit/>
          </a:bodyPr>
          <a:lstStyle/>
          <a:p>
            <a:pPr algn="ctr"/>
            <a:r>
              <a:rPr lang="es-ES" sz="1700" b="1" dirty="0">
                <a:solidFill>
                  <a:srgbClr val="FFFFFF"/>
                </a:solidFill>
              </a:rPr>
              <a:t>F4</a:t>
            </a:r>
          </a:p>
          <a:p>
            <a:pPr algn="ctr"/>
            <a:r>
              <a:rPr lang="es-ES" sz="1150" dirty="0">
                <a:solidFill>
                  <a:srgbClr val="FFFFFF"/>
                </a:solidFill>
              </a:rPr>
              <a:t>Diseño de la solución</a:t>
            </a:r>
          </a:p>
        </p:txBody>
      </p:sp>
      <p:sp>
        <p:nvSpPr>
          <p:cNvPr id="92" name="Caja 92"/>
          <p:cNvSpPr/>
          <p:nvPr/>
        </p:nvSpPr>
        <p:spPr>
          <a:xfrm>
            <a:off x="6096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93" name="Texto 93"/>
          <p:cNvSpPr txBox="1"/>
          <p:nvPr/>
        </p:nvSpPr>
        <p:spPr>
          <a:xfrm>
            <a:off x="6496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Qué se hace. </a:t>
            </a:r>
            <a:r>
              <a:rPr lang="es-ES" sz="1150" dirty="0">
                <a:solidFill>
                  <a:srgbClr val="2F2B28"/>
                </a:solidFill>
              </a:rPr>
              <a:t>Antes de construir: arquitectura, linaje de datos y modelos, supervisión humana, seguridad, reversión y adopción.</a:t>
            </a:r>
          </a:p>
          <a:p>
            <a:pPr algn="l">
              <a:spcAft>
                <a:spcPts val="500"/>
              </a:spcAft>
            </a:pPr>
            <a:r>
              <a:rPr lang="es-ES" sz="1150" b="1" dirty="0">
                <a:solidFill>
                  <a:srgbClr val="1A1817"/>
                </a:solidFill>
              </a:rPr>
              <a:t>Se rellena. </a:t>
            </a:r>
            <a:r>
              <a:rPr lang="es-ES" sz="1150" dirty="0">
                <a:solidFill>
                  <a:srgbClr val="2F2B28"/>
                </a:solidFill>
              </a:rPr>
              <a:t>P15 Arquitectura · P16 Linaje · P17 Supervisión humana · P18 Seguridad · P19 Reversión · P20 Adopción.</a:t>
            </a:r>
          </a:p>
        </p:txBody>
      </p:sp>
      <p:sp>
        <p:nvSpPr>
          <p:cNvPr id="94" name="Caja 94"/>
          <p:cNvSpPr/>
          <p:nvPr/>
        </p:nvSpPr>
        <p:spPr>
          <a:xfrm>
            <a:off x="6096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G4 → «En desarrollo»</a:t>
            </a:r>
          </a:p>
        </p:txBody>
      </p:sp>
      <p:sp>
        <p:nvSpPr>
          <p:cNvPr id="95" name="Caja 95"/>
          <p:cNvSpPr/>
          <p:nvPr/>
        </p:nvSpPr>
        <p:spPr>
          <a:xfrm>
            <a:off x="3385300" y="1900000"/>
            <a:ext cx="2645700" cy="700000"/>
          </a:xfrm>
          <a:prstGeom prst="roundRect">
            <a:avLst>
              <a:gd name="adj" fmla="val 6000"/>
            </a:avLst>
          </a:prstGeom>
          <a:solidFill>
            <a:srgbClr val="593380"/>
          </a:solidFill>
          <a:ln>
            <a:noFill/>
          </a:ln>
        </p:spPr>
        <p:txBody>
          <a:bodyPr wrap="square" anchor="ctr" lIns="45720" rIns="45720">
            <a:noAutofit/>
          </a:bodyPr>
          <a:lstStyle/>
          <a:p>
            <a:pPr algn="ctr"/>
            <a:r>
              <a:rPr lang="es-ES" sz="1700" b="1" dirty="0">
                <a:solidFill>
                  <a:srgbClr val="FFFFFF"/>
                </a:solidFill>
              </a:rPr>
              <a:t>F5</a:t>
            </a:r>
          </a:p>
          <a:p>
            <a:pPr algn="ctr"/>
            <a:r>
              <a:rPr lang="es-ES" sz="1150" dirty="0">
                <a:solidFill>
                  <a:srgbClr val="FFFFFF"/>
                </a:solidFill>
              </a:rPr>
              <a:t>Entrega y validación</a:t>
            </a:r>
          </a:p>
        </p:txBody>
      </p:sp>
      <p:sp>
        <p:nvSpPr>
          <p:cNvPr id="96" name="Caja 96"/>
          <p:cNvSpPr/>
          <p:nvPr/>
        </p:nvSpPr>
        <p:spPr>
          <a:xfrm>
            <a:off x="33853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97" name="Texto 97"/>
          <p:cNvSpPr txBox="1"/>
          <p:nvPr/>
        </p:nvSpPr>
        <p:spPr>
          <a:xfrm>
            <a:off x="34253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Qué se hace. </a:t>
            </a:r>
            <a:r>
              <a:rPr lang="es-ES" sz="1150" dirty="0">
                <a:solidFill>
                  <a:srgbClr val="2F2B28"/>
                </a:solidFill>
              </a:rPr>
              <a:t>Se construye, se valida y se pilota; se prueba la reversión y se firma la puesta en producción.</a:t>
            </a:r>
          </a:p>
          <a:p>
            <a:pPr algn="l">
              <a:spcAft>
                <a:spcPts val="500"/>
              </a:spcAft>
            </a:pPr>
            <a:r>
              <a:rPr lang="es-ES" sz="1150" b="1" dirty="0">
                <a:solidFill>
                  <a:srgbClr val="1A1817"/>
                </a:solidFill>
              </a:rPr>
              <a:t>Se rellena. </a:t>
            </a:r>
            <a:r>
              <a:rPr lang="es-ES" sz="1150" dirty="0">
                <a:solidFill>
                  <a:srgbClr val="2F2B28"/>
                </a:solidFill>
              </a:rPr>
              <a:t>P21 Informe de entrega · P22 Validación y piloto · P23 Firma de puesta en producción · P12 actualizado.</a:t>
            </a:r>
          </a:p>
        </p:txBody>
      </p:sp>
      <p:sp>
        <p:nvSpPr>
          <p:cNvPr id="98" name="Caja 98"/>
          <p:cNvSpPr/>
          <p:nvPr/>
        </p:nvSpPr>
        <p:spPr>
          <a:xfrm>
            <a:off x="33853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G5 → pasa a «En uso»</a:t>
            </a:r>
          </a:p>
        </p:txBody>
      </p:sp>
      <p:sp>
        <p:nvSpPr>
          <p:cNvPr id="99" name="Caja 99"/>
          <p:cNvSpPr/>
          <p:nvPr/>
        </p:nvSpPr>
        <p:spPr>
          <a:xfrm>
            <a:off x="6161000" y="1900000"/>
            <a:ext cx="2645700" cy="700000"/>
          </a:xfrm>
          <a:prstGeom prst="roundRect">
            <a:avLst>
              <a:gd name="adj" fmla="val 6000"/>
            </a:avLst>
          </a:prstGeom>
          <a:solidFill>
            <a:srgbClr val="0D7680"/>
          </a:solidFill>
          <a:ln>
            <a:noFill/>
          </a:ln>
        </p:spPr>
        <p:txBody>
          <a:bodyPr wrap="square" anchor="ctr" lIns="45720" rIns="45720">
            <a:noAutofit/>
          </a:bodyPr>
          <a:lstStyle/>
          <a:p>
            <a:pPr algn="ctr"/>
            <a:r>
              <a:rPr lang="es-ES" sz="1700" b="1" dirty="0">
                <a:solidFill>
                  <a:srgbClr val="FFFFFF"/>
                </a:solidFill>
              </a:rPr>
              <a:t>F6</a:t>
            </a:r>
          </a:p>
          <a:p>
            <a:pPr algn="ctr"/>
            <a:r>
              <a:rPr lang="es-ES" sz="1150" dirty="0">
                <a:solidFill>
                  <a:srgbClr val="FFFFFF"/>
                </a:solidFill>
              </a:rPr>
              <a:t>Operación y gobierno</a:t>
            </a:r>
          </a:p>
        </p:txBody>
      </p:sp>
      <p:sp>
        <p:nvSpPr>
          <p:cNvPr id="100" name="Caja 100"/>
          <p:cNvSpPr/>
          <p:nvPr/>
        </p:nvSpPr>
        <p:spPr>
          <a:xfrm>
            <a:off x="61610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101" name="Texto 101"/>
          <p:cNvSpPr txBox="1"/>
          <p:nvPr/>
        </p:nvSpPr>
        <p:spPr>
          <a:xfrm>
            <a:off x="62010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Qué se hace. </a:t>
            </a:r>
            <a:r>
              <a:rPr lang="es-ES" sz="1150" dirty="0">
                <a:solidFill>
                  <a:srgbClr val="2F2B28"/>
                </a:solidFill>
              </a:rPr>
              <a:t>Monitorización, incidentes, cambios y seguimiento del valor realizado, con revisión de continuidad periódica.</a:t>
            </a:r>
          </a:p>
          <a:p>
            <a:pPr algn="l">
              <a:spcAft>
                <a:spcPts val="500"/>
              </a:spcAft>
            </a:pPr>
            <a:r>
              <a:rPr lang="es-ES" sz="1150" b="1" dirty="0">
                <a:solidFill>
                  <a:srgbClr val="1A1817"/>
                </a:solidFill>
              </a:rPr>
              <a:t>Se rellena. </a:t>
            </a:r>
            <a:r>
              <a:rPr lang="es-ES" sz="1150" dirty="0">
                <a:solidFill>
                  <a:srgbClr val="2F2B28"/>
                </a:solidFill>
              </a:rPr>
              <a:t>P24 Manual de operación · P25 Monitorización · P26 y P27 Incidentes y cambios · P28 Valor · P65 Paquete R6.</a:t>
            </a:r>
          </a:p>
        </p:txBody>
      </p:sp>
      <p:sp>
        <p:nvSpPr>
          <p:cNvPr id="102" name="Caja 102"/>
          <p:cNvSpPr/>
          <p:nvPr/>
        </p:nvSpPr>
        <p:spPr>
          <a:xfrm>
            <a:off x="61610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R6 → sigue «En uso» o adelanta G7</a:t>
            </a:r>
          </a:p>
        </p:txBody>
      </p:sp>
      <p:sp>
        <p:nvSpPr>
          <p:cNvPr id="103" name="Caja 103"/>
          <p:cNvSpPr/>
          <p:nvPr/>
        </p:nvSpPr>
        <p:spPr>
          <a:xfrm>
            <a:off x="8936700" y="1900000"/>
            <a:ext cx="2645700" cy="700000"/>
          </a:xfrm>
          <a:prstGeom prst="roundRect">
            <a:avLst>
              <a:gd name="adj" fmla="val 6000"/>
            </a:avLst>
          </a:prstGeom>
          <a:solidFill>
            <a:srgbClr val="0D7680"/>
          </a:solidFill>
          <a:ln>
            <a:noFill/>
          </a:ln>
        </p:spPr>
        <p:txBody>
          <a:bodyPr wrap="square" anchor="ctr" lIns="45720" rIns="45720">
            <a:noAutofit/>
          </a:bodyPr>
          <a:lstStyle/>
          <a:p>
            <a:pPr algn="ctr"/>
            <a:r>
              <a:rPr lang="es-ES" sz="1700" b="1" dirty="0">
                <a:solidFill>
                  <a:srgbClr val="FFFFFF"/>
                </a:solidFill>
              </a:rPr>
              <a:t>F7</a:t>
            </a:r>
          </a:p>
          <a:p>
            <a:pPr algn="ctr"/>
            <a:r>
              <a:rPr lang="es-ES" sz="1150" dirty="0">
                <a:solidFill>
                  <a:srgbClr val="FFFFFF"/>
                </a:solidFill>
              </a:rPr>
              <a:t>Evolución o retirada</a:t>
            </a:r>
          </a:p>
        </p:txBody>
      </p:sp>
      <p:sp>
        <p:nvSpPr>
          <p:cNvPr id="104" name="Caja 104"/>
          <p:cNvSpPr/>
          <p:nvPr/>
        </p:nvSpPr>
        <p:spPr>
          <a:xfrm>
            <a:off x="89367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105" name="Texto 105"/>
          <p:cNvSpPr txBox="1"/>
          <p:nvPr/>
        </p:nvSpPr>
        <p:spPr>
          <a:xfrm>
            <a:off x="89767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Qué se hace. </a:t>
            </a:r>
            <a:r>
              <a:rPr lang="es-ES" sz="1150" dirty="0">
                <a:solidFill>
                  <a:srgbClr val="2F2B28"/>
                </a:solidFill>
              </a:rPr>
              <a:t>Con el valor realizado delante se decide escalar, iterar o retirar, y se registran las lecciones.</a:t>
            </a:r>
          </a:p>
          <a:p>
            <a:pPr algn="l">
              <a:spcAft>
                <a:spcPts val="500"/>
              </a:spcAft>
            </a:pPr>
            <a:r>
              <a:rPr lang="es-ES" sz="1150" b="1" dirty="0">
                <a:solidFill>
                  <a:srgbClr val="1A1817"/>
                </a:solidFill>
              </a:rPr>
              <a:t>Se rellena. </a:t>
            </a:r>
            <a:r>
              <a:rPr lang="es-ES" sz="1150" dirty="0">
                <a:solidFill>
                  <a:srgbClr val="2F2B28"/>
                </a:solidFill>
              </a:rPr>
              <a:t>P28 Seguimiento del valor · P30 Decisión de escalado o retirada, con plan de retirada si procede.</a:t>
            </a:r>
          </a:p>
        </p:txBody>
      </p:sp>
      <p:sp>
        <p:nvSpPr>
          <p:cNvPr id="106" name="Caja 106"/>
          <p:cNvSpPr/>
          <p:nvPr/>
        </p:nvSpPr>
        <p:spPr>
          <a:xfrm>
            <a:off x="89367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G7 → escala, itera o «Desenganchado»</a:t>
            </a:r>
          </a:p>
        </p:txBody>
      </p:sp>
      <p:sp>
        <p:nvSpPr>
          <p:cNvPr id="107" name="Texto 107"/>
          <p:cNvSpPr txBox="1"/>
          <p:nvPr/>
        </p:nvSpPr>
        <p:spPr>
          <a:xfrm>
            <a:off x="609600" y="6260000"/>
            <a:ext cx="10972800" cy="450000"/>
          </a:xfrm>
          <a:prstGeom prst="rect">
            <a:avLst/>
          </a:prstGeom>
          <a:noFill/>
        </p:spPr>
        <p:txBody>
          <a:bodyPr wrap="square" anchor="t" lIns="45720" rIns="45720">
            <a:noAutofit/>
          </a:bodyPr>
          <a:lstStyle/>
          <a:p>
            <a:pPr algn="l"/>
            <a:r>
              <a:rPr lang="es-ES" sz="1300" b="1" dirty="0">
                <a:solidFill>
                  <a:srgbClr val="0F5499"/>
                </a:solidFill>
              </a:rPr>
              <a:t>Cada decisión de puerta se deja en P29 y en el registro T01, con el estado de cada criterio y su evidencia.</a:t>
            </a: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14" name="Marca"/>
          <p:cNvSpPr/>
          <p:nvPr/>
        </p:nvSpPr>
        <p:spPr>
          <a:xfrm>
            <a:off x="609600" y="365760"/>
            <a:ext cx="182880" cy="182880"/>
          </a:xfrm>
          <a:prstGeom prst="rect">
            <a:avLst/>
          </a:prstGeom>
          <a:solidFill>
            <a:srgbClr val="990F3D"/>
          </a:solidFill>
        </p:spPr>
        <p:txBody>
          <a:bodyPr/>
          <a:lstStyle/>
          <a:p/>
        </p:txBody>
      </p:sp>
      <p:sp>
        <p:nvSpPr>
          <p:cNvPr id="115" name="Texto 115"/>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EMPRESA · AUTOCONSULTORÍA</a:t>
            </a:r>
          </a:p>
        </p:txBody>
      </p:sp>
      <p:sp>
        <p:nvSpPr>
          <p:cNvPr id="116" name="Texto 116"/>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El registro de iniciativas (T01): donde todo queda anotado</a:t>
            </a:r>
          </a:p>
        </p:txBody>
      </p:sp>
      <p:sp>
        <p:nvSpPr>
          <p:cNvPr id="117" name="Texto 117"/>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Cada iniciativa se da de alta como una oportunidad en un CRM; aquí, el registro de ejemplo con datos ficticios</a:t>
            </a:r>
          </a:p>
        </p:txBody>
      </p:sp>
      <p:pic>
        <p:nvPicPr>
          <p:cNvPr id="112" name="Imagen 112" descr="Vista de embudo del registro de iniciativas T01"/>
          <p:cNvPicPr>
            <a:picLocks noChangeAspect="1"/>
          </p:cNvPicPr>
          <p:nvPr/>
        </p:nvPicPr>
        <p:blipFill>
          <a:blip r:embed="rIdImg_registro"/>
          <a:stretch>
            <a:fillRect/>
          </a:stretch>
        </p:blipFill>
        <p:spPr>
          <a:xfrm>
            <a:off x="609600" y="1900000"/>
            <a:ext cx="6211111" cy="4300000"/>
          </a:xfrm>
          <a:prstGeom prst="rect">
            <a:avLst/>
          </a:prstGeom>
          <a:ln w="12700">
            <a:solidFill>
              <a:srgbClr val="C9A78D"/>
            </a:solidFill>
          </a:ln>
        </p:spPr>
      </p:pic>
      <p:sp>
        <p:nvSpPr>
          <p:cNvPr id="113" name="Texto 113"/>
          <p:cNvSpPr txBox="1"/>
          <p:nvPr/>
        </p:nvSpPr>
        <p:spPr>
          <a:xfrm>
            <a:off x="7709600" y="1850000"/>
            <a:ext cx="38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300" dirty="0">
                <a:solidFill>
                  <a:srgbClr val="2F2B28"/>
                </a:solidFill>
              </a:rPr>
              <a:t>Una barra por fase: cuántas iniciativas hay ahora en cada una y cuánto valor esperado llevan.</a:t>
            </a:r>
          </a:p>
          <a:p>
            <a:pPr marL="285750" indent="-285750">
              <a:spcAft>
                <a:spcPts val="400"/>
              </a:spcAft>
              <a:buClr>
                <a:srgbClr val="990F3D"/>
              </a:buClr>
              <a:buFont typeface="Arial"/>
              <a:buChar char="•"/>
            </a:pPr>
            <a:r>
              <a:rPr lang="es-ES" sz="1300" dirty="0">
                <a:solidFill>
                  <a:srgbClr val="2F2B28"/>
                </a:solidFill>
              </a:rPr>
              <a:t>Al decidir una puerta, el registro guarda la fecha, el resultado, quién verificó y quién decidió, y el estado de cada criterio.</a:t>
            </a:r>
          </a:p>
          <a:p>
            <a:pPr marL="285750" indent="-285750">
              <a:spcAft>
                <a:spcPts val="400"/>
              </a:spcAft>
              <a:buClr>
                <a:srgbClr val="990F3D"/>
              </a:buClr>
              <a:buFont typeface="Arial"/>
              <a:buChar char="•"/>
            </a:pPr>
            <a:r>
              <a:rPr lang="es-ES" sz="1300" dirty="0">
                <a:solidFill>
                  <a:srgbClr val="2F2B28"/>
                </a:solidFill>
              </a:rPr>
              <a:t>Con esas fechas calcula solo el tiempo en fase y marca «estancadas» las que superan el plazo de referencia.</a:t>
            </a:r>
          </a:p>
          <a:p>
            <a:pPr marL="285750" indent="-285750">
              <a:spcAft>
                <a:spcPts val="400"/>
              </a:spcAft>
              <a:buClr>
                <a:srgbClr val="990F3D"/>
              </a:buClr>
              <a:buFont typeface="Arial"/>
              <a:buChar char="•"/>
            </a:pPr>
            <a:r>
              <a:rPr lang="es-ES" sz="1300" dirty="0">
                <a:solidFill>
                  <a:srgbClr val="2F2B28"/>
                </a:solidFill>
              </a:rPr>
              <a:t>Las cifras llevan estado: validado, declarado o estimado. Lo que no se sabe queda «sin dato», nunca cero.</a:t>
            </a:r>
          </a:p>
          <a:p>
            <a:pPr marL="285750" indent="-285750">
              <a:spcAft>
                <a:spcPts val="400"/>
              </a:spcAft>
              <a:buClr>
                <a:srgbClr val="990F3D"/>
              </a:buClr>
              <a:buFont typeface="Arial"/>
              <a:buChar char="•"/>
            </a:pPr>
            <a:r>
              <a:rPr lang="es-ES" sz="1300" dirty="0">
                <a:solidFill>
                  <a:srgbClr val="2F2B28"/>
                </a:solidFill>
              </a:rPr>
              <a:t>Alertas: puertas pendientes, condiciones vencidas, riesgos sin responsable.</a:t>
            </a:r>
          </a:p>
          <a:p>
            <a:pPr marL="285750" indent="-285750">
              <a:spcAft>
                <a:spcPts val="400"/>
              </a:spcAft>
              <a:buClr>
                <a:srgbClr val="990F3D"/>
              </a:buClr>
              <a:buFont typeface="Arial"/>
              <a:buChar char="•"/>
            </a:pPr>
            <a:r>
              <a:rPr lang="es-ES" sz="1300" dirty="0">
                <a:solidFill>
                  <a:srgbClr val="2F2B28"/>
                </a:solidFill>
              </a:rPr>
              <a:t>Todo se guarda en un fichero JSON de la propia compañía: sin servidor y sin enviar datos a nadie.</a:t>
            </a:r>
          </a:p>
        </p:txBody>
      </p:sp>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20" name="Marca"/>
          <p:cNvSpPr/>
          <p:nvPr/>
        </p:nvSpPr>
        <p:spPr>
          <a:xfrm>
            <a:off x="609600" y="365760"/>
            <a:ext cx="182880" cy="182880"/>
          </a:xfrm>
          <a:prstGeom prst="rect">
            <a:avLst/>
          </a:prstGeom>
          <a:solidFill>
            <a:srgbClr val="990F3D"/>
          </a:solidFill>
        </p:spPr>
        <p:txBody>
          <a:bodyPr/>
          <a:lstStyle/>
          <a:p/>
        </p:txBody>
      </p:sp>
      <p:sp>
        <p:nvSpPr>
          <p:cNvPr id="121" name="Texto 121"/>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EMPRESA · AUTOCONSULTORÍA</a:t>
            </a:r>
          </a:p>
        </p:txBody>
      </p:sp>
      <p:sp>
        <p:nvSpPr>
          <p:cNvPr id="122" name="Texto 122"/>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El embudo de la cartera: cómo se lee</a:t>
            </a:r>
          </a:p>
        </p:txBody>
      </p:sp>
      <p:sp>
        <p:nvSpPr>
          <p:cNvPr id="123" name="Texto 123"/>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La cartera de IA, leída como un embudo comercial. Datos ilustrativos</a:t>
            </a:r>
          </a:p>
        </p:txBody>
      </p:sp>
      <p:pic>
        <p:nvPicPr>
          <p:cNvPr id="118" name="Imagen 118" descr="Embudo de iniciativas de IA con sus etapas, salidas y casos en uso"/>
          <p:cNvPicPr>
            <a:picLocks noChangeAspect="1"/>
          </p:cNvPicPr>
          <p:nvPr/>
        </p:nvPicPr>
        <p:blipFill>
          <a:blip r:embed="rIdImg_embudo"/>
          <a:stretch>
            <a:fillRect/>
          </a:stretch>
        </p:blipFill>
        <p:spPr>
          <a:xfrm>
            <a:off x="609600" y="1900000"/>
            <a:ext cx="7500000" cy="3692308"/>
          </a:xfrm>
          <a:prstGeom prst="rect">
            <a:avLst/>
          </a:prstGeom>
          <a:ln w="12700">
            <a:solidFill>
              <a:srgbClr val="C9A78D"/>
            </a:solidFill>
          </a:ln>
        </p:spPr>
      </p:pic>
      <p:sp>
        <p:nvSpPr>
          <p:cNvPr id="119" name="Texto 119"/>
          <p:cNvSpPr txBox="1"/>
          <p:nvPr/>
        </p:nvSpPr>
        <p:spPr>
          <a:xfrm>
            <a:off x="8309600" y="1850000"/>
            <a:ext cx="32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300" dirty="0">
                <a:solidFill>
                  <a:srgbClr val="2F2B28"/>
                </a:solidFill>
              </a:rPr>
              <a:t>Dentro del embudo, solo lo que está en curso: 5 propuestas, 4 con hipótesis de valor, 3 en prueba de concepto y 4 en desarrollo.</a:t>
            </a:r>
          </a:p>
          <a:p>
            <a:pPr marL="285750" indent="-285750">
              <a:spcAft>
                <a:spcPts val="400"/>
              </a:spcAft>
              <a:buClr>
                <a:srgbClr val="990F3D"/>
              </a:buClr>
              <a:buFont typeface="Arial"/>
              <a:buChar char="•"/>
            </a:pPr>
            <a:r>
              <a:rPr lang="es-ES" sz="1300" dirty="0">
                <a:solidFill>
                  <a:srgbClr val="2F2B28"/>
                </a:solidFill>
              </a:rPr>
              <a:t>A la izquierda, cuántas alcanzaron cada etapa (40 → 31 → 24 → 17) y cuánto tardan. El triángulo rojo avisa: la prueba de concepto supera su plazo.</a:t>
            </a:r>
          </a:p>
          <a:p>
            <a:pPr marL="285750" indent="-285750">
              <a:spcAft>
                <a:spcPts val="400"/>
              </a:spcAft>
              <a:buClr>
                <a:srgbClr val="990F3D"/>
              </a:buClr>
              <a:buFont typeface="Arial"/>
              <a:buChar char="•"/>
            </a:pPr>
            <a:r>
              <a:rPr lang="es-ES" sz="1300" dirty="0">
                <a:solidFill>
                  <a:srgbClr val="2F2B28"/>
                </a:solidFill>
              </a:rPr>
              <a:t>A la derecha, las que no superaron cada etapa y por qué: sin valor plausible, hipótesis refutada, riesgo inaceptable, coste superior al valor.</a:t>
            </a:r>
          </a:p>
          <a:p>
            <a:pPr marL="285750" indent="-285750">
              <a:spcAft>
                <a:spcPts val="400"/>
              </a:spcAft>
              <a:buClr>
                <a:srgbClr val="990F3D"/>
              </a:buClr>
              <a:buFont typeface="Arial"/>
              <a:buChar char="•"/>
            </a:pPr>
            <a:r>
              <a:rPr lang="es-ES" sz="1300" dirty="0">
                <a:solidFill>
                  <a:srgbClr val="2F2B28"/>
                </a:solidFill>
              </a:rPr>
              <a:t>Debajo, las que ya lo atravesaron: 11 en uso, con su valor y su coste, y 1 desenganchada.</a:t>
            </a:r>
          </a:p>
          <a:p>
            <a:pPr marL="285750" indent="-285750">
              <a:spcAft>
                <a:spcPts val="400"/>
              </a:spcAft>
              <a:buClr>
                <a:srgbClr val="990F3D"/>
              </a:buClr>
              <a:buFont typeface="Arial"/>
              <a:buChar char="•"/>
            </a:pPr>
            <a:r>
              <a:rPr lang="es-ES" sz="1300" dirty="0">
                <a:solidFill>
                  <a:srgbClr val="2F2B28"/>
                </a:solidFill>
              </a:rPr>
              <a:t>No se busca convertir más: parar en G3 una iniciativa inviable es un buen resultado. Un 100 % de conversión indicaría puertas blandas.</a:t>
            </a:r>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27" name="Marca"/>
          <p:cNvSpPr/>
          <p:nvPr/>
        </p:nvSpPr>
        <p:spPr>
          <a:xfrm>
            <a:off x="609600" y="365760"/>
            <a:ext cx="182880" cy="182880"/>
          </a:xfrm>
          <a:prstGeom prst="rect">
            <a:avLst/>
          </a:prstGeom>
          <a:solidFill>
            <a:srgbClr val="990F3D"/>
          </a:solidFill>
        </p:spPr>
        <p:txBody>
          <a:bodyPr/>
          <a:lstStyle/>
          <a:p/>
        </p:txBody>
      </p:sp>
      <p:sp>
        <p:nvSpPr>
          <p:cNvPr id="128" name="Texto 128"/>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EMPRESA · AUTOCONSULTORÍA</a:t>
            </a:r>
          </a:p>
        </p:txBody>
      </p:sp>
      <p:sp>
        <p:nvSpPr>
          <p:cNvPr id="129" name="Texto 129"/>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El panel del consejo (T17): cómo se lee</a:t>
            </a:r>
          </a:p>
        </p:txBody>
      </p:sp>
      <p:sp>
        <p:nvSpPr>
          <p:cNvPr id="130" name="Texto 130"/>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Se genera del mismo registro, sin volver a teclear nada. Datos ficticios</a:t>
            </a:r>
          </a:p>
        </p:txBody>
      </p:sp>
      <p:pic>
        <p:nvPicPr>
          <p:cNvPr id="124" name="Imagen 124" descr="Panel del consejo: tarjetas de cartera y valor y la lectura «Qué frena el escalado»"/>
          <p:cNvPicPr>
            <a:picLocks noChangeAspect="1"/>
          </p:cNvPicPr>
          <p:nvPr/>
        </p:nvPicPr>
        <p:blipFill>
          <a:blip r:embed="rIdImg_panel"/>
          <a:stretch>
            <a:fillRect/>
          </a:stretch>
        </p:blipFill>
        <p:spPr>
          <a:xfrm>
            <a:off x="609600" y="1900000"/>
            <a:ext cx="6700000" cy="4243333"/>
          </a:xfrm>
          <a:prstGeom prst="rect">
            <a:avLst/>
          </a:prstGeom>
          <a:ln w="12700">
            <a:solidFill>
              <a:srgbClr val="C9A78D"/>
            </a:solidFill>
          </a:ln>
        </p:spPr>
      </p:pic>
      <p:sp>
        <p:nvSpPr>
          <p:cNvPr id="125" name="Texto 125"/>
          <p:cNvSpPr txBox="1"/>
          <p:nvPr/>
        </p:nvSpPr>
        <p:spPr>
          <a:xfrm>
            <a:off x="7509600" y="1850000"/>
            <a:ext cx="40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300" dirty="0">
                <a:solidFill>
                  <a:srgbClr val="2F2B28"/>
                </a:solidFill>
              </a:rPr>
              <a:t>Arriba, las cifras: 15 casos, costes 2,4 M€ al año, retorno total 7,3 M€ y neto anual 4,8 M€. Cada cifra se pulsa y abre sus casos.</a:t>
            </a:r>
          </a:p>
          <a:p>
            <a:pPr marL="285750" indent="-285750">
              <a:spcAft>
                <a:spcPts val="400"/>
              </a:spcAft>
              <a:buClr>
                <a:srgbClr val="990F3D"/>
              </a:buClr>
              <a:buFont typeface="Arial"/>
              <a:buChar char="•"/>
            </a:pPr>
            <a:r>
              <a:rPr lang="es-ES" sz="1300" dirty="0">
                <a:solidFill>
                  <a:srgbClr val="2F2B28"/>
                </a:solidFill>
              </a:rPr>
              <a:t>La tarjeta amarilla es la importante: solo el 36 % del valor está validado por control de gestión. En rojo: solo 3 de 15 casos tienen todos los controles.</a:t>
            </a:r>
          </a:p>
          <a:p>
            <a:pPr marL="285750" indent="-285750">
              <a:spcAft>
                <a:spcPts val="400"/>
              </a:spcAft>
              <a:buClr>
                <a:srgbClr val="990F3D"/>
              </a:buClr>
              <a:buFont typeface="Arial"/>
              <a:buChar char="•"/>
            </a:pPr>
            <a:r>
              <a:rPr lang="es-ES" sz="1300" dirty="0">
                <a:solidFill>
                  <a:srgbClr val="2F2B28"/>
                </a:solidFill>
              </a:rPr>
              <a:t>Debajo, «Qué frena el escalado»: los tres frenos por los que empezar, con qué bloquean, qué hacer, quién y el valor en juego (documento 60 §10.4).</a:t>
            </a:r>
          </a:p>
          <a:p>
            <a:pPr marL="285750" indent="-285750">
              <a:spcAft>
                <a:spcPts val="400"/>
              </a:spcAft>
              <a:buClr>
                <a:srgbClr val="990F3D"/>
              </a:buClr>
              <a:buFont typeface="Arial"/>
              <a:buChar char="•"/>
            </a:pPr>
            <a:r>
              <a:rPr lang="es-ES" sz="1300" dirty="0">
                <a:solidFill>
                  <a:srgbClr val="2F2B28"/>
                </a:solidFill>
              </a:rPr>
              <a:t>En el ejemplo: primero riesgo y cumplimiento (bloquea G5), después el valor sin validar (bloquea G7 · Escalar) y los casos que no avanzan.</a:t>
            </a:r>
          </a:p>
          <a:p>
            <a:pPr marL="285750" indent="-285750">
              <a:spcAft>
                <a:spcPts val="400"/>
              </a:spcAft>
              <a:buClr>
                <a:srgbClr val="990F3D"/>
              </a:buClr>
              <a:buFont typeface="Arial"/>
              <a:buChar char="•"/>
            </a:pPr>
            <a:r>
              <a:rPr lang="es-ES" sz="1300" dirty="0">
                <a:solidFill>
                  <a:srgbClr val="2F2B28"/>
                </a:solidFill>
              </a:rPr>
              <a:t>El valor en juego ordena, no promete: es declarado, no validado.</a:t>
            </a:r>
          </a:p>
        </p:txBody>
      </p:sp>
      <p:sp>
        <p:nvSpPr>
          <p:cNvPr id="126" name="Texto 126"/>
          <p:cNvSpPr txBox="1"/>
          <p:nvPr/>
        </p:nvSpPr>
        <p:spPr>
          <a:xfrm>
            <a:off x="609600" y="6260000"/>
            <a:ext cx="10972800" cy="450000"/>
          </a:xfrm>
          <a:prstGeom prst="rect">
            <a:avLst/>
          </a:prstGeom>
          <a:noFill/>
        </p:spPr>
        <p:txBody>
          <a:bodyPr wrap="square" anchor="t" lIns="45720" rIns="45720">
            <a:noAutofit/>
          </a:bodyPr>
          <a:lstStyle/>
          <a:p>
            <a:pPr algn="l"/>
            <a:r>
              <a:rPr lang="es-ES" sz="1300" b="1" dirty="0">
                <a:solidFill>
                  <a:srgbClr val="0F5499"/>
                </a:solidFill>
              </a:rPr>
              <a:t>Si una cifra del panel no gusta, no se retoca el panel: se corrige la evidencia en el registro y se vuelve a generar.</a:t>
            </a: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34" name="Marca"/>
          <p:cNvSpPr/>
          <p:nvPr/>
        </p:nvSpPr>
        <p:spPr>
          <a:xfrm>
            <a:off x="609600" y="365760"/>
            <a:ext cx="182880" cy="182880"/>
          </a:xfrm>
          <a:prstGeom prst="rect">
            <a:avLst/>
          </a:prstGeom>
          <a:solidFill>
            <a:srgbClr val="990F3D"/>
          </a:solidFill>
        </p:spPr>
        <p:txBody>
          <a:bodyPr/>
          <a:lstStyle/>
          <a:p/>
        </p:txBody>
      </p:sp>
      <p:sp>
        <p:nvSpPr>
          <p:cNvPr id="135" name="Texto 135"/>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EMPRESA · AUTOCONSULTORÍA</a:t>
            </a:r>
          </a:p>
        </p:txBody>
      </p:sp>
      <p:sp>
        <p:nvSpPr>
          <p:cNvPr id="136" name="Texto 136"/>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Dónde está el impacto: esferas × ambición</a:t>
            </a:r>
          </a:p>
        </p:txBody>
      </p:sp>
      <p:sp>
        <p:nvSpPr>
          <p:cNvPr id="137" name="Texto 137"/>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El mapa de calor de la cartera (T16) en el mismo panel. Datos ficticios</a:t>
            </a:r>
          </a:p>
        </p:txBody>
      </p:sp>
      <p:pic>
        <p:nvPicPr>
          <p:cNvPr id="131" name="Imagen 131" descr="Mapa de calor de esferas por nivel de ambición con casos, inversión, neto y brechas"/>
          <p:cNvPicPr>
            <a:picLocks noChangeAspect="1"/>
          </p:cNvPicPr>
          <p:nvPr/>
        </p:nvPicPr>
        <p:blipFill>
          <a:blip r:embed="rIdImg_impacto"/>
          <a:stretch>
            <a:fillRect/>
          </a:stretch>
        </p:blipFill>
        <p:spPr>
          <a:xfrm>
            <a:off x="609600" y="1900000"/>
            <a:ext cx="6700000" cy="4243333"/>
          </a:xfrm>
          <a:prstGeom prst="rect">
            <a:avLst/>
          </a:prstGeom>
          <a:ln w="12700">
            <a:solidFill>
              <a:srgbClr val="C9A78D"/>
            </a:solidFill>
          </a:ln>
        </p:spPr>
      </p:pic>
      <p:sp>
        <p:nvSpPr>
          <p:cNvPr id="132" name="Texto 132"/>
          <p:cNvSpPr txBox="1"/>
          <p:nvPr/>
        </p:nvSpPr>
        <p:spPr>
          <a:xfrm>
            <a:off x="7509600" y="1850000"/>
            <a:ext cx="40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300" dirty="0">
                <a:solidFill>
                  <a:srgbClr val="2F2B28"/>
                </a:solidFill>
              </a:rPr>
              <a:t>Filas: las áreas donde la IA crea valor (cliente, producto, personas, operaciones, datos, conocimiento, decisión). Columnas: optimizar, aumentar, transformar.</a:t>
            </a:r>
          </a:p>
          <a:p>
            <a:pPr marL="285750" indent="-285750">
              <a:spcAft>
                <a:spcPts val="400"/>
              </a:spcAft>
              <a:buClr>
                <a:srgbClr val="990F3D"/>
              </a:buClr>
              <a:buFont typeface="Arial"/>
              <a:buChar char="•"/>
            </a:pPr>
            <a:r>
              <a:rPr lang="es-ES" sz="1300" dirty="0">
                <a:solidFill>
                  <a:srgbClr val="2F2B28"/>
                </a:solidFill>
              </a:rPr>
              <a:t>Cada celda: casos, inversión y coste, neto anual y valor validado; el color dice dónde se concentra el gasto.</a:t>
            </a:r>
          </a:p>
          <a:p>
            <a:pPr marL="285750" indent="-285750">
              <a:spcAft>
                <a:spcPts val="400"/>
              </a:spcAft>
              <a:buClr>
                <a:srgbClr val="990F3D"/>
              </a:buClr>
              <a:buFont typeface="Arial"/>
              <a:buChar char="•"/>
            </a:pPr>
            <a:r>
              <a:rPr lang="es-ES" sz="1300" dirty="0">
                <a:solidFill>
                  <a:srgbClr val="2F2B28"/>
                </a:solidFill>
              </a:rPr>
              <a:t>«Brecha»: la ambición que aprobó la dirección en C2 para esa esfera no tiene ningún caso que haya superado G2.</a:t>
            </a:r>
          </a:p>
          <a:p>
            <a:pPr marL="285750" indent="-285750">
              <a:spcAft>
                <a:spcPts val="400"/>
              </a:spcAft>
              <a:buClr>
                <a:srgbClr val="990F3D"/>
              </a:buClr>
              <a:buFont typeface="Arial"/>
              <a:buChar char="•"/>
            </a:pPr>
            <a:r>
              <a:rPr lang="es-ES" sz="1300" dirty="0">
                <a:solidFill>
                  <a:srgbClr val="2F2B28"/>
                </a:solidFill>
              </a:rPr>
              <a:t>En el ejemplo: el 40 % del gasto está en Cliente, Datos no tiene actividad y cinco esferas tienen brecha.</a:t>
            </a:r>
          </a:p>
          <a:p>
            <a:pPr marL="285750" indent="-285750">
              <a:spcAft>
                <a:spcPts val="400"/>
              </a:spcAft>
              <a:buClr>
                <a:srgbClr val="990F3D"/>
              </a:buClr>
              <a:buFont typeface="Arial"/>
              <a:buChar char="•"/>
            </a:pPr>
            <a:r>
              <a:rPr lang="es-ES" sz="1300" dirty="0">
                <a:solidFill>
                  <a:srgbClr val="2F2B28"/>
                </a:solidFill>
              </a:rPr>
              <a:t>La ambición objetivo sale de la tesis aprobada en el registro, no se escribe en el panel.</a:t>
            </a:r>
          </a:p>
        </p:txBody>
      </p:sp>
      <p:sp>
        <p:nvSpPr>
          <p:cNvPr id="133" name="Texto 133"/>
          <p:cNvSpPr txBox="1"/>
          <p:nvPr/>
        </p:nvSpPr>
        <p:spPr>
          <a:xfrm>
            <a:off x="609600" y="6260000"/>
            <a:ext cx="10972800" cy="450000"/>
          </a:xfrm>
          <a:prstGeom prst="rect">
            <a:avLst/>
          </a:prstGeom>
          <a:noFill/>
        </p:spPr>
        <p:txBody>
          <a:bodyPr wrap="square" anchor="t" lIns="45720" rIns="45720">
            <a:noAutofit/>
          </a:bodyPr>
          <a:lstStyle/>
          <a:p>
            <a:pPr algn="l"/>
            <a:r>
              <a:rPr lang="es-ES" sz="1300" b="1" dirty="0">
                <a:solidFill>
                  <a:srgbClr val="0F5499"/>
                </a:solidFill>
              </a:rPr>
              <a:t>La pregunta que responde: ¿dónde tiene la IA más impacto en la compañía y dónde no estamos jugando? (documento 10 §8)</a:t>
            </a:r>
          </a:p>
        </p:txBody>
      </p:sp>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1817"/>
        </a:solidFill>
        <a:effectLst/>
      </p:bgPr>
    </p:bg>
    <p:spTree>
      <p:nvGrpSpPr>
        <p:cNvPr id="1" name=""/>
        <p:cNvGrpSpPr/>
        <p:nvPr/>
      </p:nvGrpSpPr>
      <p:grpSpPr>
        <a:xfrm>
          <a:off x="0" y="0"/>
          <a:ext cx="0" cy="0"/>
          <a:chOff x="0" y="0"/>
          <a:chExt cx="0" cy="0"/>
        </a:xfrm>
      </p:grpSpPr>
      <p:sp>
        <p:nvSpPr>
          <p:cNvPr id="138" name="Marca"/>
          <p:cNvSpPr/>
          <p:nvPr/>
        </p:nvSpPr>
        <p:spPr>
          <a:xfrm>
            <a:off x="609600" y="2400000"/>
            <a:ext cx="182880" cy="182880"/>
          </a:xfrm>
          <a:prstGeom prst="rect">
            <a:avLst/>
          </a:prstGeom>
          <a:solidFill>
            <a:srgbClr val="990F3D"/>
          </a:solidFill>
        </p:spPr>
        <p:txBody>
          <a:bodyPr/>
          <a:lstStyle/>
          <a:p/>
        </p:txBody>
      </p:sp>
      <p:sp>
        <p:nvSpPr>
          <p:cNvPr id="139" name="Texto 139"/>
          <p:cNvSpPr txBox="1"/>
          <p:nvPr/>
        </p:nvSpPr>
        <p:spPr>
          <a:xfrm>
            <a:off x="838200" y="2320000"/>
            <a:ext cx="9000000" cy="400000"/>
          </a:xfrm>
          <a:prstGeom prst="rect">
            <a:avLst/>
          </a:prstGeom>
          <a:noFill/>
        </p:spPr>
        <p:txBody>
          <a:bodyPr wrap="square" anchor="t" lIns="45720" rIns="45720">
            <a:noAutofit/>
          </a:bodyPr>
          <a:lstStyle/>
          <a:p>
            <a:pPr algn="l"/>
            <a:r>
              <a:rPr lang="es-ES" sz="1600" b="1" dirty="0">
                <a:solidFill>
                  <a:srgbClr val="F3CFB2"/>
                </a:solidFill>
              </a:rPr>
              <a:t>DOS EJEMPLOS</a:t>
            </a:r>
          </a:p>
        </p:txBody>
      </p:sp>
      <p:sp>
        <p:nvSpPr>
          <p:cNvPr id="140" name="Texto 140"/>
          <p:cNvSpPr txBox="1"/>
          <p:nvPr/>
        </p:nvSpPr>
        <p:spPr>
          <a:xfrm>
            <a:off x="609600" y="2850000"/>
            <a:ext cx="10972800" cy="1400000"/>
          </a:xfrm>
          <a:prstGeom prst="rect">
            <a:avLst/>
          </a:prstGeom>
          <a:noFill/>
        </p:spPr>
        <p:txBody>
          <a:bodyPr wrap="square" anchor="t" lIns="45720" rIns="45720">
            <a:noAutofit/>
          </a:bodyPr>
          <a:lstStyle/>
          <a:p>
            <a:pPr algn="l"/>
            <a:r>
              <a:rPr lang="es-ES" sz="4000" b="1" dirty="0">
                <a:solidFill>
                  <a:srgbClr val="FBE2CD"/>
                </a:solidFill>
              </a:rPr>
              <a:t>Una iniciativa que se para y otra que llega a producción</a:t>
            </a:r>
          </a:p>
        </p:txBody>
      </p:sp>
      <p:sp>
        <p:nvSpPr>
          <p:cNvPr id="141" name="Texto 141"/>
          <p:cNvSpPr txBox="1"/>
          <p:nvPr/>
        </p:nvSpPr>
        <p:spPr>
          <a:xfrm>
            <a:off x="609600" y="4400000"/>
            <a:ext cx="10500000" cy="900000"/>
          </a:xfrm>
          <a:prstGeom prst="rect">
            <a:avLst/>
          </a:prstGeom>
          <a:noFill/>
        </p:spPr>
        <p:txBody>
          <a:bodyPr wrap="square" anchor="t" lIns="45720" rIns="45720">
            <a:noAutofit/>
          </a:bodyPr>
          <a:lstStyle/>
          <a:p>
            <a:pPr algn="l"/>
            <a:r>
              <a:rPr lang="es-ES" sz="1700" dirty="0">
                <a:solidFill>
                  <a:srgbClr val="F3CFB2"/>
                </a:solidFill>
              </a:rPr>
              <a:t>Datos ficticios, ilustrativos: no describen ninguna compañía real.</a:t>
            </a:r>
          </a:p>
        </p:txBody>
      </p:sp>
    </p:spTree>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45" name="Marca"/>
          <p:cNvSpPr/>
          <p:nvPr/>
        </p:nvSpPr>
        <p:spPr>
          <a:xfrm>
            <a:off x="609600" y="365760"/>
            <a:ext cx="182880" cy="182880"/>
          </a:xfrm>
          <a:prstGeom prst="rect">
            <a:avLst/>
          </a:prstGeom>
          <a:solidFill>
            <a:srgbClr val="990F3D"/>
          </a:solidFill>
        </p:spPr>
        <p:txBody>
          <a:bodyPr/>
          <a:lstStyle/>
          <a:p/>
        </p:txBody>
      </p:sp>
      <p:sp>
        <p:nvSpPr>
          <p:cNvPr id="146" name="Texto 146"/>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EMPRESA · AUTOCONSULTORÍA</a:t>
            </a:r>
          </a:p>
        </p:txBody>
      </p:sp>
      <p:sp>
        <p:nvSpPr>
          <p:cNvPr id="147" name="Texto 147"/>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Ejemplo 1 · Cuando una iniciativa se para</a:t>
            </a:r>
          </a:p>
        </p:txBody>
      </p:sp>
      <p:sp>
        <p:nvSpPr>
          <p:cNvPr id="142" name="Texto 142"/>
          <p:cNvSpPr txBox="1"/>
          <p:nvPr/>
        </p:nvSpPr>
        <p:spPr>
          <a:xfrm>
            <a:off x="609600" y="1330000"/>
            <a:ext cx="10972800" cy="500000"/>
          </a:xfrm>
          <a:prstGeom prst="rect">
            <a:avLst/>
          </a:prstGeom>
          <a:noFill/>
        </p:spPr>
        <p:txBody>
          <a:bodyPr wrap="square" anchor="t" lIns="45720" rIns="45720">
            <a:noAutofit/>
          </a:bodyPr>
          <a:lstStyle/>
          <a:p>
            <a:pPr algn="l"/>
            <a:r>
              <a:rPr lang="es-ES" sz="1700" b="1" dirty="0">
                <a:solidFill>
                  <a:srgbClr val="2F2B28"/>
                </a:solidFill>
              </a:rPr>
              <a:t>Cribado de candidaturas en procesos de selección (RR. HH.)</a:t>
            </a:r>
          </a:p>
        </p:txBody>
      </p:sp>
      <p:sp>
        <p:nvSpPr>
          <p:cNvPr id="143" name="Texto 143"/>
          <p:cNvSpPr txBox="1"/>
          <p:nvPr/>
        </p:nvSpPr>
        <p:spPr>
          <a:xfrm>
            <a:off x="609600" y="1900000"/>
            <a:ext cx="10972800" cy="355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500" dirty="0">
                <a:solidFill>
                  <a:srgbClr val="2F2B28"/>
                </a:solidFill>
              </a:rPr>
              <a:t>Fases 0 y 1: RR. HH. la patrocina (P01–P05). Al decidir sobre personas, la intensidad es Enterprise (P04). Entra en «Propuesto».</a:t>
            </a:r>
          </a:p>
          <a:p>
            <a:pPr marL="285750" indent="-285750">
              <a:spcAft>
                <a:spcPts val="400"/>
              </a:spcAft>
              <a:buClr>
                <a:srgbClr val="990F3D"/>
              </a:buClr>
              <a:buFont typeface="Arial"/>
              <a:buChar char="•"/>
            </a:pPr>
            <a:r>
              <a:rPr lang="es-ES" sz="1500" dirty="0">
                <a:solidFill>
                  <a:srgbClr val="2F2B28"/>
                </a:solidFill>
              </a:rPr>
              <a:t>Fase 2: la hipótesis (P08) promete un 40 % menos de tiempo de cribado frente a la línea base (P09). El piloto lo confirma: G2, Continuar.</a:t>
            </a:r>
          </a:p>
          <a:p>
            <a:pPr marL="285750" indent="-285750">
              <a:spcAft>
                <a:spcPts val="400"/>
              </a:spcAft>
              <a:buClr>
                <a:srgbClr val="990F3D"/>
              </a:buClr>
              <a:buFont typeface="Arial"/>
              <a:buChar char="•"/>
            </a:pPr>
            <a:r>
              <a:rPr lang="es-ES" sz="1500" dirty="0">
                <a:solidFill>
                  <a:srgbClr val="2F2B28"/>
                </a:solidFill>
              </a:rPr>
              <a:t>Fase 3: la clasificación regulatoria (P11) lo sitúa como sistema de alto riesgo. La prueba de sesgo detecta que penaliza a candidatos de más edad.</a:t>
            </a:r>
          </a:p>
          <a:p>
            <a:pPr marL="285750" indent="-285750">
              <a:spcAft>
                <a:spcPts val="400"/>
              </a:spcAft>
              <a:buClr>
                <a:srgbClr val="990F3D"/>
              </a:buClr>
              <a:buFont typeface="Arial"/>
              <a:buChar char="•"/>
            </a:pPr>
            <a:r>
              <a:rPr lang="es-ES" sz="1500" dirty="0">
                <a:solidFill>
                  <a:srgbClr val="2F2B28"/>
                </a:solidFill>
              </a:rPr>
              <a:t>Se itera dos veces ajustando variables: corregir el sesgo destruye la capacidad predictiva que justificaba el proyecto.</a:t>
            </a:r>
          </a:p>
          <a:p>
            <a:pPr marL="285750" indent="-285750">
              <a:spcAft>
                <a:spcPts val="400"/>
              </a:spcAft>
              <a:buClr>
                <a:srgbClr val="990F3D"/>
              </a:buClr>
              <a:buFont typeface="Arial"/>
              <a:buChar char="•"/>
            </a:pPr>
            <a:r>
              <a:rPr lang="es-ES" sz="1500" dirty="0">
                <a:solidFill>
                  <a:srgbClr val="2F2B28"/>
                </a:solidFill>
              </a:rPr>
              <a:t>G3: riesgo residual alto sin mitigación viable (P12, P13). El comité de IA decide Parar; queda en P29 con su motivo.</a:t>
            </a:r>
          </a:p>
          <a:p>
            <a:pPr marL="285750" indent="-285750">
              <a:spcAft>
                <a:spcPts val="400"/>
              </a:spcAft>
              <a:buClr>
                <a:srgbClr val="990F3D"/>
              </a:buClr>
              <a:buFont typeface="Arial"/>
              <a:buChar char="•"/>
            </a:pPr>
            <a:r>
              <a:rPr lang="es-ES" sz="1500" dirty="0">
                <a:solidFill>
                  <a:srgbClr val="2F2B28"/>
                </a:solidFill>
              </a:rPr>
              <a:t>En el embudo aparece a la derecha de «Prueba de concepto»: Descartado · riesgo inaceptable. Lección: probar el sesgo antes, en la fase 2.</a:t>
            </a:r>
          </a:p>
        </p:txBody>
      </p:sp>
      <p:sp>
        <p:nvSpPr>
          <p:cNvPr id="144" name="Caja 144"/>
          <p:cNvSpPr/>
          <p:nvPr/>
        </p:nvSpPr>
        <p:spPr>
          <a:xfrm>
            <a:off x="609600" y="5600000"/>
            <a:ext cx="10972800" cy="900000"/>
          </a:xfrm>
          <a:prstGeom prst="roundRect">
            <a:avLst>
              <a:gd name="adj" fmla="val 6000"/>
            </a:avLst>
          </a:prstGeom>
          <a:solidFill>
            <a:srgbClr val="990F3D"/>
          </a:solidFill>
          <a:ln>
            <a:noFill/>
          </a:ln>
        </p:spPr>
        <p:txBody>
          <a:bodyPr wrap="square" anchor="ctr" lIns="45720" rIns="45720">
            <a:noAutofit/>
          </a:bodyPr>
          <a:lstStyle/>
          <a:p>
            <a:pPr algn="ctr"/>
            <a:r>
              <a:rPr lang="es-ES" sz="2100" b="1" dirty="0">
                <a:solidFill>
                  <a:srgbClr val="FFFFFF"/>
                </a:solidFill>
              </a:rPr>
              <a:t>PARADA EN G3 · SE EVITÓ CONSTRUIR Y OPERAR UN SISTEMA INVIABLE</a:t>
            </a:r>
          </a:p>
        </p:txBody>
      </p:sp>
    </p:spTree>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65" name="Marca"/>
          <p:cNvSpPr/>
          <p:nvPr/>
        </p:nvSpPr>
        <p:spPr>
          <a:xfrm>
            <a:off x="609600" y="365760"/>
            <a:ext cx="182880" cy="182880"/>
          </a:xfrm>
          <a:prstGeom prst="rect">
            <a:avLst/>
          </a:prstGeom>
          <a:solidFill>
            <a:srgbClr val="990F3D"/>
          </a:solidFill>
        </p:spPr>
        <p:txBody>
          <a:bodyPr/>
          <a:lstStyle/>
          <a:p/>
        </p:txBody>
      </p:sp>
      <p:sp>
        <p:nvSpPr>
          <p:cNvPr id="166" name="Texto 166"/>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EMPRESA · AUTOCONSULTORÍA</a:t>
            </a:r>
          </a:p>
        </p:txBody>
      </p:sp>
      <p:sp>
        <p:nvSpPr>
          <p:cNvPr id="167" name="Texto 167"/>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La iniciativa 1, sobre el ciclo de vida</a:t>
            </a:r>
          </a:p>
        </p:txBody>
      </p:sp>
      <p:sp>
        <p:nvSpPr>
          <p:cNvPr id="168" name="Texto 168"/>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Llegó a la fase 3 y no superó la puerta G3</a:t>
            </a:r>
          </a:p>
        </p:txBody>
      </p:sp>
      <p:sp>
        <p:nvSpPr>
          <p:cNvPr id="148" name="Caja 148"/>
          <p:cNvSpPr/>
          <p:nvPr/>
        </p:nvSpPr>
        <p:spPr>
          <a:xfrm>
            <a:off x="681000" y="2350000"/>
            <a:ext cx="1240000" cy="1500000"/>
          </a:xfrm>
          <a:prstGeom prst="roundRect">
            <a:avLst>
              <a:gd name="adj" fmla="val 6000"/>
            </a:avLst>
          </a:prstGeom>
          <a:solidFill>
            <a:srgbClr val="990F3D"/>
          </a:solidFill>
          <a:ln>
            <a:noFill/>
          </a:ln>
        </p:spPr>
        <p:txBody>
          <a:bodyPr wrap="square" anchor="ctr" lIns="45720" rIns="45720">
            <a:noAutofit/>
          </a:bodyPr>
          <a:lstStyle/>
          <a:p>
            <a:pPr algn="ctr"/>
            <a:r>
              <a:rPr lang="es-ES" sz="2400" b="1" dirty="0">
                <a:solidFill>
                  <a:srgbClr val="FFFFFF"/>
                </a:solidFill>
              </a:rPr>
              <a:t>F0</a:t>
            </a:r>
          </a:p>
          <a:p>
            <a:pPr algn="ctr"/>
            <a:r>
              <a:rPr lang="es-ES" sz="1050" dirty="0">
                <a:solidFill>
                  <a:srgbClr val="FFFFFF"/>
                </a:solidFill>
              </a:rPr>
              <a:t>Contexto y restricciones</a:t>
            </a:r>
          </a:p>
        </p:txBody>
      </p:sp>
      <p:sp>
        <p:nvSpPr>
          <p:cNvPr id="149" name="Texto 149"/>
          <p:cNvSpPr txBox="1"/>
          <p:nvPr/>
        </p:nvSpPr>
        <p:spPr>
          <a:xfrm>
            <a:off x="1591000" y="3900000"/>
            <a:ext cx="800000" cy="300000"/>
          </a:xfrm>
          <a:prstGeom prst="rect">
            <a:avLst/>
          </a:prstGeom>
          <a:noFill/>
        </p:spPr>
        <p:txBody>
          <a:bodyPr wrap="square" anchor="t" lIns="45720" rIns="45720">
            <a:noAutofit/>
          </a:bodyPr>
          <a:lstStyle/>
          <a:p>
            <a:pPr algn="ctr"/>
            <a:r>
              <a:rPr lang="es-ES" sz="1200" b="1" dirty="0">
                <a:solidFill>
                  <a:srgbClr val="990F3D"/>
                </a:solidFill>
              </a:rPr>
              <a:t>G0</a:t>
            </a:r>
          </a:p>
        </p:txBody>
      </p:sp>
      <p:sp>
        <p:nvSpPr>
          <p:cNvPr id="150" name="Caja 150"/>
          <p:cNvSpPr/>
          <p:nvPr/>
        </p:nvSpPr>
        <p:spPr>
          <a:xfrm>
            <a:off x="2051000" y="2350000"/>
            <a:ext cx="1240000" cy="1500000"/>
          </a:xfrm>
          <a:prstGeom prst="roundRect">
            <a:avLst>
              <a:gd name="adj" fmla="val 6000"/>
            </a:avLst>
          </a:prstGeom>
          <a:solidFill>
            <a:srgbClr val="990F3D"/>
          </a:solidFill>
          <a:ln>
            <a:noFill/>
          </a:ln>
        </p:spPr>
        <p:txBody>
          <a:bodyPr wrap="square" anchor="ctr" lIns="45720" rIns="45720">
            <a:noAutofit/>
          </a:bodyPr>
          <a:lstStyle/>
          <a:p>
            <a:pPr algn="ctr"/>
            <a:r>
              <a:rPr lang="es-ES" sz="2400" b="1" dirty="0">
                <a:solidFill>
                  <a:srgbClr val="FFFFFF"/>
                </a:solidFill>
              </a:rPr>
              <a:t>F1</a:t>
            </a:r>
          </a:p>
          <a:p>
            <a:pPr algn="ctr"/>
            <a:r>
              <a:rPr lang="es-ES" sz="1050" dirty="0">
                <a:solidFill>
                  <a:srgbClr val="FFFFFF"/>
                </a:solidFill>
              </a:rPr>
              <a:t>Descubrimiento de oportunidades</a:t>
            </a:r>
          </a:p>
        </p:txBody>
      </p:sp>
      <p:sp>
        <p:nvSpPr>
          <p:cNvPr id="151" name="Texto 151"/>
          <p:cNvSpPr txBox="1"/>
          <p:nvPr/>
        </p:nvSpPr>
        <p:spPr>
          <a:xfrm>
            <a:off x="2961000" y="3900000"/>
            <a:ext cx="800000" cy="300000"/>
          </a:xfrm>
          <a:prstGeom prst="rect">
            <a:avLst/>
          </a:prstGeom>
          <a:noFill/>
        </p:spPr>
        <p:txBody>
          <a:bodyPr wrap="square" anchor="t" lIns="45720" rIns="45720">
            <a:noAutofit/>
          </a:bodyPr>
          <a:lstStyle/>
          <a:p>
            <a:pPr algn="ctr"/>
            <a:r>
              <a:rPr lang="es-ES" sz="1200" b="1" dirty="0">
                <a:solidFill>
                  <a:srgbClr val="990F3D"/>
                </a:solidFill>
              </a:rPr>
              <a:t>G1</a:t>
            </a:r>
          </a:p>
        </p:txBody>
      </p:sp>
      <p:sp>
        <p:nvSpPr>
          <p:cNvPr id="152" name="Caja 152"/>
          <p:cNvSpPr/>
          <p:nvPr/>
        </p:nvSpPr>
        <p:spPr>
          <a:xfrm>
            <a:off x="3421000" y="2350000"/>
            <a:ext cx="1240000" cy="1500000"/>
          </a:xfrm>
          <a:prstGeom prst="roundRect">
            <a:avLst>
              <a:gd name="adj" fmla="val 6000"/>
            </a:avLst>
          </a:prstGeom>
          <a:solidFill>
            <a:srgbClr val="990F3D"/>
          </a:solidFill>
          <a:ln>
            <a:noFill/>
          </a:ln>
        </p:spPr>
        <p:txBody>
          <a:bodyPr wrap="square" anchor="ctr" lIns="45720" rIns="45720">
            <a:noAutofit/>
          </a:bodyPr>
          <a:lstStyle/>
          <a:p>
            <a:pPr algn="ctr"/>
            <a:r>
              <a:rPr lang="es-ES" sz="2400" b="1" dirty="0">
                <a:solidFill>
                  <a:srgbClr val="FFFFFF"/>
                </a:solidFill>
              </a:rPr>
              <a:t>F2</a:t>
            </a:r>
          </a:p>
          <a:p>
            <a:pPr algn="ctr"/>
            <a:r>
              <a:rPr lang="es-ES" sz="1050" dirty="0">
                <a:solidFill>
                  <a:srgbClr val="FFFFFF"/>
                </a:solidFill>
              </a:rPr>
              <a:t>Hipótesis de valor</a:t>
            </a:r>
          </a:p>
        </p:txBody>
      </p:sp>
      <p:sp>
        <p:nvSpPr>
          <p:cNvPr id="153" name="Texto 153"/>
          <p:cNvSpPr txBox="1"/>
          <p:nvPr/>
        </p:nvSpPr>
        <p:spPr>
          <a:xfrm>
            <a:off x="4331000" y="3900000"/>
            <a:ext cx="800000" cy="300000"/>
          </a:xfrm>
          <a:prstGeom prst="rect">
            <a:avLst/>
          </a:prstGeom>
          <a:noFill/>
        </p:spPr>
        <p:txBody>
          <a:bodyPr wrap="square" anchor="t" lIns="45720" rIns="45720">
            <a:noAutofit/>
          </a:bodyPr>
          <a:lstStyle/>
          <a:p>
            <a:pPr algn="ctr"/>
            <a:r>
              <a:rPr lang="es-ES" sz="1200" b="1" dirty="0">
                <a:solidFill>
                  <a:srgbClr val="990F3D"/>
                </a:solidFill>
              </a:rPr>
              <a:t>G2</a:t>
            </a:r>
          </a:p>
        </p:txBody>
      </p:sp>
      <p:sp>
        <p:nvSpPr>
          <p:cNvPr id="154" name="Caja 154"/>
          <p:cNvSpPr/>
          <p:nvPr/>
        </p:nvSpPr>
        <p:spPr>
          <a:xfrm>
            <a:off x="4791000" y="2350000"/>
            <a:ext cx="1240000" cy="1500000"/>
          </a:xfrm>
          <a:prstGeom prst="roundRect">
            <a:avLst>
              <a:gd name="adj" fmla="val 6000"/>
            </a:avLst>
          </a:prstGeom>
          <a:solidFill>
            <a:srgbClr val="990F3D"/>
          </a:solidFill>
          <a:ln>
            <a:noFill/>
          </a:ln>
        </p:spPr>
        <p:txBody>
          <a:bodyPr wrap="square" anchor="ctr" lIns="45720" rIns="45720">
            <a:noAutofit/>
          </a:bodyPr>
          <a:lstStyle/>
          <a:p>
            <a:pPr algn="ctr"/>
            <a:r>
              <a:rPr lang="es-ES" sz="2400" b="1" dirty="0">
                <a:solidFill>
                  <a:srgbClr val="FFFFFF"/>
                </a:solidFill>
              </a:rPr>
              <a:t>F3</a:t>
            </a:r>
          </a:p>
          <a:p>
            <a:pPr algn="ctr"/>
            <a:r>
              <a:rPr lang="es-ES" sz="1050" dirty="0">
                <a:solidFill>
                  <a:srgbClr val="FFFFFF"/>
                </a:solidFill>
              </a:rPr>
              <a:t>Viabilidad y riesgo</a:t>
            </a:r>
          </a:p>
        </p:txBody>
      </p:sp>
      <p:sp>
        <p:nvSpPr>
          <p:cNvPr id="155" name="Texto 155"/>
          <p:cNvSpPr txBox="1"/>
          <p:nvPr/>
        </p:nvSpPr>
        <p:spPr>
          <a:xfrm>
            <a:off x="5701000" y="3900000"/>
            <a:ext cx="800000" cy="300000"/>
          </a:xfrm>
          <a:prstGeom prst="rect">
            <a:avLst/>
          </a:prstGeom>
          <a:noFill/>
        </p:spPr>
        <p:txBody>
          <a:bodyPr wrap="square" anchor="t" lIns="45720" rIns="45720">
            <a:noAutofit/>
          </a:bodyPr>
          <a:lstStyle/>
          <a:p>
            <a:pPr algn="ctr"/>
            <a:r>
              <a:rPr lang="es-ES" sz="1200" b="1" dirty="0">
                <a:solidFill>
                  <a:srgbClr val="990F3D"/>
                </a:solidFill>
              </a:rPr>
              <a:t>G3</a:t>
            </a:r>
          </a:p>
        </p:txBody>
      </p:sp>
      <p:sp>
        <p:nvSpPr>
          <p:cNvPr id="156" name="Caja 156"/>
          <p:cNvSpPr/>
          <p:nvPr/>
        </p:nvSpPr>
        <p:spPr>
          <a:xfrm>
            <a:off x="6161000" y="2350000"/>
            <a:ext cx="1240000" cy="1500000"/>
          </a:xfrm>
          <a:prstGeom prst="roundRect">
            <a:avLst>
              <a:gd name="adj" fmla="val 6000"/>
            </a:avLst>
          </a:prstGeom>
          <a:solidFill>
            <a:srgbClr val="C9A78D"/>
          </a:solidFill>
          <a:ln>
            <a:noFill/>
          </a:ln>
        </p:spPr>
        <p:txBody>
          <a:bodyPr wrap="square" anchor="ctr" lIns="45720" rIns="45720">
            <a:noAutofit/>
          </a:bodyPr>
          <a:lstStyle/>
          <a:p>
            <a:pPr algn="ctr"/>
            <a:r>
              <a:rPr lang="es-ES" sz="2400" b="1" dirty="0">
                <a:solidFill>
                  <a:srgbClr val="564D47"/>
                </a:solidFill>
              </a:rPr>
              <a:t>F4</a:t>
            </a:r>
          </a:p>
          <a:p>
            <a:pPr algn="ctr"/>
            <a:r>
              <a:rPr lang="es-ES" sz="1050" dirty="0">
                <a:solidFill>
                  <a:srgbClr val="564D47"/>
                </a:solidFill>
              </a:rPr>
              <a:t>Diseño de la solución</a:t>
            </a:r>
          </a:p>
        </p:txBody>
      </p:sp>
      <p:sp>
        <p:nvSpPr>
          <p:cNvPr id="157" name="Texto 157"/>
          <p:cNvSpPr txBox="1"/>
          <p:nvPr/>
        </p:nvSpPr>
        <p:spPr>
          <a:xfrm>
            <a:off x="7071000" y="3900000"/>
            <a:ext cx="800000" cy="300000"/>
          </a:xfrm>
          <a:prstGeom prst="rect">
            <a:avLst/>
          </a:prstGeom>
          <a:noFill/>
        </p:spPr>
        <p:txBody>
          <a:bodyPr wrap="square" anchor="t" lIns="45720" rIns="45720">
            <a:noAutofit/>
          </a:bodyPr>
          <a:lstStyle/>
          <a:p>
            <a:pPr algn="ctr"/>
            <a:r>
              <a:rPr lang="es-ES" sz="1200" b="1" dirty="0">
                <a:solidFill>
                  <a:srgbClr val="990F3D"/>
                </a:solidFill>
              </a:rPr>
              <a:t>G4</a:t>
            </a:r>
          </a:p>
        </p:txBody>
      </p:sp>
      <p:sp>
        <p:nvSpPr>
          <p:cNvPr id="158" name="Caja 158"/>
          <p:cNvSpPr/>
          <p:nvPr/>
        </p:nvSpPr>
        <p:spPr>
          <a:xfrm>
            <a:off x="7531000" y="2350000"/>
            <a:ext cx="1240000" cy="1500000"/>
          </a:xfrm>
          <a:prstGeom prst="roundRect">
            <a:avLst>
              <a:gd name="adj" fmla="val 6000"/>
            </a:avLst>
          </a:prstGeom>
          <a:solidFill>
            <a:srgbClr val="C9A78D"/>
          </a:solidFill>
          <a:ln>
            <a:noFill/>
          </a:ln>
        </p:spPr>
        <p:txBody>
          <a:bodyPr wrap="square" anchor="ctr" lIns="45720" rIns="45720">
            <a:noAutofit/>
          </a:bodyPr>
          <a:lstStyle/>
          <a:p>
            <a:pPr algn="ctr"/>
            <a:r>
              <a:rPr lang="es-ES" sz="2400" b="1" dirty="0">
                <a:solidFill>
                  <a:srgbClr val="564D47"/>
                </a:solidFill>
              </a:rPr>
              <a:t>F5</a:t>
            </a:r>
          </a:p>
          <a:p>
            <a:pPr algn="ctr"/>
            <a:r>
              <a:rPr lang="es-ES" sz="1050" dirty="0">
                <a:solidFill>
                  <a:srgbClr val="564D47"/>
                </a:solidFill>
              </a:rPr>
              <a:t>Entrega y validación</a:t>
            </a:r>
          </a:p>
        </p:txBody>
      </p:sp>
      <p:sp>
        <p:nvSpPr>
          <p:cNvPr id="159" name="Texto 159"/>
          <p:cNvSpPr txBox="1"/>
          <p:nvPr/>
        </p:nvSpPr>
        <p:spPr>
          <a:xfrm>
            <a:off x="8441000" y="3900000"/>
            <a:ext cx="800000" cy="300000"/>
          </a:xfrm>
          <a:prstGeom prst="rect">
            <a:avLst/>
          </a:prstGeom>
          <a:noFill/>
        </p:spPr>
        <p:txBody>
          <a:bodyPr wrap="square" anchor="t" lIns="45720" rIns="45720">
            <a:noAutofit/>
          </a:bodyPr>
          <a:lstStyle/>
          <a:p>
            <a:pPr algn="ctr"/>
            <a:r>
              <a:rPr lang="es-ES" sz="1200" b="1" dirty="0">
                <a:solidFill>
                  <a:srgbClr val="990F3D"/>
                </a:solidFill>
              </a:rPr>
              <a:t>G5</a:t>
            </a:r>
          </a:p>
        </p:txBody>
      </p:sp>
      <p:sp>
        <p:nvSpPr>
          <p:cNvPr id="160" name="Caja 160"/>
          <p:cNvSpPr/>
          <p:nvPr/>
        </p:nvSpPr>
        <p:spPr>
          <a:xfrm>
            <a:off x="8901000" y="2350000"/>
            <a:ext cx="1240000" cy="1500000"/>
          </a:xfrm>
          <a:prstGeom prst="roundRect">
            <a:avLst>
              <a:gd name="adj" fmla="val 6000"/>
            </a:avLst>
          </a:prstGeom>
          <a:solidFill>
            <a:srgbClr val="C9A78D"/>
          </a:solidFill>
          <a:ln>
            <a:noFill/>
          </a:ln>
        </p:spPr>
        <p:txBody>
          <a:bodyPr wrap="square" anchor="ctr" lIns="45720" rIns="45720">
            <a:noAutofit/>
          </a:bodyPr>
          <a:lstStyle/>
          <a:p>
            <a:pPr algn="ctr"/>
            <a:r>
              <a:rPr lang="es-ES" sz="2400" b="1" dirty="0">
                <a:solidFill>
                  <a:srgbClr val="564D47"/>
                </a:solidFill>
              </a:rPr>
              <a:t>F6</a:t>
            </a:r>
          </a:p>
          <a:p>
            <a:pPr algn="ctr"/>
            <a:r>
              <a:rPr lang="es-ES" sz="1050" dirty="0">
                <a:solidFill>
                  <a:srgbClr val="564D47"/>
                </a:solidFill>
              </a:rPr>
              <a:t>Operación y gobierno</a:t>
            </a:r>
          </a:p>
        </p:txBody>
      </p:sp>
      <p:sp>
        <p:nvSpPr>
          <p:cNvPr id="161" name="Texto 161"/>
          <p:cNvSpPr txBox="1"/>
          <p:nvPr/>
        </p:nvSpPr>
        <p:spPr>
          <a:xfrm>
            <a:off x="9811000" y="3900000"/>
            <a:ext cx="800000" cy="300000"/>
          </a:xfrm>
          <a:prstGeom prst="rect">
            <a:avLst/>
          </a:prstGeom>
          <a:noFill/>
        </p:spPr>
        <p:txBody>
          <a:bodyPr wrap="square" anchor="t" lIns="45720" rIns="45720">
            <a:noAutofit/>
          </a:bodyPr>
          <a:lstStyle/>
          <a:p>
            <a:pPr algn="ctr"/>
            <a:r>
              <a:rPr lang="es-ES" sz="1200" b="1" dirty="0">
                <a:solidFill>
                  <a:srgbClr val="990F3D"/>
                </a:solidFill>
              </a:rPr>
              <a:t>R6</a:t>
            </a:r>
          </a:p>
        </p:txBody>
      </p:sp>
      <p:sp>
        <p:nvSpPr>
          <p:cNvPr id="162" name="Caja 162"/>
          <p:cNvSpPr/>
          <p:nvPr/>
        </p:nvSpPr>
        <p:spPr>
          <a:xfrm>
            <a:off x="10271000" y="2350000"/>
            <a:ext cx="1240000" cy="1500000"/>
          </a:xfrm>
          <a:prstGeom prst="roundRect">
            <a:avLst>
              <a:gd name="adj" fmla="val 6000"/>
            </a:avLst>
          </a:prstGeom>
          <a:solidFill>
            <a:srgbClr val="C9A78D"/>
          </a:solidFill>
          <a:ln>
            <a:noFill/>
          </a:ln>
        </p:spPr>
        <p:txBody>
          <a:bodyPr wrap="square" anchor="ctr" lIns="45720" rIns="45720">
            <a:noAutofit/>
          </a:bodyPr>
          <a:lstStyle/>
          <a:p>
            <a:pPr algn="ctr"/>
            <a:r>
              <a:rPr lang="es-ES" sz="2400" b="1" dirty="0">
                <a:solidFill>
                  <a:srgbClr val="564D47"/>
                </a:solidFill>
              </a:rPr>
              <a:t>F7</a:t>
            </a:r>
          </a:p>
          <a:p>
            <a:pPr algn="ctr"/>
            <a:r>
              <a:rPr lang="es-ES" sz="1050" dirty="0">
                <a:solidFill>
                  <a:srgbClr val="564D47"/>
                </a:solidFill>
              </a:rPr>
              <a:t>Evolución o retirada</a:t>
            </a:r>
          </a:p>
        </p:txBody>
      </p:sp>
      <p:sp>
        <p:nvSpPr>
          <p:cNvPr id="163" name="Texto 163"/>
          <p:cNvSpPr txBox="1"/>
          <p:nvPr/>
        </p:nvSpPr>
        <p:spPr>
          <a:xfrm>
            <a:off x="11181000" y="3900000"/>
            <a:ext cx="800000" cy="300000"/>
          </a:xfrm>
          <a:prstGeom prst="rect">
            <a:avLst/>
          </a:prstGeom>
          <a:noFill/>
        </p:spPr>
        <p:txBody>
          <a:bodyPr wrap="square" anchor="t" lIns="45720" rIns="45720">
            <a:noAutofit/>
          </a:bodyPr>
          <a:lstStyle/>
          <a:p>
            <a:pPr algn="ctr"/>
            <a:r>
              <a:rPr lang="es-ES" sz="1200" b="1" dirty="0">
                <a:solidFill>
                  <a:srgbClr val="990F3D"/>
                </a:solidFill>
              </a:rPr>
              <a:t>G7</a:t>
            </a:r>
          </a:p>
        </p:txBody>
      </p:sp>
      <p:sp>
        <p:nvSpPr>
          <p:cNvPr id="164" name="Texto 164"/>
          <p:cNvSpPr txBox="1"/>
          <p:nvPr/>
        </p:nvSpPr>
        <p:spPr>
          <a:xfrm>
            <a:off x="609600" y="4430000"/>
            <a:ext cx="10972800" cy="600000"/>
          </a:xfrm>
          <a:prstGeom prst="rect">
            <a:avLst/>
          </a:prstGeom>
          <a:noFill/>
        </p:spPr>
        <p:txBody>
          <a:bodyPr wrap="square" anchor="t" lIns="45720" rIns="45720">
            <a:noAutofit/>
          </a:bodyPr>
          <a:lstStyle/>
          <a:p>
            <a:pPr algn="ctr"/>
            <a:r>
              <a:rPr lang="es-ES" sz="2200" b="1" dirty="0">
                <a:solidFill>
                  <a:srgbClr val="990F3D"/>
                </a:solidFill>
              </a:rPr>
              <a:t>PARADA EN G3 · sale del embudo como «Descartado», con su motivo</a:t>
            </a:r>
          </a:p>
        </p:txBody>
      </p:sp>
    </p:spTree>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72" name="Marca"/>
          <p:cNvSpPr/>
          <p:nvPr/>
        </p:nvSpPr>
        <p:spPr>
          <a:xfrm>
            <a:off x="609600" y="365760"/>
            <a:ext cx="182880" cy="182880"/>
          </a:xfrm>
          <a:prstGeom prst="rect">
            <a:avLst/>
          </a:prstGeom>
          <a:solidFill>
            <a:srgbClr val="990F3D"/>
          </a:solidFill>
        </p:spPr>
        <p:txBody>
          <a:bodyPr/>
          <a:lstStyle/>
          <a:p/>
        </p:txBody>
      </p:sp>
      <p:sp>
        <p:nvSpPr>
          <p:cNvPr id="173" name="Texto 173"/>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EMPRESA · AUTOCONSULTORÍA</a:t>
            </a:r>
          </a:p>
        </p:txBody>
      </p:sp>
      <p:sp>
        <p:nvSpPr>
          <p:cNvPr id="174" name="Texto 174"/>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Ejemplo 2 · Cuando una iniciativa llega a producción</a:t>
            </a:r>
          </a:p>
        </p:txBody>
      </p:sp>
      <p:sp>
        <p:nvSpPr>
          <p:cNvPr id="169" name="Texto 169"/>
          <p:cNvSpPr txBox="1"/>
          <p:nvPr/>
        </p:nvSpPr>
        <p:spPr>
          <a:xfrm>
            <a:off x="609600" y="1330000"/>
            <a:ext cx="10972800" cy="500000"/>
          </a:xfrm>
          <a:prstGeom prst="rect">
            <a:avLst/>
          </a:prstGeom>
          <a:noFill/>
        </p:spPr>
        <p:txBody>
          <a:bodyPr wrap="square" anchor="t" lIns="45720" rIns="45720">
            <a:noAutofit/>
          </a:bodyPr>
          <a:lstStyle/>
          <a:p>
            <a:pPr algn="l"/>
            <a:r>
              <a:rPr lang="es-ES" sz="1700" b="1" dirty="0">
                <a:solidFill>
                  <a:srgbClr val="2F2B28"/>
                </a:solidFill>
              </a:rPr>
              <a:t>Asistente de respuesta a incidencias de TI de primer nivel</a:t>
            </a:r>
          </a:p>
        </p:txBody>
      </p:sp>
      <p:sp>
        <p:nvSpPr>
          <p:cNvPr id="170" name="Texto 170"/>
          <p:cNvSpPr txBox="1"/>
          <p:nvPr/>
        </p:nvSpPr>
        <p:spPr>
          <a:xfrm>
            <a:off x="609600" y="1900000"/>
            <a:ext cx="10972800" cy="355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500" dirty="0">
                <a:solidFill>
                  <a:srgbClr val="2F2B28"/>
                </a:solidFill>
              </a:rPr>
              <a:t>Fases 0 y 1: TI la patrocina; frente a la alternativa sin IA (más plantilla), se propone la esfera de operaciones con ambición Optimizar (P07).</a:t>
            </a:r>
          </a:p>
          <a:p>
            <a:pPr marL="285750" indent="-285750">
              <a:spcAft>
                <a:spcPts val="400"/>
              </a:spcAft>
              <a:buClr>
                <a:srgbClr val="990F3D"/>
              </a:buClr>
              <a:buFont typeface="Arial"/>
              <a:buChar char="•"/>
            </a:pPr>
            <a:r>
              <a:rPr lang="es-ES" sz="1500" dirty="0">
                <a:solidFill>
                  <a:srgbClr val="2F2B28"/>
                </a:solidFill>
              </a:rPr>
              <a:t>Fase 2: hipótesis de un 30 % menos de tiempo de resolución en incidencias sencillas; el piloto controlado da un 32 %.</a:t>
            </a:r>
          </a:p>
          <a:p>
            <a:pPr marL="285750" indent="-285750">
              <a:spcAft>
                <a:spcPts val="400"/>
              </a:spcAft>
              <a:buClr>
                <a:srgbClr val="990F3D"/>
              </a:buClr>
              <a:buFont typeface="Arial"/>
              <a:buChar char="•"/>
            </a:pPr>
            <a:r>
              <a:rPr lang="es-ES" sz="1500" dirty="0">
                <a:solidFill>
                  <a:srgbClr val="2F2B28"/>
                </a:solidFill>
              </a:rPr>
              <a:t>Fase 3: sin sesgo relevante, riesgo residual medio aceptado por su órgano (P12), proveedor evaluado (P14). G3, Continuar.</a:t>
            </a:r>
          </a:p>
          <a:p>
            <a:pPr marL="285750" indent="-285750">
              <a:spcAft>
                <a:spcPts val="400"/>
              </a:spcAft>
              <a:buClr>
                <a:srgbClr val="990F3D"/>
              </a:buClr>
              <a:buFont typeface="Arial"/>
              <a:buChar char="•"/>
            </a:pPr>
            <a:r>
              <a:rPr lang="es-ES" sz="1500" dirty="0">
                <a:solidFill>
                  <a:srgbClr val="2F2B28"/>
                </a:solidFill>
              </a:rPr>
              <a:t>Fases 4 y 5: supervisión humana obligatoria por encima de cierta gravedad (P17), reversión probada (P19) y firma de puesta en producción (P23).</a:t>
            </a:r>
          </a:p>
          <a:p>
            <a:pPr marL="285750" indent="-285750">
              <a:spcAft>
                <a:spcPts val="400"/>
              </a:spcAft>
              <a:buClr>
                <a:srgbClr val="990F3D"/>
              </a:buClr>
              <a:buFont typeface="Arial"/>
              <a:buChar char="•"/>
            </a:pPr>
            <a:r>
              <a:rPr lang="es-ES" sz="1500" dirty="0">
                <a:solidFill>
                  <a:srgbClr val="2F2B28"/>
                </a:solidFill>
              </a:rPr>
              <a:t>Fase 6: catorce meses en uso. Control de gestión valida 1,1 M€ al año (P28); la capacidad liberada se reasignó a incidencias complejas.</a:t>
            </a:r>
          </a:p>
          <a:p>
            <a:pPr marL="285750" indent="-285750">
              <a:spcAft>
                <a:spcPts val="400"/>
              </a:spcAft>
              <a:buClr>
                <a:srgbClr val="990F3D"/>
              </a:buClr>
              <a:buFont typeface="Arial"/>
              <a:buChar char="•"/>
            </a:pPr>
            <a:r>
              <a:rPr lang="es-ES" sz="1500" dirty="0">
                <a:solidFill>
                  <a:srgbClr val="2F2B28"/>
                </a:solidFill>
              </a:rPr>
              <a:t>En el embudo está en «En uso»; en el panel suma al neto anual porque su valor está validado, no declarado.</a:t>
            </a:r>
          </a:p>
        </p:txBody>
      </p:sp>
      <p:sp>
        <p:nvSpPr>
          <p:cNvPr id="171" name="Caja 171"/>
          <p:cNvSpPr/>
          <p:nvPr/>
        </p:nvSpPr>
        <p:spPr>
          <a:xfrm>
            <a:off x="609600" y="5600000"/>
            <a:ext cx="10972800" cy="900000"/>
          </a:xfrm>
          <a:prstGeom prst="roundRect">
            <a:avLst>
              <a:gd name="adj" fmla="val 6000"/>
            </a:avLst>
          </a:prstGeom>
          <a:solidFill>
            <a:srgbClr val="0D7680"/>
          </a:solidFill>
          <a:ln>
            <a:noFill/>
          </a:ln>
        </p:spPr>
        <p:txBody>
          <a:bodyPr wrap="square" anchor="ctr" lIns="45720" rIns="45720">
            <a:noAutofit/>
          </a:bodyPr>
          <a:lstStyle/>
          <a:p>
            <a:pPr algn="ctr"/>
            <a:r>
              <a:rPr lang="es-ES" sz="2100" b="1" dirty="0">
                <a:solidFill>
                  <a:srgbClr val="FFFFFF"/>
                </a:solidFill>
              </a:rPr>
              <a:t>EN PRODUCCIÓN · 1,1 M€ DE RETORNO ANUAL VALIDADO · R6 TRIMESTRAL</a:t>
            </a:r>
          </a:p>
        </p:txBody>
      </p:sp>
    </p:spTree>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92" name="Marca"/>
          <p:cNvSpPr/>
          <p:nvPr/>
        </p:nvSpPr>
        <p:spPr>
          <a:xfrm>
            <a:off x="609600" y="365760"/>
            <a:ext cx="182880" cy="182880"/>
          </a:xfrm>
          <a:prstGeom prst="rect">
            <a:avLst/>
          </a:prstGeom>
          <a:solidFill>
            <a:srgbClr val="990F3D"/>
          </a:solidFill>
        </p:spPr>
        <p:txBody>
          <a:bodyPr/>
          <a:lstStyle/>
          <a:p/>
        </p:txBody>
      </p:sp>
      <p:sp>
        <p:nvSpPr>
          <p:cNvPr id="193" name="Texto 193"/>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EMPRESA · AUTOCONSULTORÍA</a:t>
            </a:r>
          </a:p>
        </p:txBody>
      </p:sp>
      <p:sp>
        <p:nvSpPr>
          <p:cNvPr id="194" name="Texto 194"/>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La iniciativa 2, sobre el ciclo de vida</a:t>
            </a:r>
          </a:p>
        </p:txBody>
      </p:sp>
      <p:sp>
        <p:nvSpPr>
          <p:cNvPr id="195" name="Texto 195"/>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Recorrió las fases 0 a 6 y sigue en uso; la fase 7 llegará con G7</a:t>
            </a:r>
          </a:p>
        </p:txBody>
      </p:sp>
      <p:sp>
        <p:nvSpPr>
          <p:cNvPr id="175" name="Caja 175"/>
          <p:cNvSpPr/>
          <p:nvPr/>
        </p:nvSpPr>
        <p:spPr>
          <a:xfrm>
            <a:off x="68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F0</a:t>
            </a:r>
          </a:p>
          <a:p>
            <a:pPr algn="ctr"/>
            <a:r>
              <a:rPr lang="es-ES" sz="1050" dirty="0">
                <a:solidFill>
                  <a:srgbClr val="FFFFFF"/>
                </a:solidFill>
              </a:rPr>
              <a:t>Contexto y restricciones</a:t>
            </a:r>
          </a:p>
        </p:txBody>
      </p:sp>
      <p:sp>
        <p:nvSpPr>
          <p:cNvPr id="176" name="Texto 176"/>
          <p:cNvSpPr txBox="1"/>
          <p:nvPr/>
        </p:nvSpPr>
        <p:spPr>
          <a:xfrm>
            <a:off x="1591000" y="3900000"/>
            <a:ext cx="800000" cy="300000"/>
          </a:xfrm>
          <a:prstGeom prst="rect">
            <a:avLst/>
          </a:prstGeom>
          <a:noFill/>
        </p:spPr>
        <p:txBody>
          <a:bodyPr wrap="square" anchor="t" lIns="45720" rIns="45720">
            <a:noAutofit/>
          </a:bodyPr>
          <a:lstStyle/>
          <a:p>
            <a:pPr algn="ctr"/>
            <a:r>
              <a:rPr lang="es-ES" sz="1200" b="1" dirty="0">
                <a:solidFill>
                  <a:srgbClr val="990F3D"/>
                </a:solidFill>
              </a:rPr>
              <a:t>G0</a:t>
            </a:r>
          </a:p>
        </p:txBody>
      </p:sp>
      <p:sp>
        <p:nvSpPr>
          <p:cNvPr id="177" name="Caja 177"/>
          <p:cNvSpPr/>
          <p:nvPr/>
        </p:nvSpPr>
        <p:spPr>
          <a:xfrm>
            <a:off x="205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F1</a:t>
            </a:r>
          </a:p>
          <a:p>
            <a:pPr algn="ctr"/>
            <a:r>
              <a:rPr lang="es-ES" sz="1050" dirty="0">
                <a:solidFill>
                  <a:srgbClr val="FFFFFF"/>
                </a:solidFill>
              </a:rPr>
              <a:t>Descubrimiento de oportunidades</a:t>
            </a:r>
          </a:p>
        </p:txBody>
      </p:sp>
      <p:sp>
        <p:nvSpPr>
          <p:cNvPr id="178" name="Texto 178"/>
          <p:cNvSpPr txBox="1"/>
          <p:nvPr/>
        </p:nvSpPr>
        <p:spPr>
          <a:xfrm>
            <a:off x="2961000" y="3900000"/>
            <a:ext cx="800000" cy="300000"/>
          </a:xfrm>
          <a:prstGeom prst="rect">
            <a:avLst/>
          </a:prstGeom>
          <a:noFill/>
        </p:spPr>
        <p:txBody>
          <a:bodyPr wrap="square" anchor="t" lIns="45720" rIns="45720">
            <a:noAutofit/>
          </a:bodyPr>
          <a:lstStyle/>
          <a:p>
            <a:pPr algn="ctr"/>
            <a:r>
              <a:rPr lang="es-ES" sz="1200" b="1" dirty="0">
                <a:solidFill>
                  <a:srgbClr val="990F3D"/>
                </a:solidFill>
              </a:rPr>
              <a:t>G1</a:t>
            </a:r>
          </a:p>
        </p:txBody>
      </p:sp>
      <p:sp>
        <p:nvSpPr>
          <p:cNvPr id="179" name="Caja 179"/>
          <p:cNvSpPr/>
          <p:nvPr/>
        </p:nvSpPr>
        <p:spPr>
          <a:xfrm>
            <a:off x="342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F2</a:t>
            </a:r>
          </a:p>
          <a:p>
            <a:pPr algn="ctr"/>
            <a:r>
              <a:rPr lang="es-ES" sz="1050" dirty="0">
                <a:solidFill>
                  <a:srgbClr val="FFFFFF"/>
                </a:solidFill>
              </a:rPr>
              <a:t>Hipótesis de valor</a:t>
            </a:r>
          </a:p>
        </p:txBody>
      </p:sp>
      <p:sp>
        <p:nvSpPr>
          <p:cNvPr id="180" name="Texto 180"/>
          <p:cNvSpPr txBox="1"/>
          <p:nvPr/>
        </p:nvSpPr>
        <p:spPr>
          <a:xfrm>
            <a:off x="4331000" y="3900000"/>
            <a:ext cx="800000" cy="300000"/>
          </a:xfrm>
          <a:prstGeom prst="rect">
            <a:avLst/>
          </a:prstGeom>
          <a:noFill/>
        </p:spPr>
        <p:txBody>
          <a:bodyPr wrap="square" anchor="t" lIns="45720" rIns="45720">
            <a:noAutofit/>
          </a:bodyPr>
          <a:lstStyle/>
          <a:p>
            <a:pPr algn="ctr"/>
            <a:r>
              <a:rPr lang="es-ES" sz="1200" b="1" dirty="0">
                <a:solidFill>
                  <a:srgbClr val="990F3D"/>
                </a:solidFill>
              </a:rPr>
              <a:t>G2</a:t>
            </a:r>
          </a:p>
        </p:txBody>
      </p:sp>
      <p:sp>
        <p:nvSpPr>
          <p:cNvPr id="181" name="Caja 181"/>
          <p:cNvSpPr/>
          <p:nvPr/>
        </p:nvSpPr>
        <p:spPr>
          <a:xfrm>
            <a:off x="479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F3</a:t>
            </a:r>
          </a:p>
          <a:p>
            <a:pPr algn="ctr"/>
            <a:r>
              <a:rPr lang="es-ES" sz="1050" dirty="0">
                <a:solidFill>
                  <a:srgbClr val="FFFFFF"/>
                </a:solidFill>
              </a:rPr>
              <a:t>Viabilidad y riesgo</a:t>
            </a:r>
          </a:p>
        </p:txBody>
      </p:sp>
      <p:sp>
        <p:nvSpPr>
          <p:cNvPr id="182" name="Texto 182"/>
          <p:cNvSpPr txBox="1"/>
          <p:nvPr/>
        </p:nvSpPr>
        <p:spPr>
          <a:xfrm>
            <a:off x="5701000" y="3900000"/>
            <a:ext cx="800000" cy="300000"/>
          </a:xfrm>
          <a:prstGeom prst="rect">
            <a:avLst/>
          </a:prstGeom>
          <a:noFill/>
        </p:spPr>
        <p:txBody>
          <a:bodyPr wrap="square" anchor="t" lIns="45720" rIns="45720">
            <a:noAutofit/>
          </a:bodyPr>
          <a:lstStyle/>
          <a:p>
            <a:pPr algn="ctr"/>
            <a:r>
              <a:rPr lang="es-ES" sz="1200" b="1" dirty="0">
                <a:solidFill>
                  <a:srgbClr val="990F3D"/>
                </a:solidFill>
              </a:rPr>
              <a:t>G3</a:t>
            </a:r>
          </a:p>
        </p:txBody>
      </p:sp>
      <p:sp>
        <p:nvSpPr>
          <p:cNvPr id="183" name="Caja 183"/>
          <p:cNvSpPr/>
          <p:nvPr/>
        </p:nvSpPr>
        <p:spPr>
          <a:xfrm>
            <a:off x="616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F4</a:t>
            </a:r>
          </a:p>
          <a:p>
            <a:pPr algn="ctr"/>
            <a:r>
              <a:rPr lang="es-ES" sz="1050" dirty="0">
                <a:solidFill>
                  <a:srgbClr val="FFFFFF"/>
                </a:solidFill>
              </a:rPr>
              <a:t>Diseño de la solución</a:t>
            </a:r>
          </a:p>
        </p:txBody>
      </p:sp>
      <p:sp>
        <p:nvSpPr>
          <p:cNvPr id="184" name="Texto 184"/>
          <p:cNvSpPr txBox="1"/>
          <p:nvPr/>
        </p:nvSpPr>
        <p:spPr>
          <a:xfrm>
            <a:off x="7071000" y="3900000"/>
            <a:ext cx="800000" cy="300000"/>
          </a:xfrm>
          <a:prstGeom prst="rect">
            <a:avLst/>
          </a:prstGeom>
          <a:noFill/>
        </p:spPr>
        <p:txBody>
          <a:bodyPr wrap="square" anchor="t" lIns="45720" rIns="45720">
            <a:noAutofit/>
          </a:bodyPr>
          <a:lstStyle/>
          <a:p>
            <a:pPr algn="ctr"/>
            <a:r>
              <a:rPr lang="es-ES" sz="1200" b="1" dirty="0">
                <a:solidFill>
                  <a:srgbClr val="990F3D"/>
                </a:solidFill>
              </a:rPr>
              <a:t>G4</a:t>
            </a:r>
          </a:p>
        </p:txBody>
      </p:sp>
      <p:sp>
        <p:nvSpPr>
          <p:cNvPr id="185" name="Caja 185"/>
          <p:cNvSpPr/>
          <p:nvPr/>
        </p:nvSpPr>
        <p:spPr>
          <a:xfrm>
            <a:off x="753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F5</a:t>
            </a:r>
          </a:p>
          <a:p>
            <a:pPr algn="ctr"/>
            <a:r>
              <a:rPr lang="es-ES" sz="1050" dirty="0">
                <a:solidFill>
                  <a:srgbClr val="FFFFFF"/>
                </a:solidFill>
              </a:rPr>
              <a:t>Entrega y validación</a:t>
            </a:r>
          </a:p>
        </p:txBody>
      </p:sp>
      <p:sp>
        <p:nvSpPr>
          <p:cNvPr id="186" name="Texto 186"/>
          <p:cNvSpPr txBox="1"/>
          <p:nvPr/>
        </p:nvSpPr>
        <p:spPr>
          <a:xfrm>
            <a:off x="8441000" y="3900000"/>
            <a:ext cx="800000" cy="300000"/>
          </a:xfrm>
          <a:prstGeom prst="rect">
            <a:avLst/>
          </a:prstGeom>
          <a:noFill/>
        </p:spPr>
        <p:txBody>
          <a:bodyPr wrap="square" anchor="t" lIns="45720" rIns="45720">
            <a:noAutofit/>
          </a:bodyPr>
          <a:lstStyle/>
          <a:p>
            <a:pPr algn="ctr"/>
            <a:r>
              <a:rPr lang="es-ES" sz="1200" b="1" dirty="0">
                <a:solidFill>
                  <a:srgbClr val="990F3D"/>
                </a:solidFill>
              </a:rPr>
              <a:t>G5</a:t>
            </a:r>
          </a:p>
        </p:txBody>
      </p:sp>
      <p:sp>
        <p:nvSpPr>
          <p:cNvPr id="187" name="Caja 187"/>
          <p:cNvSpPr/>
          <p:nvPr/>
        </p:nvSpPr>
        <p:spPr>
          <a:xfrm>
            <a:off x="890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F6</a:t>
            </a:r>
          </a:p>
          <a:p>
            <a:pPr algn="ctr"/>
            <a:r>
              <a:rPr lang="es-ES" sz="1050" dirty="0">
                <a:solidFill>
                  <a:srgbClr val="FFFFFF"/>
                </a:solidFill>
              </a:rPr>
              <a:t>Operación y gobierno</a:t>
            </a:r>
          </a:p>
        </p:txBody>
      </p:sp>
      <p:sp>
        <p:nvSpPr>
          <p:cNvPr id="188" name="Texto 188"/>
          <p:cNvSpPr txBox="1"/>
          <p:nvPr/>
        </p:nvSpPr>
        <p:spPr>
          <a:xfrm>
            <a:off x="9811000" y="3900000"/>
            <a:ext cx="800000" cy="300000"/>
          </a:xfrm>
          <a:prstGeom prst="rect">
            <a:avLst/>
          </a:prstGeom>
          <a:noFill/>
        </p:spPr>
        <p:txBody>
          <a:bodyPr wrap="square" anchor="t" lIns="45720" rIns="45720">
            <a:noAutofit/>
          </a:bodyPr>
          <a:lstStyle/>
          <a:p>
            <a:pPr algn="ctr"/>
            <a:r>
              <a:rPr lang="es-ES" sz="1200" b="1" dirty="0">
                <a:solidFill>
                  <a:srgbClr val="990F3D"/>
                </a:solidFill>
              </a:rPr>
              <a:t>R6</a:t>
            </a:r>
          </a:p>
        </p:txBody>
      </p:sp>
      <p:sp>
        <p:nvSpPr>
          <p:cNvPr id="189" name="Caja 189"/>
          <p:cNvSpPr/>
          <p:nvPr/>
        </p:nvSpPr>
        <p:spPr>
          <a:xfrm>
            <a:off x="10271000" y="2350000"/>
            <a:ext cx="1240000" cy="1500000"/>
          </a:xfrm>
          <a:prstGeom prst="roundRect">
            <a:avLst>
              <a:gd name="adj" fmla="val 6000"/>
            </a:avLst>
          </a:prstGeom>
          <a:solidFill>
            <a:srgbClr val="C9A78D"/>
          </a:solidFill>
          <a:ln>
            <a:noFill/>
          </a:ln>
        </p:spPr>
        <p:txBody>
          <a:bodyPr wrap="square" anchor="ctr" lIns="45720" rIns="45720">
            <a:noAutofit/>
          </a:bodyPr>
          <a:lstStyle/>
          <a:p>
            <a:pPr algn="ctr"/>
            <a:r>
              <a:rPr lang="es-ES" sz="2400" b="1" dirty="0">
                <a:solidFill>
                  <a:srgbClr val="564D47"/>
                </a:solidFill>
              </a:rPr>
              <a:t>F7</a:t>
            </a:r>
          </a:p>
          <a:p>
            <a:pPr algn="ctr"/>
            <a:r>
              <a:rPr lang="es-ES" sz="1050" dirty="0">
                <a:solidFill>
                  <a:srgbClr val="564D47"/>
                </a:solidFill>
              </a:rPr>
              <a:t>Evolución o retirada</a:t>
            </a:r>
          </a:p>
        </p:txBody>
      </p:sp>
      <p:sp>
        <p:nvSpPr>
          <p:cNvPr id="190" name="Texto 190"/>
          <p:cNvSpPr txBox="1"/>
          <p:nvPr/>
        </p:nvSpPr>
        <p:spPr>
          <a:xfrm>
            <a:off x="11181000" y="3900000"/>
            <a:ext cx="800000" cy="300000"/>
          </a:xfrm>
          <a:prstGeom prst="rect">
            <a:avLst/>
          </a:prstGeom>
          <a:noFill/>
        </p:spPr>
        <p:txBody>
          <a:bodyPr wrap="square" anchor="t" lIns="45720" rIns="45720">
            <a:noAutofit/>
          </a:bodyPr>
          <a:lstStyle/>
          <a:p>
            <a:pPr algn="ctr"/>
            <a:r>
              <a:rPr lang="es-ES" sz="1200" b="1" dirty="0">
                <a:solidFill>
                  <a:srgbClr val="990F3D"/>
                </a:solidFill>
              </a:rPr>
              <a:t>G7</a:t>
            </a:r>
          </a:p>
        </p:txBody>
      </p:sp>
      <p:sp>
        <p:nvSpPr>
          <p:cNvPr id="191" name="Texto 191"/>
          <p:cNvSpPr txBox="1"/>
          <p:nvPr/>
        </p:nvSpPr>
        <p:spPr>
          <a:xfrm>
            <a:off x="609600" y="4430000"/>
            <a:ext cx="10972800" cy="600000"/>
          </a:xfrm>
          <a:prstGeom prst="rect">
            <a:avLst/>
          </a:prstGeom>
          <a:noFill/>
        </p:spPr>
        <p:txBody>
          <a:bodyPr wrap="square" anchor="t" lIns="45720" rIns="45720">
            <a:noAutofit/>
          </a:bodyPr>
          <a:lstStyle/>
          <a:p>
            <a:pPr algn="ctr"/>
            <a:r>
              <a:rPr lang="es-ES" sz="2200" b="1" dirty="0">
                <a:solidFill>
                  <a:srgbClr val="0D7680"/>
                </a:solidFill>
              </a:rPr>
              <a:t>EN USO · cada R6 confirma que sigue aportando valor bajo control</a:t>
            </a:r>
          </a:p>
        </p:txBody>
      </p:sp>
    </p:spTree>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97" name="Marca"/>
          <p:cNvSpPr/>
          <p:nvPr/>
        </p:nvSpPr>
        <p:spPr>
          <a:xfrm>
            <a:off x="609600" y="365760"/>
            <a:ext cx="182880" cy="182880"/>
          </a:xfrm>
          <a:prstGeom prst="rect">
            <a:avLst/>
          </a:prstGeom>
          <a:solidFill>
            <a:srgbClr val="990F3D"/>
          </a:solidFill>
        </p:spPr>
        <p:txBody>
          <a:bodyPr/>
          <a:lstStyle/>
          <a:p/>
        </p:txBody>
      </p:sp>
      <p:sp>
        <p:nvSpPr>
          <p:cNvPr id="198" name="Texto 198"/>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EMPRESA · AUTOCONSULTORÍA</a:t>
            </a:r>
          </a:p>
        </p:txBody>
      </p:sp>
      <p:sp>
        <p:nvSpPr>
          <p:cNvPr id="199" name="Texto 199"/>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Cómo se mide el valor</a:t>
            </a:r>
          </a:p>
        </p:txBody>
      </p:sp>
      <p:sp>
        <p:nvSpPr>
          <p:cNvPr id="196" name="Texto 196"/>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Todo importe lleva fórmula y estado: validado (control de gestión), declarado (el equipo) o estimado.</a:t>
            </a:r>
          </a:p>
          <a:p>
            <a:pPr marL="285750" indent="-285750">
              <a:spcAft>
                <a:spcPts val="400"/>
              </a:spcAft>
              <a:buClr>
                <a:srgbClr val="990F3D"/>
              </a:buClr>
              <a:buFont typeface="Arial"/>
              <a:buChar char="•"/>
            </a:pPr>
            <a:r>
              <a:rPr lang="es-ES" sz="1800" dirty="0">
                <a:solidFill>
                  <a:srgbClr val="2F2B28"/>
                </a:solidFill>
              </a:rPr>
              <a:t>Las horas liberadas no son ahorro hasta que se materializan: baja un coste o se reasignan a una actividad con valor.</a:t>
            </a:r>
          </a:p>
          <a:p>
            <a:pPr marL="285750" indent="-285750">
              <a:spcAft>
                <a:spcPts val="400"/>
              </a:spcAft>
              <a:buClr>
                <a:srgbClr val="990F3D"/>
              </a:buClr>
              <a:buFont typeface="Arial"/>
              <a:buChar char="•"/>
            </a:pPr>
            <a:r>
              <a:rPr lang="es-ES" sz="1800" dirty="0">
                <a:solidFill>
                  <a:srgbClr val="2F2B28"/>
                </a:solidFill>
              </a:rPr>
              <a:t>El coste es completo: construcción, consumo, operación, supervisión humana y retirada.</a:t>
            </a:r>
          </a:p>
          <a:p>
            <a:pPr marL="285750" indent="-285750">
              <a:spcAft>
                <a:spcPts val="400"/>
              </a:spcAft>
              <a:buClr>
                <a:srgbClr val="990F3D"/>
              </a:buClr>
              <a:buFont typeface="Arial"/>
              <a:buChar char="•"/>
            </a:pPr>
            <a:r>
              <a:rPr lang="es-ES" sz="1800" dirty="0">
                <a:solidFill>
                  <a:srgbClr val="2F2B28"/>
                </a:solidFill>
              </a:rPr>
              <a:t>El índice de transformación usa ocho señales de evidencia para separar transformar de solo eficientar.</a:t>
            </a:r>
          </a:p>
          <a:p>
            <a:pPr marL="285750" indent="-285750">
              <a:spcAft>
                <a:spcPts val="400"/>
              </a:spcAft>
              <a:buClr>
                <a:srgbClr val="990F3D"/>
              </a:buClr>
              <a:buFont typeface="Arial"/>
              <a:buChar char="•"/>
            </a:pPr>
            <a:r>
              <a:rPr lang="es-ES" sz="1800" dirty="0">
                <a:solidFill>
                  <a:srgbClr val="2F2B28"/>
                </a:solidFill>
              </a:rPr>
              <a:t>Diez reglas de medición (documento 40). Ninguna cifra entra en el neto de la cartera sin su estado.</a:t>
            </a:r>
          </a:p>
        </p:txBody>
      </p:sp>
    </p:spTree>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A1817"/>
        </a:solidFill>
        <a:effectLst/>
      </p:bgPr>
    </p:bg>
    <p:spTree>
      <p:nvGrpSpPr>
        <p:cNvPr id="1" name=""/>
        <p:cNvGrpSpPr/>
        <p:nvPr/>
      </p:nvGrpSpPr>
      <p:grpSpPr>
        <a:xfrm>
          <a:off x="0" y="0"/>
          <a:ext cx="0" cy="0"/>
          <a:chOff x="0" y="0"/>
          <a:chExt cx="0" cy="0"/>
        </a:xfrm>
      </p:grpSpPr>
      <p:sp>
        <p:nvSpPr>
          <p:cNvPr id="200" name="Marca"/>
          <p:cNvSpPr/>
          <p:nvPr/>
        </p:nvSpPr>
        <p:spPr>
          <a:xfrm>
            <a:off x="609600" y="2400000"/>
            <a:ext cx="182880" cy="182880"/>
          </a:xfrm>
          <a:prstGeom prst="rect">
            <a:avLst/>
          </a:prstGeom>
          <a:solidFill>
            <a:srgbClr val="990F3D"/>
          </a:solidFill>
        </p:spPr>
        <p:txBody>
          <a:bodyPr/>
          <a:lstStyle/>
          <a:p/>
        </p:txBody>
      </p:sp>
      <p:sp>
        <p:nvSpPr>
          <p:cNvPr id="201" name="Texto 201"/>
          <p:cNvSpPr txBox="1"/>
          <p:nvPr/>
        </p:nvSpPr>
        <p:spPr>
          <a:xfrm>
            <a:off x="838200" y="2320000"/>
            <a:ext cx="9000000" cy="400000"/>
          </a:xfrm>
          <a:prstGeom prst="rect">
            <a:avLst/>
          </a:prstGeom>
          <a:noFill/>
        </p:spPr>
        <p:txBody>
          <a:bodyPr wrap="square" anchor="t" lIns="45720" rIns="45720">
            <a:noAutofit/>
          </a:bodyPr>
          <a:lstStyle/>
          <a:p>
            <a:pPr algn="l"/>
            <a:r>
              <a:rPr lang="es-ES" sz="1600" b="1" dirty="0">
                <a:solidFill>
                  <a:srgbClr val="F3CFB2"/>
                </a:solidFill>
              </a:rPr>
              <a:t>AUTOCONSULTORÍA</a:t>
            </a:r>
          </a:p>
        </p:txBody>
      </p:sp>
      <p:sp>
        <p:nvSpPr>
          <p:cNvPr id="202" name="Texto 202"/>
          <p:cNvSpPr txBox="1"/>
          <p:nvPr/>
        </p:nvSpPr>
        <p:spPr>
          <a:xfrm>
            <a:off x="609600" y="2850000"/>
            <a:ext cx="10972800" cy="1400000"/>
          </a:xfrm>
          <a:prstGeom prst="rect">
            <a:avLst/>
          </a:prstGeom>
          <a:noFill/>
        </p:spPr>
        <p:txBody>
          <a:bodyPr wrap="square" anchor="t" lIns="45720" rIns="45720">
            <a:noAutofit/>
          </a:bodyPr>
          <a:lstStyle/>
          <a:p>
            <a:pPr algn="l"/>
            <a:r>
              <a:rPr lang="es-ES" sz="4000" b="1" dirty="0">
                <a:solidFill>
                  <a:srgbClr val="FBE2CD"/>
                </a:solidFill>
              </a:rPr>
              <a:t>Implantarlo en su compañía, por sus propios medios</a:t>
            </a:r>
          </a:p>
        </p:txBody>
      </p:sp>
      <p:sp>
        <p:nvSpPr>
          <p:cNvPr id="203" name="Texto 203"/>
          <p:cNvSpPr txBox="1"/>
          <p:nvPr/>
        </p:nvSpPr>
        <p:spPr>
          <a:xfrm>
            <a:off x="609600" y="4400000"/>
            <a:ext cx="10500000" cy="900000"/>
          </a:xfrm>
          <a:prstGeom prst="rect">
            <a:avLst/>
          </a:prstGeom>
          <a:noFill/>
        </p:spPr>
        <p:txBody>
          <a:bodyPr wrap="square" anchor="t" lIns="45720" rIns="45720">
            <a:noAutofit/>
          </a:bodyPr>
          <a:lstStyle/>
          <a:p>
            <a:pPr algn="l"/>
            <a:r>
              <a:rPr lang="es-ES" sz="1700" dirty="0">
                <a:solidFill>
                  <a:srgbClr val="F3CFB2"/>
                </a:solidFill>
              </a:rPr>
              <a:t>El marco está pensado para aplicarse sin contratar a nadie. Esto es lo que hace falta y en qué orden.</a:t>
            </a:r>
          </a:p>
        </p:txBody>
      </p:sp>
    </p:spTree>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05" name="Marca"/>
          <p:cNvSpPr/>
          <p:nvPr/>
        </p:nvSpPr>
        <p:spPr>
          <a:xfrm>
            <a:off x="609600" y="365760"/>
            <a:ext cx="182880" cy="182880"/>
          </a:xfrm>
          <a:prstGeom prst="rect">
            <a:avLst/>
          </a:prstGeom>
          <a:solidFill>
            <a:srgbClr val="990F3D"/>
          </a:solidFill>
        </p:spPr>
        <p:txBody>
          <a:bodyPr/>
          <a:lstStyle/>
          <a:p/>
        </p:txBody>
      </p:sp>
      <p:sp>
        <p:nvSpPr>
          <p:cNvPr id="206" name="Texto 206"/>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EMPRESA · AUTOCONSULTORÍA</a:t>
            </a:r>
          </a:p>
        </p:txBody>
      </p:sp>
      <p:sp>
        <p:nvSpPr>
          <p:cNvPr id="207" name="Texto 207"/>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Antes de empezar: lo que la compañía necesita</a:t>
            </a:r>
          </a:p>
        </p:txBody>
      </p:sp>
      <p:sp>
        <p:nvSpPr>
          <p:cNvPr id="204" name="Texto 204"/>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Mandato de implantación firmado por la primera línea ejecutiva, con objetivo, perímetro y plazo (P32).</a:t>
            </a:r>
          </a:p>
          <a:p>
            <a:pPr marL="285750" indent="-285750">
              <a:spcAft>
                <a:spcPts val="400"/>
              </a:spcAft>
              <a:buClr>
                <a:srgbClr val="990F3D"/>
              </a:buClr>
              <a:buFont typeface="Arial"/>
              <a:buChar char="•"/>
            </a:pPr>
            <a:r>
              <a:rPr lang="es-ES" sz="1800" dirty="0">
                <a:solidFill>
                  <a:srgbClr val="2F2B28"/>
                </a:solidFill>
              </a:rPr>
              <a:t>El consejo conoce el plan y reserva una sesión hacia la semana 12 para aprobar la dirección (C2).</a:t>
            </a:r>
          </a:p>
          <a:p>
            <a:pPr marL="285750" indent="-285750">
              <a:spcAft>
                <a:spcPts val="400"/>
              </a:spcAft>
              <a:buClr>
                <a:srgbClr val="990F3D"/>
              </a:buClr>
              <a:buFont typeface="Arial"/>
              <a:buChar char="•"/>
            </a:pPr>
            <a:r>
              <a:rPr lang="es-ES" sz="1800" dirty="0">
                <a:solidFill>
                  <a:srgbClr val="2F2B28"/>
                </a:solidFill>
              </a:rPr>
              <a:t>Un responsable de implantación con dedicación real y un equipo núcleo: negocio, tecnología, datos, riesgos, cumplimiento, seguridad, personas y control de gestión.</a:t>
            </a:r>
          </a:p>
          <a:p>
            <a:pPr marL="285750" indent="-285750">
              <a:spcAft>
                <a:spcPts val="400"/>
              </a:spcAft>
              <a:buClr>
                <a:srgbClr val="990F3D"/>
              </a:buClr>
              <a:buFont typeface="Arial"/>
              <a:buChar char="•"/>
            </a:pPr>
            <a:r>
              <a:rPr lang="es-ES" sz="1800" dirty="0">
                <a:solidFill>
                  <a:srgbClr val="2F2B28"/>
                </a:solidFill>
              </a:rPr>
              <a:t>Auditoría interna informada y asesoría jurídica disponible para la clasificación regulatoria.</a:t>
            </a:r>
          </a:p>
          <a:p>
            <a:pPr marL="285750" indent="-285750">
              <a:spcAft>
                <a:spcPts val="400"/>
              </a:spcAft>
              <a:buClr>
                <a:srgbClr val="990F3D"/>
              </a:buClr>
              <a:buFont typeface="Arial"/>
              <a:buChar char="•"/>
            </a:pPr>
            <a:r>
              <a:rPr lang="es-ES" sz="1800" dirty="0">
                <a:solidFill>
                  <a:srgbClr val="2F2B28"/>
                </a:solidFill>
              </a:rPr>
              <a:t>Un soporte de registro: T01, o una hoja de cálculo con los mismos campos.</a:t>
            </a:r>
          </a:p>
          <a:p>
            <a:pPr marL="285750" indent="-285750">
              <a:spcAft>
                <a:spcPts val="400"/>
              </a:spcAft>
              <a:buClr>
                <a:srgbClr val="990F3D"/>
              </a:buClr>
              <a:buFont typeface="Arial"/>
              <a:buChar char="•"/>
            </a:pPr>
            <a:r>
              <a:rPr lang="es-ES" sz="1800" dirty="0">
                <a:solidFill>
                  <a:srgbClr val="2F2B28"/>
                </a:solidFill>
              </a:rPr>
              <a:t>Sin moratoria: la actividad de IA sigue; solo se detiene lo que el diagnóstico señale como riesgo inaceptable.</a:t>
            </a:r>
          </a:p>
        </p:txBody>
      </p:sp>
    </p:spTree>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10" name="Marca"/>
          <p:cNvSpPr/>
          <p:nvPr/>
        </p:nvSpPr>
        <p:spPr>
          <a:xfrm>
            <a:off x="609600" y="365760"/>
            <a:ext cx="182880" cy="182880"/>
          </a:xfrm>
          <a:prstGeom prst="rect">
            <a:avLst/>
          </a:prstGeom>
          <a:solidFill>
            <a:srgbClr val="990F3D"/>
          </a:solidFill>
        </p:spPr>
        <p:txBody>
          <a:bodyPr/>
          <a:lstStyle/>
          <a:p/>
        </p:txBody>
      </p:sp>
      <p:sp>
        <p:nvSpPr>
          <p:cNvPr id="211" name="Texto 211"/>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EMPRESA · AUTOCONSULTORÍA</a:t>
            </a:r>
          </a:p>
        </p:txBody>
      </p:sp>
      <p:sp>
        <p:nvSpPr>
          <p:cNvPr id="212" name="Texto 212"/>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Lite o Enterprise: proporcionalidad</a:t>
            </a:r>
          </a:p>
        </p:txBody>
      </p:sp>
      <p:sp>
        <p:nvSpPr>
          <p:cNvPr id="208" name="Texto 208"/>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Dos decisiones distintas: el alcance de implantación es de la compañía; la intensidad, de cada iniciativa.</a:t>
            </a:r>
          </a:p>
          <a:p>
            <a:pPr marL="285750" indent="-285750">
              <a:spcAft>
                <a:spcPts val="400"/>
              </a:spcAft>
              <a:buClr>
                <a:srgbClr val="990F3D"/>
              </a:buClr>
              <a:buFont typeface="Arial"/>
              <a:buChar char="•"/>
            </a:pPr>
            <a:r>
              <a:rPr lang="es-ES" sz="1800" dirty="0">
                <a:solidFill>
                  <a:srgbClr val="2F2B28"/>
                </a:solidFill>
              </a:rPr>
              <a:t>El tamaño no decide. Basta un criterio Enterprise en una iniciativa: alto riesgo, decisiones sobre personas, exposición directa, agentes que actúan, datos protegidos, función crítica, Transformar o inversión alta.</a:t>
            </a:r>
          </a:p>
          <a:p>
            <a:pPr marL="285750" indent="-285750">
              <a:spcAft>
                <a:spcPts val="400"/>
              </a:spcAft>
              <a:buClr>
                <a:srgbClr val="990F3D"/>
              </a:buClr>
              <a:buFont typeface="Arial"/>
              <a:buChar char="•"/>
            </a:pPr>
            <a:r>
              <a:rPr lang="es-ES" sz="1800" dirty="0">
                <a:solidFill>
                  <a:srgbClr val="2F2B28"/>
                </a:solidFill>
              </a:rPr>
              <a:t>Ruta mínima Lite: consejo con punto de IA trimestral, comité de dirección mensual y oficina de IA de una persona a tiempo parcial.</a:t>
            </a:r>
          </a:p>
          <a:p>
            <a:pPr marL="285750" indent="-285750">
              <a:spcAft>
                <a:spcPts val="400"/>
              </a:spcAft>
              <a:buClr>
                <a:srgbClr val="990F3D"/>
              </a:buClr>
              <a:buFont typeface="Arial"/>
              <a:buChar char="•"/>
            </a:pPr>
            <a:r>
              <a:rPr lang="es-ES" sz="1800" dirty="0">
                <a:solidFill>
                  <a:srgbClr val="2F2B28"/>
                </a:solidFill>
              </a:rPr>
              <a:t>En Lite las puertas se agrupan (G0–G2 juntas, G4–G5 juntas, R6 semestral). G3 va siempre por separado.</a:t>
            </a:r>
          </a:p>
          <a:p>
            <a:pPr marL="285750" indent="-285750">
              <a:spcAft>
                <a:spcPts val="400"/>
              </a:spcAft>
              <a:buClr>
                <a:srgbClr val="990F3D"/>
              </a:buClr>
              <a:buFont typeface="Arial"/>
              <a:buChar char="•"/>
            </a:pPr>
            <a:r>
              <a:rPr lang="es-ES" sz="1800" dirty="0">
                <a:solidFill>
                  <a:srgbClr val="2F2B28"/>
                </a:solidFill>
              </a:rPr>
              <a:t>Ninguna evidencia obligatoria se omite en Lite: se simplifica. El inventario nunca se reduce.</a:t>
            </a:r>
          </a:p>
        </p:txBody>
      </p:sp>
      <p:sp>
        <p:nvSpPr>
          <p:cNvPr id="209" name="Texto 209"/>
          <p:cNvSpPr txBox="1"/>
          <p:nvPr/>
        </p:nvSpPr>
        <p:spPr>
          <a:xfrm>
            <a:off x="609600" y="6250000"/>
            <a:ext cx="10972800" cy="450000"/>
          </a:xfrm>
          <a:prstGeom prst="rect">
            <a:avLst/>
          </a:prstGeom>
          <a:noFill/>
        </p:spPr>
        <p:txBody>
          <a:bodyPr wrap="square" anchor="t" lIns="45720" rIns="45720">
            <a:noAutofit/>
          </a:bodyPr>
          <a:lstStyle/>
          <a:p>
            <a:pPr algn="l"/>
            <a:r>
              <a:rPr lang="es-ES" sz="1400" b="1" dirty="0">
                <a:solidFill>
                  <a:srgbClr val="0F5499"/>
                </a:solidFill>
              </a:rPr>
              <a:t>Documento 90, sección 2.4, y matriz de obligatoriedad (documento 94).</a:t>
            </a:r>
          </a:p>
        </p:txBody>
      </p:sp>
    </p:spTree>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23" name="Marca"/>
          <p:cNvSpPr/>
          <p:nvPr/>
        </p:nvSpPr>
        <p:spPr>
          <a:xfrm>
            <a:off x="609600" y="365760"/>
            <a:ext cx="182880" cy="182880"/>
          </a:xfrm>
          <a:prstGeom prst="rect">
            <a:avLst/>
          </a:prstGeom>
          <a:solidFill>
            <a:srgbClr val="990F3D"/>
          </a:solidFill>
        </p:spPr>
        <p:txBody>
          <a:bodyPr/>
          <a:lstStyle/>
          <a:p/>
        </p:txBody>
      </p:sp>
      <p:sp>
        <p:nvSpPr>
          <p:cNvPr id="224" name="Texto 224"/>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EMPRESA · AUTOCONSULTORÍA</a:t>
            </a:r>
          </a:p>
        </p:txBody>
      </p:sp>
      <p:sp>
        <p:nvSpPr>
          <p:cNvPr id="225" name="Texto 225"/>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El plan de 90 días</a:t>
            </a:r>
          </a:p>
        </p:txBody>
      </p:sp>
      <p:sp>
        <p:nvSpPr>
          <p:cNvPr id="226" name="Texto 226"/>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Tres meses, tres resultados y una decisión del consejo</a:t>
            </a:r>
          </a:p>
        </p:txBody>
      </p:sp>
      <p:sp>
        <p:nvSpPr>
          <p:cNvPr id="213" name="Caja 213"/>
          <p:cNvSpPr/>
          <p:nvPr/>
        </p:nvSpPr>
        <p:spPr>
          <a:xfrm>
            <a:off x="609600" y="2050000"/>
            <a:ext cx="3577600" cy="8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Mes 1 · Diagnóstico (C1)</a:t>
            </a:r>
          </a:p>
        </p:txBody>
      </p:sp>
      <p:sp>
        <p:nvSpPr>
          <p:cNvPr id="214" name="Caja 214"/>
          <p:cNvSpPr/>
          <p:nvPr/>
        </p:nvSpPr>
        <p:spPr>
          <a:xfrm>
            <a:off x="609600" y="2790000"/>
            <a:ext cx="357760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15" name="Texto 215"/>
          <p:cNvSpPr txBox="1"/>
          <p:nvPr/>
        </p:nvSpPr>
        <p:spPr>
          <a:xfrm>
            <a:off x="649600" y="2890000"/>
            <a:ext cx="3497600" cy="2340000"/>
          </a:xfrm>
          <a:prstGeom prst="rect">
            <a:avLst/>
          </a:prstGeom>
          <a:noFill/>
        </p:spPr>
        <p:txBody>
          <a:bodyPr wrap="square" anchor="t" lIns="45720" rIns="45720">
            <a:noAutofit/>
          </a:bodyPr>
          <a:lstStyle/>
          <a:p>
            <a:pPr algn="l"/>
            <a:r>
              <a:rPr lang="es-ES" sz="1300" dirty="0">
                <a:solidFill>
                  <a:srgbClr val="2F2B28"/>
                </a:solidFill>
              </a:rPr>
              <a:t>Mandato (P32). Inventario de toda la IA, también la de terceros y la no autorizada, con declaración de completitud. Madurez con evidencia (T15) e índice de transformación (T14). Hito 1: informe C1 verificado (P33).</a:t>
            </a:r>
          </a:p>
        </p:txBody>
      </p:sp>
      <p:sp>
        <p:nvSpPr>
          <p:cNvPr id="216" name="Caja 216"/>
          <p:cNvSpPr/>
          <p:nvPr/>
        </p:nvSpPr>
        <p:spPr>
          <a:xfrm>
            <a:off x="4307200" y="2050000"/>
            <a:ext cx="3577600" cy="800000"/>
          </a:xfrm>
          <a:prstGeom prst="roundRect">
            <a:avLst>
              <a:gd name="adj" fmla="val 6000"/>
            </a:avLst>
          </a:prstGeom>
          <a:solidFill>
            <a:srgbClr val="593380"/>
          </a:solidFill>
          <a:ln>
            <a:noFill/>
          </a:ln>
        </p:spPr>
        <p:txBody>
          <a:bodyPr wrap="square" anchor="ctr" lIns="45720" rIns="45720">
            <a:noAutofit/>
          </a:bodyPr>
          <a:lstStyle/>
          <a:p>
            <a:pPr algn="ctr"/>
            <a:r>
              <a:rPr lang="es-ES" sz="1700" b="1" dirty="0">
                <a:solidFill>
                  <a:srgbClr val="FFFFFF"/>
                </a:solidFill>
              </a:rPr>
              <a:t>Mes 2 · Riesgos y oportunidades</a:t>
            </a:r>
          </a:p>
        </p:txBody>
      </p:sp>
      <p:sp>
        <p:nvSpPr>
          <p:cNvPr id="217" name="Caja 217"/>
          <p:cNvSpPr/>
          <p:nvPr/>
        </p:nvSpPr>
        <p:spPr>
          <a:xfrm>
            <a:off x="4307200" y="2790000"/>
            <a:ext cx="357760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18" name="Texto 218"/>
          <p:cNvSpPr txBox="1"/>
          <p:nvPr/>
        </p:nvSpPr>
        <p:spPr>
          <a:xfrm>
            <a:off x="4347200" y="2890000"/>
            <a:ext cx="3497600" cy="2340000"/>
          </a:xfrm>
          <a:prstGeom prst="rect">
            <a:avLst/>
          </a:prstGeom>
          <a:noFill/>
        </p:spPr>
        <p:txBody>
          <a:bodyPr wrap="square" anchor="t" lIns="45720" rIns="45720">
            <a:noAutofit/>
          </a:bodyPr>
          <a:lstStyle/>
          <a:p>
            <a:pPr algn="l"/>
            <a:r>
              <a:rPr lang="es-ES" sz="1300" dirty="0">
                <a:solidFill>
                  <a:srgbClr val="2F2B28"/>
                </a:solidFill>
              </a:rPr>
              <a:t>Talleres por esfera: riesgos de lo que ya existe (P11, P12) y oportunidades con valor estimado (P06, P07). Borrador de tesis de IA, ambición y apetito de riesgo (P35). Hito 2: propuesta de C2 lista para el consejo.</a:t>
            </a:r>
          </a:p>
        </p:txBody>
      </p:sp>
      <p:sp>
        <p:nvSpPr>
          <p:cNvPr id="219" name="Caja 219"/>
          <p:cNvSpPr/>
          <p:nvPr/>
        </p:nvSpPr>
        <p:spPr>
          <a:xfrm>
            <a:off x="8004800" y="2050000"/>
            <a:ext cx="3577600" cy="800000"/>
          </a:xfrm>
          <a:prstGeom prst="roundRect">
            <a:avLst>
              <a:gd name="adj" fmla="val 6000"/>
            </a:avLst>
          </a:prstGeom>
          <a:solidFill>
            <a:srgbClr val="0D7680"/>
          </a:solidFill>
          <a:ln>
            <a:noFill/>
          </a:ln>
        </p:spPr>
        <p:txBody>
          <a:bodyPr wrap="square" anchor="ctr" lIns="45720" rIns="45720">
            <a:noAutofit/>
          </a:bodyPr>
          <a:lstStyle/>
          <a:p>
            <a:pPr algn="ctr"/>
            <a:r>
              <a:rPr lang="es-ES" sz="1700" b="1" dirty="0">
                <a:solidFill>
                  <a:srgbClr val="FFFFFF"/>
                </a:solidFill>
              </a:rPr>
              <a:t>Mes 3 · Gobierno y cartera</a:t>
            </a:r>
          </a:p>
        </p:txBody>
      </p:sp>
      <p:sp>
        <p:nvSpPr>
          <p:cNvPr id="220" name="Caja 220"/>
          <p:cNvSpPr/>
          <p:nvPr/>
        </p:nvSpPr>
        <p:spPr>
          <a:xfrm>
            <a:off x="8004800" y="2790000"/>
            <a:ext cx="357760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21" name="Texto 221"/>
          <p:cNvSpPr txBox="1"/>
          <p:nvPr/>
        </p:nvSpPr>
        <p:spPr>
          <a:xfrm>
            <a:off x="8044800" y="2890000"/>
            <a:ext cx="3497600" cy="2340000"/>
          </a:xfrm>
          <a:prstGeom prst="rect">
            <a:avLst/>
          </a:prstGeom>
          <a:noFill/>
        </p:spPr>
        <p:txBody>
          <a:bodyPr wrap="square" anchor="t" lIns="45720" rIns="45720">
            <a:noAutofit/>
          </a:bodyPr>
          <a:lstStyle/>
          <a:p>
            <a:pPr algn="l"/>
            <a:r>
              <a:rPr lang="es-ES" sz="1300" dirty="0">
                <a:solidFill>
                  <a:srgbClr val="2F2B28"/>
                </a:solidFill>
              </a:rPr>
              <a:t>Órganos y roles sin incompatibilidades (P38, P03), puertas y políticas, primer panel con datos reales (T17) y cartera priorizada (P36). El consejo aprueba C2 y el comité, C3. Hito 3: régimen ordinario.</a:t>
            </a:r>
          </a:p>
        </p:txBody>
      </p:sp>
      <p:sp>
        <p:nvSpPr>
          <p:cNvPr id="222" name="Texto 222"/>
          <p:cNvSpPr txBox="1"/>
          <p:nvPr/>
        </p:nvSpPr>
        <p:spPr>
          <a:xfrm>
            <a:off x="609600" y="6150000"/>
            <a:ext cx="10972800" cy="500000"/>
          </a:xfrm>
          <a:prstGeom prst="rect">
            <a:avLst/>
          </a:prstGeom>
          <a:noFill/>
        </p:spPr>
        <p:txBody>
          <a:bodyPr wrap="square" anchor="t" lIns="45720" rIns="45720">
            <a:noAutofit/>
          </a:bodyPr>
          <a:lstStyle/>
          <a:p>
            <a:pPr algn="l"/>
            <a:r>
              <a:rPr lang="es-ES" sz="1400" b="1" dirty="0">
                <a:solidFill>
                  <a:srgbClr val="0F5499"/>
                </a:solidFill>
              </a:rPr>
              <a:t>Desde la semana 13, ninguna iniciativa nueva consume presupuesto sin pasar por G0.</a:t>
            </a:r>
          </a:p>
        </p:txBody>
      </p:sp>
    </p:spTree>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28" name="Marca"/>
          <p:cNvSpPr/>
          <p:nvPr/>
        </p:nvSpPr>
        <p:spPr>
          <a:xfrm>
            <a:off x="609600" y="365760"/>
            <a:ext cx="182880" cy="182880"/>
          </a:xfrm>
          <a:prstGeom prst="rect">
            <a:avLst/>
          </a:prstGeom>
          <a:solidFill>
            <a:srgbClr val="990F3D"/>
          </a:solidFill>
        </p:spPr>
        <p:txBody>
          <a:bodyPr/>
          <a:lstStyle/>
          <a:p/>
        </p:txBody>
      </p:sp>
      <p:sp>
        <p:nvSpPr>
          <p:cNvPr id="229" name="Texto 229"/>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EMPRESA · AUTOCONSULTORÍA</a:t>
            </a:r>
          </a:p>
        </p:txBody>
      </p:sp>
      <p:sp>
        <p:nvSpPr>
          <p:cNvPr id="230" name="Texto 230"/>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Tres garantías que no se negocian, ni en pequeño</a:t>
            </a:r>
          </a:p>
        </p:txBody>
      </p:sp>
      <p:sp>
        <p:nvSpPr>
          <p:cNvPr id="227" name="Texto 227"/>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Quien construye no verifica ni decide su propio trabajo.</a:t>
            </a:r>
          </a:p>
          <a:p>
            <a:pPr marL="285750" indent="-285750">
              <a:spcAft>
                <a:spcPts val="400"/>
              </a:spcAft>
              <a:buClr>
                <a:srgbClr val="990F3D"/>
              </a:buClr>
              <a:buFont typeface="Arial"/>
              <a:buChar char="•"/>
            </a:pPr>
            <a:r>
              <a:rPr lang="es-ES" sz="1800" dirty="0">
                <a:solidFill>
                  <a:srgbClr val="2F2B28"/>
                </a:solidFill>
              </a:rPr>
              <a:t>La conformidad de riesgos la emite alguien independiente del equipo.</a:t>
            </a:r>
          </a:p>
          <a:p>
            <a:pPr marL="285750" indent="-285750">
              <a:spcAft>
                <a:spcPts val="400"/>
              </a:spcAft>
              <a:buClr>
                <a:srgbClr val="990F3D"/>
              </a:buClr>
              <a:buFont typeface="Arial"/>
              <a:buChar char="•"/>
            </a:pPr>
            <a:r>
              <a:rPr lang="es-ES" sz="1800" dirty="0">
                <a:solidFill>
                  <a:srgbClr val="2F2B28"/>
                </a:solidFill>
              </a:rPr>
              <a:t>El consejo aprueba la dirección y el apetito de riesgo: no se delega.</a:t>
            </a:r>
          </a:p>
          <a:p>
            <a:pPr marL="285750" indent="-285750">
              <a:spcAft>
                <a:spcPts val="400"/>
              </a:spcAft>
              <a:buClr>
                <a:srgbClr val="990F3D"/>
              </a:buClr>
              <a:buFont typeface="Arial"/>
              <a:buChar char="•"/>
            </a:pPr>
            <a:r>
              <a:rPr lang="es-ES" sz="1800" dirty="0">
                <a:solidFill>
                  <a:srgbClr val="2F2B28"/>
                </a:solidFill>
              </a:rPr>
              <a:t>Una misma persona puede tener varios roles si no son incompatibles; el registro T01 lo comprueba (P03).</a:t>
            </a:r>
          </a:p>
          <a:p>
            <a:pPr marL="285750" indent="-285750">
              <a:spcAft>
                <a:spcPts val="400"/>
              </a:spcAft>
              <a:buClr>
                <a:srgbClr val="990F3D"/>
              </a:buClr>
              <a:buFont typeface="Arial"/>
              <a:buChar char="•"/>
            </a:pPr>
            <a:r>
              <a:rPr lang="es-ES" sz="1800" dirty="0">
                <a:solidFill>
                  <a:srgbClr val="2F2B28"/>
                </a:solidFill>
              </a:rPr>
              <a:t>Lo existente se regulariza con plazos aprobados, no se ignora: inventario primero, después riesgos y después puertas.</a:t>
            </a:r>
          </a:p>
        </p:txBody>
      </p:sp>
    </p:spTree>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32" name="Marca"/>
          <p:cNvSpPr/>
          <p:nvPr/>
        </p:nvSpPr>
        <p:spPr>
          <a:xfrm>
            <a:off x="609600" y="365760"/>
            <a:ext cx="182880" cy="182880"/>
          </a:xfrm>
          <a:prstGeom prst="rect">
            <a:avLst/>
          </a:prstGeom>
          <a:solidFill>
            <a:srgbClr val="990F3D"/>
          </a:solidFill>
        </p:spPr>
        <p:txBody>
          <a:bodyPr/>
          <a:lstStyle/>
          <a:p/>
        </p:txBody>
      </p:sp>
      <p:sp>
        <p:nvSpPr>
          <p:cNvPr id="233" name="Texto 233"/>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EMPRESA · AUTOCONSULTORÍA</a:t>
            </a:r>
          </a:p>
        </p:txBody>
      </p:sp>
      <p:sp>
        <p:nvSpPr>
          <p:cNvPr id="234" name="Texto 234"/>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Errores frecuentes al implantarlo uno mismo</a:t>
            </a:r>
          </a:p>
        </p:txBody>
      </p:sp>
      <p:sp>
        <p:nvSpPr>
          <p:cNvPr id="231" name="Texto 231"/>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Aplicar Enterprise a todo: el marco se vuelve pesado y se abandona. O no aplicar nada «porque somos pequeños».</a:t>
            </a:r>
          </a:p>
          <a:p>
            <a:pPr marL="285750" indent="-285750">
              <a:spcAft>
                <a:spcPts val="400"/>
              </a:spcAft>
              <a:buClr>
                <a:srgbClr val="990F3D"/>
              </a:buClr>
              <a:buFont typeface="Arial"/>
              <a:buChar char="•"/>
            </a:pPr>
            <a:r>
              <a:rPr lang="es-ES" sz="1800" dirty="0">
                <a:solidFill>
                  <a:srgbClr val="2F2B28"/>
                </a:solidFill>
              </a:rPr>
              <a:t>Rellenar las plantillas después de decidir: la documentación a posteriori invalida la puerta.</a:t>
            </a:r>
          </a:p>
          <a:p>
            <a:pPr marL="285750" indent="-285750">
              <a:spcAft>
                <a:spcPts val="400"/>
              </a:spcAft>
              <a:buClr>
                <a:srgbClr val="990F3D"/>
              </a:buClr>
              <a:buFont typeface="Arial"/>
              <a:buChar char="•"/>
            </a:pPr>
            <a:r>
              <a:rPr lang="es-ES" sz="1800" dirty="0">
                <a:solidFill>
                  <a:srgbClr val="2F2B28"/>
                </a:solidFill>
              </a:rPr>
              <a:t>Sumar horas liberadas como ahorro en el panel.</a:t>
            </a:r>
          </a:p>
          <a:p>
            <a:pPr marL="285750" indent="-285750">
              <a:spcAft>
                <a:spcPts val="400"/>
              </a:spcAft>
              <a:buClr>
                <a:srgbClr val="990F3D"/>
              </a:buClr>
              <a:buFont typeface="Arial"/>
              <a:buChar char="•"/>
            </a:pPr>
            <a:r>
              <a:rPr lang="es-ES" sz="1800" dirty="0">
                <a:solidFill>
                  <a:srgbClr val="2F2B28"/>
                </a:solidFill>
              </a:rPr>
              <a:t>No parar nunca nada: una cartera sin paradas no tiene puertas, tiene trámites.</a:t>
            </a:r>
          </a:p>
          <a:p>
            <a:pPr marL="285750" indent="-285750">
              <a:spcAft>
                <a:spcPts val="400"/>
              </a:spcAft>
              <a:buClr>
                <a:srgbClr val="990F3D"/>
              </a:buClr>
              <a:buFont typeface="Arial"/>
              <a:buChar char="•"/>
            </a:pPr>
            <a:r>
              <a:rPr lang="es-ES" sz="1800" dirty="0">
                <a:solidFill>
                  <a:srgbClr val="2F2B28"/>
                </a:solidFill>
              </a:rPr>
              <a:t>Un inventario incompleto: la IA de terceros y el uso no autorizado también cuentan.</a:t>
            </a:r>
          </a:p>
          <a:p>
            <a:pPr marL="285750" indent="-285750">
              <a:spcAft>
                <a:spcPts val="400"/>
              </a:spcAft>
              <a:buClr>
                <a:srgbClr val="990F3D"/>
              </a:buClr>
              <a:buFont typeface="Arial"/>
              <a:buChar char="•"/>
            </a:pPr>
            <a:r>
              <a:rPr lang="es-ES" sz="1800" dirty="0">
                <a:solidFill>
                  <a:srgbClr val="2F2B28"/>
                </a:solidFill>
              </a:rPr>
              <a:t>Dejar al consejo fuera hasta el final: su sesión se reserva el primer día.</a:t>
            </a:r>
          </a:p>
        </p:txBody>
      </p:sp>
    </p:spTree>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36" name="Marca"/>
          <p:cNvSpPr/>
          <p:nvPr/>
        </p:nvSpPr>
        <p:spPr>
          <a:xfrm>
            <a:off x="609600" y="365760"/>
            <a:ext cx="182880" cy="182880"/>
          </a:xfrm>
          <a:prstGeom prst="rect">
            <a:avLst/>
          </a:prstGeom>
          <a:solidFill>
            <a:srgbClr val="990F3D"/>
          </a:solidFill>
        </p:spPr>
        <p:txBody>
          <a:bodyPr/>
          <a:lstStyle/>
          <a:p/>
        </p:txBody>
      </p:sp>
      <p:sp>
        <p:nvSpPr>
          <p:cNvPr id="237" name="Texto 237"/>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EMPRESA · AUTOCONSULTORÍA</a:t>
            </a:r>
          </a:p>
        </p:txBody>
      </p:sp>
      <p:sp>
        <p:nvSpPr>
          <p:cNvPr id="238" name="Texto 238"/>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Por dónde empezar mañana</a:t>
            </a:r>
          </a:p>
        </p:txBody>
      </p:sp>
      <p:sp>
        <p:nvSpPr>
          <p:cNvPr id="235" name="Texto 235"/>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Una tarde: abra el registro de ejemplo (T01) y su panel (T17), y responda al diagnóstico de madurez (T15) con su situación real.</a:t>
            </a:r>
          </a:p>
          <a:p>
            <a:pPr marL="285750" indent="-285750">
              <a:spcAft>
                <a:spcPts val="400"/>
              </a:spcAft>
              <a:buClr>
                <a:srgbClr val="990F3D"/>
              </a:buClr>
              <a:buFont typeface="Arial"/>
              <a:buChar char="•"/>
            </a:pPr>
            <a:r>
              <a:rPr lang="es-ES" sz="1800" dirty="0">
                <a:solidFill>
                  <a:srgbClr val="2F2B28"/>
                </a:solidFill>
              </a:rPr>
              <a:t>Una semana: documentos 00, 01 y 90; decida alcance Lite o Enterprise y redacte el mandato (P32).</a:t>
            </a:r>
          </a:p>
          <a:p>
            <a:pPr marL="285750" indent="-285750">
              <a:spcAft>
                <a:spcPts val="400"/>
              </a:spcAft>
              <a:buClr>
                <a:srgbClr val="990F3D"/>
              </a:buClr>
              <a:buFont typeface="Arial"/>
              <a:buChar char="•"/>
            </a:pPr>
            <a:r>
              <a:rPr lang="es-ES" sz="1800" dirty="0">
                <a:solidFill>
                  <a:srgbClr val="2F2B28"/>
                </a:solidFill>
              </a:rPr>
              <a:t>La adopción puede ser modular: solo el registro, solo las puertas, solo la medición o solo el panel, y ampliar después.</a:t>
            </a:r>
          </a:p>
          <a:p>
            <a:pPr marL="285750" indent="-285750">
              <a:spcAft>
                <a:spcPts val="400"/>
              </a:spcAft>
              <a:buClr>
                <a:srgbClr val="990F3D"/>
              </a:buClr>
              <a:buFont typeface="Arial"/>
              <a:buChar char="•"/>
            </a:pPr>
            <a:r>
              <a:rPr lang="es-ES" sz="1800" dirty="0">
                <a:solidFill>
                  <a:srgbClr val="2F2B28"/>
                </a:solidFill>
              </a:rPr>
              <a:t>Si quiere acompañamiento, puede pedirlo a cualquier profesional; el documento 91 explica cómo evitar depender de él.</a:t>
            </a:r>
          </a:p>
          <a:p>
            <a:pPr marL="285750" indent="-285750">
              <a:spcAft>
                <a:spcPts val="400"/>
              </a:spcAft>
              <a:buClr>
                <a:srgbClr val="990F3D"/>
              </a:buClr>
              <a:buFont typeface="Arial"/>
              <a:buChar char="•"/>
            </a:pPr>
            <a:r>
              <a:rPr lang="es-ES" sz="1800" dirty="0">
                <a:solidFill>
                  <a:srgbClr val="2F2B28"/>
                </a:solidFill>
              </a:rPr>
              <a:t>Nada de esto exige registrarse ni contratar a nadie.</a:t>
            </a:r>
          </a:p>
        </p:txBody>
      </p:sp>
    </p:spTree>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39" name="Texto 239"/>
          <p:cNvSpPr txBox="1"/>
          <p:nvPr/>
        </p:nvSpPr>
        <p:spPr>
          <a:xfrm>
            <a:off x="609600" y="2300000"/>
            <a:ext cx="10972800" cy="900000"/>
          </a:xfrm>
          <a:prstGeom prst="rect">
            <a:avLst/>
          </a:prstGeom>
          <a:noFill/>
        </p:spPr>
        <p:txBody>
          <a:bodyPr wrap="square" anchor="t" lIns="45720" rIns="45720">
            <a:noAutofit/>
          </a:bodyPr>
          <a:lstStyle/>
          <a:p>
            <a:pPr algn="ctr"/>
            <a:r>
              <a:rPr lang="es-ES" sz="4400" b="1" dirty="0">
                <a:solidFill>
                  <a:srgbClr val="1A1817"/>
                </a:solidFill>
              </a:rPr>
              <a:t>Gracias</a:t>
            </a:r>
          </a:p>
        </p:txBody>
      </p:sp>
      <p:sp>
        <p:nvSpPr>
          <p:cNvPr id="240" name="Texto 240"/>
          <p:cNvSpPr txBox="1"/>
          <p:nvPr/>
        </p:nvSpPr>
        <p:spPr>
          <a:xfrm>
            <a:off x="609600" y="3350000"/>
            <a:ext cx="10972800" cy="900000"/>
          </a:xfrm>
          <a:prstGeom prst="rect">
            <a:avLst/>
          </a:prstGeom>
          <a:noFill/>
        </p:spPr>
        <p:txBody>
          <a:bodyPr wrap="square" anchor="t" lIns="45720" rIns="45720">
            <a:noAutofit/>
          </a:bodyPr>
          <a:lstStyle/>
          <a:p>
            <a:pPr algn="ctr"/>
            <a:r>
              <a:rPr lang="es-ES" sz="1900" dirty="0">
                <a:solidFill>
                  <a:srgbClr val="2F2B28"/>
                </a:solidFill>
              </a:rPr>
              <a:t>SEVEN-G es gratuito: se usa, se descarga y se adapta sin registrarse, y el sitio nunca le escribirá. Si quiere hablar con el autor, la iniciativa es suya.</a:t>
            </a:r>
          </a:p>
        </p:txBody>
      </p:sp>
      <p:sp>
        <p:nvSpPr>
          <p:cNvPr id="241" name="Texto 241"/>
          <p:cNvSpPr txBox="1"/>
          <p:nvPr/>
        </p:nvSpPr>
        <p:spPr>
          <a:xfrm>
            <a:off x="609600" y="4350000"/>
            <a:ext cx="10972800" cy="500000"/>
          </a:xfrm>
          <a:prstGeom prst="rect">
            <a:avLst/>
          </a:prstGeom>
          <a:noFill/>
        </p:spPr>
        <p:txBody>
          <a:bodyPr wrap="square" anchor="t" lIns="45720" rIns="45720">
            <a:noAutofit/>
          </a:bodyPr>
          <a:lstStyle/>
          <a:p>
            <a:pPr algn="ctr"/>
            <a:r>
              <a:rPr lang="es-ES" sz="1600" dirty="0">
                <a:solidFill>
                  <a:srgbClr val="564D47"/>
                </a:solidFill>
              </a:rPr>
              <a:t>SEVEN-G es una marca registrada de Fernando García Varela · CC BY 4.0 (contenidos) · MIT (código)</a:t>
            </a:r>
          </a:p>
        </p:txBody>
      </p:sp>
      <p:sp>
        <p:nvSpPr>
          <p:cNvPr id="242" name="Texto 242"/>
          <p:cNvSpPr txBox="1"/>
          <p:nvPr/>
        </p:nvSpPr>
        <p:spPr>
          <a:xfrm>
            <a:off x="609600" y="4950000"/>
            <a:ext cx="10972800" cy="500000"/>
          </a:xfrm>
          <a:prstGeom prst="rect">
            <a:avLst/>
          </a:prstGeom>
          <a:noFill/>
        </p:spPr>
        <p:txBody>
          <a:bodyPr wrap="square" anchor="t" lIns="45720" rIns="45720">
            <a:noAutofit/>
          </a:bodyPr>
          <a:lstStyle/>
          <a:p>
            <a:pPr algn="ctr"/>
            <a:r>
              <a:rPr lang="es-ES" sz="1700" dirty="0">
                <a:solidFill>
                  <a:srgbClr val="0F5499"/>
                </a:solidFill>
              </a:rPr>
              <a:t>https://www.linkedin.com/in/fernandogarciavarela/</a:t>
            </a:r>
          </a:p>
        </p:txBody>
      </p:sp>
      <p:sp>
        <p:nvSpPr>
          <p:cNvPr id="243" name="Texto 243"/>
          <p:cNvSpPr txBox="1"/>
          <p:nvPr/>
        </p:nvSpPr>
        <p:spPr>
          <a:xfrm>
            <a:off x="609600" y="5550000"/>
            <a:ext cx="10972800" cy="1000000"/>
          </a:xfrm>
          <a:prstGeom prst="rect">
            <a:avLst/>
          </a:prstGeom>
          <a:noFill/>
        </p:spPr>
        <p:txBody>
          <a:bodyPr wrap="square" anchor="t" lIns="45720" rIns="45720">
            <a:noAutofit/>
          </a:bodyPr>
          <a:lstStyle/>
          <a:p>
            <a:pPr algn="ctr"/>
            <a:r>
              <a:rPr lang="es-ES" sz="1000" dirty="0">
                <a:solidFill>
                  <a:srgbClr val="564D47"/>
                </a:solidFill>
              </a:rPr>
              <a:t>Aviso legal: ayuda metodológica genérica y gratuita, «tal cual» y con fines informativos; no es asesoramiento jurídico ni está revisada jurídicamente para ningún caso. Cada organización la adapta y es responsable de su revisión legal y de su cumplimiento regulatorio; puede no recoger cambios normativos recientes. En la máxima medida permitida por la ley, el autor no asume responsabilidad alguna por los efectos de su aplicación. No otorga certificación de ningún tipo. Detalle en el documento 93.</a:t>
            </a:r>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SEVEN-G">
  <a:themeElements>
    <a:clrScheme name="SEVEN-G">
      <a:dk1>
        <a:srgbClr val="1A1817"/>
      </a:dk1>
      <a:lt1>
        <a:srgbClr val="FBE2CD"/>
      </a:lt1>
      <a:dk2>
        <a:srgbClr val="2F2B28"/>
      </a:dk2>
      <a:lt2>
        <a:srgbClr val="FFFFFF"/>
      </a:lt2>
      <a:accent1>
        <a:srgbClr val="990F3D"/>
      </a:accent1>
      <a:accent2>
        <a:srgbClr val="0F5499"/>
      </a:accent2>
      <a:accent3>
        <a:srgbClr val="0D7680"/>
      </a:accent3>
      <a:accent4>
        <a:srgbClr val="593380"/>
      </a:accent4>
      <a:accent5>
        <a:srgbClr val="A5822A"/>
      </a:accent5>
      <a:accent6>
        <a:srgbClr val="71645B"/>
      </a:accent6>
      <a:hlink>
        <a:srgbClr val="0F5499"/>
      </a:hlink>
      <a:folHlink>
        <a:srgbClr val="593380"/>
      </a:folHlink>
    </a:clrScheme>
    <a:fontScheme name="SEVEN-G">
      <a:majorFont>
        <a:latin typeface="Georgia"/>
        <a:ea typeface=""/>
        <a:cs typeface=""/>
      </a:majorFont>
      <a:minorFont>
        <a:latin typeface="Arial"/>
        <a:ea typeface=""/>
        <a:cs typeface=""/>
      </a:minorFont>
    </a:fontScheme>
    <a:fmtScheme name="SEVEN-G">
      <a:fillStyleLst>
        <a:solidFill>
          <a:schemeClr val="accent1"/>
        </a:solidFill>
        <a:solidFill>
          <a:schemeClr val="accent1"/>
        </a:solidFill>
        <a:solidFill>
          <a:schemeClr val="accent1"/>
        </a:solidFill>
      </a:fillStyleLst>
      <a:lnStyleLst>
        <a:ln>
          <a:solidFill>
            <a:schemeClr val="accent1"/>
          </a:solidFill>
        </a:ln>
        <a:ln>
          <a:solidFill>
            <a:schemeClr val="accent1"/>
          </a:solidFill>
        </a:ln>
        <a:ln>
          <a:solidFill>
            <a:schemeClr val="accent1"/>
          </a:solidFill>
        </a:ln>
      </a:lnStyleLst>
      <a:effectStyleLst>
        <a:effectStyle>
          <a:effectLst/>
        </a:effectStyle>
        <a:effectStyle>
          <a:effectLst/>
        </a:effectStyle>
        <a:effectStyle>
          <a:effectLst/>
        </a:effectStyle>
      </a:effectStyleLst>
      <a:bgFillStyleLst>
        <a:solidFill>
          <a:schemeClr val="lt1"/>
        </a:solidFill>
        <a:solidFill>
          <a:schemeClr val="lt1"/>
        </a:solidFill>
        <a:solidFill>
          <a:schemeClr val="lt1"/>
        </a:solidFill>
      </a:bgFillStyleLst>
    </a:fmtScheme>
  </a:themeElements>
</a:theme>
</file>

<file path=docProps/app.xml><?xml version="1.0" encoding="utf-8"?>
<Properties xmlns="http://schemas.openxmlformats.org/officeDocument/2006/extended-properties">
  <Application>SEVEN-G build</Application>
  <Slides>27</Slides>
  <Company>Fernando García Varela</Company>
</Properties>
</file>

<file path=docProps/core.xml><?xml version="1.0" encoding="utf-8"?>
<cp:coreProperties xmlns:cp="http://schemas.openxmlformats.org/package/2006/metadata/core-properties" xmlns:dc="http://purl.org/dc/elements/1.1/" xmlns:dcterms="http://purl.org/dc/terms/" xmlns:xsi="http://www.w3.org/2001/XMLSchema-instance">
  <dc:title>Curso de SEVEN-G para la empresa</dc:title>
  <dc:creator>Fernando García Varela</dc:creator>
  <cp:lastModifiedBy>SEVEN-G build</cp:lastModifiedBy>
  <dcterms:created xsi:type="dcterms:W3CDTF">2026-01-01T00:00:00Z</dcterms:created>
  <dcterms:modified xsi:type="dcterms:W3CDTF">2026-01-01T00:00:00Z</dcterms:modified>
</cp:coreProperties>
</file>